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42">
          <p15:clr>
            <a:srgbClr val="A4A3A4"/>
          </p15:clr>
        </p15:guide>
        <p15:guide id="2" orient="horz" pos="3589">
          <p15:clr>
            <a:srgbClr val="A4A3A4"/>
          </p15:clr>
        </p15:guide>
        <p15:guide id="3" pos="2411">
          <p15:clr>
            <a:srgbClr val="A4A3A4"/>
          </p15:clr>
        </p15:guide>
        <p15:guide id="4" pos="461">
          <p15:clr>
            <a:srgbClr val="A4A3A4"/>
          </p15:clr>
        </p15:guide>
        <p15:guide id="5" orient="horz" pos="550">
          <p15:clr>
            <a:srgbClr val="A4A3A4"/>
          </p15:clr>
        </p15:guide>
        <p15:guide id="6" pos="960">
          <p15:clr>
            <a:srgbClr val="A4A3A4"/>
          </p15:clr>
        </p15:guide>
        <p15:guide id="7" pos="5949">
          <p15:clr>
            <a:srgbClr val="A4A3A4"/>
          </p15:clr>
        </p15:guide>
        <p15:guide id="8" orient="horz" pos="845">
          <p15:clr>
            <a:srgbClr val="A4A3A4"/>
          </p15:clr>
        </p15:guide>
        <p15:guide id="9" orient="horz" pos="731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iUeaq3GFYok2SlWoN0BVmduM5j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82ADB6-92E1-46B1-B9C9-A0D32233A43D}">
  <a:tblStyle styleId="{1382ADB6-92E1-46B1-B9C9-A0D32233A43D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42" orient="horz"/>
        <p:guide pos="3589" orient="horz"/>
        <p:guide pos="2411"/>
        <p:guide pos="461"/>
        <p:guide pos="550" orient="horz"/>
        <p:guide pos="960"/>
        <p:guide pos="5949"/>
        <p:guide pos="845" orient="horz"/>
        <p:guide pos="731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7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7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8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8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9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0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0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1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1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2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2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3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3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4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4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5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5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6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16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7:notes"/>
          <p:cNvSpPr txBox="1"/>
          <p:nvPr>
            <p:ph idx="1" type="body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17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표지(앞)" showMasterSp="0">
  <p:cSld name="표지(앞)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9"/>
          <p:cNvPicPr preferRelativeResize="0"/>
          <p:nvPr/>
        </p:nvPicPr>
        <p:blipFill rotWithShape="1">
          <a:blip r:embed="rId2">
            <a:alphaModFix/>
          </a:blip>
          <a:srcRect b="46290" l="0" r="0" t="29029"/>
          <a:stretch/>
        </p:blipFill>
        <p:spPr>
          <a:xfrm>
            <a:off x="0" y="-1"/>
            <a:ext cx="12192000" cy="3761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1029" y="156043"/>
            <a:ext cx="1502917" cy="37572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9"/>
          <p:cNvSpPr txBox="1"/>
          <p:nvPr/>
        </p:nvSpPr>
        <p:spPr>
          <a:xfrm>
            <a:off x="10087109" y="482077"/>
            <a:ext cx="1899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산출물ID   </a:t>
            </a:r>
            <a:r>
              <a:rPr b="0" i="0" lang="en-US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EMP_DEG_050</a:t>
            </a:r>
            <a:endParaRPr b="0" i="0" sz="1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14;p19"/>
          <p:cNvSpPr/>
          <p:nvPr/>
        </p:nvSpPr>
        <p:spPr>
          <a:xfrm>
            <a:off x="0" y="3694176"/>
            <a:ext cx="12192000" cy="6711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15;p19"/>
          <p:cNvSpPr/>
          <p:nvPr/>
        </p:nvSpPr>
        <p:spPr>
          <a:xfrm>
            <a:off x="3799160" y="3148553"/>
            <a:ext cx="4593681" cy="1055802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47625">
            <a:solidFill>
              <a:srgbClr val="26262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화면설계서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1">
  <p:cSld name="제목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335360" y="274638"/>
            <a:ext cx="9572655" cy="418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  <a:defRPr b="1" i="0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9" name="Google Shape;19;p21"/>
          <p:cNvGrpSpPr/>
          <p:nvPr/>
        </p:nvGrpSpPr>
        <p:grpSpPr>
          <a:xfrm>
            <a:off x="254000" y="719138"/>
            <a:ext cx="11652738" cy="0"/>
            <a:chOff x="56" y="391"/>
            <a:chExt cx="6123" cy="0"/>
          </a:xfrm>
        </p:grpSpPr>
        <p:cxnSp>
          <p:nvCxnSpPr>
            <p:cNvPr id="20" name="Google Shape;20;p21"/>
            <p:cNvCxnSpPr/>
            <p:nvPr/>
          </p:nvCxnSpPr>
          <p:spPr>
            <a:xfrm>
              <a:off x="172" y="391"/>
              <a:ext cx="600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1"/>
            <p:cNvCxnSpPr/>
            <p:nvPr/>
          </p:nvCxnSpPr>
          <p:spPr>
            <a:xfrm>
              <a:off x="56" y="391"/>
              <a:ext cx="11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사용자 지정 레이아웃">
  <p:cSld name="1_사용자 지정 레이아웃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사용자 지정 레이아웃">
  <p:cSld name="3_사용자 지정 레이아웃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사용자 지정 레이아웃">
  <p:cSld name="4_사용자 지정 레이아웃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사용자 지정 레이아웃">
  <p:cSld name="5_사용자 지정 레이아웃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사용자 지정 레이아웃">
  <p:cSld name="2_사용자 지정 레이아웃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사용자 지정 레이아웃">
  <p:cSld name="6_사용자 지정 레이아웃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사용자 지정 레이아웃">
  <p:cSld name="7_사용자 지정 레이아웃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사용자 지정 레이아웃">
  <p:cSld name="9_사용자 지정 레이아웃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사용자 지정 레이아웃">
  <p:cSld name="8_사용자 지정 레이아웃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사용자 지정 레이아웃">
  <p:cSld name="10_사용자 지정 레이아웃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사용자 지정 레이아웃">
  <p:cSld name="11_사용자 지정 레이아웃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/>
          <p:nvPr/>
        </p:nvSpPr>
        <p:spPr>
          <a:xfrm>
            <a:off x="2880360" y="4407408"/>
            <a:ext cx="64282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SyncGuard AI 본문 화면 상세 설계서 (v1.0)</a:t>
            </a:r>
            <a:endParaRPr/>
          </a:p>
        </p:txBody>
      </p:sp>
      <p:graphicFrame>
        <p:nvGraphicFramePr>
          <p:cNvPr id="38" name="Google Shape;38;p1"/>
          <p:cNvGraphicFramePr/>
          <p:nvPr/>
        </p:nvGraphicFramePr>
        <p:xfrm>
          <a:off x="2880360" y="4892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1051550"/>
                <a:gridCol w="2514600"/>
                <a:gridCol w="1005850"/>
                <a:gridCol w="185622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프로젝트명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한빛글로벌 SyncGuard AI 시스템 구축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산출물 ID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EMP_DEG_050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 버전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v1.0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 일자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2026. 10. 20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발주 기관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㈜한빛글로벌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 기관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주식회사 엠파시 (Empasy Inc.)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/>
        </p:nvSpPr>
        <p:spPr>
          <a:xfrm>
            <a:off x="219456" y="128016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화면설계서 구성 체계 및 전체 화면 목록 (본문 전용)</a:t>
            </a:r>
            <a:endParaRPr/>
          </a:p>
        </p:txBody>
      </p:sp>
      <p:cxnSp>
        <p:nvCxnSpPr>
          <p:cNvPr id="44" name="Google Shape;44;p2"/>
          <p:cNvCxnSpPr/>
          <p:nvPr/>
        </p:nvCxnSpPr>
        <p:spPr>
          <a:xfrm>
            <a:off x="219456" y="475488"/>
            <a:ext cx="11750040" cy="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5" name="Google Shape;45;p2"/>
          <p:cNvSpPr/>
          <p:nvPr/>
        </p:nvSpPr>
        <p:spPr>
          <a:xfrm>
            <a:off x="219456" y="566928"/>
            <a:ext cx="11750040" cy="530352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본 문서는 SyncGuard AI의 [본문 화면설계서]로, 상단 GNB·좌측 LNB 메뉴를 배제하고 순수 페이지 본문(Content Area)만 표준 와이어프레임 컴포넌트로 설계하였습니다.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상단 GNB, 좌측 LNB 메뉴 트리, 역할별 메뉴 권한, 알림 센터, 공통 팝업/그리드 규격은 별도 분리된 [EMP_DEG_050_SyncGuard AI_공통및메뉴설계서_v1.0.pptx]를 참조하시기 바랍니다.</a:t>
            </a:r>
            <a:endParaRPr/>
          </a:p>
        </p:txBody>
      </p:sp>
      <p:graphicFrame>
        <p:nvGraphicFramePr>
          <p:cNvPr id="46" name="Google Shape;46;p2"/>
          <p:cNvGraphicFramePr/>
          <p:nvPr/>
        </p:nvGraphicFramePr>
        <p:xfrm>
          <a:off x="219456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502925"/>
                <a:gridCol w="1143000"/>
                <a:gridCol w="2606050"/>
                <a:gridCol w="3520450"/>
                <a:gridCol w="1371600"/>
                <a:gridCol w="260605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순번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ID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메뉴 경로 (1~3 Depth)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 (본문 와이어프레임 설계 대상)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역할 권한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SCR_DSH_01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 &gt; 메인 대시보드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1.1 메인 심의 대시보드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 사용자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KPI 카드·현황 그리드·위반분포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SCR_CLM_01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광고심의 &gt; 신규 심의 의뢰 &gt; 시안 등록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1.2 신규 심의 신청 폼 (시안 업로드·동영상 캡처)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마케터/연구원/RA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SCR_CLM_01_V 영상캡처 포함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SCR_CLM_02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광고심의 &gt; 신규 심의 의뢰 &gt; AI 사전 판정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1.3 OCR 문장 분리 및 AI 3단계 판정 콘솔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마케터/연구원/RA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바운딩박스 분리·병합·재판정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SCR_CLM_03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광고심의 &gt; 신규 심의 의뢰 &gt; 문안 대조/수정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1.4 AI 심의 결과 좌우 대조 및 대체어 치환 뷰어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마케터/연구원/RA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Side-by-Side 하이라이트·치환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SCR_CLM_04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광고심의 &gt; 신규 심의 의뢰 &gt; 소명자료 첨부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1.5 소구 문장 실증 자료 확인 및 각주 생성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마케터/연구원/RA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ProductLab 성적서 매핑·법정각주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SCR_RA_01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 전문심의 &gt; 심의 접수 대기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1.6 심의 접수 목록 및 검색 (RA 대기함)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RA전문가/관리자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다차원 필터·담당자 배정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SCR_RA_02/03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 전문심의 &gt; 전문 심의 판정 / 확정 리포트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1.7 RA 전문가 최종 판정 및 공문 리포트 출력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RA전문가/관리자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오버라이드·승인/반려·공문PDF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SCR_HIS_01/02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이력조회 &gt; 심의 이력 목록 / 버전 비교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1.8 과거 심의 이력 조회 및 시안 버전 비교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 사용자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과거 사례 검색·버전간 Diff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SCR_REG_03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규제정보 &gt; 전성분·실증 규제조회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1.9 실증 자료 아카이브 및 전성분 배합한도 조회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 사용자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시험성적서 보관소·원료 한도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SCR_REG_01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규제정보 &gt; 금지표현 룰사전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 금지어 및 주의어 사전 관리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RA전문가/관리자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10대 카테고리·정규식·엑셀업로드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SCR_REG_02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규제정보 &gt; 식약처 처분사례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2.2 식약처 규제 문서 및 행정처분 판례 RAG 관리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RA전문가/관리자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고시/판례 청크 분할·벡터색인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SCR_ADM_02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시스템관리 &gt; AI 품질 벤치마크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2.3 운영 관리 통계 및 AI 품질 벤치마크 대시보드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RA전문가/관리자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골든셋 정밀도/재현율·프롬프트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SCR_ADM_03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시스템관리 &gt; 시스템 연계 현황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2.4 외부 시스템 연계 관제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시스템관리자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마케팅허브/ProductLab/SSO/레몬 관제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SCR_HIS_03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이력조회 &gt; 감사로그 추적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2.5 대외 소명용 불변 감사 대장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RA전문가/관리자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해시체인 무결성 검증·소명엑셀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SCR_ADM_01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시스템관리 &gt; 사용자/권한관리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2.6 사용자 계정 및 역할 권한 관리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시스템관리자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SSO 계정 동기화·RBAC/브랜드권한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 txBox="1"/>
          <p:nvPr/>
        </p:nvSpPr>
        <p:spPr>
          <a:xfrm>
            <a:off x="128016" y="5486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1.1 메인 심의 대시보드</a:t>
            </a:r>
            <a:endParaRPr/>
          </a:p>
        </p:txBody>
      </p:sp>
      <p:sp>
        <p:nvSpPr>
          <p:cNvPr id="52" name="Google Shape;52;p3"/>
          <p:cNvSpPr txBox="1"/>
          <p:nvPr/>
        </p:nvSpPr>
        <p:spPr>
          <a:xfrm>
            <a:off x="4846320" y="5486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SCR_DSH_01</a:t>
            </a:r>
            <a:endParaRPr/>
          </a:p>
        </p:txBody>
      </p:sp>
      <p:sp>
        <p:nvSpPr>
          <p:cNvPr id="53" name="Google Shape;53;p3"/>
          <p:cNvSpPr txBox="1"/>
          <p:nvPr/>
        </p:nvSpPr>
        <p:spPr>
          <a:xfrm>
            <a:off x="9034272" y="54864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 &gt; 메인 대시보드</a:t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91440" y="329184"/>
            <a:ext cx="8851392" cy="6419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219456" y="402336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종합 심의 관제 대시보드</a:t>
            </a:r>
            <a:endParaRPr/>
          </a:p>
        </p:txBody>
      </p:sp>
      <p:cxnSp>
        <p:nvCxnSpPr>
          <p:cNvPr id="56" name="Google Shape;56;p3"/>
          <p:cNvCxnSpPr/>
          <p:nvPr/>
        </p:nvCxnSpPr>
        <p:spPr>
          <a:xfrm>
            <a:off x="219456" y="749808"/>
            <a:ext cx="857707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7" name="Google Shape;57;p3"/>
          <p:cNvCxnSpPr/>
          <p:nvPr/>
        </p:nvCxnSpPr>
        <p:spPr>
          <a:xfrm>
            <a:off x="91440" y="5321808"/>
            <a:ext cx="885139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" name="Google Shape;58;p3"/>
          <p:cNvSpPr/>
          <p:nvPr/>
        </p:nvSpPr>
        <p:spPr>
          <a:xfrm>
            <a:off x="100584" y="5330952"/>
            <a:ext cx="8833104" cy="140817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182880" y="535838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[연계 팝업 / Alert 정의]</a:t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5074920" y="438912"/>
            <a:ext cx="475488" cy="219456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</a:t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5596128" y="438912"/>
            <a:ext cx="566928" cy="219456"/>
          </a:xfrm>
          <a:prstGeom prst="roundRect">
            <a:avLst>
              <a:gd fmla="val 12000" name="adj"/>
            </a:avLst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7일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208776" y="438912"/>
            <a:ext cx="621792" cy="219456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30일</a:t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903720" y="429768"/>
            <a:ext cx="86868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브랜드</a:t>
            </a:r>
            <a:endParaRPr/>
          </a:p>
        </p:txBody>
      </p:sp>
      <p:sp>
        <p:nvSpPr>
          <p:cNvPr id="64" name="Google Shape;64;p3"/>
          <p:cNvSpPr txBox="1"/>
          <p:nvPr/>
        </p:nvSpPr>
        <p:spPr>
          <a:xfrm>
            <a:off x="7571231" y="429768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7827264" y="429768"/>
            <a:ext cx="950976" cy="237744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 신규 심의 의뢰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956048" y="38404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7735824" y="36576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219456" y="841248"/>
            <a:ext cx="2066543" cy="804672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310896" y="877824"/>
            <a:ext cx="1883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금일 심의 접수 건수</a:t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310896" y="1078992"/>
            <a:ext cx="1883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42 건</a:t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310896" y="1408176"/>
            <a:ext cx="18836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전일 대비 +8건 (마케팅허브 연동 31건)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2395728" y="841248"/>
            <a:ext cx="2066543" cy="804672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2487168" y="877824"/>
            <a:ext cx="1883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사전판정 완료</a:t>
            </a:r>
            <a:endParaRPr/>
          </a:p>
        </p:txBody>
      </p:sp>
      <p:sp>
        <p:nvSpPr>
          <p:cNvPr id="74" name="Google Shape;74;p3"/>
          <p:cNvSpPr txBox="1"/>
          <p:nvPr/>
        </p:nvSpPr>
        <p:spPr>
          <a:xfrm>
            <a:off x="2487168" y="1078992"/>
            <a:ext cx="1883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38 건</a:t>
            </a:r>
            <a:endParaRPr/>
          </a:p>
        </p:txBody>
      </p:sp>
      <p:sp>
        <p:nvSpPr>
          <p:cNvPr id="75" name="Google Shape;75;p3"/>
          <p:cNvSpPr txBox="1"/>
          <p:nvPr/>
        </p:nvSpPr>
        <p:spPr>
          <a:xfrm>
            <a:off x="2487168" y="1408176"/>
            <a:ext cx="18836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평균 판정 소요시간 7.8초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4572000" y="841248"/>
            <a:ext cx="2066543" cy="804672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4663440" y="877824"/>
            <a:ext cx="1883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RA 전문가 심의 대기</a:t>
            </a:r>
            <a:endParaRPr/>
          </a:p>
        </p:txBody>
      </p:sp>
      <p:sp>
        <p:nvSpPr>
          <p:cNvPr id="78" name="Google Shape;78;p3"/>
          <p:cNvSpPr txBox="1"/>
          <p:nvPr/>
        </p:nvSpPr>
        <p:spPr>
          <a:xfrm>
            <a:off x="4663440" y="1078992"/>
            <a:ext cx="1883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14 건</a:t>
            </a:r>
            <a:endParaRPr/>
          </a:p>
        </p:txBody>
      </p:sp>
      <p:sp>
        <p:nvSpPr>
          <p:cNvPr id="79" name="Google Shape;79;p3"/>
          <p:cNvSpPr txBox="1"/>
          <p:nvPr/>
        </p:nvSpPr>
        <p:spPr>
          <a:xfrm>
            <a:off x="4663440" y="1408176"/>
            <a:ext cx="18836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긴급(D-1) 4건 / 일반 10건</a:t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748272" y="841248"/>
            <a:ext cx="2066543" cy="804672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6839712" y="877824"/>
            <a:ext cx="1883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위반·주의 문구 검출률</a:t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6839712" y="1078992"/>
            <a:ext cx="1883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28.4 %</a:t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6839712" y="1408176"/>
            <a:ext cx="18836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금지 19건 / 주의 47건 검출</a:t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128016" y="804672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85" name="Google Shape;85;p3"/>
          <p:cNvSpPr txBox="1"/>
          <p:nvPr/>
        </p:nvSpPr>
        <p:spPr>
          <a:xfrm>
            <a:off x="219456" y="1737360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내 담당 최근 심의 진행 현황</a:t>
            </a:r>
            <a:endParaRPr/>
          </a:p>
        </p:txBody>
      </p:sp>
      <p:cxnSp>
        <p:nvCxnSpPr>
          <p:cNvPr id="86" name="Google Shape;86;p3"/>
          <p:cNvCxnSpPr/>
          <p:nvPr/>
        </p:nvCxnSpPr>
        <p:spPr>
          <a:xfrm>
            <a:off x="3291840" y="1938528"/>
            <a:ext cx="251460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7" name="Google Shape;87;p3"/>
          <p:cNvSpPr txBox="1"/>
          <p:nvPr/>
        </p:nvSpPr>
        <p:spPr>
          <a:xfrm>
            <a:off x="3291840" y="1719072"/>
            <a:ext cx="49755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전체(24)</a:t>
            </a:r>
            <a:endParaRPr/>
          </a:p>
        </p:txBody>
      </p:sp>
      <p:cxnSp>
        <p:nvCxnSpPr>
          <p:cNvPr id="88" name="Google Shape;88;p3"/>
          <p:cNvCxnSpPr/>
          <p:nvPr/>
        </p:nvCxnSpPr>
        <p:spPr>
          <a:xfrm>
            <a:off x="3291840" y="1938528"/>
            <a:ext cx="497559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9" name="Google Shape;89;p3"/>
          <p:cNvSpPr txBox="1"/>
          <p:nvPr/>
        </p:nvSpPr>
        <p:spPr>
          <a:xfrm>
            <a:off x="3825975" y="1719072"/>
            <a:ext cx="6634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AI판정중(2)</a:t>
            </a:r>
            <a:endParaRPr/>
          </a:p>
        </p:txBody>
      </p:sp>
      <p:sp>
        <p:nvSpPr>
          <p:cNvPr id="90" name="Google Shape;90;p3"/>
          <p:cNvSpPr txBox="1"/>
          <p:nvPr/>
        </p:nvSpPr>
        <p:spPr>
          <a:xfrm>
            <a:off x="4525964" y="1719072"/>
            <a:ext cx="58048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보완필요(5)</a:t>
            </a:r>
            <a:endParaRPr/>
          </a:p>
        </p:txBody>
      </p:sp>
      <p:sp>
        <p:nvSpPr>
          <p:cNvPr id="91" name="Google Shape;91;p3"/>
          <p:cNvSpPr txBox="1"/>
          <p:nvPr/>
        </p:nvSpPr>
        <p:spPr>
          <a:xfrm>
            <a:off x="5143027" y="1719072"/>
            <a:ext cx="6634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RA확정(17)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128016" y="1719072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graphicFrame>
        <p:nvGraphicFramePr>
          <p:cNvPr id="93" name="Google Shape;93;p3"/>
          <p:cNvGraphicFramePr/>
          <p:nvPr/>
        </p:nvGraphicFramePr>
        <p:xfrm>
          <a:off x="219456" y="2011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868675"/>
                <a:gridCol w="640075"/>
                <a:gridCol w="1874525"/>
                <a:gridCol w="914400"/>
                <a:gridCol w="731525"/>
                <a:gridCol w="5943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의뢰번호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브랜드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시안 제목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위험도 요약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진행상태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벨르코어 리제너레이팅 크림 리뉴얼 상세페이지_v2.pdf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 2 | 주의 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[RA검토대기]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[결과보기]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CLM-26-0127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아쿠아퓨어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워터뱅크 히알루로닉 올리브영 배너.pptx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 0 | 주의 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[조건부승인]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[결과보기]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CLM-26-0126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벨르코어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블랙쿠션 파운데이션 15초 영상(캡처 5건)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 1 | 주의 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[실증보완요청]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[실증매핑]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그린네이처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그린티 씨드 세럼 글로벌 영문 브로슈어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 0 | 주의 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[최종승인]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[리포트]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더마쉴드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아토베리어365 크림 약국 POP 시안.jpg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 3 | 주의 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[반려]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[반려사유]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 부스팅 에센스 6세대 백화점 포스터.pdf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 0 | 주의 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[최종승인]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[리포트]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아쿠아퓨어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립슬리핑마스크 틱톡 숏폼 영상(캡처 4건)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 0 | 주의 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[RA검토중]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[결과보기]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4" name="Google Shape;94;p3"/>
          <p:cNvSpPr txBox="1"/>
          <p:nvPr/>
        </p:nvSpPr>
        <p:spPr>
          <a:xfrm>
            <a:off x="1463039" y="4553712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《   &lt;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1828800" y="4562856"/>
            <a:ext cx="182880" cy="18288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1993392" y="4553712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97" name="Google Shape;97;p3"/>
          <p:cNvSpPr txBox="1"/>
          <p:nvPr/>
        </p:nvSpPr>
        <p:spPr>
          <a:xfrm>
            <a:off x="2066544" y="4553712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2231136" y="4553712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2304288" y="4553712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2468880" y="4553712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2542032" y="4553712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2706624" y="4553712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2779776" y="4553712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2999232" y="4553712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   》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5961888" y="1737360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위반·주의 카테고리 분포 현황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5870448" y="1719072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5961888" y="2011680"/>
            <a:ext cx="2834640" cy="16642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6035040" y="210312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의약품 오인·과장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7360920" y="2130551"/>
            <a:ext cx="822960" cy="12801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7360920" y="2130551"/>
            <a:ext cx="687994" cy="128016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8211312" y="21031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38% (25건)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6035040" y="2450591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효능·효과 실증 미비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7360920" y="2478023"/>
            <a:ext cx="822960" cy="12801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360920" y="2478023"/>
            <a:ext cx="525048" cy="128016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8211312" y="245059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29% (19건)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6035040" y="2798063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배합한도/원료 표현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7360920" y="2825495"/>
            <a:ext cx="822960" cy="12801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360920" y="2825495"/>
            <a:ext cx="325892" cy="128016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8211312" y="2798063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18% (12건)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6035040" y="3145535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비교·배타적 절대표현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7360920" y="3172967"/>
            <a:ext cx="822960" cy="12801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7360920" y="3172967"/>
            <a:ext cx="271576" cy="128016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8211312" y="314553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15% (10건)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5961888" y="3749039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즉시 조치 필요 알림 (실증/반려)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5870448" y="3730752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5961888" y="3986784"/>
            <a:ext cx="2834640" cy="1207008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[실증요청] 벨르코어 블랙쿠션 '24시간 다크닝 제로' 인체적용시험 성적서 매핑 필요 [이동]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68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[반려보완] 더마쉴드 아토베리어 '아토피 피부염 치료' 문구 삭제 후 재심의 요망 [이동]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68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[마케팅허브수신] 루미에르 루미에르 부스팅 에센스 신규 시안 2건이 자동 접수되었습니다. [확인]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1737360" y="5413248"/>
            <a:ext cx="310896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1792224" y="5458968"/>
            <a:ext cx="29992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[반려 사유 요약 - CLM-26-0124]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'아토피 피부염 치료 및 재생' 문구는 표시·광고 공정화법 제3조(의약품 오인)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절대 금지 표현입니다. 대체문안 적용 후 재상신 바랍니다.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2418587" y="6364224"/>
            <a:ext cx="836676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닫기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3328415" y="6364224"/>
            <a:ext cx="836676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대조뷰어 이동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1664207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2A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5212080" y="5413248"/>
            <a:ext cx="310896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5266944" y="5458968"/>
            <a:ext cx="29992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선택하신 심의건(CLM-26-0126)은 실증 성적서 미첨부 상태입니다.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실증자료 매핑 화면(SCR_CLM_04)으로 이동하시겠습니까?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6163056" y="6364224"/>
            <a:ext cx="566928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6803136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이동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513892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4A</a:t>
            </a:r>
            <a:endParaRPr/>
          </a:p>
        </p:txBody>
      </p:sp>
      <p:graphicFrame>
        <p:nvGraphicFramePr>
          <p:cNvPr id="137" name="Google Shape;137;p3"/>
          <p:cNvGraphicFramePr/>
          <p:nvPr/>
        </p:nvGraphicFramePr>
        <p:xfrm>
          <a:off x="9034272" y="329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47475"/>
                <a:gridCol w="27157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237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[메인 심의 대시보드 (SCR_DSH_01)]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[조회 기간 및 브랜드 필터]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기본값: '최근 7일' 및 로그인 사용자의 담당 브랜드 전체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변경 시 상단 KPI 카드 4종 및 하단 차트/그리드 즉시 갱신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[+ 신규 심의 의뢰 버튼]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클릭 시 신규 심의 신청 화면(SCR_CLM_01)으로 이동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[4대 핵심 KPI 요약 카드]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금일 접수 건수(마케팅허브 자동수신 포함), AI 판정 완료 건수/평균시간, RA 대기 건수, 위반·주의 검출률 표시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[내 담당 최근 심의 진행 현황 그리드]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상태 탭(전체/AI판정중/보완필요/RA확정) 필터링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[반려사유] 클릭 시 2A 요약 팝업 노출, [실증매핑] 클릭 시 4A 확인 후 SCR_CLM_04 이동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[위반·주의 카테고리 분포]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식약처 10대 금지/주의 유형 중 상위 검출 카테고리 비율 시각화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[즉시 조치 필요 알림 박스]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실증 보완 요청, 반려 건, 마케팅허브 신규 수신 건 클릭 시 해당 화면 직행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 txBox="1"/>
          <p:nvPr/>
        </p:nvSpPr>
        <p:spPr>
          <a:xfrm>
            <a:off x="128016" y="5486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1.2 신규 심의 신청 폼 (시안·동영상 캡처)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4846320" y="5486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SCR_CLM_01 / 01_V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9034272" y="54864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광고심의 &gt; 신규 심의 의뢰 &gt; 시안 등록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91440" y="329184"/>
            <a:ext cx="8851392" cy="6419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219456" y="402336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신규 광고심의 의뢰 등록 및 동영상 장면 캡처</a:t>
            </a:r>
            <a:endParaRPr/>
          </a:p>
        </p:txBody>
      </p:sp>
      <p:cxnSp>
        <p:nvCxnSpPr>
          <p:cNvPr id="147" name="Google Shape;147;p4"/>
          <p:cNvCxnSpPr/>
          <p:nvPr/>
        </p:nvCxnSpPr>
        <p:spPr>
          <a:xfrm>
            <a:off x="219456" y="749808"/>
            <a:ext cx="857707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8" name="Google Shape;148;p4"/>
          <p:cNvCxnSpPr/>
          <p:nvPr/>
        </p:nvCxnSpPr>
        <p:spPr>
          <a:xfrm>
            <a:off x="91440" y="5321808"/>
            <a:ext cx="885139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9" name="Google Shape;149;p4"/>
          <p:cNvSpPr/>
          <p:nvPr/>
        </p:nvSpPr>
        <p:spPr>
          <a:xfrm>
            <a:off x="100584" y="5330952"/>
            <a:ext cx="8833104" cy="140817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182880" y="535838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[연계 팝업 / Alert 정의]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6217920" y="429768"/>
            <a:ext cx="77724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마케팅허브 불러오기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7040880" y="429768"/>
            <a:ext cx="658368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임시저장</a:t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7754112" y="429768"/>
            <a:ext cx="1042415" cy="237744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사전심의 실행 ▶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7662672" y="36576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219456" y="804672"/>
            <a:ext cx="2103120" cy="237744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시안 등록·영상 캡처 (현재단계)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2377439" y="804672"/>
            <a:ext cx="2103120" cy="23774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OCR 문장분리·AI 사전판정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4535423" y="804672"/>
            <a:ext cx="2103120" cy="23774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좌우 대조·대체어 치환</a:t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6693407" y="804672"/>
            <a:ext cx="2103120" cy="23774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실증자료 매핑·RA 상신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219456" y="109728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기본 심의 의뢰 정보 입력 (* 필수)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128016" y="1078992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graphicFrame>
        <p:nvGraphicFramePr>
          <p:cNvPr id="161" name="Google Shape;161;p4"/>
          <p:cNvGraphicFramePr/>
          <p:nvPr/>
        </p:nvGraphicFramePr>
        <p:xfrm>
          <a:off x="219456" y="13167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960125"/>
                <a:gridCol w="1965950"/>
                <a:gridCol w="914400"/>
                <a:gridCol w="1965950"/>
                <a:gridCol w="914400"/>
                <a:gridCol w="1856225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브랜드 *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 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제품명 *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벨르코어 리제너레이팅 크림 리뉴얼 (60ml)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출시국가 *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국내 (KR) 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광고매체 *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자사몰/올리브영 상세페이지 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긴급도 *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◉ 일반 (D-3)   ○ 긴급 (D-1)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마케팅허브 번호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REQ-2026-0891 (자동연동)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시안 제목 *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2026년 10월 루미에르 벨르코어 리제너레이팅 크림 리뉴얼 런칭 온라인 상세페이지 및 15초 영상 심의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연동 전성분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벨르코어 리제너레이팅 크림_전성분_v4 (매핑됨)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62" name="Google Shape;162;p4"/>
          <p:cNvCxnSpPr/>
          <p:nvPr/>
        </p:nvCxnSpPr>
        <p:spPr>
          <a:xfrm>
            <a:off x="219456" y="2377439"/>
            <a:ext cx="857707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3" name="Google Shape;163;p4"/>
          <p:cNvSpPr txBox="1"/>
          <p:nvPr/>
        </p:nvSpPr>
        <p:spPr>
          <a:xfrm>
            <a:off x="219456" y="2139696"/>
            <a:ext cx="403936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탭1: 문서·이미지 시안 업로드 (PPTX / PDF / 긴 JPG)</a:t>
            </a:r>
            <a:endParaRPr/>
          </a:p>
        </p:txBody>
      </p:sp>
      <p:cxnSp>
        <p:nvCxnSpPr>
          <p:cNvPr id="164" name="Google Shape;164;p4"/>
          <p:cNvCxnSpPr/>
          <p:nvPr/>
        </p:nvCxnSpPr>
        <p:spPr>
          <a:xfrm>
            <a:off x="219456" y="2377439"/>
            <a:ext cx="4039362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5" name="Google Shape;165;p4"/>
          <p:cNvSpPr txBox="1"/>
          <p:nvPr/>
        </p:nvSpPr>
        <p:spPr>
          <a:xfrm>
            <a:off x="4295394" y="2139696"/>
            <a:ext cx="276377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탭2: 동영상 사용자 지정 장면 캡처 (MP4)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7095744" y="2139696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탭3: 텍스트 카피 직접 입력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128016" y="212140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219456" y="2450592"/>
            <a:ext cx="4160520" cy="2761488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329184" y="2505456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[문서·이미지 시안 업로드 영역]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329184" y="2743200"/>
            <a:ext cx="3931920" cy="1170432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71" name="Google Shape;171;p4"/>
          <p:cNvCxnSpPr/>
          <p:nvPr/>
        </p:nvCxnSpPr>
        <p:spPr>
          <a:xfrm>
            <a:off x="329184" y="2743200"/>
            <a:ext cx="3931920" cy="1170432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2" name="Google Shape;172;p4"/>
          <p:cNvCxnSpPr/>
          <p:nvPr/>
        </p:nvCxnSpPr>
        <p:spPr>
          <a:xfrm flipH="1">
            <a:off x="329184" y="2743200"/>
            <a:ext cx="3931920" cy="1170432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3" name="Google Shape;173;p4"/>
          <p:cNvSpPr/>
          <p:nvPr/>
        </p:nvSpPr>
        <p:spPr>
          <a:xfrm>
            <a:off x="420624" y="3209544"/>
            <a:ext cx="3749039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파일을 마우스로 끌어오거나 [파일 선택] 클릭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지원 포맷 : PPTX, PDF, JPG(세로형 상세페이지), PNG (최대 200MB)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274320" y="2688336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graphicFrame>
        <p:nvGraphicFramePr>
          <p:cNvPr id="175" name="Google Shape;175;p4"/>
          <p:cNvGraphicFramePr/>
          <p:nvPr/>
        </p:nvGraphicFramePr>
        <p:xfrm>
          <a:off x="329184" y="39867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57450"/>
                <a:gridCol w="1653200"/>
                <a:gridCol w="670225"/>
                <a:gridCol w="580850"/>
                <a:gridCol w="402125"/>
                <a:gridCol w="2680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순번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첨부 파일명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유형/용량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슬라이드/컷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삭제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루미에르_벨르코어 리제너레이팅 크림_상세페이지_v2.pdf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PDF / 14.2MB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 페이지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변환완료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[✕]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루미에르_올리브영_세로배너_긴이미지.jpg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JPG / 8.6MB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자동 4분할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변환완료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[✕]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6" name="Google Shape;176;p4"/>
          <p:cNvSpPr txBox="1"/>
          <p:nvPr/>
        </p:nvSpPr>
        <p:spPr>
          <a:xfrm>
            <a:off x="329184" y="4956048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세로 4,000px 이상 긴 JPG 시안은 OCR 인식률 보장을 위해 문단 경계 기준으로 자동 분할됩니다.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4498848" y="2450592"/>
            <a:ext cx="4297680" cy="2761488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4608576" y="2505456"/>
            <a:ext cx="4069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[동영상 사용자 지정 장면 캡처 (SCR_CLM_01_V)]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4425696" y="2450592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4608576" y="2743200"/>
            <a:ext cx="2423160" cy="141732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81" name="Google Shape;181;p4"/>
          <p:cNvCxnSpPr/>
          <p:nvPr/>
        </p:nvCxnSpPr>
        <p:spPr>
          <a:xfrm>
            <a:off x="4608576" y="2743200"/>
            <a:ext cx="2423160" cy="141732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2" name="Google Shape;182;p4"/>
          <p:cNvCxnSpPr/>
          <p:nvPr/>
        </p:nvCxnSpPr>
        <p:spPr>
          <a:xfrm flipH="1">
            <a:off x="4608576" y="2743200"/>
            <a:ext cx="2423160" cy="141732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3" name="Google Shape;183;p4"/>
          <p:cNvSpPr/>
          <p:nvPr/>
        </p:nvSpPr>
        <p:spPr>
          <a:xfrm>
            <a:off x="4700016" y="3332988"/>
            <a:ext cx="2240279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MP4 영상 재생기 프리뷰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벨르코어_블랙쿠션_15s.mp4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[현재 시점 : 00:04.2 / 00:15.0]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4608576" y="4206240"/>
            <a:ext cx="242316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 ❚❚   ━━━●━━━━━━━━   00:04.2 / 00:15.0</a:t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4608576" y="4462272"/>
            <a:ext cx="1188720" cy="2560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 현재 장면 캡처 저장</a:t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5843016" y="4462272"/>
            <a:ext cx="118872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캡처 일괄 삭제</a:t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7114032" y="2743200"/>
            <a:ext cx="1572768" cy="19751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7040880" y="2688336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7168896" y="277977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캡처된 심의 장면 (4건)</a:t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7168896" y="3017520"/>
            <a:ext cx="1463040" cy="329184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☑ #1 [00:01.8] 메인 타이틀</a:t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7168896" y="3401568"/>
            <a:ext cx="1463040" cy="329184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☑ #2 [00:04.2] 탄력 84% 개선</a:t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7168896" y="3785615"/>
            <a:ext cx="1463040" cy="329184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☑ #3 [00:08.5] 콜라겐 생성촉진</a:t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7168896" y="4169663"/>
            <a:ext cx="1463040" cy="329184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☑ #4 [00:13.9] 임상시험 각주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4608576" y="4773168"/>
            <a:ext cx="40782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영상을 재생하며 심의할 자막/효능 장면에서 [+ 현재 장면 캡처 저장] 클릭 시 우측 목록에 프레임 이미지가 적재됩니다.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적재된 캡처 장면들은 [AI 사전심의 실행] 시 일반 문서 슬라이드와 동일하게 일괄 OCR 및 AI 심의가 수행됩니다.</a:t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1463040" y="5413248"/>
            <a:ext cx="233172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1517904" y="5458968"/>
            <a:ext cx="2221991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필수 입력 항목(브랜드, 제품명, 광고매체,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시안 파일 또는 캡처 장면)을 모두 입력해 주세요.</a:t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2345436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138988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1A</a:t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3977639" y="5413248"/>
            <a:ext cx="233172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4032503" y="5458968"/>
            <a:ext cx="2221991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업로드할 수 없는 파일 형식(.exe)이거나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최대 허용 용량(200MB)을 초과하였습니다.</a:t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4860036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3904487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3A</a:t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6492240" y="5413248"/>
            <a:ext cx="233172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6547103" y="5458968"/>
            <a:ext cx="2221991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첨부된 시안(12p) 및 동영상 캡처(4장면)에 대해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OCR 추출 및 AI 3단계 사전심의를 시작하시겠습니까?</a:t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6976871" y="6364224"/>
            <a:ext cx="644652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7694675" y="6364224"/>
            <a:ext cx="644652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심의 시작</a:t>
            </a: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641908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6A</a:t>
            </a:r>
            <a:endParaRPr/>
          </a:p>
        </p:txBody>
      </p:sp>
      <p:graphicFrame>
        <p:nvGraphicFramePr>
          <p:cNvPr id="208" name="Google Shape;208;p4"/>
          <p:cNvGraphicFramePr/>
          <p:nvPr/>
        </p:nvGraphicFramePr>
        <p:xfrm>
          <a:off x="9034272" y="329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47475"/>
                <a:gridCol w="27157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237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[신규 심의 신청 및 동영상 캡처 (SCR_CLM_01/01_V)]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[기본 심의 의뢰 정보]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브랜드 선택 시 사내 제품/전성분 마스터에서 제품명 및 전성분 목록 자동 매핑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마케팅허브 연동 건은 의뢰번호 및 메타데이터 자동 세팅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필수값 누락 시 1A Alert 노출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[시안 입력 방식 탭 전환]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문서/이미지 업로드, MP4 동영상 장면 캡처, 텍스트 직접 입력 병행 지원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[문서·긴 JPG 업로더]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PPTX/PDF 페이지 자동 분리 및 세로형 긴 JPG 슬라이싱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포맷/용량 위반 시 3A Alert 노출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[동영상 플레이어 및 수동 장면 캡처]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사용자가 MP4 영상을 직접 재생/탐색하며 [+ 현재 장면 캡처 저장] 클릭 시 해당 타임스탬프의 고화질 정지 프레임을 즉시 추출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[캡처된 심의 장면 목록]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캡처된 다중 장면을 순서대로 확인/삭제하고 일괄 심의 대상으로 지정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[AI 사전심의 실행]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클릭 시 6A Confirm 확인 후 OCR 문장 분리 및 AI 판정 화면(SCR_CLM_02)으로 이동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"/>
          <p:cNvSpPr txBox="1"/>
          <p:nvPr/>
        </p:nvSpPr>
        <p:spPr>
          <a:xfrm>
            <a:off x="128016" y="5486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1.3 OCR 문장 분리 및 편집</a:t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4846320" y="5486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SCR_CLM_02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9034272" y="54864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광고심의 &gt; 신규 심의 의뢰 &gt; AI 사전 판정</a:t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91440" y="329184"/>
            <a:ext cx="8851392" cy="6419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219456" y="402336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OCR 문장 분리·편집 및 AI 3단계 사전 판정 콘솔</a:t>
            </a:r>
            <a:endParaRPr/>
          </a:p>
        </p:txBody>
      </p:sp>
      <p:cxnSp>
        <p:nvCxnSpPr>
          <p:cNvPr id="218" name="Google Shape;218;p5"/>
          <p:cNvCxnSpPr/>
          <p:nvPr/>
        </p:nvCxnSpPr>
        <p:spPr>
          <a:xfrm>
            <a:off x="219456" y="749808"/>
            <a:ext cx="857707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9" name="Google Shape;219;p5"/>
          <p:cNvCxnSpPr/>
          <p:nvPr/>
        </p:nvCxnSpPr>
        <p:spPr>
          <a:xfrm>
            <a:off x="91440" y="5321808"/>
            <a:ext cx="885139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0" name="Google Shape;220;p5"/>
          <p:cNvSpPr/>
          <p:nvPr/>
        </p:nvSpPr>
        <p:spPr>
          <a:xfrm>
            <a:off x="100584" y="5330952"/>
            <a:ext cx="8833104" cy="140817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182880" y="535838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[연계 팝업 / Alert 정의]</a:t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5321808" y="429768"/>
            <a:ext cx="804672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문장 병합</a:t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6172200" y="429768"/>
            <a:ext cx="804672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문장 행 분할</a:t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7022592" y="429768"/>
            <a:ext cx="82296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재판정 실행</a:t>
            </a: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7900416" y="429768"/>
            <a:ext cx="896112" cy="237744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대조 뷰어 ▶</a:t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5230368" y="36576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6931152" y="36576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219456" y="804672"/>
            <a:ext cx="8577072" cy="32918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[AI 3단계 하이브리드 판정 진행 상태]   1단계: 금지어·전성분 룰 필터링 [완료 0.4초]  ➔  2단계: 식약처 법령·ProductLab 실증 RAG [완료 2.1초]  ➔  3단계: LLM 문맥 판정 [완료 5.3초]</a:t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128016" y="786384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219456" y="1207008"/>
            <a:ext cx="3520440" cy="402336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310896" y="126187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시안 페이지 : [ 1 / 12 페이지 ▼ ]</a:t>
            </a:r>
            <a:endParaRPr/>
          </a:p>
        </p:txBody>
      </p:sp>
      <p:sp>
        <p:nvSpPr>
          <p:cNvPr id="232" name="Google Shape;232;p5"/>
          <p:cNvSpPr txBox="1"/>
          <p:nvPr/>
        </p:nvSpPr>
        <p:spPr>
          <a:xfrm>
            <a:off x="2468880" y="126187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배율: [-] 100% [+]</a:t>
            </a: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128016" y="120700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329184" y="1517904"/>
            <a:ext cx="3300984" cy="35844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457200" y="1664208"/>
            <a:ext cx="3044952" cy="493776"/>
          </a:xfrm>
          <a:prstGeom prst="rect">
            <a:avLst/>
          </a:prstGeom>
          <a:solidFill>
            <a:srgbClr val="EDEDED"/>
          </a:solidFill>
          <a:ln cap="flat" cmpd="sng" w="152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[OCR Box #01]  피부 세포 재생을 돕는 벨르코어 안티에이징</a:t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457200" y="2267712"/>
            <a:ext cx="3044952" cy="4937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[OCR Box #02]  단 4주 만에 느끼는 72시간 보습 지속력</a:t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457200" y="2852928"/>
            <a:ext cx="3044952" cy="105156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38" name="Google Shape;238;p5"/>
          <p:cNvCxnSpPr/>
          <p:nvPr/>
        </p:nvCxnSpPr>
        <p:spPr>
          <a:xfrm>
            <a:off x="457200" y="2852928"/>
            <a:ext cx="3044952" cy="1051559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9" name="Google Shape;239;p5"/>
          <p:cNvCxnSpPr/>
          <p:nvPr/>
        </p:nvCxnSpPr>
        <p:spPr>
          <a:xfrm flipH="1">
            <a:off x="457200" y="2852928"/>
            <a:ext cx="3044952" cy="1051559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0" name="Google Shape;240;p5"/>
          <p:cNvSpPr/>
          <p:nvPr/>
        </p:nvSpPr>
        <p:spPr>
          <a:xfrm>
            <a:off x="635508" y="3259836"/>
            <a:ext cx="2688335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연출 이미지 영역 (비텍스트 영역)</a:t>
            </a: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457200" y="4005072"/>
            <a:ext cx="3044952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[OCR Box #03]  인삼 사포닌 고농축 캡슐 10,000ppm 함유</a:t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457200" y="4517136"/>
            <a:ext cx="3044952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[OCR Box #04]  *시험기관: 피앤케이 / 2026.05 / 성인여성 32명</a:t>
            </a:r>
            <a:endParaRPr/>
          </a:p>
        </p:txBody>
      </p:sp>
      <p:sp>
        <p:nvSpPr>
          <p:cNvPr id="243" name="Google Shape;243;p5"/>
          <p:cNvSpPr txBox="1"/>
          <p:nvPr/>
        </p:nvSpPr>
        <p:spPr>
          <a:xfrm>
            <a:off x="3840480" y="1225296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추출 문장 목록 및 수동 교정 (총 4문장 추출  |  오타 교정 및 문장 병합/분할 가능)</a:t>
            </a: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3749039" y="120700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graphicFrame>
        <p:nvGraphicFramePr>
          <p:cNvPr id="245" name="Google Shape;245;p5"/>
          <p:cNvGraphicFramePr/>
          <p:nvPr/>
        </p:nvGraphicFramePr>
        <p:xfrm>
          <a:off x="3840480" y="14813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292600"/>
                <a:gridCol w="502925"/>
                <a:gridCol w="685800"/>
                <a:gridCol w="1965950"/>
                <a:gridCol w="530350"/>
                <a:gridCol w="530350"/>
                <a:gridCol w="4480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1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1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박스번호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1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문장 구분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1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OCR 추출 및 편집 텍스트 (클릭하여 직접 수정)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1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1단계(룰)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1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2단계(RAG)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1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3단계(종합)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#01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헤드카피 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피부 세포 재생을 돕는 벨르코어 안티에이징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금지어검출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법령위반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[금지]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#02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서브카피 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 4주 만에 느끼는 72시간 보습 지속력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실증필요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[주의]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#03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효능소구 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인삼 사포닌 고농축 캡슐 10,000ppm 함유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전성분일치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[적합]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#04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법정각주 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*시험기관: 피앤케이 / 2026.05 / 성인여성 32명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각주적합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8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[적합]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6" name="Google Shape;246;p5"/>
          <p:cNvSpPr/>
          <p:nvPr/>
        </p:nvSpPr>
        <p:spPr>
          <a:xfrm>
            <a:off x="3840480" y="3401568"/>
            <a:ext cx="4956048" cy="182880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7" name="Google Shape;247;p5"/>
          <p:cNvSpPr txBox="1"/>
          <p:nvPr/>
        </p:nvSpPr>
        <p:spPr>
          <a:xfrm>
            <a:off x="3950208" y="3456432"/>
            <a:ext cx="4736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[선택 문장(#01) 텍스트 수동 교정 및 바운딩 박스 좌표 미세조정]</a:t>
            </a:r>
            <a:endParaRPr/>
          </a:p>
        </p:txBody>
      </p:sp>
      <p:sp>
        <p:nvSpPr>
          <p:cNvPr id="248" name="Google Shape;248;p5"/>
          <p:cNvSpPr txBox="1"/>
          <p:nvPr/>
        </p:nvSpPr>
        <p:spPr>
          <a:xfrm>
            <a:off x="3950208" y="3712463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추출 원문</a:t>
            </a: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4736592" y="3694176"/>
            <a:ext cx="393192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피부 세포 재생을 돕는 벨르코어 안티에이징</a:t>
            </a:r>
            <a:endParaRPr/>
          </a:p>
        </p:txBody>
      </p:sp>
      <p:sp>
        <p:nvSpPr>
          <p:cNvPr id="250" name="Google Shape;250;p5"/>
          <p:cNvSpPr txBox="1"/>
          <p:nvPr/>
        </p:nvSpPr>
        <p:spPr>
          <a:xfrm>
            <a:off x="3950208" y="4023360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문장 유형</a:t>
            </a:r>
            <a:endParaRPr/>
          </a:p>
        </p:txBody>
      </p:sp>
      <p:sp>
        <p:nvSpPr>
          <p:cNvPr id="251" name="Google Shape;251;p5"/>
          <p:cNvSpPr/>
          <p:nvPr/>
        </p:nvSpPr>
        <p:spPr>
          <a:xfrm>
            <a:off x="4736592" y="4005072"/>
            <a:ext cx="128016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헤드카피</a:t>
            </a:r>
            <a:endParaRPr/>
          </a:p>
        </p:txBody>
      </p:sp>
      <p:sp>
        <p:nvSpPr>
          <p:cNvPr id="252" name="Google Shape;252;p5"/>
          <p:cNvSpPr txBox="1"/>
          <p:nvPr/>
        </p:nvSpPr>
        <p:spPr>
          <a:xfrm>
            <a:off x="5815584" y="4005072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253" name="Google Shape;253;p5"/>
          <p:cNvSpPr txBox="1"/>
          <p:nvPr/>
        </p:nvSpPr>
        <p:spPr>
          <a:xfrm>
            <a:off x="6144768" y="4023360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 각주</a:t>
            </a: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6931152" y="4005072"/>
            <a:ext cx="173736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#04 (*시험기관: 피앤케이...)</a:t>
            </a:r>
            <a:endParaRPr/>
          </a:p>
        </p:txBody>
      </p:sp>
      <p:sp>
        <p:nvSpPr>
          <p:cNvPr id="255" name="Google Shape;255;p5"/>
          <p:cNvSpPr txBox="1"/>
          <p:nvPr/>
        </p:nvSpPr>
        <p:spPr>
          <a:xfrm>
            <a:off x="8467344" y="4005072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3950208" y="4315968"/>
            <a:ext cx="4718304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[1단계 룰사전] 금지어 '세포 재생' 매칭 (식약처 의약품 오인 금지어 사전 #RULE-0042)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[2단계 법령RAG] 표시·광고 공정화법 제3조 제1항 제1호 위반 판례(유사도 0.94) 검출</a:t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7022592" y="4901184"/>
            <a:ext cx="786384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초기화</a:t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>
            <a:off x="7863840" y="4901184"/>
            <a:ext cx="804672" cy="237744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교정 내용 반영</a:t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1645920" y="5413248"/>
            <a:ext cx="310896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5"/>
          <p:cNvSpPr txBox="1"/>
          <p:nvPr/>
        </p:nvSpPr>
        <p:spPr>
          <a:xfrm>
            <a:off x="1700784" y="5458968"/>
            <a:ext cx="29992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선택하신 2개 문장(#01, #02)을 단일 문장으로 병합하시겠습니까?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병합 시 바운딩 박스 영역이 하나로 통합됩니다.</a:t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2596896" y="6364224"/>
            <a:ext cx="566928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3236976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병합</a:t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157276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3A</a:t>
            </a: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5120640" y="5413248"/>
            <a:ext cx="320040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p5"/>
          <p:cNvSpPr txBox="1"/>
          <p:nvPr/>
        </p:nvSpPr>
        <p:spPr>
          <a:xfrm>
            <a:off x="5175503" y="5458968"/>
            <a:ext cx="309067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수동 교정 또는 병합/분할된 문장(2건)에 대하여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3단계 판정 엔진을 재실행하시겠습니까?</a:t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5943600" y="6364224"/>
            <a:ext cx="740664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6757416" y="6364224"/>
            <a:ext cx="740664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재판정 실행</a:t>
            </a:r>
            <a:endParaRPr/>
          </a:p>
        </p:txBody>
      </p:sp>
      <p:sp>
        <p:nvSpPr>
          <p:cNvPr id="268" name="Google Shape;268;p5"/>
          <p:cNvSpPr/>
          <p:nvPr/>
        </p:nvSpPr>
        <p:spPr>
          <a:xfrm>
            <a:off x="504748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5A</a:t>
            </a:r>
            <a:endParaRPr/>
          </a:p>
        </p:txBody>
      </p:sp>
      <p:graphicFrame>
        <p:nvGraphicFramePr>
          <p:cNvPr id="269" name="Google Shape;269;p5"/>
          <p:cNvGraphicFramePr/>
          <p:nvPr/>
        </p:nvGraphicFramePr>
        <p:xfrm>
          <a:off x="9034272" y="329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47475"/>
                <a:gridCol w="27157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237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[OCR 문장 분리 및 AI 사전판정 (SCR_CLM_02)]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[AI 3단계 하이브리드 판정 상태 바]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1단계(금지어/전성분 룰) ➔ 2단계(식약처 법령·ProductLab 실증 RAG) ➔ 3단계(LLM 문맥 판정) 단계별 처리 상태 및 소요시간 표시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[시안/캡처장면 바운딩 박스 캔버스]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시안 이미지 위 OCR 추출 영역(#01~#04)을 박스로 시각화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박스 클릭 시 우측 테이블 해당 행과 양방향 하이라이트 동기화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[문장 병합 및 분할 버튼]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줄바꿈으로 인해 한 문장이 여러 박스로 쪼개진 경우 체크박스 다중 선택 후 [선택 문장 병합] 클릭 시 3A Confirm 후 하나로 통합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[추출 문장 목록 및 수동 교정]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OCR 오인식 글자를 사용자가 직접 텍스트 수정하고 문장 구분(헤드카피/서브카피/각주) 및 연결 각주를 지정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[AI 재판정 실행 및 대조 뷰어 이동]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문장 편집 후 [AI 재판정 실행] 클릭 시 5A Confirm 후 변경된 문장만 즉시 재분석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"/>
          <p:cNvSpPr txBox="1"/>
          <p:nvPr/>
        </p:nvSpPr>
        <p:spPr>
          <a:xfrm>
            <a:off x="128016" y="5486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1.4 AI 심의 결과 좌우 대조 뷰어</a:t>
            </a:r>
            <a:endParaRPr/>
          </a:p>
        </p:txBody>
      </p:sp>
      <p:sp>
        <p:nvSpPr>
          <p:cNvPr id="275" name="Google Shape;275;p6"/>
          <p:cNvSpPr txBox="1"/>
          <p:nvPr/>
        </p:nvSpPr>
        <p:spPr>
          <a:xfrm>
            <a:off x="4846320" y="5486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SCR_CLM_03</a:t>
            </a:r>
            <a:endParaRPr/>
          </a:p>
        </p:txBody>
      </p:sp>
      <p:sp>
        <p:nvSpPr>
          <p:cNvPr id="276" name="Google Shape;276;p6"/>
          <p:cNvSpPr txBox="1"/>
          <p:nvPr/>
        </p:nvSpPr>
        <p:spPr>
          <a:xfrm>
            <a:off x="9034272" y="54864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광고심의 &gt; 신규 심의 의뢰 &gt; 문안 대조/수정</a:t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91440" y="329184"/>
            <a:ext cx="8851392" cy="6419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219456" y="402336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심의 결과 좌우 대조 및 안전 대체문안 치환 뷰어</a:t>
            </a:r>
            <a:endParaRPr/>
          </a:p>
        </p:txBody>
      </p:sp>
      <p:cxnSp>
        <p:nvCxnSpPr>
          <p:cNvPr id="279" name="Google Shape;279;p6"/>
          <p:cNvCxnSpPr/>
          <p:nvPr/>
        </p:nvCxnSpPr>
        <p:spPr>
          <a:xfrm>
            <a:off x="219456" y="749808"/>
            <a:ext cx="857707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80" name="Google Shape;280;p6"/>
          <p:cNvCxnSpPr/>
          <p:nvPr/>
        </p:nvCxnSpPr>
        <p:spPr>
          <a:xfrm>
            <a:off x="91440" y="5321808"/>
            <a:ext cx="885139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1" name="Google Shape;281;p6"/>
          <p:cNvSpPr/>
          <p:nvPr/>
        </p:nvSpPr>
        <p:spPr>
          <a:xfrm>
            <a:off x="100584" y="5330952"/>
            <a:ext cx="8833104" cy="140817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" name="Google Shape;282;p6"/>
          <p:cNvSpPr txBox="1"/>
          <p:nvPr/>
        </p:nvSpPr>
        <p:spPr>
          <a:xfrm>
            <a:off x="182880" y="535838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[연계 팝업 / Alert 정의]</a:t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>
            <a:off x="4315968" y="438912"/>
            <a:ext cx="548640" cy="219456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전체(18)</a:t>
            </a:r>
            <a:endParaRPr/>
          </a:p>
        </p:txBody>
      </p:sp>
      <p:sp>
        <p:nvSpPr>
          <p:cNvPr id="284" name="Google Shape;284;p6"/>
          <p:cNvSpPr/>
          <p:nvPr/>
        </p:nvSpPr>
        <p:spPr>
          <a:xfrm>
            <a:off x="4901184" y="438912"/>
            <a:ext cx="530352" cy="219456"/>
          </a:xfrm>
          <a:prstGeom prst="roundRect">
            <a:avLst>
              <a:gd fmla="val 12000" name="adj"/>
            </a:avLst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금지(2)</a:t>
            </a:r>
            <a:endParaRPr/>
          </a:p>
        </p:txBody>
      </p:sp>
      <p:sp>
        <p:nvSpPr>
          <p:cNvPr id="285" name="Google Shape;285;p6"/>
          <p:cNvSpPr/>
          <p:nvPr/>
        </p:nvSpPr>
        <p:spPr>
          <a:xfrm>
            <a:off x="5468112" y="438912"/>
            <a:ext cx="530352" cy="219456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주의(3)</a:t>
            </a:r>
            <a:endParaRPr/>
          </a:p>
        </p:txBody>
      </p:sp>
      <p:sp>
        <p:nvSpPr>
          <p:cNvPr id="286" name="Google Shape;286;p6"/>
          <p:cNvSpPr/>
          <p:nvPr/>
        </p:nvSpPr>
        <p:spPr>
          <a:xfrm>
            <a:off x="6035040" y="438912"/>
            <a:ext cx="566928" cy="219456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적합(13)</a:t>
            </a:r>
            <a:endParaRPr/>
          </a:p>
        </p:txBody>
      </p:sp>
      <p:sp>
        <p:nvSpPr>
          <p:cNvPr id="287" name="Google Shape;287;p6"/>
          <p:cNvSpPr/>
          <p:nvPr/>
        </p:nvSpPr>
        <p:spPr>
          <a:xfrm>
            <a:off x="6693408" y="429768"/>
            <a:ext cx="987552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대체어 일괄적용</a:t>
            </a:r>
            <a:endParaRPr/>
          </a:p>
        </p:txBody>
      </p:sp>
      <p:sp>
        <p:nvSpPr>
          <p:cNvPr id="288" name="Google Shape;288;p6"/>
          <p:cNvSpPr/>
          <p:nvPr/>
        </p:nvSpPr>
        <p:spPr>
          <a:xfrm>
            <a:off x="7735824" y="429768"/>
            <a:ext cx="1060704" cy="237744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실증자료 매핑 이동 ▶</a:t>
            </a: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4187952" y="38404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290" name="Google Shape;290;p6"/>
          <p:cNvSpPr/>
          <p:nvPr/>
        </p:nvSpPr>
        <p:spPr>
          <a:xfrm>
            <a:off x="7644383" y="36576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291" name="Google Shape;291;p6"/>
          <p:cNvSpPr/>
          <p:nvPr/>
        </p:nvSpPr>
        <p:spPr>
          <a:xfrm>
            <a:off x="219456" y="841248"/>
            <a:ext cx="3977639" cy="438912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2" name="Google Shape;292;p6"/>
          <p:cNvSpPr txBox="1"/>
          <p:nvPr/>
        </p:nvSpPr>
        <p:spPr>
          <a:xfrm>
            <a:off x="329184" y="89611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원본 시안 / 캡처장면 하이라이트 뷰어</a:t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2944368" y="877824"/>
            <a:ext cx="11430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Page 01 / 12</a:t>
            </a:r>
            <a:endParaRPr/>
          </a:p>
        </p:txBody>
      </p:sp>
      <p:sp>
        <p:nvSpPr>
          <p:cNvPr id="294" name="Google Shape;294;p6"/>
          <p:cNvSpPr txBox="1"/>
          <p:nvPr/>
        </p:nvSpPr>
        <p:spPr>
          <a:xfrm>
            <a:off x="3886200" y="877824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128016" y="82296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296" name="Google Shape;296;p6"/>
          <p:cNvSpPr/>
          <p:nvPr/>
        </p:nvSpPr>
        <p:spPr>
          <a:xfrm>
            <a:off x="329184" y="1170432"/>
            <a:ext cx="3758184" cy="39502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438912" y="1298448"/>
            <a:ext cx="3538728" cy="713232"/>
          </a:xfrm>
          <a:prstGeom prst="rect">
            <a:avLst/>
          </a:prstGeom>
          <a:solidFill>
            <a:srgbClr val="EDEDED"/>
          </a:solidFill>
          <a:ln cap="flat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[#01 금지 - 선택됨]  "피부 세포 재생을 돕는 벨르코어 안티에이징"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➔ 치환 후 미리보기 : "피부 본연의 자생력을 케어하는 벨르코어 안티에이징"</a:t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438912" y="2121408"/>
            <a:ext cx="3538728" cy="5852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[#02 주의 - 실증필요]  "단 4주 만에 느끼는 72시간 보습 지속력"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➔ 조치 안내 : ProductLab 인체적용시험 성적서 연결 및 각주 표기 필수</a:t>
            </a:r>
            <a:endParaRPr/>
          </a:p>
        </p:txBody>
      </p:sp>
      <p:sp>
        <p:nvSpPr>
          <p:cNvPr id="299" name="Google Shape;299;p6"/>
          <p:cNvSpPr/>
          <p:nvPr/>
        </p:nvSpPr>
        <p:spPr>
          <a:xfrm>
            <a:off x="438912" y="2816352"/>
            <a:ext cx="3538728" cy="150876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00" name="Google Shape;300;p6"/>
          <p:cNvCxnSpPr/>
          <p:nvPr/>
        </p:nvCxnSpPr>
        <p:spPr>
          <a:xfrm>
            <a:off x="438912" y="2816352"/>
            <a:ext cx="3538727" cy="150876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01" name="Google Shape;301;p6"/>
          <p:cNvCxnSpPr/>
          <p:nvPr/>
        </p:nvCxnSpPr>
        <p:spPr>
          <a:xfrm flipH="1">
            <a:off x="438912" y="2816352"/>
            <a:ext cx="3538727" cy="150876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2" name="Google Shape;302;p6"/>
          <p:cNvSpPr/>
          <p:nvPr/>
        </p:nvSpPr>
        <p:spPr>
          <a:xfrm>
            <a:off x="973836" y="3451860"/>
            <a:ext cx="2468879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상세 연출 그래픽 (위반 없음)</a:t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438912" y="4425696"/>
            <a:ext cx="3538728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[#03 적합]  "인삼 사포닌 고농축 캡슐 10,000ppm 함유 (전성분 함량 일치)"</a:t>
            </a:r>
            <a:endParaRPr/>
          </a:p>
        </p:txBody>
      </p:sp>
      <p:sp>
        <p:nvSpPr>
          <p:cNvPr id="304" name="Google Shape;304;p6"/>
          <p:cNvSpPr txBox="1"/>
          <p:nvPr/>
        </p:nvSpPr>
        <p:spPr>
          <a:xfrm>
            <a:off x="4315968" y="896112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문장별 위반 사유·법령 근거 및 AI 안전 대체문안 채택</a:t>
            </a:r>
            <a:endParaRPr/>
          </a:p>
        </p:txBody>
      </p:sp>
      <p:sp>
        <p:nvSpPr>
          <p:cNvPr id="305" name="Google Shape;305;p6"/>
          <p:cNvSpPr/>
          <p:nvPr/>
        </p:nvSpPr>
        <p:spPr>
          <a:xfrm>
            <a:off x="4224528" y="82296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306" name="Google Shape;306;p6"/>
          <p:cNvSpPr/>
          <p:nvPr/>
        </p:nvSpPr>
        <p:spPr>
          <a:xfrm>
            <a:off x="4315968" y="1170432"/>
            <a:ext cx="4480560" cy="251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4315968" y="1170432"/>
            <a:ext cx="4480560" cy="274320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[#01] 판정등급: [금지 (위험)]   |   위반유형: 의약품 오인·세포재생 표현</a:t>
            </a:r>
            <a:endParaRPr/>
          </a:p>
        </p:txBody>
      </p:sp>
      <p:sp>
        <p:nvSpPr>
          <p:cNvPr id="308" name="Google Shape;308;p6"/>
          <p:cNvSpPr txBox="1"/>
          <p:nvPr/>
        </p:nvSpPr>
        <p:spPr>
          <a:xfrm>
            <a:off x="4425696" y="1499616"/>
            <a:ext cx="426110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원문 카피 : "피부 세포 재생을 돕는 벨르코어 안티에이징"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9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위반 사유 : '세포 재생'은 손상된 생체 조직의 복구를 의미하여 표시·광고 공정화법상 의약품 오인 우려 표현에 해당함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9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법령/판례 근거 : 표시·광고 공정화법 제3조 제1항 제1호 / 식약처 표시·광고 가이드라인(2026) 제2장 [원문보기]</a:t>
            </a:r>
            <a:endParaRPr/>
          </a:p>
        </p:txBody>
      </p:sp>
      <p:sp>
        <p:nvSpPr>
          <p:cNvPr id="309" name="Google Shape;309;p6"/>
          <p:cNvSpPr txBox="1"/>
          <p:nvPr/>
        </p:nvSpPr>
        <p:spPr>
          <a:xfrm>
            <a:off x="4425696" y="2048256"/>
            <a:ext cx="42611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AI 추천 법적 안전 대체문안 (클릭 시 우측 수정본으로 즉시 채택)</a:t>
            </a:r>
            <a:endParaRPr/>
          </a:p>
        </p:txBody>
      </p:sp>
      <p:sp>
        <p:nvSpPr>
          <p:cNvPr id="310" name="Google Shape;310;p6"/>
          <p:cNvSpPr/>
          <p:nvPr/>
        </p:nvSpPr>
        <p:spPr>
          <a:xfrm>
            <a:off x="4224528" y="202996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311" name="Google Shape;311;p6"/>
          <p:cNvSpPr/>
          <p:nvPr/>
        </p:nvSpPr>
        <p:spPr>
          <a:xfrm>
            <a:off x="4425696" y="2267712"/>
            <a:ext cx="3529584" cy="292608"/>
          </a:xfrm>
          <a:prstGeom prst="rect">
            <a:avLst/>
          </a:prstGeom>
          <a:solidFill>
            <a:srgbClr val="EDEDED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[추천 1 (브랜드 톤앤매너 유지)]  피부 본연의 자생력을 케어하는 벨르코어 안티에이징</a:t>
            </a:r>
            <a:endParaRPr/>
          </a:p>
        </p:txBody>
      </p:sp>
      <p:sp>
        <p:nvSpPr>
          <p:cNvPr id="312" name="Google Shape;312;p6"/>
          <p:cNvSpPr/>
          <p:nvPr/>
        </p:nvSpPr>
        <p:spPr>
          <a:xfrm>
            <a:off x="8010144" y="2286000"/>
            <a:ext cx="676656" cy="2560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채택됨</a:t>
            </a:r>
            <a:endParaRPr/>
          </a:p>
        </p:txBody>
      </p:sp>
      <p:sp>
        <p:nvSpPr>
          <p:cNvPr id="313" name="Google Shape;313;p6"/>
          <p:cNvSpPr/>
          <p:nvPr/>
        </p:nvSpPr>
        <p:spPr>
          <a:xfrm>
            <a:off x="4425696" y="2596896"/>
            <a:ext cx="3529584" cy="292608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[추천 2 (보수적 안전 표현)]  거칠어진 피부결을 매끄럽고 탄탄하게 가꾸는 안티에이징</a:t>
            </a:r>
            <a:endParaRPr/>
          </a:p>
        </p:txBody>
      </p:sp>
      <p:sp>
        <p:nvSpPr>
          <p:cNvPr id="314" name="Google Shape;314;p6"/>
          <p:cNvSpPr/>
          <p:nvPr/>
        </p:nvSpPr>
        <p:spPr>
          <a:xfrm>
            <a:off x="8010144" y="2615184"/>
            <a:ext cx="676656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문구 채택</a:t>
            </a:r>
            <a:endParaRPr/>
          </a:p>
        </p:txBody>
      </p:sp>
      <p:sp>
        <p:nvSpPr>
          <p:cNvPr id="315" name="Google Shape;315;p6"/>
          <p:cNvSpPr/>
          <p:nvPr/>
        </p:nvSpPr>
        <p:spPr>
          <a:xfrm>
            <a:off x="4425696" y="2926079"/>
            <a:ext cx="3529584" cy="292608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[추천 3 (기능성 고시 표현)]  피부 주름개선 및 탄력 케어에 도움을 주는 벨르코어 안티에이징</a:t>
            </a: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8010144" y="2944368"/>
            <a:ext cx="676656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문구 채택</a:t>
            </a:r>
            <a:endParaRPr/>
          </a:p>
        </p:txBody>
      </p:sp>
      <p:sp>
        <p:nvSpPr>
          <p:cNvPr id="317" name="Google Shape;317;p6"/>
          <p:cNvSpPr txBox="1"/>
          <p:nvPr/>
        </p:nvSpPr>
        <p:spPr>
          <a:xfrm>
            <a:off x="4425696" y="3310128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수정문안</a:t>
            </a:r>
            <a:endParaRPr/>
          </a:p>
        </p:txBody>
      </p:sp>
      <p:sp>
        <p:nvSpPr>
          <p:cNvPr id="318" name="Google Shape;318;p6"/>
          <p:cNvSpPr/>
          <p:nvPr/>
        </p:nvSpPr>
        <p:spPr>
          <a:xfrm>
            <a:off x="5230368" y="3291840"/>
            <a:ext cx="274320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피부 본연의 자생력을 케어하는 벨르코어 안티에이징</a:t>
            </a:r>
            <a:endParaRPr/>
          </a:p>
        </p:txBody>
      </p:sp>
      <p:sp>
        <p:nvSpPr>
          <p:cNvPr id="319" name="Google Shape;319;p6"/>
          <p:cNvSpPr/>
          <p:nvPr/>
        </p:nvSpPr>
        <p:spPr>
          <a:xfrm>
            <a:off x="8010144" y="3291840"/>
            <a:ext cx="676656" cy="256032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직접저장</a:t>
            </a:r>
            <a:endParaRPr/>
          </a:p>
        </p:txBody>
      </p:sp>
      <p:sp>
        <p:nvSpPr>
          <p:cNvPr id="320" name="Google Shape;320;p6"/>
          <p:cNvSpPr/>
          <p:nvPr/>
        </p:nvSpPr>
        <p:spPr>
          <a:xfrm>
            <a:off x="4315968" y="3785615"/>
            <a:ext cx="4480560" cy="1444752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4315968" y="3785615"/>
            <a:ext cx="4480560" cy="2560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[#02] 판정등급: [주의 (조건부허용)]   |   위반유형: 수치·기간 효능 실증 및 각주 표기 필수</a:t>
            </a:r>
            <a:endParaRPr/>
          </a:p>
        </p:txBody>
      </p:sp>
      <p:sp>
        <p:nvSpPr>
          <p:cNvPr id="322" name="Google Shape;322;p6"/>
          <p:cNvSpPr txBox="1"/>
          <p:nvPr/>
        </p:nvSpPr>
        <p:spPr>
          <a:xfrm>
            <a:off x="4425696" y="4096512"/>
            <a:ext cx="42611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원문 카피 : "단 4주 만에 느끼는 72시간 보습 지속력"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9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검토 의견 : '72시간 보습 지속' 수치 소구는 인체적용시험 성적서(ProductLab) 매핑 및 시험기관·피험자수 법정 각주 병기가 필수입니다.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9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매핑 상태 : ProductLab 성적서 후보 1건 자동 탐색됨 (MBK-2026-0412)</a:t>
            </a:r>
            <a:endParaRPr/>
          </a:p>
        </p:txBody>
      </p:sp>
      <p:sp>
        <p:nvSpPr>
          <p:cNvPr id="323" name="Google Shape;323;p6"/>
          <p:cNvSpPr/>
          <p:nvPr/>
        </p:nvSpPr>
        <p:spPr>
          <a:xfrm>
            <a:off x="7132320" y="4846320"/>
            <a:ext cx="1554480" cy="2560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실증자료 매핑 화면으로 이동 ▶</a:t>
            </a: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1645920" y="5413248"/>
            <a:ext cx="310896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5" name="Google Shape;325;p6"/>
          <p:cNvSpPr txBox="1"/>
          <p:nvPr/>
        </p:nvSpPr>
        <p:spPr>
          <a:xfrm>
            <a:off x="1700784" y="5458968"/>
            <a:ext cx="29992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선택하신 추천 대체문안이 최종 수정본으로 반영되었습니다.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좌측 시안 프리뷰에서 변경된 문구를 확인하세요.</a:t>
            </a:r>
            <a:endParaRPr/>
          </a:p>
        </p:txBody>
      </p:sp>
      <p:sp>
        <p:nvSpPr>
          <p:cNvPr id="326" name="Google Shape;326;p6"/>
          <p:cNvSpPr/>
          <p:nvPr/>
        </p:nvSpPr>
        <p:spPr>
          <a:xfrm>
            <a:off x="2916936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/>
          </a:p>
        </p:txBody>
      </p:sp>
      <p:sp>
        <p:nvSpPr>
          <p:cNvPr id="327" name="Google Shape;327;p6"/>
          <p:cNvSpPr/>
          <p:nvPr/>
        </p:nvSpPr>
        <p:spPr>
          <a:xfrm>
            <a:off x="157276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4A</a:t>
            </a:r>
            <a:endParaRPr/>
          </a:p>
        </p:txBody>
      </p:sp>
      <p:sp>
        <p:nvSpPr>
          <p:cNvPr id="328" name="Google Shape;328;p6"/>
          <p:cNvSpPr/>
          <p:nvPr/>
        </p:nvSpPr>
        <p:spPr>
          <a:xfrm>
            <a:off x="5120640" y="5413248"/>
            <a:ext cx="329184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9" name="Google Shape;329;p6"/>
          <p:cNvSpPr txBox="1"/>
          <p:nvPr/>
        </p:nvSpPr>
        <p:spPr>
          <a:xfrm>
            <a:off x="5175503" y="5458968"/>
            <a:ext cx="318211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아직 수정되지 않은 [금지] 문구가 1건 남아 있습니다.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그대로 다음 단계(실증자료 매핑)로 이동하시겠습니까?</a:t>
            </a:r>
            <a:endParaRPr/>
          </a:p>
        </p:txBody>
      </p:sp>
      <p:sp>
        <p:nvSpPr>
          <p:cNvPr id="330" name="Google Shape;330;p6"/>
          <p:cNvSpPr/>
          <p:nvPr/>
        </p:nvSpPr>
        <p:spPr>
          <a:xfrm>
            <a:off x="6163056" y="6364224"/>
            <a:ext cx="566928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331" name="Google Shape;331;p6"/>
          <p:cNvSpPr/>
          <p:nvPr/>
        </p:nvSpPr>
        <p:spPr>
          <a:xfrm>
            <a:off x="6803136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이동</a:t>
            </a:r>
            <a:endParaRPr/>
          </a:p>
        </p:txBody>
      </p:sp>
      <p:sp>
        <p:nvSpPr>
          <p:cNvPr id="332" name="Google Shape;332;p6"/>
          <p:cNvSpPr/>
          <p:nvPr/>
        </p:nvSpPr>
        <p:spPr>
          <a:xfrm>
            <a:off x="504748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5A</a:t>
            </a:r>
            <a:endParaRPr/>
          </a:p>
        </p:txBody>
      </p:sp>
      <p:graphicFrame>
        <p:nvGraphicFramePr>
          <p:cNvPr id="333" name="Google Shape;333;p6"/>
          <p:cNvGraphicFramePr/>
          <p:nvPr/>
        </p:nvGraphicFramePr>
        <p:xfrm>
          <a:off x="9034272" y="329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47475"/>
                <a:gridCol w="27157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237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[AI 심의 결과 좌우 대조 뷰어 (SCR_CLM_03)]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[위험 등급별 필터 알약]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전체/금지/주의/적합 클릭 시 해당 등급의 문장 카드와 바운딩 박스만 필터링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[원본 시안/캡처장면 하이라이트 뷰어]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우측 카드 선택 시 좌측 시안의 해당 문장 위치로 자동 스크롤·포커싱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대체어 채택 시 원문 아래에 치환 후 미리보기 텍스트 동시 표시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[위반 사유 및 법령/판례 근거 카드]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표시·광고 공정화법 조항, 식약처 가이드라인 페이지, 유사 행정처분 사례 표시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[원문보기] 클릭 시 법령 전문 레이어 팝업 오픈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[AI 안전 대체문안 원클릭 채택]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브랜드 톤앤매너형 / 보수적 안전형 / 기능성 고시형 3종 추천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[문구 채택] 클릭 시 4A 알림과 함께 최종 수정문안 입력란에 자동 반영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[실증자료 매핑 이동]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미조치 금지 문구 잔존 시 5A Confirm으로 사용자에게 재확인 후 SCR_CLM_04 이동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7"/>
          <p:cNvSpPr txBox="1"/>
          <p:nvPr/>
        </p:nvSpPr>
        <p:spPr>
          <a:xfrm>
            <a:off x="128016" y="5486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1.5 소구 문장 실증 자료 확인</a:t>
            </a:r>
            <a:endParaRPr/>
          </a:p>
        </p:txBody>
      </p:sp>
      <p:sp>
        <p:nvSpPr>
          <p:cNvPr id="339" name="Google Shape;339;p7"/>
          <p:cNvSpPr txBox="1"/>
          <p:nvPr/>
        </p:nvSpPr>
        <p:spPr>
          <a:xfrm>
            <a:off x="4846320" y="5486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SCR_CLM_04</a:t>
            </a:r>
            <a:endParaRPr/>
          </a:p>
        </p:txBody>
      </p:sp>
      <p:sp>
        <p:nvSpPr>
          <p:cNvPr id="340" name="Google Shape;340;p7"/>
          <p:cNvSpPr txBox="1"/>
          <p:nvPr/>
        </p:nvSpPr>
        <p:spPr>
          <a:xfrm>
            <a:off x="9034272" y="54864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광고심의 &gt; 신규 심의 의뢰 &gt; 소명자료 첨부</a:t>
            </a:r>
            <a:endParaRPr/>
          </a:p>
        </p:txBody>
      </p:sp>
      <p:sp>
        <p:nvSpPr>
          <p:cNvPr id="341" name="Google Shape;341;p7"/>
          <p:cNvSpPr/>
          <p:nvPr/>
        </p:nvSpPr>
        <p:spPr>
          <a:xfrm>
            <a:off x="91440" y="329184"/>
            <a:ext cx="8851392" cy="6419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2" name="Google Shape;342;p7"/>
          <p:cNvSpPr txBox="1"/>
          <p:nvPr/>
        </p:nvSpPr>
        <p:spPr>
          <a:xfrm>
            <a:off x="219456" y="402336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소구 문장 실증자료(ProductLab) 매핑 및 법정 각주 자동 생성</a:t>
            </a:r>
            <a:endParaRPr/>
          </a:p>
        </p:txBody>
      </p:sp>
      <p:cxnSp>
        <p:nvCxnSpPr>
          <p:cNvPr id="343" name="Google Shape;343;p7"/>
          <p:cNvCxnSpPr/>
          <p:nvPr/>
        </p:nvCxnSpPr>
        <p:spPr>
          <a:xfrm>
            <a:off x="219456" y="749808"/>
            <a:ext cx="857707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44" name="Google Shape;344;p7"/>
          <p:cNvCxnSpPr/>
          <p:nvPr/>
        </p:nvCxnSpPr>
        <p:spPr>
          <a:xfrm>
            <a:off x="91440" y="5321808"/>
            <a:ext cx="885139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5" name="Google Shape;345;p7"/>
          <p:cNvSpPr/>
          <p:nvPr/>
        </p:nvSpPr>
        <p:spPr>
          <a:xfrm>
            <a:off x="100584" y="5330952"/>
            <a:ext cx="8833104" cy="140817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182880" y="535838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[연계 팝업 / Alert 정의]</a:t>
            </a:r>
            <a:endParaRPr/>
          </a:p>
        </p:txBody>
      </p:sp>
      <p:sp>
        <p:nvSpPr>
          <p:cNvPr id="347" name="Google Shape;347;p7"/>
          <p:cNvSpPr/>
          <p:nvPr/>
        </p:nvSpPr>
        <p:spPr>
          <a:xfrm>
            <a:off x="5669280" y="429768"/>
            <a:ext cx="100584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ProductLab 성적서 조회</a:t>
            </a:r>
            <a:endParaRPr/>
          </a:p>
        </p:txBody>
      </p:sp>
      <p:sp>
        <p:nvSpPr>
          <p:cNvPr id="348" name="Google Shape;348;p7"/>
          <p:cNvSpPr/>
          <p:nvPr/>
        </p:nvSpPr>
        <p:spPr>
          <a:xfrm>
            <a:off x="6729984" y="42976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법정 각주 일괄생성</a:t>
            </a:r>
            <a:endParaRPr/>
          </a:p>
        </p:txBody>
      </p:sp>
      <p:sp>
        <p:nvSpPr>
          <p:cNvPr id="349" name="Google Shape;349;p7"/>
          <p:cNvSpPr/>
          <p:nvPr/>
        </p:nvSpPr>
        <p:spPr>
          <a:xfrm>
            <a:off x="7744968" y="429768"/>
            <a:ext cx="1051560" cy="237744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RA 전문심의 상신 ▶</a:t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>
            <a:off x="7662672" y="36576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351" name="Google Shape;351;p7"/>
          <p:cNvSpPr txBox="1"/>
          <p:nvPr/>
        </p:nvSpPr>
        <p:spPr>
          <a:xfrm>
            <a:off x="219456" y="80467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실증 대상 소구 문장 목록 (총 3건  |  매핑완료 2건 / 미매핑 1건)</a:t>
            </a:r>
            <a:endParaRPr/>
          </a:p>
        </p:txBody>
      </p:sp>
      <p:sp>
        <p:nvSpPr>
          <p:cNvPr id="352" name="Google Shape;352;p7"/>
          <p:cNvSpPr/>
          <p:nvPr/>
        </p:nvSpPr>
        <p:spPr>
          <a:xfrm>
            <a:off x="128016" y="786384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graphicFrame>
        <p:nvGraphicFramePr>
          <p:cNvPr id="353" name="Google Shape;353;p7"/>
          <p:cNvGraphicFramePr/>
          <p:nvPr/>
        </p:nvGraphicFramePr>
        <p:xfrm>
          <a:off x="219456" y="10424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594350"/>
                <a:gridCol w="2331725"/>
                <a:gridCol w="1143000"/>
                <a:gridCol w="1874525"/>
                <a:gridCol w="1051550"/>
                <a:gridCol w="731525"/>
                <a:gridCol w="85040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문장번호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시안 내 효능·수치 소구 문장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 실증 유형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연결된 ProductLab 성적서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법정 각주 생성 여부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매핑상태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2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#02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 4주 만에 느끼는 72시간 보습 지속력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인체적용시험(보습)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MBK-2026-0412 (피앤케이, 32명)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생성완료 (#각주1)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[매핑완료]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[변경] [해제]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#05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피부 치밀도 84.2% 개선 및 탄력 리프팅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인체적용시험(탄력)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MBK-2026-0415 (엘리드, 28명)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생성완료 (#각주2)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[매핑완료]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[변경] [해제]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#08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민감성 피부 자극 지수 0.00 비자극 인증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피부일차자극시험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(우측 추천 성적서를 선택하세요)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미생성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[미매핑]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[성적서선택]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354" name="Google Shape;354;p7"/>
          <p:cNvSpPr/>
          <p:nvPr/>
        </p:nvSpPr>
        <p:spPr>
          <a:xfrm>
            <a:off x="219456" y="2395728"/>
            <a:ext cx="4434840" cy="283464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5" name="Google Shape;355;p7"/>
          <p:cNvSpPr txBox="1"/>
          <p:nvPr/>
        </p:nvSpPr>
        <p:spPr>
          <a:xfrm>
            <a:off x="329184" y="245059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[선택 문장 #02] AI 추천 ProductLab 실증 성적서 후보</a:t>
            </a:r>
            <a:endParaRPr/>
          </a:p>
        </p:txBody>
      </p:sp>
      <p:sp>
        <p:nvSpPr>
          <p:cNvPr id="356" name="Google Shape;356;p7"/>
          <p:cNvSpPr/>
          <p:nvPr/>
        </p:nvSpPr>
        <p:spPr>
          <a:xfrm>
            <a:off x="128016" y="239572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357" name="Google Shape;357;p7"/>
          <p:cNvSpPr/>
          <p:nvPr/>
        </p:nvSpPr>
        <p:spPr>
          <a:xfrm>
            <a:off x="329184" y="2688336"/>
            <a:ext cx="2880360" cy="2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벨르코어 리제너레이팅 크림 보습 72시간</a:t>
            </a:r>
            <a:endParaRPr/>
          </a:p>
        </p:txBody>
      </p:sp>
      <p:sp>
        <p:nvSpPr>
          <p:cNvPr id="358" name="Google Shape;358;p7"/>
          <p:cNvSpPr/>
          <p:nvPr/>
        </p:nvSpPr>
        <p:spPr>
          <a:xfrm>
            <a:off x="3255264" y="2688336"/>
            <a:ext cx="621792" cy="228600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</a:t>
            </a:r>
            <a:endParaRPr/>
          </a:p>
        </p:txBody>
      </p:sp>
      <p:sp>
        <p:nvSpPr>
          <p:cNvPr id="359" name="Google Shape;359;p7"/>
          <p:cNvSpPr/>
          <p:nvPr/>
        </p:nvSpPr>
        <p:spPr>
          <a:xfrm>
            <a:off x="3913632" y="2688336"/>
            <a:ext cx="640080" cy="2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직접첨부</a:t>
            </a:r>
            <a:endParaRPr/>
          </a:p>
        </p:txBody>
      </p:sp>
      <p:graphicFrame>
        <p:nvGraphicFramePr>
          <p:cNvPr id="360" name="Google Shape;360;p7"/>
          <p:cNvGraphicFramePr/>
          <p:nvPr/>
        </p:nvGraphicFramePr>
        <p:xfrm>
          <a:off x="329184" y="29809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65750"/>
                <a:gridCol w="822950"/>
                <a:gridCol w="1234450"/>
                <a:gridCol w="502925"/>
                <a:gridCol w="923550"/>
                <a:gridCol w="36575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성적서 번호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시험기관 / 시험기간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피험자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핵심 실증 결과 요약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◉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MBK-26-0412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피앤케이 / 26.05.01~05.29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여성 32명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도포 72시간 후 수분량 41% 유의미 증가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[PDF]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○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MBK-25-0891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글로벌의학 / 25.09.10~10.08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여성 24명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도포 48시간 보습 지속력 확인 (기간불일치)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[PDF]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1" name="Google Shape;361;p7"/>
          <p:cNvSpPr/>
          <p:nvPr/>
        </p:nvSpPr>
        <p:spPr>
          <a:xfrm>
            <a:off x="329184" y="4041648"/>
            <a:ext cx="4215384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[AI 실증 정합성 검증 결과 : 적합]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시안 문구('4주 사용', '72시간 보습')와 성적서(MBK-26-0412, 4주 시험, 72시간 측정치 p&lt;0.05)가 일치합니다.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주의사항: 성적서 기준 피험자 연령대(만 25~59세 성인 여성)를 각주에 반드시 명시해야 합니다.</a:t>
            </a:r>
            <a:endParaRPr/>
          </a:p>
        </p:txBody>
      </p:sp>
      <p:sp>
        <p:nvSpPr>
          <p:cNvPr id="362" name="Google Shape;362;p7"/>
          <p:cNvSpPr/>
          <p:nvPr/>
        </p:nvSpPr>
        <p:spPr>
          <a:xfrm>
            <a:off x="3310128" y="4882896"/>
            <a:ext cx="1234440" cy="2560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성적서 매핑 반영</a:t>
            </a:r>
            <a:endParaRPr/>
          </a:p>
        </p:txBody>
      </p:sp>
      <p:sp>
        <p:nvSpPr>
          <p:cNvPr id="363" name="Google Shape;363;p7"/>
          <p:cNvSpPr/>
          <p:nvPr/>
        </p:nvSpPr>
        <p:spPr>
          <a:xfrm>
            <a:off x="4754880" y="2395728"/>
            <a:ext cx="4041648" cy="283464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4864608" y="2450592"/>
            <a:ext cx="3822191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법정 필수 각주 자동 생성 및 시안 반영 / 소명 메모</a:t>
            </a: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4663440" y="239572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366" name="Google Shape;366;p7"/>
          <p:cNvSpPr txBox="1"/>
          <p:nvPr/>
        </p:nvSpPr>
        <p:spPr>
          <a:xfrm>
            <a:off x="4864608" y="2688336"/>
            <a:ext cx="382219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 생성된 식약처 표준 실증 각주 문안 (복사 및 시안 하단 자동 삽입)</a:t>
            </a:r>
            <a:endParaRPr/>
          </a:p>
        </p:txBody>
      </p:sp>
      <p:sp>
        <p:nvSpPr>
          <p:cNvPr id="367" name="Google Shape;367;p7"/>
          <p:cNvSpPr/>
          <p:nvPr/>
        </p:nvSpPr>
        <p:spPr>
          <a:xfrm>
            <a:off x="4864608" y="2889504"/>
            <a:ext cx="3822191" cy="8778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[각주1 - 72시간 보습 지속 관련]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9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- 시험기관 : (주)피앤케이피부임상연구센타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9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- 시험기간 : 2026. 05. 01 ~ 2026. 05. 29 (4주간)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9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- 피험자수 : 만 25~59세 성인 여성 32명  |  * 개인차 있음</a:t>
            </a:r>
            <a:endParaRPr/>
          </a:p>
        </p:txBody>
      </p:sp>
      <p:sp>
        <p:nvSpPr>
          <p:cNvPr id="368" name="Google Shape;368;p7"/>
          <p:cNvSpPr/>
          <p:nvPr/>
        </p:nvSpPr>
        <p:spPr>
          <a:xfrm>
            <a:off x="6784848" y="3822191"/>
            <a:ext cx="896112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각주 클립보드 복사</a:t>
            </a:r>
            <a:endParaRPr/>
          </a:p>
        </p:txBody>
      </p:sp>
      <p:sp>
        <p:nvSpPr>
          <p:cNvPr id="369" name="Google Shape;369;p7"/>
          <p:cNvSpPr/>
          <p:nvPr/>
        </p:nvSpPr>
        <p:spPr>
          <a:xfrm>
            <a:off x="7735824" y="3822191"/>
            <a:ext cx="950976" cy="219456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시안 각주영역 반영</a:t>
            </a:r>
            <a:endParaRPr/>
          </a:p>
        </p:txBody>
      </p:sp>
      <p:sp>
        <p:nvSpPr>
          <p:cNvPr id="370" name="Google Shape;370;p7"/>
          <p:cNvSpPr txBox="1"/>
          <p:nvPr/>
        </p:nvSpPr>
        <p:spPr>
          <a:xfrm>
            <a:off x="4864608" y="4096512"/>
            <a:ext cx="382219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RA 심의관 전달용 소명 메모 (마케터 / R&amp;I 연구원 작성)</a:t>
            </a:r>
            <a:endParaRPr/>
          </a:p>
        </p:txBody>
      </p:sp>
      <p:sp>
        <p:nvSpPr>
          <p:cNvPr id="371" name="Google Shape;371;p7"/>
          <p:cNvSpPr/>
          <p:nvPr/>
        </p:nvSpPr>
        <p:spPr>
          <a:xfrm>
            <a:off x="4663440" y="4078224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372" name="Google Shape;372;p7"/>
          <p:cNvSpPr/>
          <p:nvPr/>
        </p:nvSpPr>
        <p:spPr>
          <a:xfrm>
            <a:off x="4864608" y="4297680"/>
            <a:ext cx="3822191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보습 72시간 및 치밀도 84.2% 문구는 R&amp;I센터 김연구 수석 확인 완료한 MBK-26-0412, 0415 성적서 원본을 매핑하였으며, 상세페이지 최하단에 법정 각주를 삽입하였습니다.</a:t>
            </a:r>
            <a:endParaRPr/>
          </a:p>
        </p:txBody>
      </p:sp>
      <p:sp>
        <p:nvSpPr>
          <p:cNvPr id="373" name="Google Shape;373;p7"/>
          <p:cNvSpPr/>
          <p:nvPr/>
        </p:nvSpPr>
        <p:spPr>
          <a:xfrm>
            <a:off x="7607808" y="4901184"/>
            <a:ext cx="1078992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소명 메모 임시저장</a:t>
            </a:r>
            <a:endParaRPr/>
          </a:p>
        </p:txBody>
      </p:sp>
      <p:sp>
        <p:nvSpPr>
          <p:cNvPr id="374" name="Google Shape;374;p7"/>
          <p:cNvSpPr/>
          <p:nvPr/>
        </p:nvSpPr>
        <p:spPr>
          <a:xfrm>
            <a:off x="1645920" y="5413248"/>
            <a:ext cx="310896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7"/>
          <p:cNvSpPr txBox="1"/>
          <p:nvPr/>
        </p:nvSpPr>
        <p:spPr>
          <a:xfrm>
            <a:off x="1700784" y="5458968"/>
            <a:ext cx="29992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실증 대상 문장 중 미매핑 건(#08 민감성 자극 지수 0.00)이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존재합니다. 성적서를 매핑하거나 예외 사유를 입력해 주세요.</a:t>
            </a:r>
            <a:endParaRPr/>
          </a:p>
        </p:txBody>
      </p:sp>
      <p:sp>
        <p:nvSpPr>
          <p:cNvPr id="376" name="Google Shape;376;p7"/>
          <p:cNvSpPr/>
          <p:nvPr/>
        </p:nvSpPr>
        <p:spPr>
          <a:xfrm>
            <a:off x="2916936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/>
          </a:p>
        </p:txBody>
      </p:sp>
      <p:sp>
        <p:nvSpPr>
          <p:cNvPr id="377" name="Google Shape;377;p7"/>
          <p:cNvSpPr/>
          <p:nvPr/>
        </p:nvSpPr>
        <p:spPr>
          <a:xfrm>
            <a:off x="157276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5A</a:t>
            </a:r>
            <a:endParaRPr/>
          </a:p>
        </p:txBody>
      </p:sp>
      <p:sp>
        <p:nvSpPr>
          <p:cNvPr id="378" name="Google Shape;378;p7"/>
          <p:cNvSpPr/>
          <p:nvPr/>
        </p:nvSpPr>
        <p:spPr>
          <a:xfrm>
            <a:off x="5120640" y="5413248"/>
            <a:ext cx="320040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p7"/>
          <p:cNvSpPr txBox="1"/>
          <p:nvPr/>
        </p:nvSpPr>
        <p:spPr>
          <a:xfrm>
            <a:off x="5175503" y="5458968"/>
            <a:ext cx="309067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시안 수정본, 실증 성적서(3건) 및 법정 각주를 포함하여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RA 전문심의를 최종 상신하시겠습니까?</a:t>
            </a:r>
            <a:endParaRPr/>
          </a:p>
        </p:txBody>
      </p:sp>
      <p:sp>
        <p:nvSpPr>
          <p:cNvPr id="380" name="Google Shape;380;p7"/>
          <p:cNvSpPr/>
          <p:nvPr/>
        </p:nvSpPr>
        <p:spPr>
          <a:xfrm>
            <a:off x="6039612" y="6364224"/>
            <a:ext cx="644652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381" name="Google Shape;381;p7"/>
          <p:cNvSpPr/>
          <p:nvPr/>
        </p:nvSpPr>
        <p:spPr>
          <a:xfrm>
            <a:off x="6757416" y="6364224"/>
            <a:ext cx="644652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상신 확정</a:t>
            </a:r>
            <a:endParaRPr/>
          </a:p>
        </p:txBody>
      </p:sp>
      <p:sp>
        <p:nvSpPr>
          <p:cNvPr id="382" name="Google Shape;382;p7"/>
          <p:cNvSpPr/>
          <p:nvPr/>
        </p:nvSpPr>
        <p:spPr>
          <a:xfrm>
            <a:off x="504748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5B</a:t>
            </a:r>
            <a:endParaRPr/>
          </a:p>
        </p:txBody>
      </p:sp>
      <p:graphicFrame>
        <p:nvGraphicFramePr>
          <p:cNvPr id="383" name="Google Shape;383;p7"/>
          <p:cNvGraphicFramePr/>
          <p:nvPr/>
        </p:nvGraphicFramePr>
        <p:xfrm>
          <a:off x="9034272" y="329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47475"/>
                <a:gridCol w="27157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237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[소구 문장 실증자료 확인 (SCR_CLM_04)]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[실증 대상 소구 문장 그리드]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AI 판정에서 '실증필요'로 분류된 수치·효능·임상 소구 문장만 자동 추출하여 매핑 현황 표시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[AI 추천 ProductLab 성적서 매핑]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제품코드 및 효능 키워드 기반으로 ProductLab 임상성적서 DB에서 후보 성적서를 자동 추천하고 정합성(기간·수치 일치 여부)을 검증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[법정 필수 각주 자동 생성]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매핑된 성적서의 시험기관·시험기간·피험자수 메타데이터를 추출하여 식약처 가이드라인 규격 각주 문안을 자동 생성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[RA 전달용 소명 메모]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마케터 및 R&amp;I 연구원이 근거 자료 특이사항을 메모로 기록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[RA 전문심의 상신]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미매핑 문장 존재 시 5A Alert 차단, 모두 완료 시 5B Confirm 후 RA 접수 대기함(SCR_RA_01)으로 이관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8"/>
          <p:cNvSpPr txBox="1"/>
          <p:nvPr/>
        </p:nvSpPr>
        <p:spPr>
          <a:xfrm>
            <a:off x="128016" y="5486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1.6 심의 접수 목록 및 검색</a:t>
            </a:r>
            <a:endParaRPr/>
          </a:p>
        </p:txBody>
      </p:sp>
      <p:sp>
        <p:nvSpPr>
          <p:cNvPr id="389" name="Google Shape;389;p8"/>
          <p:cNvSpPr txBox="1"/>
          <p:nvPr/>
        </p:nvSpPr>
        <p:spPr>
          <a:xfrm>
            <a:off x="4846320" y="5486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SCR_RA_01</a:t>
            </a:r>
            <a:endParaRPr/>
          </a:p>
        </p:txBody>
      </p:sp>
      <p:sp>
        <p:nvSpPr>
          <p:cNvPr id="390" name="Google Shape;390;p8"/>
          <p:cNvSpPr txBox="1"/>
          <p:nvPr/>
        </p:nvSpPr>
        <p:spPr>
          <a:xfrm>
            <a:off x="9034272" y="54864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RA 전문심의 &gt; 심의 접수 대기</a:t>
            </a:r>
            <a:endParaRPr/>
          </a:p>
        </p:txBody>
      </p:sp>
      <p:sp>
        <p:nvSpPr>
          <p:cNvPr id="391" name="Google Shape;391;p8"/>
          <p:cNvSpPr/>
          <p:nvPr/>
        </p:nvSpPr>
        <p:spPr>
          <a:xfrm>
            <a:off x="91440" y="329184"/>
            <a:ext cx="8851392" cy="6419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2" name="Google Shape;392;p8"/>
          <p:cNvSpPr txBox="1"/>
          <p:nvPr/>
        </p:nvSpPr>
        <p:spPr>
          <a:xfrm>
            <a:off x="219456" y="402336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RA 전문심의 접수 목록 및 검색</a:t>
            </a:r>
            <a:endParaRPr/>
          </a:p>
        </p:txBody>
      </p:sp>
      <p:cxnSp>
        <p:nvCxnSpPr>
          <p:cNvPr id="393" name="Google Shape;393;p8"/>
          <p:cNvCxnSpPr/>
          <p:nvPr/>
        </p:nvCxnSpPr>
        <p:spPr>
          <a:xfrm>
            <a:off x="219456" y="749808"/>
            <a:ext cx="857707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94" name="Google Shape;394;p8"/>
          <p:cNvCxnSpPr/>
          <p:nvPr/>
        </p:nvCxnSpPr>
        <p:spPr>
          <a:xfrm>
            <a:off x="91440" y="5321808"/>
            <a:ext cx="885139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95" name="Google Shape;395;p8"/>
          <p:cNvSpPr/>
          <p:nvPr/>
        </p:nvSpPr>
        <p:spPr>
          <a:xfrm>
            <a:off x="100584" y="5330952"/>
            <a:ext cx="8833104" cy="140817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6" name="Google Shape;396;p8"/>
          <p:cNvSpPr txBox="1"/>
          <p:nvPr/>
        </p:nvSpPr>
        <p:spPr>
          <a:xfrm>
            <a:off x="182880" y="535838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[연계 팝업 / Alert 정의]</a:t>
            </a:r>
            <a:endParaRPr/>
          </a:p>
        </p:txBody>
      </p:sp>
      <p:sp>
        <p:nvSpPr>
          <p:cNvPr id="397" name="Google Shape;397;p8"/>
          <p:cNvSpPr/>
          <p:nvPr/>
        </p:nvSpPr>
        <p:spPr>
          <a:xfrm>
            <a:off x="219456" y="822960"/>
            <a:ext cx="8577072" cy="987552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128016" y="786384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399" name="Google Shape;399;p8"/>
          <p:cNvSpPr txBox="1"/>
          <p:nvPr/>
        </p:nvSpPr>
        <p:spPr>
          <a:xfrm>
            <a:off x="329184" y="91440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브랜드</a:t>
            </a:r>
            <a:endParaRPr/>
          </a:p>
        </p:txBody>
      </p:sp>
      <p:sp>
        <p:nvSpPr>
          <p:cNvPr id="400" name="Google Shape;400;p8"/>
          <p:cNvSpPr/>
          <p:nvPr/>
        </p:nvSpPr>
        <p:spPr>
          <a:xfrm>
            <a:off x="932688" y="896112"/>
            <a:ext cx="100584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</a:t>
            </a:r>
            <a:endParaRPr/>
          </a:p>
        </p:txBody>
      </p:sp>
      <p:sp>
        <p:nvSpPr>
          <p:cNvPr id="401" name="Google Shape;401;p8"/>
          <p:cNvSpPr txBox="1"/>
          <p:nvPr/>
        </p:nvSpPr>
        <p:spPr>
          <a:xfrm>
            <a:off x="1737360" y="896112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402" name="Google Shape;402;p8"/>
          <p:cNvSpPr txBox="1"/>
          <p:nvPr/>
        </p:nvSpPr>
        <p:spPr>
          <a:xfrm>
            <a:off x="2048256" y="91440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진행상태</a:t>
            </a:r>
            <a:endParaRPr/>
          </a:p>
        </p:txBody>
      </p:sp>
      <p:sp>
        <p:nvSpPr>
          <p:cNvPr id="403" name="Google Shape;403;p8"/>
          <p:cNvSpPr/>
          <p:nvPr/>
        </p:nvSpPr>
        <p:spPr>
          <a:xfrm>
            <a:off x="2651760" y="896112"/>
            <a:ext cx="105156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RA심의대기</a:t>
            </a:r>
            <a:endParaRPr/>
          </a:p>
        </p:txBody>
      </p:sp>
      <p:sp>
        <p:nvSpPr>
          <p:cNvPr id="404" name="Google Shape;404;p8"/>
          <p:cNvSpPr txBox="1"/>
          <p:nvPr/>
        </p:nvSpPr>
        <p:spPr>
          <a:xfrm>
            <a:off x="3502151" y="896112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405" name="Google Shape;405;p8"/>
          <p:cNvSpPr txBox="1"/>
          <p:nvPr/>
        </p:nvSpPr>
        <p:spPr>
          <a:xfrm>
            <a:off x="3822191" y="91440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접수기간</a:t>
            </a:r>
            <a:endParaRPr/>
          </a:p>
        </p:txBody>
      </p:sp>
      <p:sp>
        <p:nvSpPr>
          <p:cNvPr id="406" name="Google Shape;406;p8"/>
          <p:cNvSpPr/>
          <p:nvPr/>
        </p:nvSpPr>
        <p:spPr>
          <a:xfrm>
            <a:off x="4425696" y="896112"/>
            <a:ext cx="987552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2026.09.20</a:t>
            </a:r>
            <a:endParaRPr/>
          </a:p>
        </p:txBody>
      </p:sp>
      <p:sp>
        <p:nvSpPr>
          <p:cNvPr id="407" name="Google Shape;407;p8"/>
          <p:cNvSpPr/>
          <p:nvPr/>
        </p:nvSpPr>
        <p:spPr>
          <a:xfrm>
            <a:off x="5212080" y="914400"/>
            <a:ext cx="182880" cy="20116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31</a:t>
            </a:r>
            <a:endParaRPr/>
          </a:p>
        </p:txBody>
      </p:sp>
      <p:sp>
        <p:nvSpPr>
          <p:cNvPr id="408" name="Google Shape;408;p8"/>
          <p:cNvSpPr txBox="1"/>
          <p:nvPr/>
        </p:nvSpPr>
        <p:spPr>
          <a:xfrm>
            <a:off x="5431536" y="896112"/>
            <a:ext cx="1280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endParaRPr/>
          </a:p>
        </p:txBody>
      </p:sp>
      <p:sp>
        <p:nvSpPr>
          <p:cNvPr id="409" name="Google Shape;409;p8"/>
          <p:cNvSpPr/>
          <p:nvPr/>
        </p:nvSpPr>
        <p:spPr>
          <a:xfrm>
            <a:off x="5559552" y="896112"/>
            <a:ext cx="987552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2026.10.20</a:t>
            </a:r>
            <a:endParaRPr/>
          </a:p>
        </p:txBody>
      </p:sp>
      <p:sp>
        <p:nvSpPr>
          <p:cNvPr id="410" name="Google Shape;410;p8"/>
          <p:cNvSpPr/>
          <p:nvPr/>
        </p:nvSpPr>
        <p:spPr>
          <a:xfrm>
            <a:off x="6345936" y="914400"/>
            <a:ext cx="182880" cy="20116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31</a:t>
            </a:r>
            <a:endParaRPr/>
          </a:p>
        </p:txBody>
      </p:sp>
      <p:sp>
        <p:nvSpPr>
          <p:cNvPr id="411" name="Google Shape;411;p8"/>
          <p:cNvSpPr/>
          <p:nvPr/>
        </p:nvSpPr>
        <p:spPr>
          <a:xfrm>
            <a:off x="6620256" y="905256"/>
            <a:ext cx="329184" cy="219456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</a:t>
            </a:r>
            <a:endParaRPr/>
          </a:p>
        </p:txBody>
      </p:sp>
      <p:sp>
        <p:nvSpPr>
          <p:cNvPr id="412" name="Google Shape;412;p8"/>
          <p:cNvSpPr/>
          <p:nvPr/>
        </p:nvSpPr>
        <p:spPr>
          <a:xfrm>
            <a:off x="6986016" y="905256"/>
            <a:ext cx="384048" cy="219456"/>
          </a:xfrm>
          <a:prstGeom prst="roundRect">
            <a:avLst>
              <a:gd fmla="val 12000" name="adj"/>
            </a:avLst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1개월</a:t>
            </a:r>
            <a:endParaRPr/>
          </a:p>
        </p:txBody>
      </p:sp>
      <p:sp>
        <p:nvSpPr>
          <p:cNvPr id="413" name="Google Shape;413;p8"/>
          <p:cNvSpPr/>
          <p:nvPr/>
        </p:nvSpPr>
        <p:spPr>
          <a:xfrm>
            <a:off x="7406640" y="905256"/>
            <a:ext cx="384048" cy="219456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3개월</a:t>
            </a:r>
            <a:endParaRPr/>
          </a:p>
        </p:txBody>
      </p:sp>
      <p:sp>
        <p:nvSpPr>
          <p:cNvPr id="414" name="Google Shape;414;p8"/>
          <p:cNvSpPr txBox="1"/>
          <p:nvPr/>
        </p:nvSpPr>
        <p:spPr>
          <a:xfrm>
            <a:off x="329184" y="1243584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긴급도</a:t>
            </a:r>
            <a:endParaRPr/>
          </a:p>
        </p:txBody>
      </p:sp>
      <p:sp>
        <p:nvSpPr>
          <p:cNvPr id="415" name="Google Shape;415;p8"/>
          <p:cNvSpPr/>
          <p:nvPr/>
        </p:nvSpPr>
        <p:spPr>
          <a:xfrm>
            <a:off x="932688" y="1225296"/>
            <a:ext cx="100584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</a:t>
            </a:r>
            <a:endParaRPr/>
          </a:p>
        </p:txBody>
      </p:sp>
      <p:sp>
        <p:nvSpPr>
          <p:cNvPr id="416" name="Google Shape;416;p8"/>
          <p:cNvSpPr txBox="1"/>
          <p:nvPr/>
        </p:nvSpPr>
        <p:spPr>
          <a:xfrm>
            <a:off x="1737360" y="1225296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417" name="Google Shape;417;p8"/>
          <p:cNvSpPr txBox="1"/>
          <p:nvPr/>
        </p:nvSpPr>
        <p:spPr>
          <a:xfrm>
            <a:off x="2048256" y="1243584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담당RA</a:t>
            </a:r>
            <a:endParaRPr/>
          </a:p>
        </p:txBody>
      </p:sp>
      <p:sp>
        <p:nvSpPr>
          <p:cNvPr id="418" name="Google Shape;418;p8"/>
          <p:cNvSpPr/>
          <p:nvPr/>
        </p:nvSpPr>
        <p:spPr>
          <a:xfrm>
            <a:off x="2651760" y="1225296"/>
            <a:ext cx="105156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김아모 책임</a:t>
            </a:r>
            <a:endParaRPr/>
          </a:p>
        </p:txBody>
      </p:sp>
      <p:sp>
        <p:nvSpPr>
          <p:cNvPr id="419" name="Google Shape;419;p8"/>
          <p:cNvSpPr txBox="1"/>
          <p:nvPr/>
        </p:nvSpPr>
        <p:spPr>
          <a:xfrm>
            <a:off x="3502151" y="1225296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420" name="Google Shape;420;p8"/>
          <p:cNvSpPr txBox="1"/>
          <p:nvPr/>
        </p:nvSpPr>
        <p:spPr>
          <a:xfrm>
            <a:off x="3822191" y="1243584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키워드</a:t>
            </a:r>
            <a:endParaRPr/>
          </a:p>
        </p:txBody>
      </p:sp>
      <p:sp>
        <p:nvSpPr>
          <p:cNvPr id="421" name="Google Shape;421;p8"/>
          <p:cNvSpPr/>
          <p:nvPr/>
        </p:nvSpPr>
        <p:spPr>
          <a:xfrm>
            <a:off x="4425696" y="1225296"/>
            <a:ext cx="265176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A6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의뢰번호, 제품명, 시안 제목, 의뢰자 입력</a:t>
            </a:r>
            <a:endParaRPr/>
          </a:p>
        </p:txBody>
      </p:sp>
      <p:sp>
        <p:nvSpPr>
          <p:cNvPr id="422" name="Google Shape;422;p8"/>
          <p:cNvSpPr/>
          <p:nvPr/>
        </p:nvSpPr>
        <p:spPr>
          <a:xfrm>
            <a:off x="7187184" y="1225296"/>
            <a:ext cx="713232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초기화</a:t>
            </a:r>
            <a:endParaRPr/>
          </a:p>
        </p:txBody>
      </p:sp>
      <p:sp>
        <p:nvSpPr>
          <p:cNvPr id="423" name="Google Shape;423;p8"/>
          <p:cNvSpPr/>
          <p:nvPr/>
        </p:nvSpPr>
        <p:spPr>
          <a:xfrm>
            <a:off x="7955279" y="1225296"/>
            <a:ext cx="713232" cy="237744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</a:t>
            </a:r>
            <a:endParaRPr/>
          </a:p>
        </p:txBody>
      </p:sp>
      <p:sp>
        <p:nvSpPr>
          <p:cNvPr id="424" name="Google Shape;424;p8"/>
          <p:cNvSpPr/>
          <p:nvPr/>
        </p:nvSpPr>
        <p:spPr>
          <a:xfrm>
            <a:off x="7863840" y="1152144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cxnSp>
        <p:nvCxnSpPr>
          <p:cNvPr id="425" name="Google Shape;425;p8"/>
          <p:cNvCxnSpPr/>
          <p:nvPr/>
        </p:nvCxnSpPr>
        <p:spPr>
          <a:xfrm>
            <a:off x="219456" y="2121408"/>
            <a:ext cx="530352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6" name="Google Shape;426;p8"/>
          <p:cNvSpPr txBox="1"/>
          <p:nvPr/>
        </p:nvSpPr>
        <p:spPr>
          <a:xfrm>
            <a:off x="219456" y="1883664"/>
            <a:ext cx="105249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접수 (42)</a:t>
            </a:r>
            <a:endParaRPr/>
          </a:p>
        </p:txBody>
      </p:sp>
      <p:cxnSp>
        <p:nvCxnSpPr>
          <p:cNvPr id="427" name="Google Shape;427;p8"/>
          <p:cNvCxnSpPr/>
          <p:nvPr/>
        </p:nvCxnSpPr>
        <p:spPr>
          <a:xfrm>
            <a:off x="219456" y="2121408"/>
            <a:ext cx="1052493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8" name="Google Shape;428;p8"/>
          <p:cNvSpPr txBox="1"/>
          <p:nvPr/>
        </p:nvSpPr>
        <p:spPr>
          <a:xfrm>
            <a:off x="1308525" y="1883664"/>
            <a:ext cx="73674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미배정 (8)</a:t>
            </a:r>
            <a:endParaRPr/>
          </a:p>
        </p:txBody>
      </p:sp>
      <p:sp>
        <p:nvSpPr>
          <p:cNvPr id="429" name="Google Shape;429;p8"/>
          <p:cNvSpPr txBox="1"/>
          <p:nvPr/>
        </p:nvSpPr>
        <p:spPr>
          <a:xfrm>
            <a:off x="2081846" y="1883664"/>
            <a:ext cx="105249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긴급 D-1 (5)</a:t>
            </a:r>
            <a:endParaRPr/>
          </a:p>
        </p:txBody>
      </p:sp>
      <p:sp>
        <p:nvSpPr>
          <p:cNvPr id="430" name="Google Shape;430;p8"/>
          <p:cNvSpPr txBox="1"/>
          <p:nvPr/>
        </p:nvSpPr>
        <p:spPr>
          <a:xfrm>
            <a:off x="3170915" y="1883664"/>
            <a:ext cx="126299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담당 대기 (14)</a:t>
            </a:r>
            <a:endParaRPr/>
          </a:p>
        </p:txBody>
      </p:sp>
      <p:sp>
        <p:nvSpPr>
          <p:cNvPr id="431" name="Google Shape;431;p8"/>
          <p:cNvSpPr txBox="1"/>
          <p:nvPr/>
        </p:nvSpPr>
        <p:spPr>
          <a:xfrm>
            <a:off x="4470482" y="1883664"/>
            <a:ext cx="105249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심의 완료 (15)</a:t>
            </a:r>
            <a:endParaRPr/>
          </a:p>
        </p:txBody>
      </p:sp>
      <p:sp>
        <p:nvSpPr>
          <p:cNvPr id="432" name="Google Shape;432;p8"/>
          <p:cNvSpPr/>
          <p:nvPr/>
        </p:nvSpPr>
        <p:spPr>
          <a:xfrm>
            <a:off x="5870448" y="1883664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담당RA 일괄배정</a:t>
            </a:r>
            <a:endParaRPr/>
          </a:p>
        </p:txBody>
      </p:sp>
      <p:sp>
        <p:nvSpPr>
          <p:cNvPr id="433" name="Google Shape;433;p8"/>
          <p:cNvSpPr/>
          <p:nvPr/>
        </p:nvSpPr>
        <p:spPr>
          <a:xfrm>
            <a:off x="6885432" y="1883664"/>
            <a:ext cx="91440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엑셀 다운로드</a:t>
            </a:r>
            <a:endParaRPr/>
          </a:p>
        </p:txBody>
      </p:sp>
      <p:sp>
        <p:nvSpPr>
          <p:cNvPr id="434" name="Google Shape;434;p8"/>
          <p:cNvSpPr/>
          <p:nvPr/>
        </p:nvSpPr>
        <p:spPr>
          <a:xfrm>
            <a:off x="7854696" y="1883664"/>
            <a:ext cx="941832" cy="237744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선택건 심의시작</a:t>
            </a:r>
            <a:endParaRPr/>
          </a:p>
        </p:txBody>
      </p:sp>
      <p:sp>
        <p:nvSpPr>
          <p:cNvPr id="435" name="Google Shape;435;p8"/>
          <p:cNvSpPr/>
          <p:nvPr/>
        </p:nvSpPr>
        <p:spPr>
          <a:xfrm>
            <a:off x="5779008" y="182880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graphicFrame>
        <p:nvGraphicFramePr>
          <p:cNvPr id="436" name="Google Shape;436;p8"/>
          <p:cNvGraphicFramePr/>
          <p:nvPr/>
        </p:nvGraphicFramePr>
        <p:xfrm>
          <a:off x="219456" y="2194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286500"/>
                <a:gridCol w="340225"/>
                <a:gridCol w="447650"/>
                <a:gridCol w="823675"/>
                <a:gridCol w="581950"/>
                <a:gridCol w="2014450"/>
                <a:gridCol w="1208675"/>
                <a:gridCol w="608800"/>
                <a:gridCol w="581950"/>
                <a:gridCol w="519275"/>
                <a:gridCol w="555100"/>
                <a:gridCol w="60880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긴급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의뢰번호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브랜드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시안 제목 (매체유형)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사전판정 요약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실증자료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의뢰자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담당RA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진행상태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심의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[긴급]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벨르코어 리제너레이팅 크림 리뉴얼 상세페이지_v2 (온라인)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 1 | 주의 2 | 안전 15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3건 매핑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박마케터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김아모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[RA대기]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[심의하기]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[긴급]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CLM-26-0127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벨르코어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블랙쿠션 15초 TVCF 영상 (캡처 5장면)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 0 | 주의 2 | 안전 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2건 매핑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최디자이너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미배정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[미배정]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[배정/심의]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CLM-26-0126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아쿠아퓨어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워터뱅크 크림 올리브영 기획전 배너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 0 | 주의 1 | 안전 12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1건 매핑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이마케터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김아모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[RA검토중]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[심의하기]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39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그린네이처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그린티 세럼 글로벌 면세점 브로슈어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 0 | 주의 0 | 안전 21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해당없음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정글로벌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박심의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[승인완료]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[리포트]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[긴급]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더마쉴드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아토베리어365 크림 약국 POP 시안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 2 | 주의 1 | 안전 6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미첨부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강마케터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김아모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[반려]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[이력보기]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37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 부스팅 에센스 6세대 백화점 리플렛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 0 | 주의 1 | 안전 19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1건 매핑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박마케터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김아모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[조건부승인]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[리포트]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36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퓨어시드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오가니언스 바운씨 세럼 SNS 카드뉴스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 0 | 주의 2 | 안전 11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2건 매핑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윤마케터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박심의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[RA대기]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[심의하기]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7" name="Google Shape;437;p8"/>
          <p:cNvSpPr/>
          <p:nvPr/>
        </p:nvSpPr>
        <p:spPr>
          <a:xfrm>
            <a:off x="128016" y="2176272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438" name="Google Shape;438;p8"/>
          <p:cNvSpPr txBox="1"/>
          <p:nvPr/>
        </p:nvSpPr>
        <p:spPr>
          <a:xfrm>
            <a:off x="2971800" y="495604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《   &lt;</a:t>
            </a:r>
            <a:endParaRPr/>
          </a:p>
        </p:txBody>
      </p:sp>
      <p:sp>
        <p:nvSpPr>
          <p:cNvPr id="439" name="Google Shape;439;p8"/>
          <p:cNvSpPr/>
          <p:nvPr/>
        </p:nvSpPr>
        <p:spPr>
          <a:xfrm>
            <a:off x="3337560" y="4965192"/>
            <a:ext cx="182880" cy="18288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440" name="Google Shape;440;p8"/>
          <p:cNvSpPr txBox="1"/>
          <p:nvPr/>
        </p:nvSpPr>
        <p:spPr>
          <a:xfrm>
            <a:off x="3502152" y="49560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441" name="Google Shape;441;p8"/>
          <p:cNvSpPr txBox="1"/>
          <p:nvPr/>
        </p:nvSpPr>
        <p:spPr>
          <a:xfrm>
            <a:off x="3575304" y="49560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442" name="Google Shape;442;p8"/>
          <p:cNvSpPr txBox="1"/>
          <p:nvPr/>
        </p:nvSpPr>
        <p:spPr>
          <a:xfrm>
            <a:off x="3739896" y="49560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443" name="Google Shape;443;p8"/>
          <p:cNvSpPr txBox="1"/>
          <p:nvPr/>
        </p:nvSpPr>
        <p:spPr>
          <a:xfrm>
            <a:off x="3813048" y="49560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444" name="Google Shape;444;p8"/>
          <p:cNvSpPr txBox="1"/>
          <p:nvPr/>
        </p:nvSpPr>
        <p:spPr>
          <a:xfrm>
            <a:off x="3977639" y="49560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445" name="Google Shape;445;p8"/>
          <p:cNvSpPr txBox="1"/>
          <p:nvPr/>
        </p:nvSpPr>
        <p:spPr>
          <a:xfrm>
            <a:off x="4050791" y="49560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446" name="Google Shape;446;p8"/>
          <p:cNvSpPr txBox="1"/>
          <p:nvPr/>
        </p:nvSpPr>
        <p:spPr>
          <a:xfrm>
            <a:off x="4215383" y="49560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447" name="Google Shape;447;p8"/>
          <p:cNvSpPr txBox="1"/>
          <p:nvPr/>
        </p:nvSpPr>
        <p:spPr>
          <a:xfrm>
            <a:off x="4288536" y="49560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448" name="Google Shape;448;p8"/>
          <p:cNvSpPr txBox="1"/>
          <p:nvPr/>
        </p:nvSpPr>
        <p:spPr>
          <a:xfrm>
            <a:off x="4507991" y="495604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   》</a:t>
            </a:r>
            <a:endParaRPr/>
          </a:p>
        </p:txBody>
      </p:sp>
      <p:sp>
        <p:nvSpPr>
          <p:cNvPr id="449" name="Google Shape;449;p8"/>
          <p:cNvSpPr/>
          <p:nvPr/>
        </p:nvSpPr>
        <p:spPr>
          <a:xfrm>
            <a:off x="1463040" y="5413248"/>
            <a:ext cx="228600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0" name="Google Shape;450;p8"/>
          <p:cNvSpPr txBox="1"/>
          <p:nvPr/>
        </p:nvSpPr>
        <p:spPr>
          <a:xfrm>
            <a:off x="1517904" y="5458968"/>
            <a:ext cx="217627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담당자를 배정할 심의 의뢰건을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1건 이상 선택해 주세요.</a:t>
            </a:r>
            <a:endParaRPr/>
          </a:p>
        </p:txBody>
      </p:sp>
      <p:sp>
        <p:nvSpPr>
          <p:cNvPr id="451" name="Google Shape;451;p8"/>
          <p:cNvSpPr/>
          <p:nvPr/>
        </p:nvSpPr>
        <p:spPr>
          <a:xfrm>
            <a:off x="2322576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/>
          </a:p>
        </p:txBody>
      </p:sp>
      <p:sp>
        <p:nvSpPr>
          <p:cNvPr id="452" name="Google Shape;452;p8"/>
          <p:cNvSpPr/>
          <p:nvPr/>
        </p:nvSpPr>
        <p:spPr>
          <a:xfrm>
            <a:off x="138988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3A</a:t>
            </a:r>
            <a:endParaRPr/>
          </a:p>
        </p:txBody>
      </p:sp>
      <p:sp>
        <p:nvSpPr>
          <p:cNvPr id="453" name="Google Shape;453;p8"/>
          <p:cNvSpPr/>
          <p:nvPr/>
        </p:nvSpPr>
        <p:spPr>
          <a:xfrm>
            <a:off x="3931920" y="5413248"/>
            <a:ext cx="242316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p8"/>
          <p:cNvSpPr txBox="1"/>
          <p:nvPr/>
        </p:nvSpPr>
        <p:spPr>
          <a:xfrm>
            <a:off x="3986783" y="5458968"/>
            <a:ext cx="23134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선택한 2건(CLM-26-0128, 0127)의 담당 RA를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[김아모 책임]으로 일괄 배정하시겠습니까?</a:t>
            </a:r>
            <a:endParaRPr/>
          </a:p>
        </p:txBody>
      </p:sp>
      <p:sp>
        <p:nvSpPr>
          <p:cNvPr id="455" name="Google Shape;455;p8"/>
          <p:cNvSpPr/>
          <p:nvPr/>
        </p:nvSpPr>
        <p:spPr>
          <a:xfrm>
            <a:off x="4462272" y="6364224"/>
            <a:ext cx="644652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456" name="Google Shape;456;p8"/>
          <p:cNvSpPr/>
          <p:nvPr/>
        </p:nvSpPr>
        <p:spPr>
          <a:xfrm>
            <a:off x="5180076" y="6364224"/>
            <a:ext cx="644652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배정 확정</a:t>
            </a:r>
            <a:endParaRPr/>
          </a:p>
        </p:txBody>
      </p:sp>
      <p:sp>
        <p:nvSpPr>
          <p:cNvPr id="457" name="Google Shape;457;p8"/>
          <p:cNvSpPr/>
          <p:nvPr/>
        </p:nvSpPr>
        <p:spPr>
          <a:xfrm>
            <a:off x="385876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3B</a:t>
            </a:r>
            <a:endParaRPr/>
          </a:p>
        </p:txBody>
      </p:sp>
      <p:sp>
        <p:nvSpPr>
          <p:cNvPr id="458" name="Google Shape;458;p8"/>
          <p:cNvSpPr/>
          <p:nvPr/>
        </p:nvSpPr>
        <p:spPr>
          <a:xfrm>
            <a:off x="6537960" y="5413248"/>
            <a:ext cx="228600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9" name="Google Shape;459;p8"/>
          <p:cNvSpPr txBox="1"/>
          <p:nvPr/>
        </p:nvSpPr>
        <p:spPr>
          <a:xfrm>
            <a:off x="6592824" y="5458968"/>
            <a:ext cx="217627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심의관(박심의)에게 배정된 건입니다.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담당자를 본인으로 변경 후 심의하시겠습니까?</a:t>
            </a:r>
            <a:endParaRPr/>
          </a:p>
        </p:txBody>
      </p:sp>
      <p:sp>
        <p:nvSpPr>
          <p:cNvPr id="460" name="Google Shape;460;p8"/>
          <p:cNvSpPr/>
          <p:nvPr/>
        </p:nvSpPr>
        <p:spPr>
          <a:xfrm>
            <a:off x="6807708" y="6364224"/>
            <a:ext cx="836676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461" name="Google Shape;461;p8"/>
          <p:cNvSpPr/>
          <p:nvPr/>
        </p:nvSpPr>
        <p:spPr>
          <a:xfrm>
            <a:off x="7717536" y="6364224"/>
            <a:ext cx="836676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후 진입</a:t>
            </a:r>
            <a:endParaRPr/>
          </a:p>
        </p:txBody>
      </p:sp>
      <p:sp>
        <p:nvSpPr>
          <p:cNvPr id="462" name="Google Shape;462;p8"/>
          <p:cNvSpPr/>
          <p:nvPr/>
        </p:nvSpPr>
        <p:spPr>
          <a:xfrm>
            <a:off x="646480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4A</a:t>
            </a:r>
            <a:endParaRPr/>
          </a:p>
        </p:txBody>
      </p:sp>
      <p:graphicFrame>
        <p:nvGraphicFramePr>
          <p:cNvPr id="463" name="Google Shape;463;p8"/>
          <p:cNvGraphicFramePr/>
          <p:nvPr/>
        </p:nvGraphicFramePr>
        <p:xfrm>
          <a:off x="9034272" y="329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47475"/>
                <a:gridCol w="27157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237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[심의 접수 목록 및 검색 (SCR_RA_01)]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[다차원 검색 필터]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브랜드, 진행상태(기본: RA심의대기), 접수기간(기본: 1개월), 긴급도, 담당RA, 키워드 복합 검색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[초기화 및 조회]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[조회] 클릭 시 조건에 맞는 심의 접수 목록 갱신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[상태 탭 및 담당RA 일괄배정]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미배정/긴급 건수를 상단 탭에 실시간 표기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체크박스 미선택 후 [담당RA 일괄배정] 클릭 시 3A Alert, 선택 시 3B 배정 Confirm 팝업 호출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[RA 접수 목록 그리드 및 심의 진입]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긴급(D-1) 건은 최상단 우선 정렬 표시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[심의하기] 클릭 시 RA 전문가 판정 콘솔(SCR_RA_02)로 이동 (타 담당자 배정 건 클릭 시 4A Confirm)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9"/>
          <p:cNvSpPr txBox="1"/>
          <p:nvPr/>
        </p:nvSpPr>
        <p:spPr>
          <a:xfrm>
            <a:off x="128016" y="5486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1.7 RA 전문가 판정 및 리포트 출력</a:t>
            </a:r>
            <a:endParaRPr/>
          </a:p>
        </p:txBody>
      </p:sp>
      <p:sp>
        <p:nvSpPr>
          <p:cNvPr id="469" name="Google Shape;469;p9"/>
          <p:cNvSpPr txBox="1"/>
          <p:nvPr/>
        </p:nvSpPr>
        <p:spPr>
          <a:xfrm>
            <a:off x="4846320" y="5486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SCR_RA_02 / 03</a:t>
            </a:r>
            <a:endParaRPr/>
          </a:p>
        </p:txBody>
      </p:sp>
      <p:sp>
        <p:nvSpPr>
          <p:cNvPr id="470" name="Google Shape;470;p9"/>
          <p:cNvSpPr txBox="1"/>
          <p:nvPr/>
        </p:nvSpPr>
        <p:spPr>
          <a:xfrm>
            <a:off x="9034272" y="54864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RA 전문심의 &gt; 전문 심의 판정 / 확정 리포트</a:t>
            </a:r>
            <a:endParaRPr/>
          </a:p>
        </p:txBody>
      </p:sp>
      <p:sp>
        <p:nvSpPr>
          <p:cNvPr id="471" name="Google Shape;471;p9"/>
          <p:cNvSpPr/>
          <p:nvPr/>
        </p:nvSpPr>
        <p:spPr>
          <a:xfrm>
            <a:off x="91440" y="329184"/>
            <a:ext cx="8851392" cy="6419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2" name="Google Shape;472;p9"/>
          <p:cNvSpPr txBox="1"/>
          <p:nvPr/>
        </p:nvSpPr>
        <p:spPr>
          <a:xfrm>
            <a:off x="219456" y="402336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RA 전문가 최종 심의 판정 및 공문 리포트 출력</a:t>
            </a:r>
            <a:endParaRPr/>
          </a:p>
        </p:txBody>
      </p:sp>
      <p:cxnSp>
        <p:nvCxnSpPr>
          <p:cNvPr id="473" name="Google Shape;473;p9"/>
          <p:cNvCxnSpPr/>
          <p:nvPr/>
        </p:nvCxnSpPr>
        <p:spPr>
          <a:xfrm>
            <a:off x="219456" y="749808"/>
            <a:ext cx="857707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74" name="Google Shape;474;p9"/>
          <p:cNvCxnSpPr/>
          <p:nvPr/>
        </p:nvCxnSpPr>
        <p:spPr>
          <a:xfrm>
            <a:off x="91440" y="5321808"/>
            <a:ext cx="885139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75" name="Google Shape;475;p9"/>
          <p:cNvSpPr/>
          <p:nvPr/>
        </p:nvSpPr>
        <p:spPr>
          <a:xfrm>
            <a:off x="100584" y="5330952"/>
            <a:ext cx="8833104" cy="140817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6" name="Google Shape;476;p9"/>
          <p:cNvSpPr txBox="1"/>
          <p:nvPr/>
        </p:nvSpPr>
        <p:spPr>
          <a:xfrm>
            <a:off x="182880" y="535838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[연계 팝업 / Alert 정의]</a:t>
            </a:r>
            <a:endParaRPr/>
          </a:p>
        </p:txBody>
      </p:sp>
      <p:sp>
        <p:nvSpPr>
          <p:cNvPr id="477" name="Google Shape;477;p9"/>
          <p:cNvSpPr/>
          <p:nvPr/>
        </p:nvSpPr>
        <p:spPr>
          <a:xfrm>
            <a:off x="5166360" y="429768"/>
            <a:ext cx="114300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공문 PDF 리포트(SCR_RA_03)</a:t>
            </a:r>
            <a:endParaRPr/>
          </a:p>
        </p:txBody>
      </p:sp>
      <p:sp>
        <p:nvSpPr>
          <p:cNvPr id="478" name="Google Shape;478;p9"/>
          <p:cNvSpPr/>
          <p:nvPr/>
        </p:nvSpPr>
        <p:spPr>
          <a:xfrm>
            <a:off x="6364224" y="429768"/>
            <a:ext cx="7315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심의 반려</a:t>
            </a:r>
            <a:endParaRPr/>
          </a:p>
        </p:txBody>
      </p:sp>
      <p:sp>
        <p:nvSpPr>
          <p:cNvPr id="479" name="Google Shape;479;p9"/>
          <p:cNvSpPr/>
          <p:nvPr/>
        </p:nvSpPr>
        <p:spPr>
          <a:xfrm>
            <a:off x="7150608" y="429768"/>
            <a:ext cx="786384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조건부 승인</a:t>
            </a:r>
            <a:endParaRPr/>
          </a:p>
        </p:txBody>
      </p:sp>
      <p:sp>
        <p:nvSpPr>
          <p:cNvPr id="480" name="Google Shape;480;p9"/>
          <p:cNvSpPr/>
          <p:nvPr/>
        </p:nvSpPr>
        <p:spPr>
          <a:xfrm>
            <a:off x="7991856" y="429768"/>
            <a:ext cx="822960" cy="237744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승인 확정</a:t>
            </a:r>
            <a:endParaRPr/>
          </a:p>
        </p:txBody>
      </p:sp>
      <p:sp>
        <p:nvSpPr>
          <p:cNvPr id="481" name="Google Shape;481;p9"/>
          <p:cNvSpPr/>
          <p:nvPr/>
        </p:nvSpPr>
        <p:spPr>
          <a:xfrm>
            <a:off x="5074920" y="36576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482" name="Google Shape;482;p9"/>
          <p:cNvSpPr/>
          <p:nvPr/>
        </p:nvSpPr>
        <p:spPr>
          <a:xfrm>
            <a:off x="7900416" y="36576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483" name="Google Shape;483;p9"/>
          <p:cNvSpPr/>
          <p:nvPr/>
        </p:nvSpPr>
        <p:spPr>
          <a:xfrm>
            <a:off x="219456" y="804672"/>
            <a:ext cx="8577072" cy="31089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의뢰번호: CLM-2026-0128  |  브랜드: 루미에르 (벨르코어 리제너레이팅 크림 리뉴얼)  |  마케팅허브: REQ-2026-0891  |  의뢰자: 박마케터  |  AI판정: 금지1(치환완료)·주의2(실증완료)</a:t>
            </a:r>
            <a:endParaRPr/>
          </a:p>
        </p:txBody>
      </p:sp>
      <p:sp>
        <p:nvSpPr>
          <p:cNvPr id="484" name="Google Shape;484;p9"/>
          <p:cNvSpPr txBox="1"/>
          <p:nvPr/>
        </p:nvSpPr>
        <p:spPr>
          <a:xfrm>
            <a:off x="219456" y="1170432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문장별 AI 판정 검토 및 RA 전문가 오버라이드 (판정 변경 시 사유 입력 필수)</a:t>
            </a:r>
            <a:endParaRPr/>
          </a:p>
        </p:txBody>
      </p:sp>
      <p:sp>
        <p:nvSpPr>
          <p:cNvPr id="485" name="Google Shape;485;p9"/>
          <p:cNvSpPr/>
          <p:nvPr/>
        </p:nvSpPr>
        <p:spPr>
          <a:xfrm>
            <a:off x="128016" y="1152144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graphicFrame>
        <p:nvGraphicFramePr>
          <p:cNvPr id="486" name="Google Shape;486;p9"/>
          <p:cNvGraphicFramePr/>
          <p:nvPr/>
        </p:nvGraphicFramePr>
        <p:xfrm>
          <a:off x="219456" y="14081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84050"/>
                <a:gridCol w="2057400"/>
                <a:gridCol w="530350"/>
                <a:gridCol w="777250"/>
                <a:gridCol w="141732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번호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원문 카피 ➔ 마케터 수정본(대체어/각주)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AI판정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 최종판정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 검토 코멘트 / 오버라이드 사유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#01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[원문] 피부 세포 재생을 돕는 벨르코어 안티에이징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[수정] 피부 본연의 자생력을 케어하는 벨르코어 안티에이징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[금지]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➔치환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적합 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추천 대체문안으로 적정하게 수정됨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#02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[원문] 단 4주 만에 느끼는 72시간 보습 지속력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[각주] *피앤케이 / 26.05.01~05.29 / 여성 32명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[주의]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➔실증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조건부적합 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MBK-26-0412 성적서 일치. 각주 폰트 크기 8pt 이상 유지 조건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#03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[원문] 인삼 사포닌 고농축 캡슐 10,000ppm 함유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[적합]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적합 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전성분 배합비율(1.0%) 일치 확인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#05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[원문] 피부 치밀도 84.2% 개선 및 탄력 리프팅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[각주] *엘리드 / 26.06.01~06.28 / 여성 28명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[주의]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➔실증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적합 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인체적용시험 성적서(MBK-26-0415) 및 법정 각주 적정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7" name="Google Shape;487;p9"/>
          <p:cNvSpPr/>
          <p:nvPr/>
        </p:nvSpPr>
        <p:spPr>
          <a:xfrm>
            <a:off x="219456" y="4059936"/>
            <a:ext cx="5166360" cy="1170432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8" name="Google Shape;488;p9"/>
          <p:cNvSpPr txBox="1"/>
          <p:nvPr/>
        </p:nvSpPr>
        <p:spPr>
          <a:xfrm>
            <a:off x="310896" y="4096512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RA 전문가 종합 심의 의견서 작성 (마케팅허브 및 공문 PDF 리포트에 자동 기재)</a:t>
            </a:r>
            <a:endParaRPr/>
          </a:p>
        </p:txBody>
      </p:sp>
      <p:sp>
        <p:nvSpPr>
          <p:cNvPr id="489" name="Google Shape;489;p9"/>
          <p:cNvSpPr/>
          <p:nvPr/>
        </p:nvSpPr>
        <p:spPr>
          <a:xfrm>
            <a:off x="128016" y="4059936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490" name="Google Shape;490;p9"/>
          <p:cNvSpPr/>
          <p:nvPr/>
        </p:nvSpPr>
        <p:spPr>
          <a:xfrm>
            <a:off x="310896" y="4315968"/>
            <a:ext cx="4983480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#01 헤드카피의 '세포 재생' 문구는 '피부 본연의 자생력을 케어하는'으로 대체 반영되어 의약품 오인 소지가 해소되었습니다.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#02, #05 효능 수치 소구는 ProductLab 성적서(MBK-26-0412, 0415)와 일치하며, 하단 각주 가독성(배경 대비 명도)만 준수하여 집행 바랍니다.</a:t>
            </a:r>
            <a:endParaRPr/>
          </a:p>
        </p:txBody>
      </p:sp>
      <p:sp>
        <p:nvSpPr>
          <p:cNvPr id="491" name="Google Shape;491;p9"/>
          <p:cNvSpPr txBox="1"/>
          <p:nvPr/>
        </p:nvSpPr>
        <p:spPr>
          <a:xfrm>
            <a:off x="310896" y="4956048"/>
            <a:ext cx="4983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☑ 확정 즉시 마케팅허브(MarketingHub) 상태 자동 회신   |   ☑ 의뢰자 사내 메일(AP-Mail) 결과 통보   |   ☑ AI 학습용 골든셋 후보 등록</a:t>
            </a:r>
            <a:endParaRPr/>
          </a:p>
        </p:txBody>
      </p:sp>
      <p:sp>
        <p:nvSpPr>
          <p:cNvPr id="492" name="Google Shape;492;p9"/>
          <p:cNvSpPr/>
          <p:nvPr/>
        </p:nvSpPr>
        <p:spPr>
          <a:xfrm>
            <a:off x="5486400" y="1188720"/>
            <a:ext cx="3310128" cy="4041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3" name="Google Shape;493;p9"/>
          <p:cNvSpPr/>
          <p:nvPr/>
        </p:nvSpPr>
        <p:spPr>
          <a:xfrm>
            <a:off x="5486400" y="1188720"/>
            <a:ext cx="3310128" cy="2560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심의 확정 공문 리포트 미리보기 (SCR_RA_03)</a:t>
            </a:r>
            <a:endParaRPr/>
          </a:p>
        </p:txBody>
      </p:sp>
      <p:sp>
        <p:nvSpPr>
          <p:cNvPr id="494" name="Google Shape;494;p9"/>
          <p:cNvSpPr txBox="1"/>
          <p:nvPr/>
        </p:nvSpPr>
        <p:spPr>
          <a:xfrm>
            <a:off x="8540496" y="1188720"/>
            <a:ext cx="237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</a:t>
            </a:r>
            <a:endParaRPr/>
          </a:p>
        </p:txBody>
      </p:sp>
      <p:sp>
        <p:nvSpPr>
          <p:cNvPr id="495" name="Google Shape;495;p9"/>
          <p:cNvSpPr/>
          <p:nvPr/>
        </p:nvSpPr>
        <p:spPr>
          <a:xfrm>
            <a:off x="5394960" y="1133856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496" name="Google Shape;496;p9"/>
          <p:cNvSpPr/>
          <p:nvPr/>
        </p:nvSpPr>
        <p:spPr>
          <a:xfrm>
            <a:off x="5614416" y="1517904"/>
            <a:ext cx="3054096" cy="32552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7" name="Google Shape;497;p9"/>
          <p:cNvSpPr txBox="1"/>
          <p:nvPr/>
        </p:nvSpPr>
        <p:spPr>
          <a:xfrm>
            <a:off x="5687568" y="1591056"/>
            <a:ext cx="2907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표시·광고 심의 결과 통보서</a:t>
            </a:r>
            <a:endParaRPr/>
          </a:p>
        </p:txBody>
      </p:sp>
      <p:cxnSp>
        <p:nvCxnSpPr>
          <p:cNvPr id="498" name="Google Shape;498;p9"/>
          <p:cNvCxnSpPr/>
          <p:nvPr/>
        </p:nvCxnSpPr>
        <p:spPr>
          <a:xfrm>
            <a:off x="5760720" y="1865376"/>
            <a:ext cx="2761488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499" name="Google Shape;499;p9"/>
          <p:cNvGraphicFramePr/>
          <p:nvPr/>
        </p:nvGraphicFramePr>
        <p:xfrm>
          <a:off x="5705856" y="19385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640075"/>
                <a:gridCol w="868675"/>
                <a:gridCol w="594350"/>
                <a:gridCol w="7681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문서번호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RA-CERT-2026-0128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심의일자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2026.10.20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2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브랜드/제품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2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 벨르코어 리제너레이팅 크림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2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최종판정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2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[조건부 승인]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2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심의대상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2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온라인 상세페이지(12p)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2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담당심의관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2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김아모 책임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0" name="Google Shape;500;p9"/>
          <p:cNvSpPr/>
          <p:nvPr/>
        </p:nvSpPr>
        <p:spPr>
          <a:xfrm>
            <a:off x="5705856" y="2688336"/>
            <a:ext cx="2871216" cy="1426464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[종합 판정 의견 및 준수사항]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3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총 18개 검출 문장 중 금지 1건 대체어 치환 완료, 주의 2건 인체적용시험 성적서(MBK-26-0412 외) 매핑 및 법정 각주 삽입 확인함.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3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조건부 승인 사항 : 상세페이지 하단 실증 각주 글자 크기를 본문 대비 식별 가능하도록 유지할 것.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0" i="0" sz="63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3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위와 같이 표시·광고 공정화법 제3조 기준 심의를 완료함.</a:t>
            </a:r>
            <a:endParaRPr/>
          </a:p>
        </p:txBody>
      </p:sp>
      <p:sp>
        <p:nvSpPr>
          <p:cNvPr id="501" name="Google Shape;501;p9"/>
          <p:cNvSpPr/>
          <p:nvPr/>
        </p:nvSpPr>
        <p:spPr>
          <a:xfrm>
            <a:off x="5705856" y="4187952"/>
            <a:ext cx="2871216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2026년 10월 20일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㈜한빛글로벌 RA심의팀장  [전자서명 직인 완료]</a:t>
            </a:r>
            <a:endParaRPr/>
          </a:p>
        </p:txBody>
      </p:sp>
      <p:sp>
        <p:nvSpPr>
          <p:cNvPr id="502" name="Google Shape;502;p9"/>
          <p:cNvSpPr/>
          <p:nvPr/>
        </p:nvSpPr>
        <p:spPr>
          <a:xfrm>
            <a:off x="6217920" y="4846320"/>
            <a:ext cx="1143000" cy="2560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PDF 다운로드</a:t>
            </a:r>
            <a:endParaRPr/>
          </a:p>
        </p:txBody>
      </p:sp>
      <p:sp>
        <p:nvSpPr>
          <p:cNvPr id="503" name="Google Shape;503;p9"/>
          <p:cNvSpPr/>
          <p:nvPr/>
        </p:nvSpPr>
        <p:spPr>
          <a:xfrm>
            <a:off x="7424927" y="4846320"/>
            <a:ext cx="123444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Word(DOCX) 다운로드</a:t>
            </a:r>
            <a:endParaRPr/>
          </a:p>
        </p:txBody>
      </p:sp>
      <p:sp>
        <p:nvSpPr>
          <p:cNvPr id="504" name="Google Shape;504;p9"/>
          <p:cNvSpPr/>
          <p:nvPr/>
        </p:nvSpPr>
        <p:spPr>
          <a:xfrm>
            <a:off x="1554480" y="5413248"/>
            <a:ext cx="315468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5" name="Google Shape;505;p9"/>
          <p:cNvSpPr txBox="1"/>
          <p:nvPr/>
        </p:nvSpPr>
        <p:spPr>
          <a:xfrm>
            <a:off x="1609344" y="5458968"/>
            <a:ext cx="304495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사전판정 등급([금지])을 [적합]으로 오버라이드(변경)할 경우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우측 코멘트란에 변경 근거 사유를 반드시 입력해야 합니다.</a:t>
            </a:r>
            <a:endParaRPr/>
          </a:p>
        </p:txBody>
      </p:sp>
      <p:sp>
        <p:nvSpPr>
          <p:cNvPr id="506" name="Google Shape;506;p9"/>
          <p:cNvSpPr/>
          <p:nvPr/>
        </p:nvSpPr>
        <p:spPr>
          <a:xfrm>
            <a:off x="2848356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/>
          </a:p>
        </p:txBody>
      </p:sp>
      <p:sp>
        <p:nvSpPr>
          <p:cNvPr id="507" name="Google Shape;507;p9"/>
          <p:cNvSpPr/>
          <p:nvPr/>
        </p:nvSpPr>
        <p:spPr>
          <a:xfrm>
            <a:off x="148132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1A</a:t>
            </a:r>
            <a:endParaRPr/>
          </a:p>
        </p:txBody>
      </p:sp>
      <p:sp>
        <p:nvSpPr>
          <p:cNvPr id="508" name="Google Shape;508;p9"/>
          <p:cNvSpPr/>
          <p:nvPr/>
        </p:nvSpPr>
        <p:spPr>
          <a:xfrm>
            <a:off x="5074920" y="5413248"/>
            <a:ext cx="333756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9" name="Google Shape;509;p9"/>
          <p:cNvSpPr txBox="1"/>
          <p:nvPr/>
        </p:nvSpPr>
        <p:spPr>
          <a:xfrm>
            <a:off x="5129783" y="5458968"/>
            <a:ext cx="32278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심의건(CLM-2026-0128)을 [조건부 승인]으로 최종 확정하시겠습니까?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확정 시 공문 PDF가 발급되며 마케팅허브으로 결과가 즉시 회신됩니다.</a:t>
            </a:r>
            <a:endParaRPr/>
          </a:p>
        </p:txBody>
      </p:sp>
      <p:sp>
        <p:nvSpPr>
          <p:cNvPr id="510" name="Google Shape;510;p9"/>
          <p:cNvSpPr/>
          <p:nvPr/>
        </p:nvSpPr>
        <p:spPr>
          <a:xfrm>
            <a:off x="6062472" y="6364224"/>
            <a:ext cx="644652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511" name="Google Shape;511;p9"/>
          <p:cNvSpPr/>
          <p:nvPr/>
        </p:nvSpPr>
        <p:spPr>
          <a:xfrm>
            <a:off x="6780276" y="6364224"/>
            <a:ext cx="644652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확정</a:t>
            </a:r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500176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5A</a:t>
            </a:r>
            <a:endParaRPr/>
          </a:p>
        </p:txBody>
      </p:sp>
      <p:graphicFrame>
        <p:nvGraphicFramePr>
          <p:cNvPr id="513" name="Google Shape;513;p9"/>
          <p:cNvGraphicFramePr/>
          <p:nvPr/>
        </p:nvGraphicFramePr>
        <p:xfrm>
          <a:off x="9034272" y="329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47475"/>
                <a:gridCol w="27157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237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[RA 전문가 판정 및 리포트 (SCR_RA_02/03)]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[문장별 AI 판정 검토 및 오버라이드]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마케터가 채택한 대체문안 및 실증각주를 원문과 대조 검토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RA 전문가가 AI 판정 등급을 수동 변경(오버라이드) 시 사유 미입력이면 1A Alert 호출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[RA 전문가 종합 심의 의견서]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승인 조건, 반려 사유 등 총평 입력 및 마케팅허브 자동 회신/메일 발송 옵션 설정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[공문 PDF 결과서 뷰어 (SCR_RA_03)]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심의 결과 통보서 양식으로 실시간 렌더링 및 전자서명 직인 포함 PDF/Word 출력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[공문 PDF 리포트 단독 팝업 버튼]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클릭 시 전체화면 공문 출력/인쇄 모달 오픈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[반려 / 조건부 승인 / 최종 승인 확정]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클릭 시 5A Confirm 확인 후 불변 감사로그 기록 및 마케팅허브 웹훅 회신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0"/>
          <p:cNvSpPr txBox="1"/>
          <p:nvPr/>
        </p:nvSpPr>
        <p:spPr>
          <a:xfrm>
            <a:off x="128016" y="5486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1.8 과거 심의 이력 조회 및 버전 비교</a:t>
            </a:r>
            <a:endParaRPr/>
          </a:p>
        </p:txBody>
      </p:sp>
      <p:sp>
        <p:nvSpPr>
          <p:cNvPr id="519" name="Google Shape;519;p10"/>
          <p:cNvSpPr txBox="1"/>
          <p:nvPr/>
        </p:nvSpPr>
        <p:spPr>
          <a:xfrm>
            <a:off x="4846320" y="5486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SCR_HIS_01 / 02</a:t>
            </a:r>
            <a:endParaRPr/>
          </a:p>
        </p:txBody>
      </p:sp>
      <p:sp>
        <p:nvSpPr>
          <p:cNvPr id="520" name="Google Shape;520;p10"/>
          <p:cNvSpPr txBox="1"/>
          <p:nvPr/>
        </p:nvSpPr>
        <p:spPr>
          <a:xfrm>
            <a:off x="9034272" y="54864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이력조회 &gt; 심의 이력 목록 / 버전 비교</a:t>
            </a:r>
            <a:endParaRPr/>
          </a:p>
        </p:txBody>
      </p:sp>
      <p:sp>
        <p:nvSpPr>
          <p:cNvPr id="521" name="Google Shape;521;p10"/>
          <p:cNvSpPr/>
          <p:nvPr/>
        </p:nvSpPr>
        <p:spPr>
          <a:xfrm>
            <a:off x="91440" y="329184"/>
            <a:ext cx="8851392" cy="6419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2" name="Google Shape;522;p10"/>
          <p:cNvSpPr txBox="1"/>
          <p:nvPr/>
        </p:nvSpPr>
        <p:spPr>
          <a:xfrm>
            <a:off x="219456" y="402336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과거 심의 이력 다차원 조회 및 시안 버전별 문안 비교(Diff)</a:t>
            </a:r>
            <a:endParaRPr/>
          </a:p>
        </p:txBody>
      </p:sp>
      <p:cxnSp>
        <p:nvCxnSpPr>
          <p:cNvPr id="523" name="Google Shape;523;p10"/>
          <p:cNvCxnSpPr/>
          <p:nvPr/>
        </p:nvCxnSpPr>
        <p:spPr>
          <a:xfrm>
            <a:off x="219456" y="749808"/>
            <a:ext cx="857707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24" name="Google Shape;524;p10"/>
          <p:cNvCxnSpPr/>
          <p:nvPr/>
        </p:nvCxnSpPr>
        <p:spPr>
          <a:xfrm>
            <a:off x="91440" y="5321808"/>
            <a:ext cx="885139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25" name="Google Shape;525;p10"/>
          <p:cNvSpPr/>
          <p:nvPr/>
        </p:nvSpPr>
        <p:spPr>
          <a:xfrm>
            <a:off x="100584" y="5330952"/>
            <a:ext cx="8833104" cy="140817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6" name="Google Shape;526;p10"/>
          <p:cNvSpPr txBox="1"/>
          <p:nvPr/>
        </p:nvSpPr>
        <p:spPr>
          <a:xfrm>
            <a:off x="182880" y="535838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[연계 팝업 / Alert 정의]</a:t>
            </a:r>
            <a:endParaRPr/>
          </a:p>
        </p:txBody>
      </p:sp>
      <p:sp>
        <p:nvSpPr>
          <p:cNvPr id="527" name="Google Shape;527;p10"/>
          <p:cNvSpPr/>
          <p:nvPr/>
        </p:nvSpPr>
        <p:spPr>
          <a:xfrm>
            <a:off x="219456" y="804672"/>
            <a:ext cx="8577072" cy="749808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8" name="Google Shape;528;p10"/>
          <p:cNvSpPr/>
          <p:nvPr/>
        </p:nvSpPr>
        <p:spPr>
          <a:xfrm>
            <a:off x="128016" y="768096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529" name="Google Shape;529;p10"/>
          <p:cNvSpPr txBox="1"/>
          <p:nvPr/>
        </p:nvSpPr>
        <p:spPr>
          <a:xfrm>
            <a:off x="329184" y="877824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브랜드</a:t>
            </a:r>
            <a:endParaRPr/>
          </a:p>
        </p:txBody>
      </p:sp>
      <p:sp>
        <p:nvSpPr>
          <p:cNvPr id="530" name="Google Shape;530;p10"/>
          <p:cNvSpPr/>
          <p:nvPr/>
        </p:nvSpPr>
        <p:spPr>
          <a:xfrm>
            <a:off x="896112" y="859536"/>
            <a:ext cx="96012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루미에르</a:t>
            </a:r>
            <a:endParaRPr/>
          </a:p>
        </p:txBody>
      </p:sp>
      <p:sp>
        <p:nvSpPr>
          <p:cNvPr id="531" name="Google Shape;531;p10"/>
          <p:cNvSpPr txBox="1"/>
          <p:nvPr/>
        </p:nvSpPr>
        <p:spPr>
          <a:xfrm>
            <a:off x="1655064" y="859536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532" name="Google Shape;532;p10"/>
          <p:cNvSpPr txBox="1"/>
          <p:nvPr/>
        </p:nvSpPr>
        <p:spPr>
          <a:xfrm>
            <a:off x="1956816" y="877824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판정결과</a:t>
            </a:r>
            <a:endParaRPr/>
          </a:p>
        </p:txBody>
      </p:sp>
      <p:sp>
        <p:nvSpPr>
          <p:cNvPr id="533" name="Google Shape;533;p10"/>
          <p:cNvSpPr/>
          <p:nvPr/>
        </p:nvSpPr>
        <p:spPr>
          <a:xfrm>
            <a:off x="2560320" y="859536"/>
            <a:ext cx="96012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</a:t>
            </a:r>
            <a:endParaRPr/>
          </a:p>
        </p:txBody>
      </p:sp>
      <p:sp>
        <p:nvSpPr>
          <p:cNvPr id="534" name="Google Shape;534;p10"/>
          <p:cNvSpPr txBox="1"/>
          <p:nvPr/>
        </p:nvSpPr>
        <p:spPr>
          <a:xfrm>
            <a:off x="3319271" y="859536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535" name="Google Shape;535;p10"/>
          <p:cNvSpPr txBox="1"/>
          <p:nvPr/>
        </p:nvSpPr>
        <p:spPr>
          <a:xfrm>
            <a:off x="3621024" y="877824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확정일자</a:t>
            </a:r>
            <a:endParaRPr/>
          </a:p>
        </p:txBody>
      </p:sp>
      <p:sp>
        <p:nvSpPr>
          <p:cNvPr id="536" name="Google Shape;536;p10"/>
          <p:cNvSpPr/>
          <p:nvPr/>
        </p:nvSpPr>
        <p:spPr>
          <a:xfrm>
            <a:off x="4224528" y="859536"/>
            <a:ext cx="987552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2026.09.20</a:t>
            </a:r>
            <a:endParaRPr/>
          </a:p>
        </p:txBody>
      </p:sp>
      <p:sp>
        <p:nvSpPr>
          <p:cNvPr id="537" name="Google Shape;537;p10"/>
          <p:cNvSpPr/>
          <p:nvPr/>
        </p:nvSpPr>
        <p:spPr>
          <a:xfrm>
            <a:off x="5010912" y="877824"/>
            <a:ext cx="182880" cy="182879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31</a:t>
            </a:r>
            <a:endParaRPr/>
          </a:p>
        </p:txBody>
      </p:sp>
      <p:sp>
        <p:nvSpPr>
          <p:cNvPr id="538" name="Google Shape;538;p10"/>
          <p:cNvSpPr txBox="1"/>
          <p:nvPr/>
        </p:nvSpPr>
        <p:spPr>
          <a:xfrm>
            <a:off x="5230368" y="859536"/>
            <a:ext cx="1280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endParaRPr/>
          </a:p>
        </p:txBody>
      </p:sp>
      <p:sp>
        <p:nvSpPr>
          <p:cNvPr id="539" name="Google Shape;539;p10"/>
          <p:cNvSpPr/>
          <p:nvPr/>
        </p:nvSpPr>
        <p:spPr>
          <a:xfrm>
            <a:off x="5358384" y="859536"/>
            <a:ext cx="987552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2026.10.20</a:t>
            </a:r>
            <a:endParaRPr/>
          </a:p>
        </p:txBody>
      </p:sp>
      <p:sp>
        <p:nvSpPr>
          <p:cNvPr id="540" name="Google Shape;540;p10"/>
          <p:cNvSpPr/>
          <p:nvPr/>
        </p:nvSpPr>
        <p:spPr>
          <a:xfrm>
            <a:off x="6144768" y="877824"/>
            <a:ext cx="182880" cy="182879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31</a:t>
            </a:r>
            <a:endParaRPr/>
          </a:p>
        </p:txBody>
      </p:sp>
      <p:sp>
        <p:nvSpPr>
          <p:cNvPr id="541" name="Google Shape;541;p10"/>
          <p:cNvSpPr/>
          <p:nvPr/>
        </p:nvSpPr>
        <p:spPr>
          <a:xfrm>
            <a:off x="6419088" y="868680"/>
            <a:ext cx="329184" cy="20116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</a:t>
            </a:r>
            <a:endParaRPr/>
          </a:p>
        </p:txBody>
      </p:sp>
      <p:sp>
        <p:nvSpPr>
          <p:cNvPr id="542" name="Google Shape;542;p10"/>
          <p:cNvSpPr/>
          <p:nvPr/>
        </p:nvSpPr>
        <p:spPr>
          <a:xfrm>
            <a:off x="6784848" y="868680"/>
            <a:ext cx="384048" cy="20116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1개월</a:t>
            </a:r>
            <a:endParaRPr/>
          </a:p>
        </p:txBody>
      </p:sp>
      <p:sp>
        <p:nvSpPr>
          <p:cNvPr id="543" name="Google Shape;543;p10"/>
          <p:cNvSpPr/>
          <p:nvPr/>
        </p:nvSpPr>
        <p:spPr>
          <a:xfrm>
            <a:off x="7205472" y="868680"/>
            <a:ext cx="384048" cy="201168"/>
          </a:xfrm>
          <a:prstGeom prst="roundRect">
            <a:avLst>
              <a:gd fmla="val 12000" name="adj"/>
            </a:avLst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3개월</a:t>
            </a:r>
            <a:endParaRPr/>
          </a:p>
        </p:txBody>
      </p:sp>
      <p:sp>
        <p:nvSpPr>
          <p:cNvPr id="544" name="Google Shape;544;p10"/>
          <p:cNvSpPr txBox="1"/>
          <p:nvPr/>
        </p:nvSpPr>
        <p:spPr>
          <a:xfrm>
            <a:off x="329184" y="120700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검색어</a:t>
            </a:r>
            <a:endParaRPr/>
          </a:p>
        </p:txBody>
      </p:sp>
      <p:sp>
        <p:nvSpPr>
          <p:cNvPr id="545" name="Google Shape;545;p10"/>
          <p:cNvSpPr/>
          <p:nvPr/>
        </p:nvSpPr>
        <p:spPr>
          <a:xfrm>
            <a:off x="896112" y="1188720"/>
            <a:ext cx="96012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유사문안+제품</a:t>
            </a:r>
            <a:endParaRPr/>
          </a:p>
        </p:txBody>
      </p:sp>
      <p:sp>
        <p:nvSpPr>
          <p:cNvPr id="546" name="Google Shape;546;p10"/>
          <p:cNvSpPr txBox="1"/>
          <p:nvPr/>
        </p:nvSpPr>
        <p:spPr>
          <a:xfrm>
            <a:off x="1655064" y="1188720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547" name="Google Shape;547;p10"/>
          <p:cNvSpPr/>
          <p:nvPr/>
        </p:nvSpPr>
        <p:spPr>
          <a:xfrm>
            <a:off x="1901952" y="1188720"/>
            <a:ext cx="512064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벨르코어 리제너레이팅 크림 세포 재생 자생력</a:t>
            </a:r>
            <a:endParaRPr/>
          </a:p>
        </p:txBody>
      </p:sp>
      <p:sp>
        <p:nvSpPr>
          <p:cNvPr id="548" name="Google Shape;548;p10"/>
          <p:cNvSpPr/>
          <p:nvPr/>
        </p:nvSpPr>
        <p:spPr>
          <a:xfrm>
            <a:off x="7132320" y="1188720"/>
            <a:ext cx="749808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초기화</a:t>
            </a:r>
            <a:endParaRPr/>
          </a:p>
        </p:txBody>
      </p:sp>
      <p:sp>
        <p:nvSpPr>
          <p:cNvPr id="549" name="Google Shape;549;p10"/>
          <p:cNvSpPr/>
          <p:nvPr/>
        </p:nvSpPr>
        <p:spPr>
          <a:xfrm>
            <a:off x="7936992" y="1188720"/>
            <a:ext cx="749808" cy="219456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</a:t>
            </a:r>
            <a:endParaRPr/>
          </a:p>
        </p:txBody>
      </p:sp>
      <p:sp>
        <p:nvSpPr>
          <p:cNvPr id="550" name="Google Shape;550;p10"/>
          <p:cNvSpPr txBox="1"/>
          <p:nvPr/>
        </p:nvSpPr>
        <p:spPr>
          <a:xfrm>
            <a:off x="219456" y="1609344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심의 확정 이력 목록 (총 312건  |  비교할 2개 버전을 선택하여 Diff 대조)</a:t>
            </a:r>
            <a:endParaRPr/>
          </a:p>
        </p:txBody>
      </p:sp>
      <p:sp>
        <p:nvSpPr>
          <p:cNvPr id="551" name="Google Shape;551;p10"/>
          <p:cNvSpPr/>
          <p:nvPr/>
        </p:nvSpPr>
        <p:spPr>
          <a:xfrm>
            <a:off x="6729984" y="1591056"/>
            <a:ext cx="1024128" cy="219456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버전 비교(Diff)</a:t>
            </a:r>
            <a:endParaRPr/>
          </a:p>
        </p:txBody>
      </p:sp>
      <p:sp>
        <p:nvSpPr>
          <p:cNvPr id="552" name="Google Shape;552;p10"/>
          <p:cNvSpPr/>
          <p:nvPr/>
        </p:nvSpPr>
        <p:spPr>
          <a:xfrm>
            <a:off x="7808975" y="1591056"/>
            <a:ext cx="987552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이력 엑셀 다운로드</a:t>
            </a:r>
            <a:endParaRPr/>
          </a:p>
        </p:txBody>
      </p:sp>
      <p:sp>
        <p:nvSpPr>
          <p:cNvPr id="553" name="Google Shape;553;p10"/>
          <p:cNvSpPr/>
          <p:nvPr/>
        </p:nvSpPr>
        <p:spPr>
          <a:xfrm>
            <a:off x="6620256" y="1536192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graphicFrame>
        <p:nvGraphicFramePr>
          <p:cNvPr id="554" name="Google Shape;554;p10"/>
          <p:cNvGraphicFramePr/>
          <p:nvPr/>
        </p:nvGraphicFramePr>
        <p:xfrm>
          <a:off x="219456" y="1847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84050"/>
                <a:gridCol w="896100"/>
                <a:gridCol w="713225"/>
                <a:gridCol w="594350"/>
                <a:gridCol w="2331725"/>
                <a:gridCol w="777250"/>
                <a:gridCol w="713225"/>
                <a:gridCol w="749800"/>
                <a:gridCol w="594350"/>
                <a:gridCol w="822950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심의번호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브랜드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제품 및 시안명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최종판정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금지/주의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확정일자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담당RA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결과서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v1.1 (확정)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벨르코어 리제너레이팅 크림 리뉴얼 런칭 상세페이지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[조건부승인]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0건 / 2건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2026.10.20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김아모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[공문PDF]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CLM-26-0119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v1.0 (초안)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벨르코어 리제너레이팅 크림 리뉴얼 런칭 상세페이지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[반려]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2건 / 3건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2026.10.17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김아모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[반려의견]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CLM-26-0084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v2.0 (확정)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벨르코어 리제너레이팅 세럼 기획세트 네이버 쇼핑라이브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[최종승인]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0건 / 1건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2026.09.28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박심의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7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[공문PDF]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5" name="Google Shape;555;p10"/>
          <p:cNvSpPr/>
          <p:nvPr/>
        </p:nvSpPr>
        <p:spPr>
          <a:xfrm>
            <a:off x="219456" y="3017520"/>
            <a:ext cx="8577072" cy="2212848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6" name="Google Shape;556;p10"/>
          <p:cNvSpPr txBox="1"/>
          <p:nvPr/>
        </p:nvSpPr>
        <p:spPr>
          <a:xfrm>
            <a:off x="329184" y="3072384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시안 버전별 문안 변경점 비교 뷰어 (SCR_HIS_02) : [좌측] v1.0 초안 (반려본)  vs  [우측] v1.1 수정본 (조건부승인 확정본)</a:t>
            </a:r>
            <a:endParaRPr/>
          </a:p>
        </p:txBody>
      </p:sp>
      <p:sp>
        <p:nvSpPr>
          <p:cNvPr id="557" name="Google Shape;557;p10"/>
          <p:cNvSpPr/>
          <p:nvPr/>
        </p:nvSpPr>
        <p:spPr>
          <a:xfrm>
            <a:off x="128016" y="301752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558" name="Google Shape;558;p10"/>
          <p:cNvSpPr/>
          <p:nvPr/>
        </p:nvSpPr>
        <p:spPr>
          <a:xfrm>
            <a:off x="7498079" y="3054096"/>
            <a:ext cx="118872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승인 문안 세트 복사</a:t>
            </a:r>
            <a:endParaRPr/>
          </a:p>
        </p:txBody>
      </p:sp>
      <p:sp>
        <p:nvSpPr>
          <p:cNvPr id="559" name="Google Shape;559;p10"/>
          <p:cNvSpPr/>
          <p:nvPr/>
        </p:nvSpPr>
        <p:spPr>
          <a:xfrm>
            <a:off x="7406640" y="2999232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graphicFrame>
        <p:nvGraphicFramePr>
          <p:cNvPr id="560" name="Google Shape;560;p10"/>
          <p:cNvGraphicFramePr/>
          <p:nvPr/>
        </p:nvGraphicFramePr>
        <p:xfrm>
          <a:off x="329184" y="33467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464300"/>
                <a:gridCol w="657775"/>
                <a:gridCol w="2398950"/>
                <a:gridCol w="696475"/>
                <a:gridCol w="2495675"/>
                <a:gridCol w="773850"/>
                <a:gridCol w="87057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문장#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[v1.0 초안 - 2026.10.17 반려본]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초안 판정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[v1.1 수정본 - 2026.10.20 승인본]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수정본 판정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 요약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#01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헤드카피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피부 [세포 재생]을 돕는 벨르코어 안티에이징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[금지]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피부 [본연의 자생력을 케어하는] 벨르코어 안티에이징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[적합]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금지어 대체치환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#02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서브카피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 4주 만에 느끼는 72시간 보습 지속력 (각주누락)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[주의-미비]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 4주 만에 느끼는 72시간 보습 지속력* (+법정각주1 추가)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[조건부적합]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성적서·각주추가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#06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상세문구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의약품 수준의 주름 치료 효과 입증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[금지]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깊어지는 피부 주름개선 기능성 케어 (문구 전면수정)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[적합]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의약품오인 삭제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61" name="Google Shape;561;p10"/>
          <p:cNvSpPr/>
          <p:nvPr/>
        </p:nvSpPr>
        <p:spPr>
          <a:xfrm>
            <a:off x="1645920" y="5413248"/>
            <a:ext cx="310896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2" name="Google Shape;562;p10"/>
          <p:cNvSpPr txBox="1"/>
          <p:nvPr/>
        </p:nvSpPr>
        <p:spPr>
          <a:xfrm>
            <a:off x="1700784" y="5458968"/>
            <a:ext cx="29992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버전 비교(Diff)를 수행하려면 상단 목록에서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비교할 2개의 심의 이력 행을 선택해 주세요.</a:t>
            </a:r>
            <a:endParaRPr/>
          </a:p>
        </p:txBody>
      </p:sp>
      <p:sp>
        <p:nvSpPr>
          <p:cNvPr id="563" name="Google Shape;563;p10"/>
          <p:cNvSpPr/>
          <p:nvPr/>
        </p:nvSpPr>
        <p:spPr>
          <a:xfrm>
            <a:off x="2916936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/>
          </a:p>
        </p:txBody>
      </p:sp>
      <p:sp>
        <p:nvSpPr>
          <p:cNvPr id="564" name="Google Shape;564;p10"/>
          <p:cNvSpPr/>
          <p:nvPr/>
        </p:nvSpPr>
        <p:spPr>
          <a:xfrm>
            <a:off x="157276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2A</a:t>
            </a:r>
            <a:endParaRPr/>
          </a:p>
        </p:txBody>
      </p:sp>
      <p:sp>
        <p:nvSpPr>
          <p:cNvPr id="565" name="Google Shape;565;p10"/>
          <p:cNvSpPr/>
          <p:nvPr/>
        </p:nvSpPr>
        <p:spPr>
          <a:xfrm>
            <a:off x="5120640" y="5413248"/>
            <a:ext cx="320040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6" name="Google Shape;566;p10"/>
          <p:cNvSpPr txBox="1"/>
          <p:nvPr/>
        </p:nvSpPr>
        <p:spPr>
          <a:xfrm>
            <a:off x="5175503" y="5458968"/>
            <a:ext cx="309067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선택하신 승인 확정 문안 세트(CLM-26-0128 v1.1)가 복사되었습니다.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신규 심의 의뢰 시 [기존 승인문안 불러오기]로 재사용할 수 있습니다.</a:t>
            </a:r>
            <a:endParaRPr/>
          </a:p>
        </p:txBody>
      </p:sp>
      <p:sp>
        <p:nvSpPr>
          <p:cNvPr id="567" name="Google Shape;567;p10"/>
          <p:cNvSpPr/>
          <p:nvPr/>
        </p:nvSpPr>
        <p:spPr>
          <a:xfrm>
            <a:off x="6437375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/>
          </a:p>
        </p:txBody>
      </p:sp>
      <p:sp>
        <p:nvSpPr>
          <p:cNvPr id="568" name="Google Shape;568;p10"/>
          <p:cNvSpPr/>
          <p:nvPr/>
        </p:nvSpPr>
        <p:spPr>
          <a:xfrm>
            <a:off x="504748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4A</a:t>
            </a:r>
            <a:endParaRPr/>
          </a:p>
        </p:txBody>
      </p:sp>
      <p:graphicFrame>
        <p:nvGraphicFramePr>
          <p:cNvPr id="569" name="Google Shape;569;p10"/>
          <p:cNvGraphicFramePr/>
          <p:nvPr/>
        </p:nvGraphicFramePr>
        <p:xfrm>
          <a:off x="9034272" y="329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47475"/>
                <a:gridCol w="27157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237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[과거 심의 이력 및 버전 비교 (SCR_HIS_01/02)]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[다차원 이력 및 유사문안 검색]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브랜드, 판정결과, 확정일자 및 시맨틱 유사 문안 키워드로 과거 승인/반려 사례 검색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[선택 버전 비교(Diff) 실행]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상단 그리드에서 2개 행 체크 후 클릭 시 하단 비교 뷰어 갱신 (2개 미선택 시 2A Alert)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[버전별 문안 변경 비교 뷰어 (SCR_HIS_02)]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초안(반려본)과 수정본(승인본)의 삭제/추가/치환 어절을 대조 표시하고 판정 등급 변화를 시각화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[승인 문안 세트 복사]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검증 완료된 과거 승인 문구 및 실증 각주 세트를 복사하여 신규 캠페인 시안에 재활용 (4A 알림)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1"/>
          <p:cNvSpPr txBox="1"/>
          <p:nvPr/>
        </p:nvSpPr>
        <p:spPr>
          <a:xfrm>
            <a:off x="128016" y="5486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1.9 실증 자료 아카이브 및 전성분 조회</a:t>
            </a:r>
            <a:endParaRPr/>
          </a:p>
        </p:txBody>
      </p:sp>
      <p:sp>
        <p:nvSpPr>
          <p:cNvPr id="575" name="Google Shape;575;p11"/>
          <p:cNvSpPr txBox="1"/>
          <p:nvPr/>
        </p:nvSpPr>
        <p:spPr>
          <a:xfrm>
            <a:off x="4846320" y="5486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SCR_REG_03</a:t>
            </a:r>
            <a:endParaRPr/>
          </a:p>
        </p:txBody>
      </p:sp>
      <p:sp>
        <p:nvSpPr>
          <p:cNvPr id="576" name="Google Shape;576;p11"/>
          <p:cNvSpPr txBox="1"/>
          <p:nvPr/>
        </p:nvSpPr>
        <p:spPr>
          <a:xfrm>
            <a:off x="9034272" y="54864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규제정보 &gt; 전성분·실증 규제조회</a:t>
            </a:r>
            <a:endParaRPr/>
          </a:p>
        </p:txBody>
      </p:sp>
      <p:sp>
        <p:nvSpPr>
          <p:cNvPr id="577" name="Google Shape;577;p11"/>
          <p:cNvSpPr/>
          <p:nvPr/>
        </p:nvSpPr>
        <p:spPr>
          <a:xfrm>
            <a:off x="91440" y="329184"/>
            <a:ext cx="8851392" cy="6419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8" name="Google Shape;578;p11"/>
          <p:cNvSpPr txBox="1"/>
          <p:nvPr/>
        </p:nvSpPr>
        <p:spPr>
          <a:xfrm>
            <a:off x="219456" y="402336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인체적용시험 실증 자료 아카이브 및 원료 전성분 배합한도 조회</a:t>
            </a:r>
            <a:endParaRPr/>
          </a:p>
        </p:txBody>
      </p:sp>
      <p:cxnSp>
        <p:nvCxnSpPr>
          <p:cNvPr id="579" name="Google Shape;579;p11"/>
          <p:cNvCxnSpPr/>
          <p:nvPr/>
        </p:nvCxnSpPr>
        <p:spPr>
          <a:xfrm>
            <a:off x="219456" y="749808"/>
            <a:ext cx="857707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80" name="Google Shape;580;p11"/>
          <p:cNvCxnSpPr/>
          <p:nvPr/>
        </p:nvCxnSpPr>
        <p:spPr>
          <a:xfrm>
            <a:off x="91440" y="5321808"/>
            <a:ext cx="885139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1" name="Google Shape;581;p11"/>
          <p:cNvSpPr/>
          <p:nvPr/>
        </p:nvSpPr>
        <p:spPr>
          <a:xfrm>
            <a:off x="100584" y="5330952"/>
            <a:ext cx="8833104" cy="140817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2" name="Google Shape;582;p11"/>
          <p:cNvSpPr txBox="1"/>
          <p:nvPr/>
        </p:nvSpPr>
        <p:spPr>
          <a:xfrm>
            <a:off x="182880" y="535838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[연계 팝업 / Alert 정의]</a:t>
            </a:r>
            <a:endParaRPr/>
          </a:p>
        </p:txBody>
      </p:sp>
      <p:cxnSp>
        <p:nvCxnSpPr>
          <p:cNvPr id="583" name="Google Shape;583;p11"/>
          <p:cNvCxnSpPr/>
          <p:nvPr/>
        </p:nvCxnSpPr>
        <p:spPr>
          <a:xfrm>
            <a:off x="219456" y="1024128"/>
            <a:ext cx="566928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4" name="Google Shape;584;p11"/>
          <p:cNvSpPr txBox="1"/>
          <p:nvPr/>
        </p:nvSpPr>
        <p:spPr>
          <a:xfrm>
            <a:off x="219456" y="786384"/>
            <a:ext cx="33414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탭1: 인체적용시험 실증 자료 아카이브 (ProductLab 연동)</a:t>
            </a:r>
            <a:endParaRPr/>
          </a:p>
        </p:txBody>
      </p:sp>
      <p:cxnSp>
        <p:nvCxnSpPr>
          <p:cNvPr id="585" name="Google Shape;585;p11"/>
          <p:cNvCxnSpPr/>
          <p:nvPr/>
        </p:nvCxnSpPr>
        <p:spPr>
          <a:xfrm>
            <a:off x="219456" y="1024128"/>
            <a:ext cx="3341434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6" name="Google Shape;586;p11"/>
          <p:cNvSpPr txBox="1"/>
          <p:nvPr/>
        </p:nvSpPr>
        <p:spPr>
          <a:xfrm>
            <a:off x="3597466" y="786384"/>
            <a:ext cx="22912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탭2: 원료 전성분 및 국가별 배합한도 조회</a:t>
            </a:r>
            <a:endParaRPr/>
          </a:p>
        </p:txBody>
      </p:sp>
      <p:sp>
        <p:nvSpPr>
          <p:cNvPr id="587" name="Google Shape;587;p11"/>
          <p:cNvSpPr/>
          <p:nvPr/>
        </p:nvSpPr>
        <p:spPr>
          <a:xfrm>
            <a:off x="6355080" y="786384"/>
            <a:ext cx="1143000" cy="2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ProductLab 수동 동기화</a:t>
            </a:r>
            <a:endParaRPr/>
          </a:p>
        </p:txBody>
      </p:sp>
      <p:sp>
        <p:nvSpPr>
          <p:cNvPr id="588" name="Google Shape;588;p11"/>
          <p:cNvSpPr/>
          <p:nvPr/>
        </p:nvSpPr>
        <p:spPr>
          <a:xfrm>
            <a:off x="7552944" y="786384"/>
            <a:ext cx="1243584" cy="228600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 외부 성적서 수동 등록</a:t>
            </a:r>
            <a:endParaRPr/>
          </a:p>
        </p:txBody>
      </p:sp>
      <p:sp>
        <p:nvSpPr>
          <p:cNvPr id="589" name="Google Shape;589;p11"/>
          <p:cNvSpPr/>
          <p:nvPr/>
        </p:nvSpPr>
        <p:spPr>
          <a:xfrm>
            <a:off x="128016" y="768096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590" name="Google Shape;590;p11"/>
          <p:cNvSpPr/>
          <p:nvPr/>
        </p:nvSpPr>
        <p:spPr>
          <a:xfrm>
            <a:off x="6263640" y="73152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591" name="Google Shape;591;p11"/>
          <p:cNvSpPr/>
          <p:nvPr/>
        </p:nvSpPr>
        <p:spPr>
          <a:xfrm>
            <a:off x="219456" y="1097280"/>
            <a:ext cx="8577072" cy="475488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2" name="Google Shape;592;p11"/>
          <p:cNvSpPr txBox="1"/>
          <p:nvPr/>
        </p:nvSpPr>
        <p:spPr>
          <a:xfrm>
            <a:off x="329184" y="1225296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브랜드</a:t>
            </a:r>
            <a:endParaRPr/>
          </a:p>
        </p:txBody>
      </p:sp>
      <p:sp>
        <p:nvSpPr>
          <p:cNvPr id="593" name="Google Shape;593;p11"/>
          <p:cNvSpPr/>
          <p:nvPr/>
        </p:nvSpPr>
        <p:spPr>
          <a:xfrm>
            <a:off x="841248" y="1207008"/>
            <a:ext cx="86868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루미에르</a:t>
            </a:r>
            <a:endParaRPr/>
          </a:p>
        </p:txBody>
      </p:sp>
      <p:sp>
        <p:nvSpPr>
          <p:cNvPr id="594" name="Google Shape;594;p11"/>
          <p:cNvSpPr txBox="1"/>
          <p:nvPr/>
        </p:nvSpPr>
        <p:spPr>
          <a:xfrm>
            <a:off x="1508760" y="1207008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595" name="Google Shape;595;p11"/>
          <p:cNvSpPr txBox="1"/>
          <p:nvPr/>
        </p:nvSpPr>
        <p:spPr>
          <a:xfrm>
            <a:off x="1810512" y="1225296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효능분류</a:t>
            </a:r>
            <a:endParaRPr/>
          </a:p>
        </p:txBody>
      </p:sp>
      <p:sp>
        <p:nvSpPr>
          <p:cNvPr id="596" name="Google Shape;596;p11"/>
          <p:cNvSpPr/>
          <p:nvPr/>
        </p:nvSpPr>
        <p:spPr>
          <a:xfrm>
            <a:off x="2423160" y="1207008"/>
            <a:ext cx="96012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보습/탄력/장벽</a:t>
            </a:r>
            <a:endParaRPr/>
          </a:p>
        </p:txBody>
      </p:sp>
      <p:sp>
        <p:nvSpPr>
          <p:cNvPr id="597" name="Google Shape;597;p11"/>
          <p:cNvSpPr txBox="1"/>
          <p:nvPr/>
        </p:nvSpPr>
        <p:spPr>
          <a:xfrm>
            <a:off x="3182112" y="1207008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598" name="Google Shape;598;p11"/>
          <p:cNvSpPr txBox="1"/>
          <p:nvPr/>
        </p:nvSpPr>
        <p:spPr>
          <a:xfrm>
            <a:off x="3474720" y="1225296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시험기관</a:t>
            </a:r>
            <a:endParaRPr/>
          </a:p>
        </p:txBody>
      </p:sp>
      <p:sp>
        <p:nvSpPr>
          <p:cNvPr id="599" name="Google Shape;599;p11"/>
          <p:cNvSpPr/>
          <p:nvPr/>
        </p:nvSpPr>
        <p:spPr>
          <a:xfrm>
            <a:off x="4078224" y="1207008"/>
            <a:ext cx="96012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</a:t>
            </a:r>
            <a:endParaRPr/>
          </a:p>
        </p:txBody>
      </p:sp>
      <p:sp>
        <p:nvSpPr>
          <p:cNvPr id="600" name="Google Shape;600;p11"/>
          <p:cNvSpPr txBox="1"/>
          <p:nvPr/>
        </p:nvSpPr>
        <p:spPr>
          <a:xfrm>
            <a:off x="4837176" y="1207008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601" name="Google Shape;601;p11"/>
          <p:cNvSpPr/>
          <p:nvPr/>
        </p:nvSpPr>
        <p:spPr>
          <a:xfrm>
            <a:off x="5138928" y="1207008"/>
            <a:ext cx="214884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A6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성적서번호, 제품명, 원료명 검색</a:t>
            </a:r>
            <a:endParaRPr/>
          </a:p>
        </p:txBody>
      </p:sp>
      <p:sp>
        <p:nvSpPr>
          <p:cNvPr id="602" name="Google Shape;602;p11"/>
          <p:cNvSpPr/>
          <p:nvPr/>
        </p:nvSpPr>
        <p:spPr>
          <a:xfrm>
            <a:off x="7360920" y="1207008"/>
            <a:ext cx="64008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초기화</a:t>
            </a:r>
            <a:endParaRPr/>
          </a:p>
        </p:txBody>
      </p:sp>
      <p:sp>
        <p:nvSpPr>
          <p:cNvPr id="603" name="Google Shape;603;p11"/>
          <p:cNvSpPr/>
          <p:nvPr/>
        </p:nvSpPr>
        <p:spPr>
          <a:xfrm>
            <a:off x="8046720" y="1207008"/>
            <a:ext cx="658368" cy="219456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</a:t>
            </a:r>
            <a:endParaRPr/>
          </a:p>
        </p:txBody>
      </p:sp>
      <p:sp>
        <p:nvSpPr>
          <p:cNvPr id="604" name="Google Shape;604;p11"/>
          <p:cNvSpPr txBox="1"/>
          <p:nvPr/>
        </p:nvSpPr>
        <p:spPr>
          <a:xfrm>
            <a:off x="219456" y="1645920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실증 성적서 보관 목록 (총 248건  |  ProductLab 일배치 연동)</a:t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>
            <a:off x="128016" y="1627632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graphicFrame>
        <p:nvGraphicFramePr>
          <p:cNvPr id="606" name="Google Shape;606;p11"/>
          <p:cNvGraphicFramePr/>
          <p:nvPr/>
        </p:nvGraphicFramePr>
        <p:xfrm>
          <a:off x="219456" y="18836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841250"/>
                <a:gridCol w="1143000"/>
                <a:gridCol w="1143000"/>
                <a:gridCol w="621800"/>
                <a:gridCol w="658375"/>
                <a:gridCol w="502925"/>
                <a:gridCol w="39320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성적서 번호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브랜드/제품명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실증 효능 항목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시험기관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피험자/기간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9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열람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MBK-26-0412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 벨르코어 리제너레이팅 크림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72시간 보습 지속력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피앤케이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32명 / 4주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[유효]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[상세]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MBK-26-0415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 벨르코어 리제너레이팅 크림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피부 치밀도 84.2% 개선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엘리드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28명 / 4주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[유효]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[상세]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MBK-26-0388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아쿠아퓨어 워터뱅크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피부장벽 손상 62% 방어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글로벌의학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30명 / 2주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[유효]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[상세]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MBK-25-0190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벨르코어 블랙쿠션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24시간 메이크업 지속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피앤케이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25명 / 1일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[만료임박]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[상세]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MBK-24-0042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더마쉴드 아토베리어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민감피부 판테놀 흡수율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더마프로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22명 / 2주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[처방변경]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6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[상세]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7" name="Google Shape;607;p11"/>
          <p:cNvSpPr txBox="1"/>
          <p:nvPr/>
        </p:nvSpPr>
        <p:spPr>
          <a:xfrm>
            <a:off x="219456" y="3785615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연결 제품 원료 전성분 및 배합한도 검증 (사내 전성분 RDB 연동)</a:t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>
            <a:off x="128016" y="376732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graphicFrame>
        <p:nvGraphicFramePr>
          <p:cNvPr id="609" name="Google Shape;609;p11"/>
          <p:cNvGraphicFramePr/>
          <p:nvPr/>
        </p:nvGraphicFramePr>
        <p:xfrm>
          <a:off x="219456" y="40050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685800"/>
                <a:gridCol w="1691650"/>
                <a:gridCol w="594350"/>
                <a:gridCol w="640075"/>
                <a:gridCol w="731525"/>
                <a:gridCol w="960125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성분코드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표준 성분명 (국문 / INCI)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배합함량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국내 한도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중국/글로벌 한도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소구 가능 여부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ING-00412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인삼추출물 (Panax Ginseng Root Extract)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1.00 %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제한없음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제한없음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함량(10,000ppm) 표기 적합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ING-00891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아데노신 (Adenosine)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0.04 %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고시 0.04%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사용가능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주름개선 기능성 소구 적합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ING-01520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페녹시에탄올 (Phenoxyethanol)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0.80 %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1.0% 이하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1.0% 이하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배합한도 이내 적합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0" name="Google Shape;610;p11"/>
          <p:cNvSpPr/>
          <p:nvPr/>
        </p:nvSpPr>
        <p:spPr>
          <a:xfrm>
            <a:off x="5650992" y="1664208"/>
            <a:ext cx="3145536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1" name="Google Shape;611;p11"/>
          <p:cNvSpPr/>
          <p:nvPr/>
        </p:nvSpPr>
        <p:spPr>
          <a:xfrm>
            <a:off x="5650992" y="1664208"/>
            <a:ext cx="3145536" cy="2560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실증 성적서 상세 및 원본 뷰어 (MBK-26-0412)</a:t>
            </a:r>
            <a:endParaRPr/>
          </a:p>
        </p:txBody>
      </p:sp>
      <p:sp>
        <p:nvSpPr>
          <p:cNvPr id="612" name="Google Shape;612;p11"/>
          <p:cNvSpPr txBox="1"/>
          <p:nvPr/>
        </p:nvSpPr>
        <p:spPr>
          <a:xfrm>
            <a:off x="8540496" y="1664208"/>
            <a:ext cx="237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</a:t>
            </a:r>
            <a:endParaRPr/>
          </a:p>
        </p:txBody>
      </p:sp>
      <p:sp>
        <p:nvSpPr>
          <p:cNvPr id="613" name="Google Shape;613;p11"/>
          <p:cNvSpPr/>
          <p:nvPr/>
        </p:nvSpPr>
        <p:spPr>
          <a:xfrm>
            <a:off x="5559552" y="1609344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graphicFrame>
        <p:nvGraphicFramePr>
          <p:cNvPr id="614" name="Google Shape;614;p11"/>
          <p:cNvGraphicFramePr/>
          <p:nvPr/>
        </p:nvGraphicFramePr>
        <p:xfrm>
          <a:off x="5760720" y="19933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777250"/>
                <a:gridCol w="2148850"/>
              </a:tblGrid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시험과제명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 벨르코어 리제너레이팅 크림 72시간 보습 지속 인체적용시험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시험기관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(주)피앤케이피부임상연구센타 (책임연구원: 이임상)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시험기간/대상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2026.05.01 ~ 05.29 / 만 25~59세 여성 32명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통계유의성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 &lt; 0.001 (도포 전 대비 72시간 후 수분량 +41.2%)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허용 소구범위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'72시간 보습 지속', '4주 후 속보습 개선' (치료 표현 불가)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5" name="Google Shape;615;p11"/>
          <p:cNvSpPr/>
          <p:nvPr/>
        </p:nvSpPr>
        <p:spPr>
          <a:xfrm>
            <a:off x="5760720" y="3493008"/>
            <a:ext cx="2926080" cy="1298448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16" name="Google Shape;616;p11"/>
          <p:cNvCxnSpPr/>
          <p:nvPr/>
        </p:nvCxnSpPr>
        <p:spPr>
          <a:xfrm>
            <a:off x="5760720" y="3493008"/>
            <a:ext cx="2926080" cy="1298448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17" name="Google Shape;617;p11"/>
          <p:cNvCxnSpPr/>
          <p:nvPr/>
        </p:nvCxnSpPr>
        <p:spPr>
          <a:xfrm flipH="1">
            <a:off x="5760720" y="3493008"/>
            <a:ext cx="2926080" cy="1298448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18" name="Google Shape;618;p11"/>
          <p:cNvSpPr/>
          <p:nvPr/>
        </p:nvSpPr>
        <p:spPr>
          <a:xfrm>
            <a:off x="5852160" y="4023359"/>
            <a:ext cx="274320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인체적용시험 성적서 PDF 원본 프리뷰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(p.1 요약본 ~ p.28 통계 그래프)</a:t>
            </a:r>
            <a:endParaRPr/>
          </a:p>
        </p:txBody>
      </p:sp>
      <p:sp>
        <p:nvSpPr>
          <p:cNvPr id="619" name="Google Shape;619;p11"/>
          <p:cNvSpPr/>
          <p:nvPr/>
        </p:nvSpPr>
        <p:spPr>
          <a:xfrm>
            <a:off x="5760720" y="4864608"/>
            <a:ext cx="141732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표준 각주 문구 복사</a:t>
            </a:r>
            <a:endParaRPr/>
          </a:p>
        </p:txBody>
      </p:sp>
      <p:sp>
        <p:nvSpPr>
          <p:cNvPr id="620" name="Google Shape;620;p11"/>
          <p:cNvSpPr/>
          <p:nvPr/>
        </p:nvSpPr>
        <p:spPr>
          <a:xfrm>
            <a:off x="7269480" y="4864608"/>
            <a:ext cx="1417320" cy="2560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원본 PDF 다운로드</a:t>
            </a:r>
            <a:endParaRPr/>
          </a:p>
        </p:txBody>
      </p:sp>
      <p:sp>
        <p:nvSpPr>
          <p:cNvPr id="621" name="Google Shape;621;p11"/>
          <p:cNvSpPr/>
          <p:nvPr/>
        </p:nvSpPr>
        <p:spPr>
          <a:xfrm>
            <a:off x="1645920" y="5413248"/>
            <a:ext cx="310896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2" name="Google Shape;622;p11"/>
          <p:cNvSpPr txBox="1"/>
          <p:nvPr/>
        </p:nvSpPr>
        <p:spPr>
          <a:xfrm>
            <a:off x="1700784" y="5458968"/>
            <a:ext cx="29992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ProductLab 임상시험 시스템과 즉시 동기화를 실행하시겠습니까?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신규 등록 및 개정된 성적서 메타데이터를 수집합니다.</a:t>
            </a:r>
            <a:endParaRPr/>
          </a:p>
        </p:txBody>
      </p:sp>
      <p:sp>
        <p:nvSpPr>
          <p:cNvPr id="623" name="Google Shape;623;p11"/>
          <p:cNvSpPr/>
          <p:nvPr/>
        </p:nvSpPr>
        <p:spPr>
          <a:xfrm>
            <a:off x="2423160" y="6364224"/>
            <a:ext cx="740664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624" name="Google Shape;624;p11"/>
          <p:cNvSpPr/>
          <p:nvPr/>
        </p:nvSpPr>
        <p:spPr>
          <a:xfrm>
            <a:off x="3236976" y="6364224"/>
            <a:ext cx="740664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동기화 실행</a:t>
            </a:r>
            <a:endParaRPr/>
          </a:p>
        </p:txBody>
      </p:sp>
      <p:sp>
        <p:nvSpPr>
          <p:cNvPr id="625" name="Google Shape;625;p11"/>
          <p:cNvSpPr/>
          <p:nvPr/>
        </p:nvSpPr>
        <p:spPr>
          <a:xfrm>
            <a:off x="157276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2A</a:t>
            </a:r>
            <a:endParaRPr/>
          </a:p>
        </p:txBody>
      </p:sp>
      <p:sp>
        <p:nvSpPr>
          <p:cNvPr id="626" name="Google Shape;626;p11"/>
          <p:cNvSpPr/>
          <p:nvPr/>
        </p:nvSpPr>
        <p:spPr>
          <a:xfrm>
            <a:off x="5120640" y="5413248"/>
            <a:ext cx="320040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7" name="Google Shape;627;p11"/>
          <p:cNvSpPr txBox="1"/>
          <p:nvPr/>
        </p:nvSpPr>
        <p:spPr>
          <a:xfrm>
            <a:off x="5175503" y="5458968"/>
            <a:ext cx="309067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[처방변경 주의 - MBK-24-0042]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성적서는 리뉴얼 이전 처방(v1.0) 기준이므로 현재 제품 시안의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실증 근거로 사용할 수 없습니다.</a:t>
            </a:r>
            <a:endParaRPr/>
          </a:p>
        </p:txBody>
      </p:sp>
      <p:sp>
        <p:nvSpPr>
          <p:cNvPr id="628" name="Google Shape;628;p11"/>
          <p:cNvSpPr/>
          <p:nvPr/>
        </p:nvSpPr>
        <p:spPr>
          <a:xfrm>
            <a:off x="6437375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/>
          </a:p>
        </p:txBody>
      </p:sp>
      <p:sp>
        <p:nvSpPr>
          <p:cNvPr id="629" name="Google Shape;629;p11"/>
          <p:cNvSpPr/>
          <p:nvPr/>
        </p:nvSpPr>
        <p:spPr>
          <a:xfrm>
            <a:off x="504748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3A</a:t>
            </a:r>
            <a:endParaRPr/>
          </a:p>
        </p:txBody>
      </p:sp>
      <p:graphicFrame>
        <p:nvGraphicFramePr>
          <p:cNvPr id="630" name="Google Shape;630;p11"/>
          <p:cNvGraphicFramePr/>
          <p:nvPr/>
        </p:nvGraphicFramePr>
        <p:xfrm>
          <a:off x="9034272" y="329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47475"/>
                <a:gridCol w="27157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237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[실증 자료 아카이브 및 전성분 (SCR_REG_03)]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[실증 아카이브 / 전성분 조회 탭]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탭 전환을 통해 인체적용시험 성적서와 원료 전성분 배합한도를 통합 조회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[ProductLab 동기화 및 수동 등록]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[ProductLab 수동 동기화] 클릭 시 2A Confirm 후 최신 성적서 수신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외부 공인기관 성적서 PDF 직접 업로드 등록 지원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[실증 성적서 보관 목록]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유효/만료임박/처방변경 상태 표시. 처방변경 성적서 선택 시 3A 경고 노출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[원료 전성분 및 배합한도 검증]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사내 전성분 RDB와 연동하여 실제 배합함량(ppm/%) 및 국내·글로벌 법정 한도 초과 여부 자동 대조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[실증 성적서 상세 및 PDF 뷰어]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통계적 유의성, 허용 소구 범위 요약 및 원본 PDF 열람/다운로드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2"/>
          <p:cNvSpPr txBox="1"/>
          <p:nvPr/>
        </p:nvSpPr>
        <p:spPr>
          <a:xfrm>
            <a:off x="128016" y="5486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2.1 금지어 및 주의어 사전 관리</a:t>
            </a:r>
            <a:endParaRPr/>
          </a:p>
        </p:txBody>
      </p:sp>
      <p:sp>
        <p:nvSpPr>
          <p:cNvPr id="636" name="Google Shape;636;p12"/>
          <p:cNvSpPr txBox="1"/>
          <p:nvPr/>
        </p:nvSpPr>
        <p:spPr>
          <a:xfrm>
            <a:off x="4846320" y="5486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SCR_REG_01</a:t>
            </a:r>
            <a:endParaRPr/>
          </a:p>
        </p:txBody>
      </p:sp>
      <p:sp>
        <p:nvSpPr>
          <p:cNvPr id="637" name="Google Shape;637;p12"/>
          <p:cNvSpPr txBox="1"/>
          <p:nvPr/>
        </p:nvSpPr>
        <p:spPr>
          <a:xfrm>
            <a:off x="9034272" y="54864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규제정보 &gt; 금지표현 룰사전</a:t>
            </a:r>
            <a:endParaRPr/>
          </a:p>
        </p:txBody>
      </p:sp>
      <p:sp>
        <p:nvSpPr>
          <p:cNvPr id="638" name="Google Shape;638;p12"/>
          <p:cNvSpPr/>
          <p:nvPr/>
        </p:nvSpPr>
        <p:spPr>
          <a:xfrm>
            <a:off x="91440" y="329184"/>
            <a:ext cx="8851392" cy="6419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9" name="Google Shape;639;p12"/>
          <p:cNvSpPr txBox="1"/>
          <p:nvPr/>
        </p:nvSpPr>
        <p:spPr>
          <a:xfrm>
            <a:off x="219456" y="402336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표시·광고 금지어 및 주의어 표현사전 관리</a:t>
            </a:r>
            <a:endParaRPr/>
          </a:p>
        </p:txBody>
      </p:sp>
      <p:cxnSp>
        <p:nvCxnSpPr>
          <p:cNvPr id="640" name="Google Shape;640;p12"/>
          <p:cNvCxnSpPr/>
          <p:nvPr/>
        </p:nvCxnSpPr>
        <p:spPr>
          <a:xfrm>
            <a:off x="219456" y="749808"/>
            <a:ext cx="857707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41" name="Google Shape;641;p12"/>
          <p:cNvCxnSpPr/>
          <p:nvPr/>
        </p:nvCxnSpPr>
        <p:spPr>
          <a:xfrm>
            <a:off x="91440" y="5321808"/>
            <a:ext cx="885139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42" name="Google Shape;642;p12"/>
          <p:cNvSpPr/>
          <p:nvPr/>
        </p:nvSpPr>
        <p:spPr>
          <a:xfrm>
            <a:off x="100584" y="5330952"/>
            <a:ext cx="8833104" cy="140817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3" name="Google Shape;643;p12"/>
          <p:cNvSpPr txBox="1"/>
          <p:nvPr/>
        </p:nvSpPr>
        <p:spPr>
          <a:xfrm>
            <a:off x="182880" y="535838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[연계 팝업 / Alert 정의]</a:t>
            </a:r>
            <a:endParaRPr/>
          </a:p>
        </p:txBody>
      </p:sp>
      <p:sp>
        <p:nvSpPr>
          <p:cNvPr id="644" name="Google Shape;644;p12"/>
          <p:cNvSpPr/>
          <p:nvPr/>
        </p:nvSpPr>
        <p:spPr>
          <a:xfrm>
            <a:off x="219456" y="804672"/>
            <a:ext cx="8577072" cy="493776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5" name="Google Shape;645;p12"/>
          <p:cNvSpPr/>
          <p:nvPr/>
        </p:nvSpPr>
        <p:spPr>
          <a:xfrm>
            <a:off x="128016" y="768096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646" name="Google Shape;646;p12"/>
          <p:cNvSpPr txBox="1"/>
          <p:nvPr/>
        </p:nvSpPr>
        <p:spPr>
          <a:xfrm>
            <a:off x="329184" y="932688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</a:t>
            </a:r>
            <a:endParaRPr/>
          </a:p>
        </p:txBody>
      </p:sp>
      <p:sp>
        <p:nvSpPr>
          <p:cNvPr id="647" name="Google Shape;647;p12"/>
          <p:cNvSpPr/>
          <p:nvPr/>
        </p:nvSpPr>
        <p:spPr>
          <a:xfrm>
            <a:off x="932688" y="914400"/>
            <a:ext cx="123444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10대 위반유형 전체</a:t>
            </a:r>
            <a:endParaRPr/>
          </a:p>
        </p:txBody>
      </p:sp>
      <p:sp>
        <p:nvSpPr>
          <p:cNvPr id="648" name="Google Shape;648;p12"/>
          <p:cNvSpPr txBox="1"/>
          <p:nvPr/>
        </p:nvSpPr>
        <p:spPr>
          <a:xfrm>
            <a:off x="1965960" y="914400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649" name="Google Shape;649;p12"/>
          <p:cNvSpPr txBox="1"/>
          <p:nvPr/>
        </p:nvSpPr>
        <p:spPr>
          <a:xfrm>
            <a:off x="2267712" y="93268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위험등급</a:t>
            </a:r>
            <a:endParaRPr/>
          </a:p>
        </p:txBody>
      </p:sp>
      <p:sp>
        <p:nvSpPr>
          <p:cNvPr id="650" name="Google Shape;650;p12"/>
          <p:cNvSpPr/>
          <p:nvPr/>
        </p:nvSpPr>
        <p:spPr>
          <a:xfrm>
            <a:off x="2834640" y="914400"/>
            <a:ext cx="82296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</a:t>
            </a:r>
            <a:endParaRPr/>
          </a:p>
        </p:txBody>
      </p:sp>
      <p:sp>
        <p:nvSpPr>
          <p:cNvPr id="651" name="Google Shape;651;p12"/>
          <p:cNvSpPr txBox="1"/>
          <p:nvPr/>
        </p:nvSpPr>
        <p:spPr>
          <a:xfrm>
            <a:off x="3456432" y="914400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652" name="Google Shape;652;p12"/>
          <p:cNvSpPr txBox="1"/>
          <p:nvPr/>
        </p:nvSpPr>
        <p:spPr>
          <a:xfrm>
            <a:off x="3749039" y="93268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사용여부</a:t>
            </a:r>
            <a:endParaRPr/>
          </a:p>
        </p:txBody>
      </p:sp>
      <p:sp>
        <p:nvSpPr>
          <p:cNvPr id="653" name="Google Shape;653;p12"/>
          <p:cNvSpPr/>
          <p:nvPr/>
        </p:nvSpPr>
        <p:spPr>
          <a:xfrm>
            <a:off x="4315968" y="914400"/>
            <a:ext cx="73152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사용중</a:t>
            </a:r>
            <a:endParaRPr/>
          </a:p>
        </p:txBody>
      </p:sp>
      <p:sp>
        <p:nvSpPr>
          <p:cNvPr id="654" name="Google Shape;654;p12"/>
          <p:cNvSpPr txBox="1"/>
          <p:nvPr/>
        </p:nvSpPr>
        <p:spPr>
          <a:xfrm>
            <a:off x="4846320" y="914400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655" name="Google Shape;655;p12"/>
          <p:cNvSpPr/>
          <p:nvPr/>
        </p:nvSpPr>
        <p:spPr>
          <a:xfrm>
            <a:off x="5138928" y="914400"/>
            <a:ext cx="214884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A6A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금지어, 정규식 패턴, 대체문구 검색</a:t>
            </a:r>
            <a:endParaRPr/>
          </a:p>
        </p:txBody>
      </p:sp>
      <p:sp>
        <p:nvSpPr>
          <p:cNvPr id="656" name="Google Shape;656;p12"/>
          <p:cNvSpPr/>
          <p:nvPr/>
        </p:nvSpPr>
        <p:spPr>
          <a:xfrm>
            <a:off x="7360920" y="914400"/>
            <a:ext cx="64008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초기화</a:t>
            </a:r>
            <a:endParaRPr/>
          </a:p>
        </p:txBody>
      </p:sp>
      <p:sp>
        <p:nvSpPr>
          <p:cNvPr id="657" name="Google Shape;657;p12"/>
          <p:cNvSpPr/>
          <p:nvPr/>
        </p:nvSpPr>
        <p:spPr>
          <a:xfrm>
            <a:off x="8046720" y="914400"/>
            <a:ext cx="658368" cy="219456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</a:t>
            </a:r>
            <a:endParaRPr/>
          </a:p>
        </p:txBody>
      </p:sp>
      <p:sp>
        <p:nvSpPr>
          <p:cNvPr id="658" name="Google Shape;658;p12"/>
          <p:cNvSpPr txBox="1"/>
          <p:nvPr/>
        </p:nvSpPr>
        <p:spPr>
          <a:xfrm>
            <a:off x="219456" y="137160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금지·주의 표현 규칙 목록 (총 1,420건)</a:t>
            </a:r>
            <a:endParaRPr/>
          </a:p>
        </p:txBody>
      </p:sp>
      <p:sp>
        <p:nvSpPr>
          <p:cNvPr id="659" name="Google Shape;659;p12"/>
          <p:cNvSpPr/>
          <p:nvPr/>
        </p:nvSpPr>
        <p:spPr>
          <a:xfrm>
            <a:off x="3218688" y="1353312"/>
            <a:ext cx="841248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엑셀 양식 다운로드</a:t>
            </a:r>
            <a:endParaRPr/>
          </a:p>
        </p:txBody>
      </p:sp>
      <p:sp>
        <p:nvSpPr>
          <p:cNvPr id="660" name="Google Shape;660;p12"/>
          <p:cNvSpPr/>
          <p:nvPr/>
        </p:nvSpPr>
        <p:spPr>
          <a:xfrm>
            <a:off x="4096512" y="1353312"/>
            <a:ext cx="804672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엑셀 일괄 업로드</a:t>
            </a:r>
            <a:endParaRPr/>
          </a:p>
        </p:txBody>
      </p:sp>
      <p:sp>
        <p:nvSpPr>
          <p:cNvPr id="661" name="Google Shape;661;p12"/>
          <p:cNvSpPr/>
          <p:nvPr/>
        </p:nvSpPr>
        <p:spPr>
          <a:xfrm>
            <a:off x="4937760" y="1353312"/>
            <a:ext cx="777240" cy="219456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 신규 규칙 등록</a:t>
            </a:r>
            <a:endParaRPr/>
          </a:p>
        </p:txBody>
      </p:sp>
      <p:sp>
        <p:nvSpPr>
          <p:cNvPr id="662" name="Google Shape;662;p12"/>
          <p:cNvSpPr/>
          <p:nvPr/>
        </p:nvSpPr>
        <p:spPr>
          <a:xfrm>
            <a:off x="4005072" y="129844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graphicFrame>
        <p:nvGraphicFramePr>
          <p:cNvPr id="663" name="Google Shape;663;p12"/>
          <p:cNvGraphicFramePr/>
          <p:nvPr/>
        </p:nvGraphicFramePr>
        <p:xfrm>
          <a:off x="219456" y="16276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713225"/>
                <a:gridCol w="960125"/>
                <a:gridCol w="1353300"/>
                <a:gridCol w="475500"/>
                <a:gridCol w="1051550"/>
                <a:gridCol w="384050"/>
                <a:gridCol w="56692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규칙ID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위반 카테고리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금지/주의 표현 (정규식)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등급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법령/지침 근거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RULE-0042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의약품 오인·치료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세포\s*재생|조직\s*복구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[금지]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표시·광고 공정화법 제3조1항1호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[수정] [삭제]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RULE-0043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의약품 오인·질병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아토피\s*(치료|완치|치유)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[금지]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표시·광고 공정화법 제3조1항1호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[수정] [삭제]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RULE-0108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효능·기간 실증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\d+시간\s*(보습|지속|유지)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[주의]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표시광고 실증제 지침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[수정] [삭제]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RULE-0215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배타적 절대표현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세계\s*최고|100%\s*완벽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[금지]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표시·광고 공정화법 시행규칙 별표5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[수정] [삭제]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RULE-0309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의사·전문의 지정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(피부과|의사)\s*추천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[금지]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표시·광고 공정화법 제3조1항2호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[수정] [삭제]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RULE-0412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기능성 범위 일탈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주름\s*영구\s*제거|보톡스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[금지]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식약처 가이드라인 p.18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[수정] [삭제]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RULE-0501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원료 효능 제품둔갑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병풀추출물=상처치유크림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[주의]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식약처 가이드라인 p.24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[수정] [삭제]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64" name="Google Shape;664;p12"/>
          <p:cNvSpPr/>
          <p:nvPr/>
        </p:nvSpPr>
        <p:spPr>
          <a:xfrm>
            <a:off x="128016" y="1609344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665" name="Google Shape;665;p12"/>
          <p:cNvSpPr txBox="1"/>
          <p:nvPr/>
        </p:nvSpPr>
        <p:spPr>
          <a:xfrm>
            <a:off x="1417320" y="449884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《   &lt;</a:t>
            </a:r>
            <a:endParaRPr/>
          </a:p>
        </p:txBody>
      </p:sp>
      <p:sp>
        <p:nvSpPr>
          <p:cNvPr id="666" name="Google Shape;666;p12"/>
          <p:cNvSpPr/>
          <p:nvPr/>
        </p:nvSpPr>
        <p:spPr>
          <a:xfrm>
            <a:off x="1783080" y="4507992"/>
            <a:ext cx="182880" cy="18288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667" name="Google Shape;667;p12"/>
          <p:cNvSpPr txBox="1"/>
          <p:nvPr/>
        </p:nvSpPr>
        <p:spPr>
          <a:xfrm>
            <a:off x="1947672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668" name="Google Shape;668;p12"/>
          <p:cNvSpPr txBox="1"/>
          <p:nvPr/>
        </p:nvSpPr>
        <p:spPr>
          <a:xfrm>
            <a:off x="2020824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669" name="Google Shape;669;p12"/>
          <p:cNvSpPr txBox="1"/>
          <p:nvPr/>
        </p:nvSpPr>
        <p:spPr>
          <a:xfrm>
            <a:off x="2185416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670" name="Google Shape;670;p12"/>
          <p:cNvSpPr txBox="1"/>
          <p:nvPr/>
        </p:nvSpPr>
        <p:spPr>
          <a:xfrm>
            <a:off x="2258568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671" name="Google Shape;671;p12"/>
          <p:cNvSpPr txBox="1"/>
          <p:nvPr/>
        </p:nvSpPr>
        <p:spPr>
          <a:xfrm>
            <a:off x="2423160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672" name="Google Shape;672;p12"/>
          <p:cNvSpPr txBox="1"/>
          <p:nvPr/>
        </p:nvSpPr>
        <p:spPr>
          <a:xfrm>
            <a:off x="2496312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673" name="Google Shape;673;p12"/>
          <p:cNvSpPr txBox="1"/>
          <p:nvPr/>
        </p:nvSpPr>
        <p:spPr>
          <a:xfrm>
            <a:off x="2660904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674" name="Google Shape;674;p12"/>
          <p:cNvSpPr txBox="1"/>
          <p:nvPr/>
        </p:nvSpPr>
        <p:spPr>
          <a:xfrm>
            <a:off x="2734056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675" name="Google Shape;675;p12"/>
          <p:cNvSpPr txBox="1"/>
          <p:nvPr/>
        </p:nvSpPr>
        <p:spPr>
          <a:xfrm>
            <a:off x="2898648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676" name="Google Shape;676;p12"/>
          <p:cNvSpPr txBox="1"/>
          <p:nvPr/>
        </p:nvSpPr>
        <p:spPr>
          <a:xfrm>
            <a:off x="2971800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  <p:sp>
        <p:nvSpPr>
          <p:cNvPr id="677" name="Google Shape;677;p12"/>
          <p:cNvSpPr txBox="1"/>
          <p:nvPr/>
        </p:nvSpPr>
        <p:spPr>
          <a:xfrm>
            <a:off x="3136392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678" name="Google Shape;678;p12"/>
          <p:cNvSpPr txBox="1"/>
          <p:nvPr/>
        </p:nvSpPr>
        <p:spPr>
          <a:xfrm>
            <a:off x="3209544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/>
          </a:p>
        </p:txBody>
      </p:sp>
      <p:sp>
        <p:nvSpPr>
          <p:cNvPr id="679" name="Google Shape;679;p12"/>
          <p:cNvSpPr txBox="1"/>
          <p:nvPr/>
        </p:nvSpPr>
        <p:spPr>
          <a:xfrm>
            <a:off x="3374136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680" name="Google Shape;680;p12"/>
          <p:cNvSpPr txBox="1"/>
          <p:nvPr/>
        </p:nvSpPr>
        <p:spPr>
          <a:xfrm>
            <a:off x="3447288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/>
          </a:p>
        </p:txBody>
      </p:sp>
      <p:sp>
        <p:nvSpPr>
          <p:cNvPr id="681" name="Google Shape;681;p12"/>
          <p:cNvSpPr txBox="1"/>
          <p:nvPr/>
        </p:nvSpPr>
        <p:spPr>
          <a:xfrm>
            <a:off x="3611880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682" name="Google Shape;682;p12"/>
          <p:cNvSpPr txBox="1"/>
          <p:nvPr/>
        </p:nvSpPr>
        <p:spPr>
          <a:xfrm>
            <a:off x="3685032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/>
          </a:p>
        </p:txBody>
      </p:sp>
      <p:sp>
        <p:nvSpPr>
          <p:cNvPr id="683" name="Google Shape;683;p12"/>
          <p:cNvSpPr txBox="1"/>
          <p:nvPr/>
        </p:nvSpPr>
        <p:spPr>
          <a:xfrm>
            <a:off x="3849624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684" name="Google Shape;684;p12"/>
          <p:cNvSpPr txBox="1"/>
          <p:nvPr/>
        </p:nvSpPr>
        <p:spPr>
          <a:xfrm>
            <a:off x="3922776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/>
          </a:p>
        </p:txBody>
      </p:sp>
      <p:sp>
        <p:nvSpPr>
          <p:cNvPr id="685" name="Google Shape;685;p12"/>
          <p:cNvSpPr txBox="1"/>
          <p:nvPr/>
        </p:nvSpPr>
        <p:spPr>
          <a:xfrm>
            <a:off x="4142232" y="449884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   》</a:t>
            </a:r>
            <a:endParaRPr/>
          </a:p>
        </p:txBody>
      </p:sp>
      <p:sp>
        <p:nvSpPr>
          <p:cNvPr id="686" name="Google Shape;686;p12"/>
          <p:cNvSpPr/>
          <p:nvPr/>
        </p:nvSpPr>
        <p:spPr>
          <a:xfrm>
            <a:off x="5833872" y="1371600"/>
            <a:ext cx="2962656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7" name="Google Shape;687;p12"/>
          <p:cNvSpPr/>
          <p:nvPr/>
        </p:nvSpPr>
        <p:spPr>
          <a:xfrm>
            <a:off x="5833872" y="1371600"/>
            <a:ext cx="2962656" cy="2560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금지·주의 규칙 상세 등록/수정 (RULE-0042)</a:t>
            </a:r>
            <a:endParaRPr/>
          </a:p>
        </p:txBody>
      </p:sp>
      <p:sp>
        <p:nvSpPr>
          <p:cNvPr id="688" name="Google Shape;688;p12"/>
          <p:cNvSpPr txBox="1"/>
          <p:nvPr/>
        </p:nvSpPr>
        <p:spPr>
          <a:xfrm>
            <a:off x="8540496" y="1371600"/>
            <a:ext cx="237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</a:t>
            </a:r>
            <a:endParaRPr/>
          </a:p>
        </p:txBody>
      </p:sp>
      <p:sp>
        <p:nvSpPr>
          <p:cNvPr id="689" name="Google Shape;689;p12"/>
          <p:cNvSpPr/>
          <p:nvPr/>
        </p:nvSpPr>
        <p:spPr>
          <a:xfrm>
            <a:off x="5742432" y="1316736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690" name="Google Shape;690;p12"/>
          <p:cNvSpPr txBox="1"/>
          <p:nvPr/>
        </p:nvSpPr>
        <p:spPr>
          <a:xfrm>
            <a:off x="5925312" y="1700784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위반 카테고리*</a:t>
            </a:r>
            <a:endParaRPr/>
          </a:p>
        </p:txBody>
      </p:sp>
      <p:sp>
        <p:nvSpPr>
          <p:cNvPr id="691" name="Google Shape;691;p12"/>
          <p:cNvSpPr/>
          <p:nvPr/>
        </p:nvSpPr>
        <p:spPr>
          <a:xfrm>
            <a:off x="6729984" y="1682496"/>
            <a:ext cx="1956816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 의약품 오인·치료 표현</a:t>
            </a:r>
            <a:endParaRPr/>
          </a:p>
        </p:txBody>
      </p:sp>
      <p:sp>
        <p:nvSpPr>
          <p:cNvPr id="692" name="Google Shape;692;p12"/>
          <p:cNvSpPr txBox="1"/>
          <p:nvPr/>
        </p:nvSpPr>
        <p:spPr>
          <a:xfrm>
            <a:off x="8485632" y="1682496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693" name="Google Shape;693;p12"/>
          <p:cNvSpPr txBox="1"/>
          <p:nvPr/>
        </p:nvSpPr>
        <p:spPr>
          <a:xfrm>
            <a:off x="5925312" y="1975104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 등급 *</a:t>
            </a:r>
            <a:endParaRPr/>
          </a:p>
        </p:txBody>
      </p:sp>
      <p:sp>
        <p:nvSpPr>
          <p:cNvPr id="694" name="Google Shape;694;p12"/>
          <p:cNvSpPr txBox="1"/>
          <p:nvPr/>
        </p:nvSpPr>
        <p:spPr>
          <a:xfrm>
            <a:off x="6729984" y="1975104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◉ 금지(절대불가)   ○ 주의(실증조건)</a:t>
            </a:r>
            <a:endParaRPr/>
          </a:p>
        </p:txBody>
      </p:sp>
      <p:sp>
        <p:nvSpPr>
          <p:cNvPr id="695" name="Google Shape;695;p12"/>
          <p:cNvSpPr txBox="1"/>
          <p:nvPr/>
        </p:nvSpPr>
        <p:spPr>
          <a:xfrm>
            <a:off x="5925312" y="2249424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표현/정규식*</a:t>
            </a:r>
            <a:endParaRPr/>
          </a:p>
        </p:txBody>
      </p:sp>
      <p:sp>
        <p:nvSpPr>
          <p:cNvPr id="696" name="Google Shape;696;p12"/>
          <p:cNvSpPr/>
          <p:nvPr/>
        </p:nvSpPr>
        <p:spPr>
          <a:xfrm>
            <a:off x="6729984" y="2231136"/>
            <a:ext cx="1956816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세포\s*재생|조직\s*복구</a:t>
            </a:r>
            <a:endParaRPr/>
          </a:p>
        </p:txBody>
      </p:sp>
      <p:sp>
        <p:nvSpPr>
          <p:cNvPr id="697" name="Google Shape;697;p12"/>
          <p:cNvSpPr txBox="1"/>
          <p:nvPr/>
        </p:nvSpPr>
        <p:spPr>
          <a:xfrm>
            <a:off x="5925312" y="2523744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법령 근거 *</a:t>
            </a:r>
            <a:endParaRPr/>
          </a:p>
        </p:txBody>
      </p:sp>
      <p:sp>
        <p:nvSpPr>
          <p:cNvPr id="698" name="Google Shape;698;p12"/>
          <p:cNvSpPr/>
          <p:nvPr/>
        </p:nvSpPr>
        <p:spPr>
          <a:xfrm>
            <a:off x="6729984" y="2505456"/>
            <a:ext cx="1956816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표시·광고 공정화법 제3조 제1항 제1호</a:t>
            </a:r>
            <a:endParaRPr/>
          </a:p>
        </p:txBody>
      </p:sp>
      <p:sp>
        <p:nvSpPr>
          <p:cNvPr id="699" name="Google Shape;699;p12"/>
          <p:cNvSpPr txBox="1"/>
          <p:nvPr/>
        </p:nvSpPr>
        <p:spPr>
          <a:xfrm>
            <a:off x="5925312" y="279806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권장 안전 대체 표현 (줄바꿈으로 다중 등록) *</a:t>
            </a:r>
            <a:endParaRPr/>
          </a:p>
        </p:txBody>
      </p:sp>
      <p:sp>
        <p:nvSpPr>
          <p:cNvPr id="700" name="Google Shape;700;p12"/>
          <p:cNvSpPr/>
          <p:nvPr/>
        </p:nvSpPr>
        <p:spPr>
          <a:xfrm>
            <a:off x="5925312" y="2999232"/>
            <a:ext cx="2761488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피부 본연의 자생력을 케어하는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거칠어진 피부결을 매끄럽고 건강하게 가꾸는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피부 장벽 강화에 도움을 주는</a:t>
            </a:r>
            <a:endParaRPr/>
          </a:p>
        </p:txBody>
      </p:sp>
      <p:sp>
        <p:nvSpPr>
          <p:cNvPr id="701" name="Google Shape;701;p12"/>
          <p:cNvSpPr/>
          <p:nvPr/>
        </p:nvSpPr>
        <p:spPr>
          <a:xfrm>
            <a:off x="5925312" y="3694176"/>
            <a:ext cx="2761488" cy="1024128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2" name="Google Shape;702;p12"/>
          <p:cNvSpPr txBox="1"/>
          <p:nvPr/>
        </p:nvSpPr>
        <p:spPr>
          <a:xfrm>
            <a:off x="5998464" y="3730752"/>
            <a:ext cx="2615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[규칙 매칭 시뮬레이션 테스트]</a:t>
            </a:r>
            <a:endParaRPr/>
          </a:p>
        </p:txBody>
      </p:sp>
      <p:sp>
        <p:nvSpPr>
          <p:cNvPr id="703" name="Google Shape;703;p12"/>
          <p:cNvSpPr/>
          <p:nvPr/>
        </p:nvSpPr>
        <p:spPr>
          <a:xfrm>
            <a:off x="5833872" y="3675887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704" name="Google Shape;704;p12"/>
          <p:cNvSpPr/>
          <p:nvPr/>
        </p:nvSpPr>
        <p:spPr>
          <a:xfrm>
            <a:off x="5998464" y="3931920"/>
            <a:ext cx="196596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피부 세포 재생을 돕는 크림</a:t>
            </a:r>
            <a:endParaRPr/>
          </a:p>
        </p:txBody>
      </p:sp>
      <p:sp>
        <p:nvSpPr>
          <p:cNvPr id="705" name="Google Shape;705;p12"/>
          <p:cNvSpPr/>
          <p:nvPr/>
        </p:nvSpPr>
        <p:spPr>
          <a:xfrm>
            <a:off x="8001000" y="3931920"/>
            <a:ext cx="621792" cy="219456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</a:t>
            </a:r>
            <a:endParaRPr/>
          </a:p>
        </p:txBody>
      </p:sp>
      <p:sp>
        <p:nvSpPr>
          <p:cNvPr id="706" name="Google Shape;706;p12"/>
          <p:cNvSpPr txBox="1"/>
          <p:nvPr/>
        </p:nvSpPr>
        <p:spPr>
          <a:xfrm>
            <a:off x="5998464" y="4206240"/>
            <a:ext cx="26151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 검출 결과 : [금지] '세포 재생' 매칭됨 (0.01초)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 추천 치환 : '피부 본연의 자생력을 케어하는 크림'</a:t>
            </a:r>
            <a:endParaRPr/>
          </a:p>
        </p:txBody>
      </p:sp>
      <p:sp>
        <p:nvSpPr>
          <p:cNvPr id="707" name="Google Shape;707;p12"/>
          <p:cNvSpPr/>
          <p:nvPr/>
        </p:nvSpPr>
        <p:spPr>
          <a:xfrm>
            <a:off x="7150608" y="4828032"/>
            <a:ext cx="73152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708" name="Google Shape;708;p12"/>
          <p:cNvSpPr/>
          <p:nvPr/>
        </p:nvSpPr>
        <p:spPr>
          <a:xfrm>
            <a:off x="7936992" y="4828032"/>
            <a:ext cx="749808" cy="2560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규칙 저장</a:t>
            </a:r>
            <a:endParaRPr/>
          </a:p>
        </p:txBody>
      </p:sp>
      <p:sp>
        <p:nvSpPr>
          <p:cNvPr id="709" name="Google Shape;709;p12"/>
          <p:cNvSpPr/>
          <p:nvPr/>
        </p:nvSpPr>
        <p:spPr>
          <a:xfrm>
            <a:off x="1645920" y="5413248"/>
            <a:ext cx="310896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0" name="Google Shape;710;p12"/>
          <p:cNvSpPr txBox="1"/>
          <p:nvPr/>
        </p:nvSpPr>
        <p:spPr>
          <a:xfrm>
            <a:off x="1700784" y="5458968"/>
            <a:ext cx="29992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[엑셀 일괄 업로드 검증 완료]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45건 중 신규 42건 등록 가능, 중복 표현 3건이 발견되었습니다.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건을 제외하고 일괄 반영하시겠습니까?</a:t>
            </a:r>
            <a:endParaRPr/>
          </a:p>
        </p:txBody>
      </p:sp>
      <p:sp>
        <p:nvSpPr>
          <p:cNvPr id="711" name="Google Shape;711;p12"/>
          <p:cNvSpPr/>
          <p:nvPr/>
        </p:nvSpPr>
        <p:spPr>
          <a:xfrm>
            <a:off x="2519172" y="6364224"/>
            <a:ext cx="644652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712" name="Google Shape;712;p12"/>
          <p:cNvSpPr/>
          <p:nvPr/>
        </p:nvSpPr>
        <p:spPr>
          <a:xfrm>
            <a:off x="3236976" y="6364224"/>
            <a:ext cx="644652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일괄 반영</a:t>
            </a:r>
            <a:endParaRPr/>
          </a:p>
        </p:txBody>
      </p:sp>
      <p:sp>
        <p:nvSpPr>
          <p:cNvPr id="713" name="Google Shape;713;p12"/>
          <p:cNvSpPr/>
          <p:nvPr/>
        </p:nvSpPr>
        <p:spPr>
          <a:xfrm>
            <a:off x="157276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2A</a:t>
            </a:r>
            <a:endParaRPr/>
          </a:p>
        </p:txBody>
      </p:sp>
      <p:sp>
        <p:nvSpPr>
          <p:cNvPr id="714" name="Google Shape;714;p12"/>
          <p:cNvSpPr/>
          <p:nvPr/>
        </p:nvSpPr>
        <p:spPr>
          <a:xfrm>
            <a:off x="5120640" y="5413248"/>
            <a:ext cx="320040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5" name="Google Shape;715;p12"/>
          <p:cNvSpPr txBox="1"/>
          <p:nvPr/>
        </p:nvSpPr>
        <p:spPr>
          <a:xfrm>
            <a:off x="5175503" y="5458968"/>
            <a:ext cx="309067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선택한 금지어 규칙(RULE-0042)을 삭제하시겠습니까?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 즉시 AI 1단계 룰 필터에서 제외되며 감사로그에 기록됩니다.</a:t>
            </a:r>
            <a:endParaRPr/>
          </a:p>
        </p:txBody>
      </p:sp>
      <p:sp>
        <p:nvSpPr>
          <p:cNvPr id="716" name="Google Shape;716;p12"/>
          <p:cNvSpPr/>
          <p:nvPr/>
        </p:nvSpPr>
        <p:spPr>
          <a:xfrm>
            <a:off x="6117336" y="6364224"/>
            <a:ext cx="566928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717" name="Google Shape;717;p12"/>
          <p:cNvSpPr/>
          <p:nvPr/>
        </p:nvSpPr>
        <p:spPr>
          <a:xfrm>
            <a:off x="6757416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</a:t>
            </a:r>
            <a:endParaRPr/>
          </a:p>
        </p:txBody>
      </p:sp>
      <p:sp>
        <p:nvSpPr>
          <p:cNvPr id="718" name="Google Shape;718;p12"/>
          <p:cNvSpPr/>
          <p:nvPr/>
        </p:nvSpPr>
        <p:spPr>
          <a:xfrm>
            <a:off x="504748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3A</a:t>
            </a:r>
            <a:endParaRPr/>
          </a:p>
        </p:txBody>
      </p:sp>
      <p:graphicFrame>
        <p:nvGraphicFramePr>
          <p:cNvPr id="719" name="Google Shape;719;p12"/>
          <p:cNvGraphicFramePr/>
          <p:nvPr/>
        </p:nvGraphicFramePr>
        <p:xfrm>
          <a:off x="9034272" y="329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47475"/>
                <a:gridCol w="27157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237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[금지어 및 주의어 사전 관리 (SCR_REG_01)]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[카테고리 및 위험등급 검색]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식약처 10대 위반 카테고리, 위험등급(금지/주의), 사용여부, 키워드로 룰 사전 필터링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[엑셀 일괄 업로드 및 신규 등록]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대량 금지어/대체어 사전을 엑셀로 업로드 시 중복/정규식 문법 검증 후 2A Confirm 노출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[금지·주의 표현 규칙 그리드]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행 클릭 시 우측 상세 편집 폼에 데이터 바인딩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[삭제] 클릭 시 3A Confirm 확인 후 삭제 처리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[규칙 상세 등록/수정 폼]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정규식 패턴, 법령 조항, 복수의 권장 안전 대체 표현 등록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[규칙 매칭 시뮬레이션 테스트]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저장 전 테스트 문장을 입력하여 정규식 매칭 여부와 대체어 치환 결과를 즉시 검증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3"/>
          <p:cNvSpPr txBox="1"/>
          <p:nvPr/>
        </p:nvSpPr>
        <p:spPr>
          <a:xfrm>
            <a:off x="128016" y="5486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 식약처 규제 문서 RAG 관리</a:t>
            </a:r>
            <a:endParaRPr/>
          </a:p>
        </p:txBody>
      </p:sp>
      <p:sp>
        <p:nvSpPr>
          <p:cNvPr id="725" name="Google Shape;725;p13"/>
          <p:cNvSpPr txBox="1"/>
          <p:nvPr/>
        </p:nvSpPr>
        <p:spPr>
          <a:xfrm>
            <a:off x="4846320" y="5486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SCR_REG_02</a:t>
            </a:r>
            <a:endParaRPr/>
          </a:p>
        </p:txBody>
      </p:sp>
      <p:sp>
        <p:nvSpPr>
          <p:cNvPr id="726" name="Google Shape;726;p13"/>
          <p:cNvSpPr txBox="1"/>
          <p:nvPr/>
        </p:nvSpPr>
        <p:spPr>
          <a:xfrm>
            <a:off x="9034272" y="54864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규제정보 &gt; 식약처 처분사례</a:t>
            </a:r>
            <a:endParaRPr/>
          </a:p>
        </p:txBody>
      </p:sp>
      <p:sp>
        <p:nvSpPr>
          <p:cNvPr id="727" name="Google Shape;727;p13"/>
          <p:cNvSpPr/>
          <p:nvPr/>
        </p:nvSpPr>
        <p:spPr>
          <a:xfrm>
            <a:off x="91440" y="329184"/>
            <a:ext cx="8851392" cy="6419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8" name="Google Shape;728;p13"/>
          <p:cNvSpPr txBox="1"/>
          <p:nvPr/>
        </p:nvSpPr>
        <p:spPr>
          <a:xfrm>
            <a:off x="219456" y="402336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식약처 법령·가이드라인 및 행정처분 판례 RAG 벡터 색인 관리</a:t>
            </a:r>
            <a:endParaRPr/>
          </a:p>
        </p:txBody>
      </p:sp>
      <p:cxnSp>
        <p:nvCxnSpPr>
          <p:cNvPr id="729" name="Google Shape;729;p13"/>
          <p:cNvCxnSpPr/>
          <p:nvPr/>
        </p:nvCxnSpPr>
        <p:spPr>
          <a:xfrm>
            <a:off x="219456" y="749808"/>
            <a:ext cx="857707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30" name="Google Shape;730;p13"/>
          <p:cNvCxnSpPr/>
          <p:nvPr/>
        </p:nvCxnSpPr>
        <p:spPr>
          <a:xfrm>
            <a:off x="91440" y="5321808"/>
            <a:ext cx="885139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31" name="Google Shape;731;p13"/>
          <p:cNvSpPr/>
          <p:nvPr/>
        </p:nvSpPr>
        <p:spPr>
          <a:xfrm>
            <a:off x="100584" y="5330952"/>
            <a:ext cx="8833104" cy="140817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2" name="Google Shape;732;p13"/>
          <p:cNvSpPr txBox="1"/>
          <p:nvPr/>
        </p:nvSpPr>
        <p:spPr>
          <a:xfrm>
            <a:off x="182880" y="535838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[연계 팝업 / Alert 정의]</a:t>
            </a:r>
            <a:endParaRPr/>
          </a:p>
        </p:txBody>
      </p:sp>
      <p:sp>
        <p:nvSpPr>
          <p:cNvPr id="733" name="Google Shape;733;p13"/>
          <p:cNvSpPr/>
          <p:nvPr/>
        </p:nvSpPr>
        <p:spPr>
          <a:xfrm>
            <a:off x="219456" y="804672"/>
            <a:ext cx="8577072" cy="493776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4" name="Google Shape;734;p13"/>
          <p:cNvSpPr/>
          <p:nvPr/>
        </p:nvSpPr>
        <p:spPr>
          <a:xfrm>
            <a:off x="128016" y="768096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735" name="Google Shape;735;p13"/>
          <p:cNvSpPr txBox="1"/>
          <p:nvPr/>
        </p:nvSpPr>
        <p:spPr>
          <a:xfrm>
            <a:off x="329184" y="932688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문서구분</a:t>
            </a:r>
            <a:endParaRPr/>
          </a:p>
        </p:txBody>
      </p:sp>
      <p:sp>
        <p:nvSpPr>
          <p:cNvPr id="736" name="Google Shape;736;p13"/>
          <p:cNvSpPr/>
          <p:nvPr/>
        </p:nvSpPr>
        <p:spPr>
          <a:xfrm>
            <a:off x="932688" y="914400"/>
            <a:ext cx="114300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전체(법령/지침/판례)</a:t>
            </a:r>
            <a:endParaRPr/>
          </a:p>
        </p:txBody>
      </p:sp>
      <p:sp>
        <p:nvSpPr>
          <p:cNvPr id="737" name="Google Shape;737;p13"/>
          <p:cNvSpPr txBox="1"/>
          <p:nvPr/>
        </p:nvSpPr>
        <p:spPr>
          <a:xfrm>
            <a:off x="1874519" y="914400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738" name="Google Shape;738;p13"/>
          <p:cNvSpPr txBox="1"/>
          <p:nvPr/>
        </p:nvSpPr>
        <p:spPr>
          <a:xfrm>
            <a:off x="2176272" y="932688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색인상태</a:t>
            </a:r>
            <a:endParaRPr/>
          </a:p>
        </p:txBody>
      </p:sp>
      <p:sp>
        <p:nvSpPr>
          <p:cNvPr id="739" name="Google Shape;739;p13"/>
          <p:cNvSpPr/>
          <p:nvPr/>
        </p:nvSpPr>
        <p:spPr>
          <a:xfrm>
            <a:off x="2788920" y="914400"/>
            <a:ext cx="86868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</a:t>
            </a:r>
            <a:endParaRPr/>
          </a:p>
        </p:txBody>
      </p:sp>
      <p:sp>
        <p:nvSpPr>
          <p:cNvPr id="740" name="Google Shape;740;p13"/>
          <p:cNvSpPr txBox="1"/>
          <p:nvPr/>
        </p:nvSpPr>
        <p:spPr>
          <a:xfrm>
            <a:off x="3456432" y="914400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741" name="Google Shape;741;p13"/>
          <p:cNvSpPr/>
          <p:nvPr/>
        </p:nvSpPr>
        <p:spPr>
          <a:xfrm>
            <a:off x="3767328" y="914400"/>
            <a:ext cx="352044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A6A6"/>
                </a:solidFill>
                <a:latin typeface="Malgun Gothic"/>
                <a:ea typeface="Malgun Gothic"/>
                <a:cs typeface="Malgun Gothic"/>
                <a:sym typeface="Malgun Gothic"/>
              </a:rPr>
              <a:t>법령명, 고시번호, 행정처분 위반 문구 검색</a:t>
            </a:r>
            <a:endParaRPr/>
          </a:p>
        </p:txBody>
      </p:sp>
      <p:sp>
        <p:nvSpPr>
          <p:cNvPr id="742" name="Google Shape;742;p13"/>
          <p:cNvSpPr/>
          <p:nvPr/>
        </p:nvSpPr>
        <p:spPr>
          <a:xfrm>
            <a:off x="7360920" y="914400"/>
            <a:ext cx="64008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초기화</a:t>
            </a:r>
            <a:endParaRPr/>
          </a:p>
        </p:txBody>
      </p:sp>
      <p:sp>
        <p:nvSpPr>
          <p:cNvPr id="743" name="Google Shape;743;p13"/>
          <p:cNvSpPr/>
          <p:nvPr/>
        </p:nvSpPr>
        <p:spPr>
          <a:xfrm>
            <a:off x="8046720" y="914400"/>
            <a:ext cx="658368" cy="219456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</a:t>
            </a:r>
            <a:endParaRPr/>
          </a:p>
        </p:txBody>
      </p:sp>
      <p:sp>
        <p:nvSpPr>
          <p:cNvPr id="744" name="Google Shape;744;p13"/>
          <p:cNvSpPr txBox="1"/>
          <p:nvPr/>
        </p:nvSpPr>
        <p:spPr>
          <a:xfrm>
            <a:off x="219456" y="13716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규제 문서 아카이브 (총 86건 / 14,820 청크)</a:t>
            </a:r>
            <a:endParaRPr/>
          </a:p>
        </p:txBody>
      </p:sp>
      <p:sp>
        <p:nvSpPr>
          <p:cNvPr id="745" name="Google Shape;745;p13"/>
          <p:cNvSpPr/>
          <p:nvPr/>
        </p:nvSpPr>
        <p:spPr>
          <a:xfrm>
            <a:off x="2944368" y="1353312"/>
            <a:ext cx="896112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식약처 판례 수집</a:t>
            </a:r>
            <a:endParaRPr/>
          </a:p>
        </p:txBody>
      </p:sp>
      <p:sp>
        <p:nvSpPr>
          <p:cNvPr id="746" name="Google Shape;746;p13"/>
          <p:cNvSpPr/>
          <p:nvPr/>
        </p:nvSpPr>
        <p:spPr>
          <a:xfrm>
            <a:off x="3877056" y="1353312"/>
            <a:ext cx="82296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문서 재색인</a:t>
            </a:r>
            <a:endParaRPr/>
          </a:p>
        </p:txBody>
      </p:sp>
      <p:sp>
        <p:nvSpPr>
          <p:cNvPr id="747" name="Google Shape;747;p13"/>
          <p:cNvSpPr/>
          <p:nvPr/>
        </p:nvSpPr>
        <p:spPr>
          <a:xfrm>
            <a:off x="4736592" y="1353312"/>
            <a:ext cx="822960" cy="219456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 규제 문서 등록</a:t>
            </a:r>
            <a:endParaRPr/>
          </a:p>
        </p:txBody>
      </p:sp>
      <p:sp>
        <p:nvSpPr>
          <p:cNvPr id="748" name="Google Shape;748;p13"/>
          <p:cNvSpPr/>
          <p:nvPr/>
        </p:nvSpPr>
        <p:spPr>
          <a:xfrm>
            <a:off x="2852928" y="129844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graphicFrame>
        <p:nvGraphicFramePr>
          <p:cNvPr id="749" name="Google Shape;749;p13"/>
          <p:cNvGraphicFramePr/>
          <p:nvPr/>
        </p:nvGraphicFramePr>
        <p:xfrm>
          <a:off x="219456" y="16276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274325"/>
                <a:gridCol w="658375"/>
                <a:gridCol w="438900"/>
                <a:gridCol w="1920250"/>
                <a:gridCol w="658375"/>
                <a:gridCol w="411475"/>
                <a:gridCol w="530350"/>
                <a:gridCol w="45720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문서ID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규제 문서 및 행정처분 판례명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개정/수집일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청크수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색인상태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DOC-0086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지침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제품 표시·광고 관리 가이드라인 (민원인 안내서)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2026.10.01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412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[색인완료]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[청크] [Diff]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DOC-0085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법령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표시·광고 공정화법 시행규칙 [별표 5] 표시·광고의 범위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2026.08.15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96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[색인완료]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[청크] [원문]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DOC-0084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판례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2026년 3분기 식약처 화장품 행정처분 사례집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2026.10.18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328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[개정감지]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[Diff] [재색인]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DOC-0083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지침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제품 표시·광고 실증에 관한 규정 고시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2026.05.20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[색인완료]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[청크] [원문]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DOC-0082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글로벌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중국 NMPA 화장품 효능 클레임 평가 규범(국문본)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2026.04.10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520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[색인완료]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[청크] [원문]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DOC-0081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판례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공정거래위원회 기만적 표시·광고 심결례 모음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2026.03.12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280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[색인완료]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[청크] [원문]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50" name="Google Shape;750;p13"/>
          <p:cNvSpPr/>
          <p:nvPr/>
        </p:nvSpPr>
        <p:spPr>
          <a:xfrm>
            <a:off x="128016" y="1609344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751" name="Google Shape;751;p13"/>
          <p:cNvSpPr txBox="1"/>
          <p:nvPr/>
        </p:nvSpPr>
        <p:spPr>
          <a:xfrm>
            <a:off x="1325880" y="449884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《   &lt;</a:t>
            </a:r>
            <a:endParaRPr/>
          </a:p>
        </p:txBody>
      </p:sp>
      <p:sp>
        <p:nvSpPr>
          <p:cNvPr id="752" name="Google Shape;752;p13"/>
          <p:cNvSpPr/>
          <p:nvPr/>
        </p:nvSpPr>
        <p:spPr>
          <a:xfrm>
            <a:off x="1691640" y="4507992"/>
            <a:ext cx="182880" cy="18288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753" name="Google Shape;753;p13"/>
          <p:cNvSpPr txBox="1"/>
          <p:nvPr/>
        </p:nvSpPr>
        <p:spPr>
          <a:xfrm>
            <a:off x="1856232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754" name="Google Shape;754;p13"/>
          <p:cNvSpPr txBox="1"/>
          <p:nvPr/>
        </p:nvSpPr>
        <p:spPr>
          <a:xfrm>
            <a:off x="1929384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755" name="Google Shape;755;p13"/>
          <p:cNvSpPr txBox="1"/>
          <p:nvPr/>
        </p:nvSpPr>
        <p:spPr>
          <a:xfrm>
            <a:off x="2093976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756" name="Google Shape;756;p13"/>
          <p:cNvSpPr txBox="1"/>
          <p:nvPr/>
        </p:nvSpPr>
        <p:spPr>
          <a:xfrm>
            <a:off x="2167128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757" name="Google Shape;757;p13"/>
          <p:cNvSpPr txBox="1"/>
          <p:nvPr/>
        </p:nvSpPr>
        <p:spPr>
          <a:xfrm>
            <a:off x="2331720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758" name="Google Shape;758;p13"/>
          <p:cNvSpPr txBox="1"/>
          <p:nvPr/>
        </p:nvSpPr>
        <p:spPr>
          <a:xfrm>
            <a:off x="2404872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759" name="Google Shape;759;p13"/>
          <p:cNvSpPr txBox="1"/>
          <p:nvPr/>
        </p:nvSpPr>
        <p:spPr>
          <a:xfrm>
            <a:off x="2569464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760" name="Google Shape;760;p13"/>
          <p:cNvSpPr txBox="1"/>
          <p:nvPr/>
        </p:nvSpPr>
        <p:spPr>
          <a:xfrm>
            <a:off x="2642616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761" name="Google Shape;761;p13"/>
          <p:cNvSpPr txBox="1"/>
          <p:nvPr/>
        </p:nvSpPr>
        <p:spPr>
          <a:xfrm>
            <a:off x="2862072" y="449884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   》</a:t>
            </a:r>
            <a:endParaRPr/>
          </a:p>
        </p:txBody>
      </p:sp>
      <p:sp>
        <p:nvSpPr>
          <p:cNvPr id="762" name="Google Shape;762;p13"/>
          <p:cNvSpPr/>
          <p:nvPr/>
        </p:nvSpPr>
        <p:spPr>
          <a:xfrm>
            <a:off x="5687568" y="1371600"/>
            <a:ext cx="310896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3" name="Google Shape;763;p13"/>
          <p:cNvSpPr/>
          <p:nvPr/>
        </p:nvSpPr>
        <p:spPr>
          <a:xfrm>
            <a:off x="5687568" y="1371600"/>
            <a:ext cx="3108960" cy="2560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청크 분할 상세 및 개정 조항 Diff (DOC-0086)</a:t>
            </a:r>
            <a:endParaRPr/>
          </a:p>
        </p:txBody>
      </p:sp>
      <p:sp>
        <p:nvSpPr>
          <p:cNvPr id="764" name="Google Shape;764;p13"/>
          <p:cNvSpPr txBox="1"/>
          <p:nvPr/>
        </p:nvSpPr>
        <p:spPr>
          <a:xfrm>
            <a:off x="8540496" y="1371600"/>
            <a:ext cx="237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</a:t>
            </a:r>
            <a:endParaRPr/>
          </a:p>
        </p:txBody>
      </p:sp>
      <p:sp>
        <p:nvSpPr>
          <p:cNvPr id="765" name="Google Shape;765;p13"/>
          <p:cNvSpPr/>
          <p:nvPr/>
        </p:nvSpPr>
        <p:spPr>
          <a:xfrm>
            <a:off x="5596128" y="1316736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cxnSp>
        <p:nvCxnSpPr>
          <p:cNvPr id="766" name="Google Shape;766;p13"/>
          <p:cNvCxnSpPr/>
          <p:nvPr/>
        </p:nvCxnSpPr>
        <p:spPr>
          <a:xfrm>
            <a:off x="5779008" y="1901952"/>
            <a:ext cx="292608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67" name="Google Shape;767;p13"/>
          <p:cNvSpPr txBox="1"/>
          <p:nvPr/>
        </p:nvSpPr>
        <p:spPr>
          <a:xfrm>
            <a:off x="5779008" y="1682496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청크 분할 목록 (412)</a:t>
            </a:r>
            <a:endParaRPr/>
          </a:p>
        </p:txBody>
      </p:sp>
      <p:sp>
        <p:nvSpPr>
          <p:cNvPr id="768" name="Google Shape;768;p13"/>
          <p:cNvSpPr txBox="1"/>
          <p:nvPr/>
        </p:nvSpPr>
        <p:spPr>
          <a:xfrm>
            <a:off x="6839712" y="1682496"/>
            <a:ext cx="11704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개정 전·후 비교 (Diff)</a:t>
            </a:r>
            <a:endParaRPr/>
          </a:p>
        </p:txBody>
      </p:sp>
      <p:cxnSp>
        <p:nvCxnSpPr>
          <p:cNvPr id="769" name="Google Shape;769;p13"/>
          <p:cNvCxnSpPr/>
          <p:nvPr/>
        </p:nvCxnSpPr>
        <p:spPr>
          <a:xfrm>
            <a:off x="6839712" y="1901952"/>
            <a:ext cx="1170432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70" name="Google Shape;770;p13"/>
          <p:cNvSpPr txBox="1"/>
          <p:nvPr/>
        </p:nvSpPr>
        <p:spPr>
          <a:xfrm>
            <a:off x="8046720" y="168249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벡터 검색 테스트</a:t>
            </a:r>
            <a:endParaRPr/>
          </a:p>
        </p:txBody>
      </p:sp>
      <p:sp>
        <p:nvSpPr>
          <p:cNvPr id="771" name="Google Shape;771;p13"/>
          <p:cNvSpPr/>
          <p:nvPr/>
        </p:nvSpPr>
        <p:spPr>
          <a:xfrm>
            <a:off x="5779008" y="1975104"/>
            <a:ext cx="2926080" cy="960120"/>
          </a:xfrm>
          <a:prstGeom prst="rect">
            <a:avLst/>
          </a:prstGeom>
          <a:solidFill>
            <a:srgbClr val="EDEDED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[개정 감지 조항 : 제2장 3절 '피부 노화·안티에이징 표현']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기존(v2025): '세포 재생, 줄기세포 활성화 표현은 금지한다.'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개정(v2026): '세포 재생, 줄기세포 활성화, [엑소좀 침투 치료] 표현은 금지한다. 단, [피부 자생력 케어]는 허용한다.'</a:t>
            </a:r>
            <a:endParaRPr/>
          </a:p>
        </p:txBody>
      </p:sp>
      <p:graphicFrame>
        <p:nvGraphicFramePr>
          <p:cNvPr id="772" name="Google Shape;772;p13"/>
          <p:cNvGraphicFramePr/>
          <p:nvPr/>
        </p:nvGraphicFramePr>
        <p:xfrm>
          <a:off x="5779008" y="3017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594350"/>
                <a:gridCol w="621800"/>
                <a:gridCol w="1115575"/>
                <a:gridCol w="5943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청크ID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조항/페이지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임베딩 청크 요약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6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3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CHK-041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3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p.14 제2장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3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의약품 오인 금지 및 세포재생/엑소좀...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3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[재임베딩대기]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3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CHK-042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3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p.15 제2장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3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보습·탄력 수치 표시 시 실증 각주...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3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[동기화완료]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3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CHK-043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3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p.16 제3장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3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배타적 절대 표현(최고, 최초) 금지...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3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[동기화완료]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3" name="Google Shape;773;p13"/>
          <p:cNvSpPr/>
          <p:nvPr/>
        </p:nvSpPr>
        <p:spPr>
          <a:xfrm>
            <a:off x="5779008" y="4224528"/>
            <a:ext cx="2926080" cy="603504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[RAG 유사도 검색 테스트]  질의: "엑소좀 피부 재생"  [검색]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➔ 1위: CHK-041 (유사도 0.96, 식약처 가이드라인 p.14)</a:t>
            </a:r>
            <a:endParaRPr/>
          </a:p>
        </p:txBody>
      </p:sp>
      <p:sp>
        <p:nvSpPr>
          <p:cNvPr id="774" name="Google Shape;774;p13"/>
          <p:cNvSpPr/>
          <p:nvPr/>
        </p:nvSpPr>
        <p:spPr>
          <a:xfrm>
            <a:off x="5687568" y="4187952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775" name="Google Shape;775;p13"/>
          <p:cNvSpPr/>
          <p:nvPr/>
        </p:nvSpPr>
        <p:spPr>
          <a:xfrm>
            <a:off x="5779008" y="4882896"/>
            <a:ext cx="1408176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원본 PDF 열람</a:t>
            </a:r>
            <a:endParaRPr/>
          </a:p>
        </p:txBody>
      </p:sp>
      <p:sp>
        <p:nvSpPr>
          <p:cNvPr id="776" name="Google Shape;776;p13"/>
          <p:cNvSpPr/>
          <p:nvPr/>
        </p:nvSpPr>
        <p:spPr>
          <a:xfrm>
            <a:off x="7260336" y="4882896"/>
            <a:ext cx="1444752" cy="237744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청크 벡터 재색인</a:t>
            </a:r>
            <a:endParaRPr/>
          </a:p>
        </p:txBody>
      </p:sp>
      <p:sp>
        <p:nvSpPr>
          <p:cNvPr id="777" name="Google Shape;777;p13"/>
          <p:cNvSpPr/>
          <p:nvPr/>
        </p:nvSpPr>
        <p:spPr>
          <a:xfrm>
            <a:off x="1645920" y="5413248"/>
            <a:ext cx="310896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8" name="Google Shape;778;p13"/>
          <p:cNvSpPr txBox="1"/>
          <p:nvPr/>
        </p:nvSpPr>
        <p:spPr>
          <a:xfrm>
            <a:off x="1700784" y="5458968"/>
            <a:ext cx="29992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국가법령정보센터 및 식약처 행정처분 게시판에서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최신 개정 법령·처분사례 수집 배치를 즉시 실행하시겠습니까?</a:t>
            </a:r>
            <a:endParaRPr/>
          </a:p>
        </p:txBody>
      </p:sp>
      <p:sp>
        <p:nvSpPr>
          <p:cNvPr id="779" name="Google Shape;779;p13"/>
          <p:cNvSpPr/>
          <p:nvPr/>
        </p:nvSpPr>
        <p:spPr>
          <a:xfrm>
            <a:off x="2519172" y="6364224"/>
            <a:ext cx="644652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780" name="Google Shape;780;p13"/>
          <p:cNvSpPr/>
          <p:nvPr/>
        </p:nvSpPr>
        <p:spPr>
          <a:xfrm>
            <a:off x="3236976" y="6364224"/>
            <a:ext cx="644652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실행</a:t>
            </a:r>
            <a:endParaRPr/>
          </a:p>
        </p:txBody>
      </p:sp>
      <p:sp>
        <p:nvSpPr>
          <p:cNvPr id="781" name="Google Shape;781;p13"/>
          <p:cNvSpPr/>
          <p:nvPr/>
        </p:nvSpPr>
        <p:spPr>
          <a:xfrm>
            <a:off x="157276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2A</a:t>
            </a:r>
            <a:endParaRPr/>
          </a:p>
        </p:txBody>
      </p:sp>
      <p:sp>
        <p:nvSpPr>
          <p:cNvPr id="782" name="Google Shape;782;p13"/>
          <p:cNvSpPr/>
          <p:nvPr/>
        </p:nvSpPr>
        <p:spPr>
          <a:xfrm>
            <a:off x="5120640" y="5413248"/>
            <a:ext cx="320040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3" name="Google Shape;783;p13"/>
          <p:cNvSpPr txBox="1"/>
          <p:nvPr/>
        </p:nvSpPr>
        <p:spPr>
          <a:xfrm>
            <a:off x="5175503" y="5458968"/>
            <a:ext cx="309067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선택한 문서(DOC-0086)의 변경된 청크(12건)에 대해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pgvector 임베딩 재생성 및 색인 동기화를 수행하시겠습니까?</a:t>
            </a:r>
            <a:endParaRPr/>
          </a:p>
        </p:txBody>
      </p:sp>
      <p:sp>
        <p:nvSpPr>
          <p:cNvPr id="784" name="Google Shape;784;p13"/>
          <p:cNvSpPr/>
          <p:nvPr/>
        </p:nvSpPr>
        <p:spPr>
          <a:xfrm>
            <a:off x="5943600" y="6364224"/>
            <a:ext cx="740664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785" name="Google Shape;785;p13"/>
          <p:cNvSpPr/>
          <p:nvPr/>
        </p:nvSpPr>
        <p:spPr>
          <a:xfrm>
            <a:off x="6757416" y="6364224"/>
            <a:ext cx="740664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재색인 실행</a:t>
            </a:r>
            <a:endParaRPr/>
          </a:p>
        </p:txBody>
      </p:sp>
      <p:sp>
        <p:nvSpPr>
          <p:cNvPr id="786" name="Google Shape;786;p13"/>
          <p:cNvSpPr/>
          <p:nvPr/>
        </p:nvSpPr>
        <p:spPr>
          <a:xfrm>
            <a:off x="504748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4A</a:t>
            </a:r>
            <a:endParaRPr/>
          </a:p>
        </p:txBody>
      </p:sp>
      <p:graphicFrame>
        <p:nvGraphicFramePr>
          <p:cNvPr id="787" name="Google Shape;787;p13"/>
          <p:cNvGraphicFramePr/>
          <p:nvPr/>
        </p:nvGraphicFramePr>
        <p:xfrm>
          <a:off x="9034272" y="329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47475"/>
                <a:gridCol w="27157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237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[식약처 규제 문서 RAG 관리 (SCR_REG_02)]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[문서구분 및 색인상태 검색]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법령, 고시, 가이드라인, 행정처분 판례, 글로벌 규제 문서별 필터링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[식약처 판례 즉시수집 및 신규 등록]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크롤러를 통한 최신 행정처분 사례 수집(2A Confirm) 및 규제 문서 PDF 직접 등록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[규제 문서 아카이브 그리드]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문서별 분할 청크 수 및 벡터 색인 상태([색인완료], [개정감지]) 표시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[청크 분할 상세 및 개정 Diff 비교]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개정된 가이드라인 업로드 시 기존 조항과 자동 비교(Diff)하여 변경된 문구만 하이라이트 표시하고 [변경 청크 벡터 재색인] 클릭 시 4A Confirm 후 증분 임베딩 수행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[RAG 유사도 검색 테스트]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특정 광고 문구 입력 시 검색되는 상위 법령 청크와 코사인 유사도 점수를 즉시 검증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4"/>
          <p:cNvSpPr txBox="1"/>
          <p:nvPr/>
        </p:nvSpPr>
        <p:spPr>
          <a:xfrm>
            <a:off x="128016" y="5486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2.3 운영 관리 통계 대시보드</a:t>
            </a:r>
            <a:endParaRPr/>
          </a:p>
        </p:txBody>
      </p:sp>
      <p:sp>
        <p:nvSpPr>
          <p:cNvPr id="793" name="Google Shape;793;p14"/>
          <p:cNvSpPr txBox="1"/>
          <p:nvPr/>
        </p:nvSpPr>
        <p:spPr>
          <a:xfrm>
            <a:off x="4846320" y="5486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SCR_ADM_02</a:t>
            </a:r>
            <a:endParaRPr/>
          </a:p>
        </p:txBody>
      </p:sp>
      <p:sp>
        <p:nvSpPr>
          <p:cNvPr id="794" name="Google Shape;794;p14"/>
          <p:cNvSpPr txBox="1"/>
          <p:nvPr/>
        </p:nvSpPr>
        <p:spPr>
          <a:xfrm>
            <a:off x="9034272" y="54864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시스템관리 &gt; AI 품질 벤치마크</a:t>
            </a:r>
            <a:endParaRPr/>
          </a:p>
        </p:txBody>
      </p:sp>
      <p:sp>
        <p:nvSpPr>
          <p:cNvPr id="795" name="Google Shape;795;p14"/>
          <p:cNvSpPr/>
          <p:nvPr/>
        </p:nvSpPr>
        <p:spPr>
          <a:xfrm>
            <a:off x="91440" y="329184"/>
            <a:ext cx="8851392" cy="6419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6" name="Google Shape;796;p14"/>
          <p:cNvSpPr txBox="1"/>
          <p:nvPr/>
        </p:nvSpPr>
        <p:spPr>
          <a:xfrm>
            <a:off x="219456" y="402336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관리 통계 및 AI 골든셋 품질 벤치마크 대시보드</a:t>
            </a:r>
            <a:endParaRPr/>
          </a:p>
        </p:txBody>
      </p:sp>
      <p:cxnSp>
        <p:nvCxnSpPr>
          <p:cNvPr id="797" name="Google Shape;797;p14"/>
          <p:cNvCxnSpPr/>
          <p:nvPr/>
        </p:nvCxnSpPr>
        <p:spPr>
          <a:xfrm>
            <a:off x="219456" y="749808"/>
            <a:ext cx="857707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98" name="Google Shape;798;p14"/>
          <p:cNvCxnSpPr/>
          <p:nvPr/>
        </p:nvCxnSpPr>
        <p:spPr>
          <a:xfrm>
            <a:off x="91440" y="5321808"/>
            <a:ext cx="885139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99" name="Google Shape;799;p14"/>
          <p:cNvSpPr/>
          <p:nvPr/>
        </p:nvSpPr>
        <p:spPr>
          <a:xfrm>
            <a:off x="100584" y="5330952"/>
            <a:ext cx="8833104" cy="140817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0" name="Google Shape;800;p14"/>
          <p:cNvSpPr txBox="1"/>
          <p:nvPr/>
        </p:nvSpPr>
        <p:spPr>
          <a:xfrm>
            <a:off x="182880" y="535838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[연계 팝업 / Alert 정의]</a:t>
            </a:r>
            <a:endParaRPr/>
          </a:p>
        </p:txBody>
      </p:sp>
      <p:sp>
        <p:nvSpPr>
          <p:cNvPr id="801" name="Google Shape;801;p14"/>
          <p:cNvSpPr/>
          <p:nvPr/>
        </p:nvSpPr>
        <p:spPr>
          <a:xfrm>
            <a:off x="4754880" y="429768"/>
            <a:ext cx="105156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2026년 10월</a:t>
            </a:r>
            <a:endParaRPr/>
          </a:p>
        </p:txBody>
      </p:sp>
      <p:sp>
        <p:nvSpPr>
          <p:cNvPr id="802" name="Google Shape;802;p14"/>
          <p:cNvSpPr txBox="1"/>
          <p:nvPr/>
        </p:nvSpPr>
        <p:spPr>
          <a:xfrm>
            <a:off x="5605272" y="429768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803" name="Google Shape;803;p14"/>
          <p:cNvSpPr/>
          <p:nvPr/>
        </p:nvSpPr>
        <p:spPr>
          <a:xfrm>
            <a:off x="5870448" y="42976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브랜드</a:t>
            </a:r>
            <a:endParaRPr/>
          </a:p>
        </p:txBody>
      </p:sp>
      <p:sp>
        <p:nvSpPr>
          <p:cNvPr id="804" name="Google Shape;804;p14"/>
          <p:cNvSpPr txBox="1"/>
          <p:nvPr/>
        </p:nvSpPr>
        <p:spPr>
          <a:xfrm>
            <a:off x="6629400" y="429768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805" name="Google Shape;805;p14"/>
          <p:cNvSpPr/>
          <p:nvPr/>
        </p:nvSpPr>
        <p:spPr>
          <a:xfrm>
            <a:off x="6894576" y="429768"/>
            <a:ext cx="987552" cy="237744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골든셋 회귀테스트</a:t>
            </a:r>
            <a:endParaRPr/>
          </a:p>
        </p:txBody>
      </p:sp>
      <p:sp>
        <p:nvSpPr>
          <p:cNvPr id="806" name="Google Shape;806;p14"/>
          <p:cNvSpPr/>
          <p:nvPr/>
        </p:nvSpPr>
        <p:spPr>
          <a:xfrm>
            <a:off x="7936992" y="429768"/>
            <a:ext cx="859536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통계 리포트 출력</a:t>
            </a:r>
            <a:endParaRPr/>
          </a:p>
        </p:txBody>
      </p:sp>
      <p:sp>
        <p:nvSpPr>
          <p:cNvPr id="807" name="Google Shape;807;p14"/>
          <p:cNvSpPr/>
          <p:nvPr/>
        </p:nvSpPr>
        <p:spPr>
          <a:xfrm>
            <a:off x="6803136" y="36576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808" name="Google Shape;808;p14"/>
          <p:cNvSpPr/>
          <p:nvPr/>
        </p:nvSpPr>
        <p:spPr>
          <a:xfrm>
            <a:off x="219456" y="822960"/>
            <a:ext cx="2066543" cy="768096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9" name="Google Shape;809;p14"/>
          <p:cNvSpPr txBox="1"/>
          <p:nvPr/>
        </p:nvSpPr>
        <p:spPr>
          <a:xfrm>
            <a:off x="310896" y="859536"/>
            <a:ext cx="18836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월간 누적 심의 처리량</a:t>
            </a:r>
            <a:endParaRPr/>
          </a:p>
        </p:txBody>
      </p:sp>
      <p:sp>
        <p:nvSpPr>
          <p:cNvPr id="810" name="Google Shape;810;p14"/>
          <p:cNvSpPr txBox="1"/>
          <p:nvPr/>
        </p:nvSpPr>
        <p:spPr>
          <a:xfrm>
            <a:off x="310896" y="1042415"/>
            <a:ext cx="1883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1,284 건</a:t>
            </a:r>
            <a:endParaRPr/>
          </a:p>
        </p:txBody>
      </p:sp>
      <p:sp>
        <p:nvSpPr>
          <p:cNvPr id="811" name="Google Shape;811;p14"/>
          <p:cNvSpPr txBox="1"/>
          <p:nvPr/>
        </p:nvSpPr>
        <p:spPr>
          <a:xfrm>
            <a:off x="310896" y="1353312"/>
            <a:ext cx="18836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전월 대비 +14.2% (자동승인 보조율 91%)</a:t>
            </a:r>
            <a:endParaRPr/>
          </a:p>
        </p:txBody>
      </p:sp>
      <p:sp>
        <p:nvSpPr>
          <p:cNvPr id="812" name="Google Shape;812;p14"/>
          <p:cNvSpPr/>
          <p:nvPr/>
        </p:nvSpPr>
        <p:spPr>
          <a:xfrm>
            <a:off x="2395728" y="822960"/>
            <a:ext cx="2066543" cy="768096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3" name="Google Shape;813;p14"/>
          <p:cNvSpPr txBox="1"/>
          <p:nvPr/>
        </p:nvSpPr>
        <p:spPr>
          <a:xfrm>
            <a:off x="2487168" y="859536"/>
            <a:ext cx="18836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평균 분석 소요시간</a:t>
            </a:r>
            <a:endParaRPr/>
          </a:p>
        </p:txBody>
      </p:sp>
      <p:sp>
        <p:nvSpPr>
          <p:cNvPr id="814" name="Google Shape;814;p14"/>
          <p:cNvSpPr txBox="1"/>
          <p:nvPr/>
        </p:nvSpPr>
        <p:spPr>
          <a:xfrm>
            <a:off x="2487168" y="1042415"/>
            <a:ext cx="1883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8.4 초</a:t>
            </a:r>
            <a:endParaRPr/>
          </a:p>
        </p:txBody>
      </p:sp>
      <p:sp>
        <p:nvSpPr>
          <p:cNvPr id="815" name="Google Shape;815;p14"/>
          <p:cNvSpPr txBox="1"/>
          <p:nvPr/>
        </p:nvSpPr>
        <p:spPr>
          <a:xfrm>
            <a:off x="2487168" y="1353312"/>
            <a:ext cx="18836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 기준(15초 이내) 대비 44% 단축</a:t>
            </a:r>
            <a:endParaRPr/>
          </a:p>
        </p:txBody>
      </p:sp>
      <p:sp>
        <p:nvSpPr>
          <p:cNvPr id="816" name="Google Shape;816;p14"/>
          <p:cNvSpPr/>
          <p:nvPr/>
        </p:nvSpPr>
        <p:spPr>
          <a:xfrm>
            <a:off x="4572000" y="822960"/>
            <a:ext cx="2066543" cy="768096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7" name="Google Shape;817;p14"/>
          <p:cNvSpPr txBox="1"/>
          <p:nvPr/>
        </p:nvSpPr>
        <p:spPr>
          <a:xfrm>
            <a:off x="4663440" y="859536"/>
            <a:ext cx="18836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골든셋 정밀도 (Precision)</a:t>
            </a:r>
            <a:endParaRPr/>
          </a:p>
        </p:txBody>
      </p:sp>
      <p:sp>
        <p:nvSpPr>
          <p:cNvPr id="818" name="Google Shape;818;p14"/>
          <p:cNvSpPr txBox="1"/>
          <p:nvPr/>
        </p:nvSpPr>
        <p:spPr>
          <a:xfrm>
            <a:off x="4663440" y="1042415"/>
            <a:ext cx="1883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94.2 %</a:t>
            </a:r>
            <a:endParaRPr/>
          </a:p>
        </p:txBody>
      </p:sp>
      <p:sp>
        <p:nvSpPr>
          <p:cNvPr id="819" name="Google Shape;819;p14"/>
          <p:cNvSpPr txBox="1"/>
          <p:nvPr/>
        </p:nvSpPr>
        <p:spPr>
          <a:xfrm>
            <a:off x="4663440" y="1353312"/>
            <a:ext cx="18836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표준 골든셋 120건 기준 (목표 ≥ 90%)</a:t>
            </a:r>
            <a:endParaRPr/>
          </a:p>
        </p:txBody>
      </p:sp>
      <p:sp>
        <p:nvSpPr>
          <p:cNvPr id="820" name="Google Shape;820;p14"/>
          <p:cNvSpPr/>
          <p:nvPr/>
        </p:nvSpPr>
        <p:spPr>
          <a:xfrm>
            <a:off x="6748272" y="822960"/>
            <a:ext cx="2066543" cy="768096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1" name="Google Shape;821;p14"/>
          <p:cNvSpPr txBox="1"/>
          <p:nvPr/>
        </p:nvSpPr>
        <p:spPr>
          <a:xfrm>
            <a:off x="6839712" y="859536"/>
            <a:ext cx="18836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골든셋 재현율 (Recall)</a:t>
            </a:r>
            <a:endParaRPr/>
          </a:p>
        </p:txBody>
      </p:sp>
      <p:sp>
        <p:nvSpPr>
          <p:cNvPr id="822" name="Google Shape;822;p14"/>
          <p:cNvSpPr txBox="1"/>
          <p:nvPr/>
        </p:nvSpPr>
        <p:spPr>
          <a:xfrm>
            <a:off x="6839712" y="1042415"/>
            <a:ext cx="1883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96.8 %</a:t>
            </a:r>
            <a:endParaRPr/>
          </a:p>
        </p:txBody>
      </p:sp>
      <p:sp>
        <p:nvSpPr>
          <p:cNvPr id="823" name="Google Shape;823;p14"/>
          <p:cNvSpPr txBox="1"/>
          <p:nvPr/>
        </p:nvSpPr>
        <p:spPr>
          <a:xfrm>
            <a:off x="6839712" y="1353312"/>
            <a:ext cx="18836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금지표현 미탐률 0.8% (AI-RA 일치율 93.5%)</a:t>
            </a:r>
            <a:endParaRPr/>
          </a:p>
        </p:txBody>
      </p:sp>
      <p:sp>
        <p:nvSpPr>
          <p:cNvPr id="824" name="Google Shape;824;p14"/>
          <p:cNvSpPr/>
          <p:nvPr/>
        </p:nvSpPr>
        <p:spPr>
          <a:xfrm>
            <a:off x="128016" y="786384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825" name="Google Shape;825;p14"/>
          <p:cNvSpPr txBox="1"/>
          <p:nvPr/>
        </p:nvSpPr>
        <p:spPr>
          <a:xfrm>
            <a:off x="219456" y="1682496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위반 카테고리 TOP 5 및 브랜드별 심의 현황</a:t>
            </a:r>
            <a:endParaRPr/>
          </a:p>
        </p:txBody>
      </p:sp>
      <p:sp>
        <p:nvSpPr>
          <p:cNvPr id="826" name="Google Shape;826;p14"/>
          <p:cNvSpPr/>
          <p:nvPr/>
        </p:nvSpPr>
        <p:spPr>
          <a:xfrm>
            <a:off x="128016" y="166420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graphicFrame>
        <p:nvGraphicFramePr>
          <p:cNvPr id="827" name="Google Shape;827;p14"/>
          <p:cNvGraphicFramePr/>
          <p:nvPr/>
        </p:nvGraphicFramePr>
        <p:xfrm>
          <a:off x="219456" y="1920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84050"/>
                <a:gridCol w="1417325"/>
                <a:gridCol w="548650"/>
                <a:gridCol w="438900"/>
                <a:gridCol w="137160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순위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식약처 위반·주의 카테고리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검출건수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검출 키워드 예시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의약품 오인·치료 효과 표방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184 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31.2%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세포 재생, 피부염 치유, 여드름 치료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수치·기간 효능 실증 각주 누락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142 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24.1%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72시간 지속, 2주 만에 개선, 즉시 리프팅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원료 특성의 제품 효능 둔갑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98 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16.6%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병풀=상처재생, PDRN=피부조직복원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배타적 절대 표현 및 비교 광고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86 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14.6%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세계 최초, 타사 대비 2배, 100% 완벽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기능성 화장품 고시 범위 일탈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79 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13.5%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기미 영구 제거, 주름 완전 소멸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28" name="Google Shape;828;p14"/>
          <p:cNvSpPr/>
          <p:nvPr/>
        </p:nvSpPr>
        <p:spPr>
          <a:xfrm>
            <a:off x="219456" y="3858768"/>
            <a:ext cx="4160520" cy="1353312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29" name="Google Shape;829;p14"/>
          <p:cNvCxnSpPr/>
          <p:nvPr/>
        </p:nvCxnSpPr>
        <p:spPr>
          <a:xfrm>
            <a:off x="219456" y="3858768"/>
            <a:ext cx="4160520" cy="1353311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30" name="Google Shape;830;p14"/>
          <p:cNvCxnSpPr/>
          <p:nvPr/>
        </p:nvCxnSpPr>
        <p:spPr>
          <a:xfrm flipH="1">
            <a:off x="219456" y="3858768"/>
            <a:ext cx="4160520" cy="1353311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31" name="Google Shape;831;p14"/>
          <p:cNvSpPr/>
          <p:nvPr/>
        </p:nvSpPr>
        <p:spPr>
          <a:xfrm>
            <a:off x="310896" y="4416552"/>
            <a:ext cx="3977639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월별 AI 심의 처리량 및 RA 오버라이드 추이 차트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(막대: 월별 의뢰건수 / 꺾은선: AI-RA 판정 일치율 %)</a:t>
            </a:r>
            <a:endParaRPr/>
          </a:p>
        </p:txBody>
      </p:sp>
      <p:sp>
        <p:nvSpPr>
          <p:cNvPr id="832" name="Google Shape;832;p14"/>
          <p:cNvSpPr txBox="1"/>
          <p:nvPr/>
        </p:nvSpPr>
        <p:spPr>
          <a:xfrm>
            <a:off x="4498848" y="1682496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골든셋(120건) 회귀 테스트 및 프롬프트 버전 벤치마크</a:t>
            </a:r>
            <a:endParaRPr/>
          </a:p>
        </p:txBody>
      </p:sp>
      <p:sp>
        <p:nvSpPr>
          <p:cNvPr id="833" name="Google Shape;833;p14"/>
          <p:cNvSpPr/>
          <p:nvPr/>
        </p:nvSpPr>
        <p:spPr>
          <a:xfrm>
            <a:off x="4407408" y="166420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graphicFrame>
        <p:nvGraphicFramePr>
          <p:cNvPr id="834" name="Google Shape;834;p14"/>
          <p:cNvGraphicFramePr/>
          <p:nvPr/>
        </p:nvGraphicFramePr>
        <p:xfrm>
          <a:off x="4498848" y="1920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745525"/>
                <a:gridCol w="833225"/>
                <a:gridCol w="456075"/>
                <a:gridCol w="456075"/>
                <a:gridCol w="456075"/>
                <a:gridCol w="438550"/>
                <a:gridCol w="456075"/>
                <a:gridCol w="45607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프롬프트 버전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적용 모델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정밀도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재현율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F1 점수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미탐(FN)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v1.3 (후보)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GPT-4o + RAG v2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95.1%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97.4%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96.2%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[검증완료]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[운영전환]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v1.2 (운영중)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GPT-4o + RAG v2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94.2%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96.8%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95.5%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[운영중]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[상세비교]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v1.1 (이전)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GPT-4o + RAG v1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91.4%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93.5%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92.4%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[보관]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[롤백]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35" name="Google Shape;835;p14"/>
          <p:cNvSpPr/>
          <p:nvPr/>
        </p:nvSpPr>
        <p:spPr>
          <a:xfrm>
            <a:off x="4498848" y="3218688"/>
            <a:ext cx="4297680" cy="1993392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6" name="Google Shape;836;p14"/>
          <p:cNvSpPr txBox="1"/>
          <p:nvPr/>
        </p:nvSpPr>
        <p:spPr>
          <a:xfrm>
            <a:off x="4608576" y="3273552"/>
            <a:ext cx="4078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[프롬프트 버전 v1.3 시스템 지시어(System Prompt) 및 오탐/미탐 케이스 분석]</a:t>
            </a:r>
            <a:endParaRPr/>
          </a:p>
        </p:txBody>
      </p:sp>
      <p:sp>
        <p:nvSpPr>
          <p:cNvPr id="837" name="Google Shape;837;p14"/>
          <p:cNvSpPr/>
          <p:nvPr/>
        </p:nvSpPr>
        <p:spPr>
          <a:xfrm>
            <a:off x="4407408" y="321868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838" name="Google Shape;838;p14"/>
          <p:cNvSpPr/>
          <p:nvPr/>
        </p:nvSpPr>
        <p:spPr>
          <a:xfrm>
            <a:off x="4608576" y="3511296"/>
            <a:ext cx="4078224" cy="1261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[개선사항] RA 전문가 오버라이드 피드백 18건을 Few-shot 예시로 반영하여 '피부 장벽 케어' 문구의 과잉 금지 오탐(False Positive)을 6건 ➔ 1건으로 감소시킴.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[잔여 미탐(FN) 1건] 골든셋 #GS-089 '트러블 흔적 케어' 문맥 판정 보완 필요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비학습(Zero-Data-Retention) 엔터프라이즈 API 보안 정책 준수 상태 : [정상]</a:t>
            </a:r>
            <a:endParaRPr/>
          </a:p>
        </p:txBody>
      </p:sp>
      <p:sp>
        <p:nvSpPr>
          <p:cNvPr id="839" name="Google Shape;839;p14"/>
          <p:cNvSpPr/>
          <p:nvPr/>
        </p:nvSpPr>
        <p:spPr>
          <a:xfrm>
            <a:off x="6510528" y="4846320"/>
            <a:ext cx="105156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 편집기</a:t>
            </a:r>
            <a:endParaRPr/>
          </a:p>
        </p:txBody>
      </p:sp>
      <p:sp>
        <p:nvSpPr>
          <p:cNvPr id="840" name="Google Shape;840;p14"/>
          <p:cNvSpPr/>
          <p:nvPr/>
        </p:nvSpPr>
        <p:spPr>
          <a:xfrm>
            <a:off x="7626096" y="4846320"/>
            <a:ext cx="1060704" cy="2560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v1.3 운영 버전 적용</a:t>
            </a:r>
            <a:endParaRPr/>
          </a:p>
        </p:txBody>
      </p:sp>
      <p:sp>
        <p:nvSpPr>
          <p:cNvPr id="841" name="Google Shape;841;p14"/>
          <p:cNvSpPr/>
          <p:nvPr/>
        </p:nvSpPr>
        <p:spPr>
          <a:xfrm>
            <a:off x="1645920" y="5413248"/>
            <a:ext cx="310896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2" name="Google Shape;842;p14"/>
          <p:cNvSpPr txBox="1"/>
          <p:nvPr/>
        </p:nvSpPr>
        <p:spPr>
          <a:xfrm>
            <a:off x="1700784" y="5458968"/>
            <a:ext cx="29992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표준 골든셋(120건) 전체에 대하여 AI 회귀 테스트를 실행하시겠습니까?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(syncguard-ai-agent-prd-01 서버에서 비동기로 약 3분 소요됩니다)</a:t>
            </a:r>
            <a:endParaRPr/>
          </a:p>
        </p:txBody>
      </p:sp>
      <p:sp>
        <p:nvSpPr>
          <p:cNvPr id="843" name="Google Shape;843;p14"/>
          <p:cNvSpPr/>
          <p:nvPr/>
        </p:nvSpPr>
        <p:spPr>
          <a:xfrm>
            <a:off x="2596896" y="6364224"/>
            <a:ext cx="566928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844" name="Google Shape;844;p14"/>
          <p:cNvSpPr/>
          <p:nvPr/>
        </p:nvSpPr>
        <p:spPr>
          <a:xfrm>
            <a:off x="3236976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</a:t>
            </a:r>
            <a:endParaRPr/>
          </a:p>
        </p:txBody>
      </p:sp>
      <p:sp>
        <p:nvSpPr>
          <p:cNvPr id="845" name="Google Shape;845;p14"/>
          <p:cNvSpPr/>
          <p:nvPr/>
        </p:nvSpPr>
        <p:spPr>
          <a:xfrm>
            <a:off x="157276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1A</a:t>
            </a:r>
            <a:endParaRPr/>
          </a:p>
        </p:txBody>
      </p:sp>
      <p:sp>
        <p:nvSpPr>
          <p:cNvPr id="846" name="Google Shape;846;p14"/>
          <p:cNvSpPr/>
          <p:nvPr/>
        </p:nvSpPr>
        <p:spPr>
          <a:xfrm>
            <a:off x="5120640" y="5413248"/>
            <a:ext cx="320040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7" name="Google Shape;847;p14"/>
          <p:cNvSpPr txBox="1"/>
          <p:nvPr/>
        </p:nvSpPr>
        <p:spPr>
          <a:xfrm>
            <a:off x="5175503" y="5458968"/>
            <a:ext cx="309067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후보 프롬프트 버전(v1.3)을 실시간 운영 버전으로 전환하시겠습니까?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전환 내역은 감사 대장에 기록되며 언제든 v1.2로 롤백 가능합니다.</a:t>
            </a:r>
            <a:endParaRPr/>
          </a:p>
        </p:txBody>
      </p:sp>
      <p:sp>
        <p:nvSpPr>
          <p:cNvPr id="848" name="Google Shape;848;p14"/>
          <p:cNvSpPr/>
          <p:nvPr/>
        </p:nvSpPr>
        <p:spPr>
          <a:xfrm>
            <a:off x="6039612" y="6364224"/>
            <a:ext cx="644652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849" name="Google Shape;849;p14"/>
          <p:cNvSpPr/>
          <p:nvPr/>
        </p:nvSpPr>
        <p:spPr>
          <a:xfrm>
            <a:off x="6757416" y="6364224"/>
            <a:ext cx="644652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전환</a:t>
            </a:r>
            <a:endParaRPr/>
          </a:p>
        </p:txBody>
      </p:sp>
      <p:sp>
        <p:nvSpPr>
          <p:cNvPr id="850" name="Google Shape;850;p14"/>
          <p:cNvSpPr/>
          <p:nvPr/>
        </p:nvSpPr>
        <p:spPr>
          <a:xfrm>
            <a:off x="504748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4A</a:t>
            </a:r>
            <a:endParaRPr/>
          </a:p>
        </p:txBody>
      </p:sp>
      <p:graphicFrame>
        <p:nvGraphicFramePr>
          <p:cNvPr id="851" name="Google Shape;851;p14"/>
          <p:cNvGraphicFramePr/>
          <p:nvPr/>
        </p:nvGraphicFramePr>
        <p:xfrm>
          <a:off x="9034272" y="329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47475"/>
                <a:gridCol w="27157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237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[운영 통계 및 품질 벤치마크 (SCR_ADM_02)]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[조회 기준월 및 골든셋 회귀테스트 실행]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[골든셋 회귀테스트] 클릭 시 1A Confirm 후 에이전트 서버에서 골든셋 120건 정밀도/재현율 자동 측정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[4대 운영/품질 KPI 카드]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월간 처리량, 평균 소요시간(초), 골든셋 정밀도(Precision), 재현율(Recall) 핵심 지표 표시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[위반 카테고리 TOP 5 및 추이 차트]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가장 빈번하게 검출되는 위반 유형 순위와 월별 AI-RA 판정 일치율 추이 시각화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[프롬프트 버전별 벤치마크 비교 표]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후보 버전(v1.3)과 운영 버전(v1.2)의 정밀도·재현율·미탐 건수를 객관적으로 비교 후 [운영전환] 클릭 시 4A Confirm 호출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[오탐/미탐 케이스 분석 및 프롬프트 편집]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RA 오버라이드 피드백 반영 내역 확인 및 시스템 프롬프트 버전 관리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5"/>
          <p:cNvSpPr txBox="1"/>
          <p:nvPr/>
        </p:nvSpPr>
        <p:spPr>
          <a:xfrm>
            <a:off x="128016" y="5486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 외부 시스템 연계 관제</a:t>
            </a:r>
            <a:endParaRPr/>
          </a:p>
        </p:txBody>
      </p:sp>
      <p:sp>
        <p:nvSpPr>
          <p:cNvPr id="857" name="Google Shape;857;p15"/>
          <p:cNvSpPr txBox="1"/>
          <p:nvPr/>
        </p:nvSpPr>
        <p:spPr>
          <a:xfrm>
            <a:off x="4846320" y="5486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SCR_ADM_03</a:t>
            </a:r>
            <a:endParaRPr/>
          </a:p>
        </p:txBody>
      </p:sp>
      <p:sp>
        <p:nvSpPr>
          <p:cNvPr id="858" name="Google Shape;858;p15"/>
          <p:cNvSpPr txBox="1"/>
          <p:nvPr/>
        </p:nvSpPr>
        <p:spPr>
          <a:xfrm>
            <a:off x="9034272" y="54864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시스템관리 &gt; 시스템 연계 현황</a:t>
            </a:r>
            <a:endParaRPr/>
          </a:p>
        </p:txBody>
      </p:sp>
      <p:sp>
        <p:nvSpPr>
          <p:cNvPr id="859" name="Google Shape;859;p15"/>
          <p:cNvSpPr/>
          <p:nvPr/>
        </p:nvSpPr>
        <p:spPr>
          <a:xfrm>
            <a:off x="91440" y="329184"/>
            <a:ext cx="8851392" cy="6419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0" name="Google Shape;860;p15"/>
          <p:cNvSpPr txBox="1"/>
          <p:nvPr/>
        </p:nvSpPr>
        <p:spPr>
          <a:xfrm>
            <a:off x="219456" y="402336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대내외 시스템 연계 상태 모니터링 및 실패 큐(DLQ) 재전송 관제</a:t>
            </a:r>
            <a:endParaRPr/>
          </a:p>
        </p:txBody>
      </p:sp>
      <p:cxnSp>
        <p:nvCxnSpPr>
          <p:cNvPr id="861" name="Google Shape;861;p15"/>
          <p:cNvCxnSpPr/>
          <p:nvPr/>
        </p:nvCxnSpPr>
        <p:spPr>
          <a:xfrm>
            <a:off x="219456" y="749808"/>
            <a:ext cx="857707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62" name="Google Shape;862;p15"/>
          <p:cNvCxnSpPr/>
          <p:nvPr/>
        </p:nvCxnSpPr>
        <p:spPr>
          <a:xfrm>
            <a:off x="91440" y="5321808"/>
            <a:ext cx="885139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63" name="Google Shape;863;p15"/>
          <p:cNvSpPr/>
          <p:nvPr/>
        </p:nvSpPr>
        <p:spPr>
          <a:xfrm>
            <a:off x="100584" y="5330952"/>
            <a:ext cx="8833104" cy="140817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4" name="Google Shape;864;p15"/>
          <p:cNvSpPr txBox="1"/>
          <p:nvPr/>
        </p:nvSpPr>
        <p:spPr>
          <a:xfrm>
            <a:off x="182880" y="535838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[연계 팝업 / Alert 정의]</a:t>
            </a:r>
            <a:endParaRPr/>
          </a:p>
        </p:txBody>
      </p:sp>
      <p:sp>
        <p:nvSpPr>
          <p:cNvPr id="865" name="Google Shape;865;p15"/>
          <p:cNvSpPr/>
          <p:nvPr/>
        </p:nvSpPr>
        <p:spPr>
          <a:xfrm>
            <a:off x="6583680" y="429768"/>
            <a:ext cx="105156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헬스체크 실행</a:t>
            </a:r>
            <a:endParaRPr/>
          </a:p>
        </p:txBody>
      </p:sp>
      <p:sp>
        <p:nvSpPr>
          <p:cNvPr id="866" name="Google Shape;866;p15"/>
          <p:cNvSpPr/>
          <p:nvPr/>
        </p:nvSpPr>
        <p:spPr>
          <a:xfrm>
            <a:off x="7699248" y="429768"/>
            <a:ext cx="1097280" cy="237744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실패건 일괄 재전송</a:t>
            </a:r>
            <a:endParaRPr/>
          </a:p>
        </p:txBody>
      </p:sp>
      <p:sp>
        <p:nvSpPr>
          <p:cNvPr id="867" name="Google Shape;867;p15"/>
          <p:cNvSpPr/>
          <p:nvPr/>
        </p:nvSpPr>
        <p:spPr>
          <a:xfrm>
            <a:off x="7607808" y="36576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868" name="Google Shape;868;p15"/>
          <p:cNvSpPr/>
          <p:nvPr/>
        </p:nvSpPr>
        <p:spPr>
          <a:xfrm>
            <a:off x="219456" y="822960"/>
            <a:ext cx="2066543" cy="841248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9" name="Google Shape;869;p15"/>
          <p:cNvSpPr txBox="1"/>
          <p:nvPr/>
        </p:nvSpPr>
        <p:spPr>
          <a:xfrm>
            <a:off x="310896" y="868680"/>
            <a:ext cx="1883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마케팅허브 (MarketingHub) 연동</a:t>
            </a:r>
            <a:endParaRPr/>
          </a:p>
        </p:txBody>
      </p:sp>
      <p:sp>
        <p:nvSpPr>
          <p:cNvPr id="870" name="Google Shape;870;p15"/>
          <p:cNvSpPr/>
          <p:nvPr/>
        </p:nvSpPr>
        <p:spPr>
          <a:xfrm>
            <a:off x="310896" y="1097280"/>
            <a:ext cx="1883664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[정상 가동중]</a:t>
            </a:r>
            <a:endParaRPr/>
          </a:p>
        </p:txBody>
      </p:sp>
      <p:sp>
        <p:nvSpPr>
          <p:cNvPr id="871" name="Google Shape;871;p15"/>
          <p:cNvSpPr txBox="1"/>
          <p:nvPr/>
        </p:nvSpPr>
        <p:spPr>
          <a:xfrm>
            <a:off x="310896" y="1371600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웹훅 수신 / 결과 회신 API  |  응답 142ms</a:t>
            </a:r>
            <a:endParaRPr/>
          </a:p>
        </p:txBody>
      </p:sp>
      <p:sp>
        <p:nvSpPr>
          <p:cNvPr id="872" name="Google Shape;872;p15"/>
          <p:cNvSpPr/>
          <p:nvPr/>
        </p:nvSpPr>
        <p:spPr>
          <a:xfrm>
            <a:off x="2395728" y="822960"/>
            <a:ext cx="2066543" cy="841248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3" name="Google Shape;873;p15"/>
          <p:cNvSpPr txBox="1"/>
          <p:nvPr/>
        </p:nvSpPr>
        <p:spPr>
          <a:xfrm>
            <a:off x="2487168" y="868680"/>
            <a:ext cx="1883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ProductLab 실증 연동</a:t>
            </a:r>
            <a:endParaRPr/>
          </a:p>
        </p:txBody>
      </p:sp>
      <p:sp>
        <p:nvSpPr>
          <p:cNvPr id="874" name="Google Shape;874;p15"/>
          <p:cNvSpPr/>
          <p:nvPr/>
        </p:nvSpPr>
        <p:spPr>
          <a:xfrm>
            <a:off x="2487168" y="1097280"/>
            <a:ext cx="1883664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[정상 가동중]</a:t>
            </a:r>
            <a:endParaRPr/>
          </a:p>
        </p:txBody>
      </p:sp>
      <p:sp>
        <p:nvSpPr>
          <p:cNvPr id="875" name="Google Shape;875;p15"/>
          <p:cNvSpPr txBox="1"/>
          <p:nvPr/>
        </p:nvSpPr>
        <p:spPr>
          <a:xfrm>
            <a:off x="2487168" y="1371600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임상성적서·전성분 RDB/API  |  응답 88ms</a:t>
            </a:r>
            <a:endParaRPr/>
          </a:p>
        </p:txBody>
      </p:sp>
      <p:sp>
        <p:nvSpPr>
          <p:cNvPr id="876" name="Google Shape;876;p15"/>
          <p:cNvSpPr/>
          <p:nvPr/>
        </p:nvSpPr>
        <p:spPr>
          <a:xfrm>
            <a:off x="4572000" y="822960"/>
            <a:ext cx="2066543" cy="841248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7" name="Google Shape;877;p15"/>
          <p:cNvSpPr txBox="1"/>
          <p:nvPr/>
        </p:nvSpPr>
        <p:spPr>
          <a:xfrm>
            <a:off x="4663440" y="868680"/>
            <a:ext cx="1883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HB-SSO 통합 SSO 인증</a:t>
            </a:r>
            <a:endParaRPr/>
          </a:p>
        </p:txBody>
      </p:sp>
      <p:sp>
        <p:nvSpPr>
          <p:cNvPr id="878" name="Google Shape;878;p15"/>
          <p:cNvSpPr/>
          <p:nvPr/>
        </p:nvSpPr>
        <p:spPr>
          <a:xfrm>
            <a:off x="4663440" y="1097280"/>
            <a:ext cx="1883664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[정상 가동중]</a:t>
            </a:r>
            <a:endParaRPr/>
          </a:p>
        </p:txBody>
      </p:sp>
      <p:sp>
        <p:nvSpPr>
          <p:cNvPr id="879" name="Google Shape;879;p15"/>
          <p:cNvSpPr txBox="1"/>
          <p:nvPr/>
        </p:nvSpPr>
        <p:spPr>
          <a:xfrm>
            <a:off x="4663440" y="1371600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OAuth2/SAML 및 조직도  |  응답 45ms</a:t>
            </a:r>
            <a:endParaRPr/>
          </a:p>
        </p:txBody>
      </p:sp>
      <p:sp>
        <p:nvSpPr>
          <p:cNvPr id="880" name="Google Shape;880;p15"/>
          <p:cNvSpPr/>
          <p:nvPr/>
        </p:nvSpPr>
        <p:spPr>
          <a:xfrm>
            <a:off x="6748272" y="822960"/>
            <a:ext cx="2066543" cy="841248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1" name="Google Shape;881;p15"/>
          <p:cNvSpPr txBox="1"/>
          <p:nvPr/>
        </p:nvSpPr>
        <p:spPr>
          <a:xfrm>
            <a:off x="6839712" y="868680"/>
            <a:ext cx="1883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S3 스토리지 / [Option] KT레몬</a:t>
            </a:r>
            <a:endParaRPr/>
          </a:p>
        </p:txBody>
      </p:sp>
      <p:sp>
        <p:nvSpPr>
          <p:cNvPr id="882" name="Google Shape;882;p15"/>
          <p:cNvSpPr/>
          <p:nvPr/>
        </p:nvSpPr>
        <p:spPr>
          <a:xfrm>
            <a:off x="6839712" y="1097280"/>
            <a:ext cx="1883664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[정상 (재시도 1건)]</a:t>
            </a:r>
            <a:endParaRPr/>
          </a:p>
        </p:txBody>
      </p:sp>
      <p:sp>
        <p:nvSpPr>
          <p:cNvPr id="883" name="Google Shape;883;p15"/>
          <p:cNvSpPr txBox="1"/>
          <p:nvPr/>
        </p:nvSpPr>
        <p:spPr>
          <a:xfrm>
            <a:off x="6839712" y="1371600"/>
            <a:ext cx="1883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시안 파일 S3 및 벡터 검색 연동  |  응답 210ms</a:t>
            </a:r>
            <a:endParaRPr/>
          </a:p>
        </p:txBody>
      </p:sp>
      <p:sp>
        <p:nvSpPr>
          <p:cNvPr id="884" name="Google Shape;884;p15"/>
          <p:cNvSpPr/>
          <p:nvPr/>
        </p:nvSpPr>
        <p:spPr>
          <a:xfrm>
            <a:off x="128016" y="786384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885" name="Google Shape;885;p15"/>
          <p:cNvSpPr/>
          <p:nvPr/>
        </p:nvSpPr>
        <p:spPr>
          <a:xfrm>
            <a:off x="219456" y="1755648"/>
            <a:ext cx="8577072" cy="475488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6" name="Google Shape;886;p15"/>
          <p:cNvSpPr/>
          <p:nvPr/>
        </p:nvSpPr>
        <p:spPr>
          <a:xfrm>
            <a:off x="128016" y="1719072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887" name="Google Shape;887;p15"/>
          <p:cNvSpPr txBox="1"/>
          <p:nvPr/>
        </p:nvSpPr>
        <p:spPr>
          <a:xfrm>
            <a:off x="329184" y="1883664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연계대상</a:t>
            </a:r>
            <a:endParaRPr/>
          </a:p>
        </p:txBody>
      </p:sp>
      <p:sp>
        <p:nvSpPr>
          <p:cNvPr id="888" name="Google Shape;888;p15"/>
          <p:cNvSpPr/>
          <p:nvPr/>
        </p:nvSpPr>
        <p:spPr>
          <a:xfrm>
            <a:off x="932688" y="1865376"/>
            <a:ext cx="105156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시스템</a:t>
            </a:r>
            <a:endParaRPr/>
          </a:p>
        </p:txBody>
      </p:sp>
      <p:sp>
        <p:nvSpPr>
          <p:cNvPr id="889" name="Google Shape;889;p15"/>
          <p:cNvSpPr txBox="1"/>
          <p:nvPr/>
        </p:nvSpPr>
        <p:spPr>
          <a:xfrm>
            <a:off x="1783080" y="1865376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890" name="Google Shape;890;p15"/>
          <p:cNvSpPr txBox="1"/>
          <p:nvPr/>
        </p:nvSpPr>
        <p:spPr>
          <a:xfrm>
            <a:off x="2084831" y="1883664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송수신</a:t>
            </a:r>
            <a:endParaRPr/>
          </a:p>
        </p:txBody>
      </p:sp>
      <p:sp>
        <p:nvSpPr>
          <p:cNvPr id="891" name="Google Shape;891;p15"/>
          <p:cNvSpPr/>
          <p:nvPr/>
        </p:nvSpPr>
        <p:spPr>
          <a:xfrm>
            <a:off x="2596896" y="1865376"/>
            <a:ext cx="77724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</a:t>
            </a:r>
            <a:endParaRPr/>
          </a:p>
        </p:txBody>
      </p:sp>
      <p:sp>
        <p:nvSpPr>
          <p:cNvPr id="892" name="Google Shape;892;p15"/>
          <p:cNvSpPr txBox="1"/>
          <p:nvPr/>
        </p:nvSpPr>
        <p:spPr>
          <a:xfrm>
            <a:off x="3172968" y="1865376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893" name="Google Shape;893;p15"/>
          <p:cNvSpPr txBox="1"/>
          <p:nvPr/>
        </p:nvSpPr>
        <p:spPr>
          <a:xfrm>
            <a:off x="3474720" y="1883664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처리상태</a:t>
            </a:r>
            <a:endParaRPr/>
          </a:p>
        </p:txBody>
      </p:sp>
      <p:sp>
        <p:nvSpPr>
          <p:cNvPr id="894" name="Google Shape;894;p15"/>
          <p:cNvSpPr/>
          <p:nvPr/>
        </p:nvSpPr>
        <p:spPr>
          <a:xfrm>
            <a:off x="4041648" y="1865376"/>
            <a:ext cx="86868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전체(실패우선)</a:t>
            </a:r>
            <a:endParaRPr/>
          </a:p>
        </p:txBody>
      </p:sp>
      <p:sp>
        <p:nvSpPr>
          <p:cNvPr id="895" name="Google Shape;895;p15"/>
          <p:cNvSpPr txBox="1"/>
          <p:nvPr/>
        </p:nvSpPr>
        <p:spPr>
          <a:xfrm>
            <a:off x="4709160" y="1865376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896" name="Google Shape;896;p15"/>
          <p:cNvSpPr/>
          <p:nvPr/>
        </p:nvSpPr>
        <p:spPr>
          <a:xfrm>
            <a:off x="5010912" y="1865376"/>
            <a:ext cx="2267712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A6A6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트랜잭션ID, 의뢰번호(REQ/CLM) 검색</a:t>
            </a:r>
            <a:endParaRPr/>
          </a:p>
        </p:txBody>
      </p:sp>
      <p:sp>
        <p:nvSpPr>
          <p:cNvPr id="897" name="Google Shape;897;p15"/>
          <p:cNvSpPr/>
          <p:nvPr/>
        </p:nvSpPr>
        <p:spPr>
          <a:xfrm>
            <a:off x="7360920" y="1865376"/>
            <a:ext cx="64008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초기화</a:t>
            </a:r>
            <a:endParaRPr/>
          </a:p>
        </p:txBody>
      </p:sp>
      <p:sp>
        <p:nvSpPr>
          <p:cNvPr id="898" name="Google Shape;898;p15"/>
          <p:cNvSpPr/>
          <p:nvPr/>
        </p:nvSpPr>
        <p:spPr>
          <a:xfrm>
            <a:off x="8046720" y="1865376"/>
            <a:ext cx="658368" cy="219456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</a:t>
            </a:r>
            <a:endParaRPr/>
          </a:p>
        </p:txBody>
      </p:sp>
      <p:graphicFrame>
        <p:nvGraphicFramePr>
          <p:cNvPr id="899" name="Google Shape;899;p15"/>
          <p:cNvGraphicFramePr/>
          <p:nvPr/>
        </p:nvGraphicFramePr>
        <p:xfrm>
          <a:off x="219456" y="23225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274325"/>
                <a:gridCol w="841250"/>
                <a:gridCol w="658375"/>
                <a:gridCol w="566925"/>
                <a:gridCol w="384050"/>
                <a:gridCol w="1234450"/>
                <a:gridCol w="713225"/>
                <a:gridCol w="530350"/>
                <a:gridCol w="37490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트랜잭션ID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방향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인터페이스명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요청키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TX-261020-091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10.20 10:18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마케팅허브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심의결과 확정 웹훅 회신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REQ-26-0889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[재시도대기]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[재전송]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TX-261020-090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10.20 10:15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마케팅허브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신규 심의 의뢰 자동 수신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REQ-26-0891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[성공 200]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[전문]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TX-261020-089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10.20 10:12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ProductLab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인체적용시험 성적서 조회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MBK-26-0412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[성공 200]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[전문]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TX-261020-088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10.20 09:50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KT레몬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실증 문서 벡터 검색 호출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CLM-26-0127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[성공 200]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[전문]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TX-261020-087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10.20 09:12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HB-SSO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SSO 토큰 검증 및 권한조회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AP2018042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[성공 200]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[전문]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TX-261020-086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10.20 08:30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ProductLab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원료 전성분 배합한도 동기화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BATCH-DAILY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[성공 200]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[전문]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0" name="Google Shape;900;p15"/>
          <p:cNvSpPr/>
          <p:nvPr/>
        </p:nvSpPr>
        <p:spPr>
          <a:xfrm>
            <a:off x="128016" y="230428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901" name="Google Shape;901;p15"/>
          <p:cNvSpPr txBox="1"/>
          <p:nvPr/>
        </p:nvSpPr>
        <p:spPr>
          <a:xfrm>
            <a:off x="1463039" y="4828032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《   &lt;</a:t>
            </a:r>
            <a:endParaRPr/>
          </a:p>
        </p:txBody>
      </p:sp>
      <p:sp>
        <p:nvSpPr>
          <p:cNvPr id="902" name="Google Shape;902;p15"/>
          <p:cNvSpPr/>
          <p:nvPr/>
        </p:nvSpPr>
        <p:spPr>
          <a:xfrm>
            <a:off x="1828800" y="4837176"/>
            <a:ext cx="182880" cy="18288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903" name="Google Shape;903;p15"/>
          <p:cNvSpPr txBox="1"/>
          <p:nvPr/>
        </p:nvSpPr>
        <p:spPr>
          <a:xfrm>
            <a:off x="1993392" y="4828032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904" name="Google Shape;904;p15"/>
          <p:cNvSpPr txBox="1"/>
          <p:nvPr/>
        </p:nvSpPr>
        <p:spPr>
          <a:xfrm>
            <a:off x="2066544" y="4828032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905" name="Google Shape;905;p15"/>
          <p:cNvSpPr txBox="1"/>
          <p:nvPr/>
        </p:nvSpPr>
        <p:spPr>
          <a:xfrm>
            <a:off x="2231136" y="4828032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906" name="Google Shape;906;p15"/>
          <p:cNvSpPr txBox="1"/>
          <p:nvPr/>
        </p:nvSpPr>
        <p:spPr>
          <a:xfrm>
            <a:off x="2304288" y="4828032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907" name="Google Shape;907;p15"/>
          <p:cNvSpPr txBox="1"/>
          <p:nvPr/>
        </p:nvSpPr>
        <p:spPr>
          <a:xfrm>
            <a:off x="2468880" y="4828032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908" name="Google Shape;908;p15"/>
          <p:cNvSpPr txBox="1"/>
          <p:nvPr/>
        </p:nvSpPr>
        <p:spPr>
          <a:xfrm>
            <a:off x="2542032" y="4828032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909" name="Google Shape;909;p15"/>
          <p:cNvSpPr txBox="1"/>
          <p:nvPr/>
        </p:nvSpPr>
        <p:spPr>
          <a:xfrm>
            <a:off x="2706624" y="4828032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910" name="Google Shape;910;p15"/>
          <p:cNvSpPr txBox="1"/>
          <p:nvPr/>
        </p:nvSpPr>
        <p:spPr>
          <a:xfrm>
            <a:off x="2779776" y="4828032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911" name="Google Shape;911;p15"/>
          <p:cNvSpPr txBox="1"/>
          <p:nvPr/>
        </p:nvSpPr>
        <p:spPr>
          <a:xfrm>
            <a:off x="2999232" y="4828032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   》</a:t>
            </a:r>
            <a:endParaRPr/>
          </a:p>
        </p:txBody>
      </p:sp>
      <p:sp>
        <p:nvSpPr>
          <p:cNvPr id="912" name="Google Shape;912;p15"/>
          <p:cNvSpPr/>
          <p:nvPr/>
        </p:nvSpPr>
        <p:spPr>
          <a:xfrm>
            <a:off x="5907024" y="2322576"/>
            <a:ext cx="2889504" cy="2889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3" name="Google Shape;913;p15"/>
          <p:cNvSpPr/>
          <p:nvPr/>
        </p:nvSpPr>
        <p:spPr>
          <a:xfrm>
            <a:off x="5907024" y="2322576"/>
            <a:ext cx="2889504" cy="2560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송수신 전문 상세 (TX-261020-091)</a:t>
            </a:r>
            <a:endParaRPr/>
          </a:p>
        </p:txBody>
      </p:sp>
      <p:sp>
        <p:nvSpPr>
          <p:cNvPr id="914" name="Google Shape;914;p15"/>
          <p:cNvSpPr txBox="1"/>
          <p:nvPr/>
        </p:nvSpPr>
        <p:spPr>
          <a:xfrm>
            <a:off x="8540496" y="2322576"/>
            <a:ext cx="237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</a:t>
            </a:r>
            <a:endParaRPr/>
          </a:p>
        </p:txBody>
      </p:sp>
      <p:sp>
        <p:nvSpPr>
          <p:cNvPr id="915" name="Google Shape;915;p15"/>
          <p:cNvSpPr/>
          <p:nvPr/>
        </p:nvSpPr>
        <p:spPr>
          <a:xfrm>
            <a:off x="5815584" y="2267712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916" name="Google Shape;916;p15"/>
          <p:cNvSpPr/>
          <p:nvPr/>
        </p:nvSpPr>
        <p:spPr>
          <a:xfrm>
            <a:off x="5998464" y="2633472"/>
            <a:ext cx="2706624" cy="2139696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[HTTP Status] 504 Gateway Timeout (재시도 2/3회차 대기)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[Endpoint] POST https://marketinghub.hanbitglobal.com/api/v1/claims/callback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[Request Payload]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{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"mkthubReqId": "REQ-2026-0889",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"claimId": "CLM-2026-0123",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"finalStatus": "CONDITIONAL_APPROVED",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"reviewerId": "AP2018042",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"reportPdfUrl": "s3://syncguard-ai-prd/reports/RA-CERT-0123.pdf"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4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}</a:t>
            </a:r>
            <a:endParaRPr/>
          </a:p>
        </p:txBody>
      </p:sp>
      <p:sp>
        <p:nvSpPr>
          <p:cNvPr id="917" name="Google Shape;917;p15"/>
          <p:cNvSpPr/>
          <p:nvPr/>
        </p:nvSpPr>
        <p:spPr>
          <a:xfrm>
            <a:off x="5998464" y="4846320"/>
            <a:ext cx="1298448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전문 복사</a:t>
            </a:r>
            <a:endParaRPr/>
          </a:p>
        </p:txBody>
      </p:sp>
      <p:sp>
        <p:nvSpPr>
          <p:cNvPr id="918" name="Google Shape;918;p15"/>
          <p:cNvSpPr/>
          <p:nvPr/>
        </p:nvSpPr>
        <p:spPr>
          <a:xfrm>
            <a:off x="7370064" y="4846320"/>
            <a:ext cx="1335024" cy="2560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즉시 수동 재전송</a:t>
            </a:r>
            <a:endParaRPr/>
          </a:p>
        </p:txBody>
      </p:sp>
      <p:sp>
        <p:nvSpPr>
          <p:cNvPr id="919" name="Google Shape;919;p15"/>
          <p:cNvSpPr/>
          <p:nvPr/>
        </p:nvSpPr>
        <p:spPr>
          <a:xfrm>
            <a:off x="1645920" y="5413248"/>
            <a:ext cx="310896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0" name="Google Shape;920;p15"/>
          <p:cNvSpPr txBox="1"/>
          <p:nvPr/>
        </p:nvSpPr>
        <p:spPr>
          <a:xfrm>
            <a:off x="1700784" y="5458968"/>
            <a:ext cx="29992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 및 재시도 대기 상태인 인터페이스 전문(1건)을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마케팅허브 콜백 엔드포인트로 즉시 재전송하시겠습니까?</a:t>
            </a:r>
            <a:endParaRPr/>
          </a:p>
        </p:txBody>
      </p:sp>
      <p:sp>
        <p:nvSpPr>
          <p:cNvPr id="921" name="Google Shape;921;p15"/>
          <p:cNvSpPr/>
          <p:nvPr/>
        </p:nvSpPr>
        <p:spPr>
          <a:xfrm>
            <a:off x="2596896" y="6364224"/>
            <a:ext cx="566928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922" name="Google Shape;922;p15"/>
          <p:cNvSpPr/>
          <p:nvPr/>
        </p:nvSpPr>
        <p:spPr>
          <a:xfrm>
            <a:off x="3236976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재전송</a:t>
            </a:r>
            <a:endParaRPr/>
          </a:p>
        </p:txBody>
      </p:sp>
      <p:sp>
        <p:nvSpPr>
          <p:cNvPr id="923" name="Google Shape;923;p15"/>
          <p:cNvSpPr/>
          <p:nvPr/>
        </p:nvSpPr>
        <p:spPr>
          <a:xfrm>
            <a:off x="157276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3A</a:t>
            </a:r>
            <a:endParaRPr/>
          </a:p>
        </p:txBody>
      </p:sp>
      <p:sp>
        <p:nvSpPr>
          <p:cNvPr id="924" name="Google Shape;924;p15"/>
          <p:cNvSpPr/>
          <p:nvPr/>
        </p:nvSpPr>
        <p:spPr>
          <a:xfrm>
            <a:off x="5120640" y="5413248"/>
            <a:ext cx="320040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5" name="Google Shape;925;p15"/>
          <p:cNvSpPr txBox="1"/>
          <p:nvPr/>
        </p:nvSpPr>
        <p:spPr>
          <a:xfrm>
            <a:off x="5175503" y="5458968"/>
            <a:ext cx="309067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[전체 헬스체크 결과]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마케팅허브(정상), ProductLab(정상), HB-SSO SSO(정상), S3/레몬(정상)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4대 외부 연계 구간이 모두 정상 응답하였습니다.</a:t>
            </a:r>
            <a:endParaRPr/>
          </a:p>
        </p:txBody>
      </p:sp>
      <p:sp>
        <p:nvSpPr>
          <p:cNvPr id="926" name="Google Shape;926;p15"/>
          <p:cNvSpPr/>
          <p:nvPr/>
        </p:nvSpPr>
        <p:spPr>
          <a:xfrm>
            <a:off x="6437375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/>
          </a:p>
        </p:txBody>
      </p:sp>
      <p:sp>
        <p:nvSpPr>
          <p:cNvPr id="927" name="Google Shape;927;p15"/>
          <p:cNvSpPr/>
          <p:nvPr/>
        </p:nvSpPr>
        <p:spPr>
          <a:xfrm>
            <a:off x="504748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1A</a:t>
            </a:r>
            <a:endParaRPr/>
          </a:p>
        </p:txBody>
      </p:sp>
      <p:graphicFrame>
        <p:nvGraphicFramePr>
          <p:cNvPr id="928" name="Google Shape;928;p15"/>
          <p:cNvGraphicFramePr/>
          <p:nvPr/>
        </p:nvGraphicFramePr>
        <p:xfrm>
          <a:off x="9034272" y="329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47475"/>
                <a:gridCol w="27157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237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[외부 시스템 연계 관제 (SCR_ADM_03)]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[4대 외부 연계 헬스체크 카드]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마케팅허브, ProductLab, HB-SSO SSO, S3/KT레몬 구간의 실시간 연결 상태 및 응답속도(ms) 표시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[전체 헬스체크 실행] 클릭 시 1A 결과 알림 노출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[인터페이스 로그 검색 필터]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연계대상 시스템, 방향(IN/OUT), 처리상태(실패/재시도 우선), 트랜잭션ID/의뢰번호 검색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[실패건 일괄 재전송]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네트워크 일시 순단으로 인해 DLQ(Dead Letter Queue)에 적재된 건을 선택하여 3A Confirm 후 일괄 재전송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[인터페이스 송수신 로그 그리드]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건별 HTTP 응답코드, 소요시간, 재시도 횟수 표시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[송수신 JSON 전문 및 에러 로그 뷰어]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선택 건의 Endpoint, Request/Response JSON 페이로드(민감정보 마스킹 적용) 열람 및 단건 즉시 재전송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6"/>
          <p:cNvSpPr txBox="1"/>
          <p:nvPr/>
        </p:nvSpPr>
        <p:spPr>
          <a:xfrm>
            <a:off x="128016" y="5486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 대외 소명용 감사 대장</a:t>
            </a:r>
            <a:endParaRPr/>
          </a:p>
        </p:txBody>
      </p:sp>
      <p:sp>
        <p:nvSpPr>
          <p:cNvPr id="934" name="Google Shape;934;p16"/>
          <p:cNvSpPr txBox="1"/>
          <p:nvPr/>
        </p:nvSpPr>
        <p:spPr>
          <a:xfrm>
            <a:off x="4846320" y="5486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SCR_HIS_03</a:t>
            </a:r>
            <a:endParaRPr/>
          </a:p>
        </p:txBody>
      </p:sp>
      <p:sp>
        <p:nvSpPr>
          <p:cNvPr id="935" name="Google Shape;935;p16"/>
          <p:cNvSpPr txBox="1"/>
          <p:nvPr/>
        </p:nvSpPr>
        <p:spPr>
          <a:xfrm>
            <a:off x="9034272" y="54864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이력조회 &gt; 감사로그 추적</a:t>
            </a:r>
            <a:endParaRPr/>
          </a:p>
        </p:txBody>
      </p:sp>
      <p:sp>
        <p:nvSpPr>
          <p:cNvPr id="936" name="Google Shape;936;p16"/>
          <p:cNvSpPr/>
          <p:nvPr/>
        </p:nvSpPr>
        <p:spPr>
          <a:xfrm>
            <a:off x="91440" y="329184"/>
            <a:ext cx="8851392" cy="6419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7" name="Google Shape;937;p16"/>
          <p:cNvSpPr txBox="1"/>
          <p:nvPr/>
        </p:nvSpPr>
        <p:spPr>
          <a:xfrm>
            <a:off x="219456" y="402336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대외 기관(식약처·공정위) 소명용 불변 감사 대장 및 해시체인 검증</a:t>
            </a:r>
            <a:endParaRPr/>
          </a:p>
        </p:txBody>
      </p:sp>
      <p:cxnSp>
        <p:nvCxnSpPr>
          <p:cNvPr id="938" name="Google Shape;938;p16"/>
          <p:cNvCxnSpPr/>
          <p:nvPr/>
        </p:nvCxnSpPr>
        <p:spPr>
          <a:xfrm>
            <a:off x="219456" y="749808"/>
            <a:ext cx="857707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39" name="Google Shape;939;p16"/>
          <p:cNvCxnSpPr/>
          <p:nvPr/>
        </p:nvCxnSpPr>
        <p:spPr>
          <a:xfrm>
            <a:off x="91440" y="5321808"/>
            <a:ext cx="885139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40" name="Google Shape;940;p16"/>
          <p:cNvSpPr/>
          <p:nvPr/>
        </p:nvSpPr>
        <p:spPr>
          <a:xfrm>
            <a:off x="100584" y="5330952"/>
            <a:ext cx="8833104" cy="140817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1" name="Google Shape;941;p16"/>
          <p:cNvSpPr txBox="1"/>
          <p:nvPr/>
        </p:nvSpPr>
        <p:spPr>
          <a:xfrm>
            <a:off x="182880" y="535838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[연계 팝업 / Alert 정의]</a:t>
            </a:r>
            <a:endParaRPr/>
          </a:p>
        </p:txBody>
      </p:sp>
      <p:sp>
        <p:nvSpPr>
          <p:cNvPr id="942" name="Google Shape;942;p16"/>
          <p:cNvSpPr/>
          <p:nvPr/>
        </p:nvSpPr>
        <p:spPr>
          <a:xfrm>
            <a:off x="6144768" y="429768"/>
            <a:ext cx="123444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해시체인 무결성 전체검증</a:t>
            </a:r>
            <a:endParaRPr/>
          </a:p>
        </p:txBody>
      </p:sp>
      <p:sp>
        <p:nvSpPr>
          <p:cNvPr id="943" name="Google Shape;943;p16"/>
          <p:cNvSpPr/>
          <p:nvPr/>
        </p:nvSpPr>
        <p:spPr>
          <a:xfrm>
            <a:off x="7443216" y="429768"/>
            <a:ext cx="1353312" cy="237744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소명용 감사패키지(ZIP) 출력</a:t>
            </a:r>
            <a:endParaRPr/>
          </a:p>
        </p:txBody>
      </p:sp>
      <p:sp>
        <p:nvSpPr>
          <p:cNvPr id="944" name="Google Shape;944;p16"/>
          <p:cNvSpPr/>
          <p:nvPr/>
        </p:nvSpPr>
        <p:spPr>
          <a:xfrm>
            <a:off x="6053328" y="36576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945" name="Google Shape;945;p16"/>
          <p:cNvSpPr/>
          <p:nvPr/>
        </p:nvSpPr>
        <p:spPr>
          <a:xfrm>
            <a:off x="7351775" y="365760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946" name="Google Shape;946;p16"/>
          <p:cNvSpPr/>
          <p:nvPr/>
        </p:nvSpPr>
        <p:spPr>
          <a:xfrm>
            <a:off x="219456" y="804672"/>
            <a:ext cx="8577072" cy="493776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7" name="Google Shape;947;p16"/>
          <p:cNvSpPr/>
          <p:nvPr/>
        </p:nvSpPr>
        <p:spPr>
          <a:xfrm>
            <a:off x="128016" y="768096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948" name="Google Shape;948;p16"/>
          <p:cNvSpPr txBox="1"/>
          <p:nvPr/>
        </p:nvSpPr>
        <p:spPr>
          <a:xfrm>
            <a:off x="329184" y="932688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이벤트유형</a:t>
            </a:r>
            <a:endParaRPr/>
          </a:p>
        </p:txBody>
      </p:sp>
      <p:sp>
        <p:nvSpPr>
          <p:cNvPr id="949" name="Google Shape;949;p16"/>
          <p:cNvSpPr/>
          <p:nvPr/>
        </p:nvSpPr>
        <p:spPr>
          <a:xfrm>
            <a:off x="932688" y="914400"/>
            <a:ext cx="105156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이벤트</a:t>
            </a:r>
            <a:endParaRPr/>
          </a:p>
        </p:txBody>
      </p:sp>
      <p:sp>
        <p:nvSpPr>
          <p:cNvPr id="950" name="Google Shape;950;p16"/>
          <p:cNvSpPr txBox="1"/>
          <p:nvPr/>
        </p:nvSpPr>
        <p:spPr>
          <a:xfrm>
            <a:off x="1783080" y="914400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951" name="Google Shape;951;p16"/>
          <p:cNvSpPr txBox="1"/>
          <p:nvPr/>
        </p:nvSpPr>
        <p:spPr>
          <a:xfrm>
            <a:off x="2066543" y="93268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발생기간</a:t>
            </a:r>
            <a:endParaRPr/>
          </a:p>
        </p:txBody>
      </p:sp>
      <p:sp>
        <p:nvSpPr>
          <p:cNvPr id="952" name="Google Shape;952;p16"/>
          <p:cNvSpPr/>
          <p:nvPr/>
        </p:nvSpPr>
        <p:spPr>
          <a:xfrm>
            <a:off x="2633472" y="914400"/>
            <a:ext cx="987552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2026.09.20</a:t>
            </a:r>
            <a:endParaRPr/>
          </a:p>
        </p:txBody>
      </p:sp>
      <p:sp>
        <p:nvSpPr>
          <p:cNvPr id="953" name="Google Shape;953;p16"/>
          <p:cNvSpPr/>
          <p:nvPr/>
        </p:nvSpPr>
        <p:spPr>
          <a:xfrm>
            <a:off x="3419856" y="932688"/>
            <a:ext cx="182880" cy="182879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31</a:t>
            </a:r>
            <a:endParaRPr/>
          </a:p>
        </p:txBody>
      </p:sp>
      <p:sp>
        <p:nvSpPr>
          <p:cNvPr id="954" name="Google Shape;954;p16"/>
          <p:cNvSpPr txBox="1"/>
          <p:nvPr/>
        </p:nvSpPr>
        <p:spPr>
          <a:xfrm>
            <a:off x="3639312" y="914400"/>
            <a:ext cx="1280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endParaRPr/>
          </a:p>
        </p:txBody>
      </p:sp>
      <p:sp>
        <p:nvSpPr>
          <p:cNvPr id="955" name="Google Shape;955;p16"/>
          <p:cNvSpPr/>
          <p:nvPr/>
        </p:nvSpPr>
        <p:spPr>
          <a:xfrm>
            <a:off x="3767328" y="914400"/>
            <a:ext cx="987552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2026.10.20</a:t>
            </a:r>
            <a:endParaRPr/>
          </a:p>
        </p:txBody>
      </p:sp>
      <p:sp>
        <p:nvSpPr>
          <p:cNvPr id="956" name="Google Shape;956;p16"/>
          <p:cNvSpPr/>
          <p:nvPr/>
        </p:nvSpPr>
        <p:spPr>
          <a:xfrm>
            <a:off x="4553712" y="932688"/>
            <a:ext cx="182880" cy="182879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31</a:t>
            </a:r>
            <a:endParaRPr/>
          </a:p>
        </p:txBody>
      </p:sp>
      <p:sp>
        <p:nvSpPr>
          <p:cNvPr id="957" name="Google Shape;957;p16"/>
          <p:cNvSpPr/>
          <p:nvPr/>
        </p:nvSpPr>
        <p:spPr>
          <a:xfrm>
            <a:off x="4828032" y="923544"/>
            <a:ext cx="384048" cy="201168"/>
          </a:xfrm>
          <a:prstGeom prst="roundRect">
            <a:avLst>
              <a:gd fmla="val 12000" name="adj"/>
            </a:avLst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1개월</a:t>
            </a:r>
            <a:endParaRPr/>
          </a:p>
        </p:txBody>
      </p:sp>
      <p:sp>
        <p:nvSpPr>
          <p:cNvPr id="958" name="Google Shape;958;p16"/>
          <p:cNvSpPr/>
          <p:nvPr/>
        </p:nvSpPr>
        <p:spPr>
          <a:xfrm>
            <a:off x="5248656" y="923544"/>
            <a:ext cx="384048" cy="20116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6개월</a:t>
            </a:r>
            <a:endParaRPr/>
          </a:p>
        </p:txBody>
      </p:sp>
      <p:sp>
        <p:nvSpPr>
          <p:cNvPr id="959" name="Google Shape;959;p16"/>
          <p:cNvSpPr/>
          <p:nvPr/>
        </p:nvSpPr>
        <p:spPr>
          <a:xfrm>
            <a:off x="5669280" y="923544"/>
            <a:ext cx="329184" cy="20116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1년</a:t>
            </a:r>
            <a:endParaRPr/>
          </a:p>
        </p:txBody>
      </p:sp>
      <p:sp>
        <p:nvSpPr>
          <p:cNvPr id="960" name="Google Shape;960;p16"/>
          <p:cNvSpPr/>
          <p:nvPr/>
        </p:nvSpPr>
        <p:spPr>
          <a:xfrm>
            <a:off x="6108192" y="914400"/>
            <a:ext cx="1207008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A6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의뢰번호/사번</a:t>
            </a:r>
            <a:endParaRPr/>
          </a:p>
        </p:txBody>
      </p:sp>
      <p:sp>
        <p:nvSpPr>
          <p:cNvPr id="961" name="Google Shape;961;p16"/>
          <p:cNvSpPr/>
          <p:nvPr/>
        </p:nvSpPr>
        <p:spPr>
          <a:xfrm>
            <a:off x="7360920" y="914400"/>
            <a:ext cx="64008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초기화</a:t>
            </a:r>
            <a:endParaRPr/>
          </a:p>
        </p:txBody>
      </p:sp>
      <p:sp>
        <p:nvSpPr>
          <p:cNvPr id="962" name="Google Shape;962;p16"/>
          <p:cNvSpPr/>
          <p:nvPr/>
        </p:nvSpPr>
        <p:spPr>
          <a:xfrm>
            <a:off x="8046720" y="914400"/>
            <a:ext cx="658368" cy="219456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</a:t>
            </a:r>
            <a:endParaRPr/>
          </a:p>
        </p:txBody>
      </p:sp>
      <p:graphicFrame>
        <p:nvGraphicFramePr>
          <p:cNvPr id="963" name="Google Shape;963;p16"/>
          <p:cNvGraphicFramePr/>
          <p:nvPr/>
        </p:nvGraphicFramePr>
        <p:xfrm>
          <a:off x="219456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289775"/>
                <a:gridCol w="917600"/>
                <a:gridCol w="1110775"/>
                <a:gridCol w="792025"/>
                <a:gridCol w="849975"/>
                <a:gridCol w="917600"/>
                <a:gridCol w="2559600"/>
                <a:gridCol w="656800"/>
                <a:gridCol w="48295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감사로그ID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발생일시 (KST)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이벤트 구분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대상 번호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수행자(사번)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 전·후 핵심 증적 요약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해시 무결성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AUD-26-09842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2026.10.20 10:18:02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RA최종확정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김아모(AP2018)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판정: [조건부승인] 확정 및 공문 발급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[검증일치]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[증적]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AUD-26-09839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2026.10.20 10:05:41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판정오버라이드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김아모(AP2018)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문장#02 [주의]➔[조건부적합] 변경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[검증일치]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[증적]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AUD-26-09831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2026.10.20 09:42:15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실증자료매핑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CLM-26-0128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박마케터(AP2021)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MBK-26-0412 성적서 및 법정각주1 반영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[검증일치]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[증적]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AUD-26-09820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2026.10.19 17:30:11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금지어룰수정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RULE-0042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이관리(AP2015)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정규식 패턴 및 대체문구 3종 갱신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[검증일치]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[증적]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AUD-26-09812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2026.10.19 15:10:04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권한변경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USR-AP2024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이관리(AP2015)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역할: [마케터] ➔ [RA전문가] 변경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[검증일치]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5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[증적]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4" name="Google Shape;964;p16"/>
          <p:cNvSpPr/>
          <p:nvPr/>
        </p:nvSpPr>
        <p:spPr>
          <a:xfrm>
            <a:off x="128016" y="1353312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965" name="Google Shape;965;p16"/>
          <p:cNvSpPr/>
          <p:nvPr/>
        </p:nvSpPr>
        <p:spPr>
          <a:xfrm>
            <a:off x="219456" y="3584448"/>
            <a:ext cx="8577072" cy="164592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6" name="Google Shape;966;p16"/>
          <p:cNvSpPr txBox="1"/>
          <p:nvPr/>
        </p:nvSpPr>
        <p:spPr>
          <a:xfrm>
            <a:off x="329184" y="363931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선택 감사로그(AUD-26-09842) 암호화 해시체인(SHA-256) 및 당시 심의 스냅샷 증적 상세</a:t>
            </a:r>
            <a:endParaRPr/>
          </a:p>
        </p:txBody>
      </p:sp>
      <p:sp>
        <p:nvSpPr>
          <p:cNvPr id="967" name="Google Shape;967;p16"/>
          <p:cNvSpPr/>
          <p:nvPr/>
        </p:nvSpPr>
        <p:spPr>
          <a:xfrm>
            <a:off x="128016" y="358444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968" name="Google Shape;968;p16"/>
          <p:cNvSpPr/>
          <p:nvPr/>
        </p:nvSpPr>
        <p:spPr>
          <a:xfrm>
            <a:off x="329184" y="3877056"/>
            <a:ext cx="4069080" cy="1243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[SHA-256 해시체인 무결성 검증 정보 (위변조 불가)]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이전 블록 해시 (Prev_Hash) : 8f9c2d41a7b3...e019c4b2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현재 블록 해시 (Curr_Hash) : 3a7e1190f4c8...9d82a10f  [무결성 검증 통과]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서명 시각 / 공인 타임스탬프 : 2026-10-20T10:18:02.412+09:00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접속 클라이언트 IP / 사번 : 10.215.42.18 / 김아모 책임 (AP2018042)</a:t>
            </a:r>
            <a:endParaRPr/>
          </a:p>
        </p:txBody>
      </p:sp>
      <p:sp>
        <p:nvSpPr>
          <p:cNvPr id="969" name="Google Shape;969;p16"/>
          <p:cNvSpPr/>
          <p:nvPr/>
        </p:nvSpPr>
        <p:spPr>
          <a:xfrm>
            <a:off x="4498848" y="3877056"/>
            <a:ext cx="4187952" cy="1243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[심의 확정 시점 스냅샷 보존 내역 (5년 법정 보관)]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적용된 금지어 사전 버전 : v2026.10.19 (총 1,420규칙)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참조된 식약처 가이드라인 청크 : DOC-0086 (CHK-041, CHK-042)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첨부된 ProductLab 실증 성적서 : MBK-26-0412.pdf, MBK-26-0415.pdf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최종 발급된 공문 결과서 : RA-CERT-2026-0128.pdf [원본열람]</a:t>
            </a:r>
            <a:endParaRPr/>
          </a:p>
        </p:txBody>
      </p:sp>
      <p:sp>
        <p:nvSpPr>
          <p:cNvPr id="970" name="Google Shape;970;p16"/>
          <p:cNvSpPr/>
          <p:nvPr/>
        </p:nvSpPr>
        <p:spPr>
          <a:xfrm>
            <a:off x="1645920" y="5413248"/>
            <a:ext cx="310896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1" name="Google Shape;971;p16"/>
          <p:cNvSpPr txBox="1"/>
          <p:nvPr/>
        </p:nvSpPr>
        <p:spPr>
          <a:xfrm>
            <a:off x="1700784" y="5458968"/>
            <a:ext cx="29992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[해시체인 무결성 전체 검증 완료]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 기간 내 총 1,842건의 감사로그 해시체인을 검증하였으며,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위변조나 누락된 레코드가 0건임을 확인하였습니다.</a:t>
            </a:r>
            <a:endParaRPr/>
          </a:p>
        </p:txBody>
      </p:sp>
      <p:sp>
        <p:nvSpPr>
          <p:cNvPr id="972" name="Google Shape;972;p16"/>
          <p:cNvSpPr/>
          <p:nvPr/>
        </p:nvSpPr>
        <p:spPr>
          <a:xfrm>
            <a:off x="2916936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/>
          </a:p>
        </p:txBody>
      </p:sp>
      <p:sp>
        <p:nvSpPr>
          <p:cNvPr id="973" name="Google Shape;973;p16"/>
          <p:cNvSpPr/>
          <p:nvPr/>
        </p:nvSpPr>
        <p:spPr>
          <a:xfrm>
            <a:off x="157276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1A</a:t>
            </a:r>
            <a:endParaRPr/>
          </a:p>
        </p:txBody>
      </p:sp>
      <p:sp>
        <p:nvSpPr>
          <p:cNvPr id="974" name="Google Shape;974;p16"/>
          <p:cNvSpPr/>
          <p:nvPr/>
        </p:nvSpPr>
        <p:spPr>
          <a:xfrm>
            <a:off x="5120640" y="5413248"/>
            <a:ext cx="320040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5" name="Google Shape;975;p16"/>
          <p:cNvSpPr txBox="1"/>
          <p:nvPr/>
        </p:nvSpPr>
        <p:spPr>
          <a:xfrm>
            <a:off x="5175503" y="5458968"/>
            <a:ext cx="309067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선택한 심의건(CLM-26-0128)의 감사로그, 시안 전·후 버전,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ProductLab 성적서, 공문 PDF를 소명용 ZIP 패키지로 출력하시겠습니까?</a:t>
            </a:r>
            <a:endParaRPr/>
          </a:p>
        </p:txBody>
      </p:sp>
      <p:sp>
        <p:nvSpPr>
          <p:cNvPr id="976" name="Google Shape;976;p16"/>
          <p:cNvSpPr/>
          <p:nvPr/>
        </p:nvSpPr>
        <p:spPr>
          <a:xfrm>
            <a:off x="5943600" y="6364224"/>
            <a:ext cx="740664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977" name="Google Shape;977;p16"/>
          <p:cNvSpPr/>
          <p:nvPr/>
        </p:nvSpPr>
        <p:spPr>
          <a:xfrm>
            <a:off x="6757416" y="6364224"/>
            <a:ext cx="740664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패키지 생성</a:t>
            </a:r>
            <a:endParaRPr/>
          </a:p>
        </p:txBody>
      </p:sp>
      <p:sp>
        <p:nvSpPr>
          <p:cNvPr id="978" name="Google Shape;978;p16"/>
          <p:cNvSpPr/>
          <p:nvPr/>
        </p:nvSpPr>
        <p:spPr>
          <a:xfrm>
            <a:off x="504748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5A</a:t>
            </a:r>
            <a:endParaRPr/>
          </a:p>
        </p:txBody>
      </p:sp>
      <p:graphicFrame>
        <p:nvGraphicFramePr>
          <p:cNvPr id="979" name="Google Shape;979;p16"/>
          <p:cNvGraphicFramePr/>
          <p:nvPr/>
        </p:nvGraphicFramePr>
        <p:xfrm>
          <a:off x="9034272" y="329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47475"/>
                <a:gridCol w="27157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237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[대외 소명용 불변 감사 대장 (SCR_HIS_03)]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[해시체인 무결성 전체 검증]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클릭 시 DB 내 저장된 감사로그의 이전 해시(Prev_Hash)와 현재 해시(Curr_Hash) 연쇄를 재계산하여 위변조 유무를 검증하고 1A 결과 팝업 노출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[감사 이벤트 다차원 검색]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AI판정, RA오버라이드, 실증자료매핑, 최종확정, 금지어변경, 권한변경 이벤트별 및 기간별 조회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[불변 감사 대장 그리드]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Update/Delete가 원천 차단된 Append-only 감사 테이블 조회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[암호화 해시체인 및 당시 스냅샷 상세]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심의 당시 적용된 법령 청크 버전, 금지어 사전 버전, 실증 성적서 스냅샷을 그대로 보존하여 사후 규제기관 조사 시 완벽한 소명 근거 제공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[소명용 감사패키지(ZIP) 출력]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클릭 시 5A Confirm 확인 후 관공서 제출용 엑셀 대장 + 시안 + 성적서 + 공문 PDF를 단일 ZIP으로 패키징 다운로드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7"/>
          <p:cNvSpPr txBox="1"/>
          <p:nvPr/>
        </p:nvSpPr>
        <p:spPr>
          <a:xfrm>
            <a:off x="128016" y="5486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2.6 사용자 계정 및 권한 관리</a:t>
            </a:r>
            <a:endParaRPr/>
          </a:p>
        </p:txBody>
      </p:sp>
      <p:sp>
        <p:nvSpPr>
          <p:cNvPr id="985" name="Google Shape;985;p17"/>
          <p:cNvSpPr txBox="1"/>
          <p:nvPr/>
        </p:nvSpPr>
        <p:spPr>
          <a:xfrm>
            <a:off x="4846320" y="5486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SCR_ADM_01</a:t>
            </a:r>
            <a:endParaRPr/>
          </a:p>
        </p:txBody>
      </p:sp>
      <p:sp>
        <p:nvSpPr>
          <p:cNvPr id="986" name="Google Shape;986;p17"/>
          <p:cNvSpPr txBox="1"/>
          <p:nvPr/>
        </p:nvSpPr>
        <p:spPr>
          <a:xfrm>
            <a:off x="9034272" y="54864"/>
            <a:ext cx="3063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시스템관리 &gt; 사용자/권한관리</a:t>
            </a:r>
            <a:endParaRPr/>
          </a:p>
        </p:txBody>
      </p:sp>
      <p:sp>
        <p:nvSpPr>
          <p:cNvPr id="987" name="Google Shape;987;p17"/>
          <p:cNvSpPr/>
          <p:nvPr/>
        </p:nvSpPr>
        <p:spPr>
          <a:xfrm>
            <a:off x="91440" y="329184"/>
            <a:ext cx="8851392" cy="6419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8" name="Google Shape;988;p17"/>
          <p:cNvSpPr txBox="1"/>
          <p:nvPr/>
        </p:nvSpPr>
        <p:spPr>
          <a:xfrm>
            <a:off x="219456" y="402336"/>
            <a:ext cx="6949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SSO 사용자 계정 및 역할(RBAC)·브랜드 접근 권한 관리</a:t>
            </a:r>
            <a:endParaRPr/>
          </a:p>
        </p:txBody>
      </p:sp>
      <p:cxnSp>
        <p:nvCxnSpPr>
          <p:cNvPr id="989" name="Google Shape;989;p17"/>
          <p:cNvCxnSpPr/>
          <p:nvPr/>
        </p:nvCxnSpPr>
        <p:spPr>
          <a:xfrm>
            <a:off x="219456" y="749808"/>
            <a:ext cx="8577072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90" name="Google Shape;990;p17"/>
          <p:cNvCxnSpPr/>
          <p:nvPr/>
        </p:nvCxnSpPr>
        <p:spPr>
          <a:xfrm>
            <a:off x="91440" y="5321808"/>
            <a:ext cx="8851392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91" name="Google Shape;991;p17"/>
          <p:cNvSpPr/>
          <p:nvPr/>
        </p:nvSpPr>
        <p:spPr>
          <a:xfrm>
            <a:off x="100584" y="5330952"/>
            <a:ext cx="8833104" cy="140817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2" name="Google Shape;992;p17"/>
          <p:cNvSpPr txBox="1"/>
          <p:nvPr/>
        </p:nvSpPr>
        <p:spPr>
          <a:xfrm>
            <a:off x="182880" y="535838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[연계 팝업 / Alert 정의]</a:t>
            </a:r>
            <a:endParaRPr/>
          </a:p>
        </p:txBody>
      </p:sp>
      <p:sp>
        <p:nvSpPr>
          <p:cNvPr id="993" name="Google Shape;993;p17"/>
          <p:cNvSpPr/>
          <p:nvPr/>
        </p:nvSpPr>
        <p:spPr>
          <a:xfrm>
            <a:off x="219456" y="804672"/>
            <a:ext cx="8577072" cy="493776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4" name="Google Shape;994;p17"/>
          <p:cNvSpPr/>
          <p:nvPr/>
        </p:nvSpPr>
        <p:spPr>
          <a:xfrm>
            <a:off x="128016" y="768096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995" name="Google Shape;995;p17"/>
          <p:cNvSpPr txBox="1"/>
          <p:nvPr/>
        </p:nvSpPr>
        <p:spPr>
          <a:xfrm>
            <a:off x="329184" y="93268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소속부서</a:t>
            </a:r>
            <a:endParaRPr/>
          </a:p>
        </p:txBody>
      </p:sp>
      <p:sp>
        <p:nvSpPr>
          <p:cNvPr id="996" name="Google Shape;996;p17"/>
          <p:cNvSpPr/>
          <p:nvPr/>
        </p:nvSpPr>
        <p:spPr>
          <a:xfrm>
            <a:off x="896112" y="914400"/>
            <a:ext cx="109728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부서</a:t>
            </a:r>
            <a:endParaRPr/>
          </a:p>
        </p:txBody>
      </p:sp>
      <p:sp>
        <p:nvSpPr>
          <p:cNvPr id="997" name="Google Shape;997;p17"/>
          <p:cNvSpPr txBox="1"/>
          <p:nvPr/>
        </p:nvSpPr>
        <p:spPr>
          <a:xfrm>
            <a:off x="1792223" y="914400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998" name="Google Shape;998;p17"/>
          <p:cNvSpPr txBox="1"/>
          <p:nvPr/>
        </p:nvSpPr>
        <p:spPr>
          <a:xfrm>
            <a:off x="2084831" y="93268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부여역할</a:t>
            </a:r>
            <a:endParaRPr/>
          </a:p>
        </p:txBody>
      </p:sp>
      <p:sp>
        <p:nvSpPr>
          <p:cNvPr id="999" name="Google Shape;999;p17"/>
          <p:cNvSpPr/>
          <p:nvPr/>
        </p:nvSpPr>
        <p:spPr>
          <a:xfrm>
            <a:off x="2651760" y="914400"/>
            <a:ext cx="105156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역할</a:t>
            </a:r>
            <a:endParaRPr/>
          </a:p>
        </p:txBody>
      </p:sp>
      <p:sp>
        <p:nvSpPr>
          <p:cNvPr id="1000" name="Google Shape;1000;p17"/>
          <p:cNvSpPr txBox="1"/>
          <p:nvPr/>
        </p:nvSpPr>
        <p:spPr>
          <a:xfrm>
            <a:off x="3502151" y="914400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1001" name="Google Shape;1001;p17"/>
          <p:cNvSpPr txBox="1"/>
          <p:nvPr/>
        </p:nvSpPr>
        <p:spPr>
          <a:xfrm>
            <a:off x="3794760" y="93268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계정상태</a:t>
            </a:r>
            <a:endParaRPr/>
          </a:p>
        </p:txBody>
      </p:sp>
      <p:sp>
        <p:nvSpPr>
          <p:cNvPr id="1002" name="Google Shape;1002;p17"/>
          <p:cNvSpPr/>
          <p:nvPr/>
        </p:nvSpPr>
        <p:spPr>
          <a:xfrm>
            <a:off x="4352544" y="914400"/>
            <a:ext cx="77724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정상(재직)</a:t>
            </a:r>
            <a:endParaRPr/>
          </a:p>
        </p:txBody>
      </p:sp>
      <p:sp>
        <p:nvSpPr>
          <p:cNvPr id="1003" name="Google Shape;1003;p17"/>
          <p:cNvSpPr txBox="1"/>
          <p:nvPr/>
        </p:nvSpPr>
        <p:spPr>
          <a:xfrm>
            <a:off x="4928616" y="914400"/>
            <a:ext cx="182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/>
          </a:p>
        </p:txBody>
      </p:sp>
      <p:sp>
        <p:nvSpPr>
          <p:cNvPr id="1004" name="Google Shape;1004;p17"/>
          <p:cNvSpPr/>
          <p:nvPr/>
        </p:nvSpPr>
        <p:spPr>
          <a:xfrm>
            <a:off x="5212080" y="914400"/>
            <a:ext cx="2084831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A6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사번, 성명, 이메일 검색</a:t>
            </a:r>
            <a:endParaRPr/>
          </a:p>
        </p:txBody>
      </p:sp>
      <p:sp>
        <p:nvSpPr>
          <p:cNvPr id="1005" name="Google Shape;1005;p17"/>
          <p:cNvSpPr/>
          <p:nvPr/>
        </p:nvSpPr>
        <p:spPr>
          <a:xfrm>
            <a:off x="7360920" y="914400"/>
            <a:ext cx="64008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초기화</a:t>
            </a:r>
            <a:endParaRPr/>
          </a:p>
        </p:txBody>
      </p:sp>
      <p:sp>
        <p:nvSpPr>
          <p:cNvPr id="1006" name="Google Shape;1006;p17"/>
          <p:cNvSpPr/>
          <p:nvPr/>
        </p:nvSpPr>
        <p:spPr>
          <a:xfrm>
            <a:off x="8046720" y="914400"/>
            <a:ext cx="658368" cy="219456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</a:t>
            </a:r>
            <a:endParaRPr/>
          </a:p>
        </p:txBody>
      </p:sp>
      <p:sp>
        <p:nvSpPr>
          <p:cNvPr id="1007" name="Google Shape;1007;p17"/>
          <p:cNvSpPr txBox="1"/>
          <p:nvPr/>
        </p:nvSpPr>
        <p:spPr>
          <a:xfrm>
            <a:off x="219456" y="137160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사내 SSO 등록 사용자 목록 (총 385명)</a:t>
            </a:r>
            <a:endParaRPr/>
          </a:p>
        </p:txBody>
      </p:sp>
      <p:sp>
        <p:nvSpPr>
          <p:cNvPr id="1008" name="Google Shape;1008;p17"/>
          <p:cNvSpPr/>
          <p:nvPr/>
        </p:nvSpPr>
        <p:spPr>
          <a:xfrm>
            <a:off x="3675887" y="1353312"/>
            <a:ext cx="1005840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HB-SSO 조직도 동기화</a:t>
            </a:r>
            <a:endParaRPr/>
          </a:p>
        </p:txBody>
      </p:sp>
      <p:sp>
        <p:nvSpPr>
          <p:cNvPr id="1009" name="Google Shape;1009;p17"/>
          <p:cNvSpPr/>
          <p:nvPr/>
        </p:nvSpPr>
        <p:spPr>
          <a:xfrm>
            <a:off x="4736592" y="1353312"/>
            <a:ext cx="896112" cy="2194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권한현황 엑셀출력</a:t>
            </a:r>
            <a:endParaRPr/>
          </a:p>
        </p:txBody>
      </p:sp>
      <p:sp>
        <p:nvSpPr>
          <p:cNvPr id="1010" name="Google Shape;1010;p17"/>
          <p:cNvSpPr/>
          <p:nvPr/>
        </p:nvSpPr>
        <p:spPr>
          <a:xfrm>
            <a:off x="3584448" y="1298448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graphicFrame>
        <p:nvGraphicFramePr>
          <p:cNvPr id="1011" name="Google Shape;1011;p17"/>
          <p:cNvGraphicFramePr/>
          <p:nvPr/>
        </p:nvGraphicFramePr>
        <p:xfrm>
          <a:off x="219456" y="16276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713225"/>
                <a:gridCol w="502925"/>
                <a:gridCol w="841250"/>
                <a:gridCol w="804675"/>
                <a:gridCol w="1143000"/>
                <a:gridCol w="438900"/>
                <a:gridCol w="566925"/>
                <a:gridCol w="40232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사번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성명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소속 부서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부여 역할 (RBAC)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허용 브랜드 범위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최종접속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7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AP2018042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김아모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RA심의팀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[RA 전문가]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전사 브랜드 (전체)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정상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2026.10.20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[권한편집]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AP2021108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박마케터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루미에르BM팀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[마케터 (BM)]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루미에르, 벨르코어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정상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2026.10.20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[권한편집]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DED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AP2019315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김연구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R&amp;I효능임상랩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[연구원 (R&amp;I)]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루미에르, 아쿠아퓨어, 더마쉴드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정상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2026.10.19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[권한편집]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AP2015011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이관리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디지털정보보안팀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[시스템 관리자]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전사 브랜드 (전체)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정상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2026.10.20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[권한편집]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AP2022089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최디자이너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크리에이티브팀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[마케터 (BM)]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벨르코어, 아쿠아퓨어, 그린네이처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정상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2026.10.19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[권한편집]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AP2017054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정글로벌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글로벌RA파트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[RA 전문가]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전사 브랜드 (전체)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정상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2026.10.18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[권한편집]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AP2020144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윤휴직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그린네이처BM팀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[마케터 (BM)]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그린네이처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휴직차단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2026.08.01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64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[권한편집]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2" name="Google Shape;1012;p17"/>
          <p:cNvSpPr/>
          <p:nvPr/>
        </p:nvSpPr>
        <p:spPr>
          <a:xfrm>
            <a:off x="128016" y="1609344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1013" name="Google Shape;1013;p17"/>
          <p:cNvSpPr txBox="1"/>
          <p:nvPr/>
        </p:nvSpPr>
        <p:spPr>
          <a:xfrm>
            <a:off x="1371600" y="449884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《   &lt;</a:t>
            </a:r>
            <a:endParaRPr/>
          </a:p>
        </p:txBody>
      </p:sp>
      <p:sp>
        <p:nvSpPr>
          <p:cNvPr id="1014" name="Google Shape;1014;p17"/>
          <p:cNvSpPr/>
          <p:nvPr/>
        </p:nvSpPr>
        <p:spPr>
          <a:xfrm>
            <a:off x="1737360" y="4507992"/>
            <a:ext cx="182880" cy="18288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1015" name="Google Shape;1015;p17"/>
          <p:cNvSpPr txBox="1"/>
          <p:nvPr/>
        </p:nvSpPr>
        <p:spPr>
          <a:xfrm>
            <a:off x="1901952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1016" name="Google Shape;1016;p17"/>
          <p:cNvSpPr txBox="1"/>
          <p:nvPr/>
        </p:nvSpPr>
        <p:spPr>
          <a:xfrm>
            <a:off x="1975104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1017" name="Google Shape;1017;p17"/>
          <p:cNvSpPr txBox="1"/>
          <p:nvPr/>
        </p:nvSpPr>
        <p:spPr>
          <a:xfrm>
            <a:off x="2139696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1018" name="Google Shape;1018;p17"/>
          <p:cNvSpPr txBox="1"/>
          <p:nvPr/>
        </p:nvSpPr>
        <p:spPr>
          <a:xfrm>
            <a:off x="2212848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1019" name="Google Shape;1019;p17"/>
          <p:cNvSpPr txBox="1"/>
          <p:nvPr/>
        </p:nvSpPr>
        <p:spPr>
          <a:xfrm>
            <a:off x="2377440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1020" name="Google Shape;1020;p17"/>
          <p:cNvSpPr txBox="1"/>
          <p:nvPr/>
        </p:nvSpPr>
        <p:spPr>
          <a:xfrm>
            <a:off x="2450592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1021" name="Google Shape;1021;p17"/>
          <p:cNvSpPr txBox="1"/>
          <p:nvPr/>
        </p:nvSpPr>
        <p:spPr>
          <a:xfrm>
            <a:off x="2615184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1022" name="Google Shape;1022;p17"/>
          <p:cNvSpPr txBox="1"/>
          <p:nvPr/>
        </p:nvSpPr>
        <p:spPr>
          <a:xfrm>
            <a:off x="2688336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1023" name="Google Shape;1023;p17"/>
          <p:cNvSpPr txBox="1"/>
          <p:nvPr/>
        </p:nvSpPr>
        <p:spPr>
          <a:xfrm>
            <a:off x="2852928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1024" name="Google Shape;1024;p17"/>
          <p:cNvSpPr txBox="1"/>
          <p:nvPr/>
        </p:nvSpPr>
        <p:spPr>
          <a:xfrm>
            <a:off x="2926080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  <p:sp>
        <p:nvSpPr>
          <p:cNvPr id="1025" name="Google Shape;1025;p17"/>
          <p:cNvSpPr txBox="1"/>
          <p:nvPr/>
        </p:nvSpPr>
        <p:spPr>
          <a:xfrm>
            <a:off x="3090672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1026" name="Google Shape;1026;p17"/>
          <p:cNvSpPr txBox="1"/>
          <p:nvPr/>
        </p:nvSpPr>
        <p:spPr>
          <a:xfrm>
            <a:off x="3163824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/>
          </a:p>
        </p:txBody>
      </p:sp>
      <p:sp>
        <p:nvSpPr>
          <p:cNvPr id="1027" name="Google Shape;1027;p17"/>
          <p:cNvSpPr txBox="1"/>
          <p:nvPr/>
        </p:nvSpPr>
        <p:spPr>
          <a:xfrm>
            <a:off x="3328416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1028" name="Google Shape;1028;p17"/>
          <p:cNvSpPr txBox="1"/>
          <p:nvPr/>
        </p:nvSpPr>
        <p:spPr>
          <a:xfrm>
            <a:off x="3401568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/>
          </a:p>
        </p:txBody>
      </p:sp>
      <p:sp>
        <p:nvSpPr>
          <p:cNvPr id="1029" name="Google Shape;1029;p17"/>
          <p:cNvSpPr txBox="1"/>
          <p:nvPr/>
        </p:nvSpPr>
        <p:spPr>
          <a:xfrm>
            <a:off x="3566160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1030" name="Google Shape;1030;p17"/>
          <p:cNvSpPr txBox="1"/>
          <p:nvPr/>
        </p:nvSpPr>
        <p:spPr>
          <a:xfrm>
            <a:off x="3639312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/>
          </a:p>
        </p:txBody>
      </p:sp>
      <p:sp>
        <p:nvSpPr>
          <p:cNvPr id="1031" name="Google Shape;1031;p17"/>
          <p:cNvSpPr txBox="1"/>
          <p:nvPr/>
        </p:nvSpPr>
        <p:spPr>
          <a:xfrm>
            <a:off x="3803904" y="4498848"/>
            <a:ext cx="73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/>
          </a:p>
        </p:txBody>
      </p:sp>
      <p:sp>
        <p:nvSpPr>
          <p:cNvPr id="1032" name="Google Shape;1032;p17"/>
          <p:cNvSpPr txBox="1"/>
          <p:nvPr/>
        </p:nvSpPr>
        <p:spPr>
          <a:xfrm>
            <a:off x="3877056" y="449884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/>
          </a:p>
        </p:txBody>
      </p:sp>
      <p:sp>
        <p:nvSpPr>
          <p:cNvPr id="1033" name="Google Shape;1033;p17"/>
          <p:cNvSpPr txBox="1"/>
          <p:nvPr/>
        </p:nvSpPr>
        <p:spPr>
          <a:xfrm>
            <a:off x="4096512" y="449884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   》</a:t>
            </a:r>
            <a:endParaRPr/>
          </a:p>
        </p:txBody>
      </p:sp>
      <p:sp>
        <p:nvSpPr>
          <p:cNvPr id="1034" name="Google Shape;1034;p17"/>
          <p:cNvSpPr/>
          <p:nvPr/>
        </p:nvSpPr>
        <p:spPr>
          <a:xfrm>
            <a:off x="5742432" y="1371600"/>
            <a:ext cx="3054096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5" name="Google Shape;1035;p17"/>
          <p:cNvSpPr/>
          <p:nvPr/>
        </p:nvSpPr>
        <p:spPr>
          <a:xfrm>
            <a:off x="5742432" y="1371600"/>
            <a:ext cx="3054096" cy="2560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사용자 역할 및 브랜드 접근 권한 설정</a:t>
            </a:r>
            <a:endParaRPr/>
          </a:p>
        </p:txBody>
      </p:sp>
      <p:sp>
        <p:nvSpPr>
          <p:cNvPr id="1036" name="Google Shape;1036;p17"/>
          <p:cNvSpPr txBox="1"/>
          <p:nvPr/>
        </p:nvSpPr>
        <p:spPr>
          <a:xfrm>
            <a:off x="8540496" y="1371600"/>
            <a:ext cx="237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</a:t>
            </a:r>
            <a:endParaRPr/>
          </a:p>
        </p:txBody>
      </p:sp>
      <p:sp>
        <p:nvSpPr>
          <p:cNvPr id="1037" name="Google Shape;1037;p17"/>
          <p:cNvSpPr/>
          <p:nvPr/>
        </p:nvSpPr>
        <p:spPr>
          <a:xfrm>
            <a:off x="5650992" y="1316736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1038" name="Google Shape;1038;p17"/>
          <p:cNvSpPr/>
          <p:nvPr/>
        </p:nvSpPr>
        <p:spPr>
          <a:xfrm>
            <a:off x="5833872" y="1682496"/>
            <a:ext cx="2871216" cy="40233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대상자 : 박마케터 책임 (AP2021108)  |  소속 : 루미에르BM팀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67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이메일 : marketer.park@hanbitglobal.com  |  SSO 상태 : 정상</a:t>
            </a:r>
            <a:endParaRPr/>
          </a:p>
        </p:txBody>
      </p:sp>
      <p:sp>
        <p:nvSpPr>
          <p:cNvPr id="1039" name="Google Shape;1039;p17"/>
          <p:cNvSpPr txBox="1"/>
          <p:nvPr/>
        </p:nvSpPr>
        <p:spPr>
          <a:xfrm>
            <a:off x="5833872" y="2139696"/>
            <a:ext cx="28712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시스템 역할(RBAC Role) 지정 *</a:t>
            </a:r>
            <a:endParaRPr/>
          </a:p>
        </p:txBody>
      </p:sp>
      <p:sp>
        <p:nvSpPr>
          <p:cNvPr id="1040" name="Google Shape;1040;p17"/>
          <p:cNvSpPr/>
          <p:nvPr/>
        </p:nvSpPr>
        <p:spPr>
          <a:xfrm>
            <a:off x="5833872" y="2340864"/>
            <a:ext cx="2871216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◉ 마케터 (BM) : 시안 등록, AI 사전판정, 대체어 채택, 이력 조회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○ 연구원 (R&amp;I) : 실증 성적서 등록/매핑, 전성분 조회, 시안 등록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○ RA 전문가 : 전사 심의 접수 배정, 판정 오버라이드, 공문 확정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○ 시스템 관리자 : 금지어 사전, RAG 색인, 사용자/권한, 연계 관제</a:t>
            </a:r>
            <a:endParaRPr/>
          </a:p>
        </p:txBody>
      </p:sp>
      <p:sp>
        <p:nvSpPr>
          <p:cNvPr id="1041" name="Google Shape;1041;p17"/>
          <p:cNvSpPr txBox="1"/>
          <p:nvPr/>
        </p:nvSpPr>
        <p:spPr>
          <a:xfrm>
            <a:off x="5833872" y="3108960"/>
            <a:ext cx="28712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열람·심의 허용 브랜드 범위 매핑 *</a:t>
            </a:r>
            <a:endParaRPr/>
          </a:p>
        </p:txBody>
      </p:sp>
      <p:sp>
        <p:nvSpPr>
          <p:cNvPr id="1042" name="Google Shape;1042;p17"/>
          <p:cNvSpPr/>
          <p:nvPr/>
        </p:nvSpPr>
        <p:spPr>
          <a:xfrm>
            <a:off x="5650992" y="3090672"/>
            <a:ext cx="192024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1043" name="Google Shape;1043;p17"/>
          <p:cNvSpPr/>
          <p:nvPr/>
        </p:nvSpPr>
        <p:spPr>
          <a:xfrm>
            <a:off x="5833872" y="3310128"/>
            <a:ext cx="2871216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□ 전사 브랜드 전체 허용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☑ 루미에르    ☑ 벨르코어      □ 아쿠아퓨어    □ 그린네이처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7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□ 더마쉴드  □ 퓨어시드  □ 바이오랩  □ 플로라블룸</a:t>
            </a:r>
            <a:endParaRPr/>
          </a:p>
        </p:txBody>
      </p:sp>
      <p:sp>
        <p:nvSpPr>
          <p:cNvPr id="1044" name="Google Shape;1044;p17"/>
          <p:cNvSpPr txBox="1"/>
          <p:nvPr/>
        </p:nvSpPr>
        <p:spPr>
          <a:xfrm>
            <a:off x="5833872" y="3968496"/>
            <a:ext cx="28712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권한 변경 사유 입력 (감사로그 필수 기록) *</a:t>
            </a:r>
            <a:endParaRPr/>
          </a:p>
        </p:txBody>
      </p:sp>
      <p:sp>
        <p:nvSpPr>
          <p:cNvPr id="1045" name="Google Shape;1045;p17"/>
          <p:cNvSpPr/>
          <p:nvPr/>
        </p:nvSpPr>
        <p:spPr>
          <a:xfrm>
            <a:off x="5833872" y="4169663"/>
            <a:ext cx="2871216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2026년 하반기 럭셔리 디비전 겸직 발령에 따른 벨르코어 브랜드 심의 의뢰 권한 추가</a:t>
            </a:r>
            <a:endParaRPr/>
          </a:p>
        </p:txBody>
      </p:sp>
      <p:sp>
        <p:nvSpPr>
          <p:cNvPr id="1046" name="Google Shape;1046;p17"/>
          <p:cNvSpPr/>
          <p:nvPr/>
        </p:nvSpPr>
        <p:spPr>
          <a:xfrm>
            <a:off x="7150608" y="4828032"/>
            <a:ext cx="73152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1047" name="Google Shape;1047;p17"/>
          <p:cNvSpPr/>
          <p:nvPr/>
        </p:nvSpPr>
        <p:spPr>
          <a:xfrm>
            <a:off x="7936992" y="4828032"/>
            <a:ext cx="768096" cy="256032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권한 저장</a:t>
            </a:r>
            <a:endParaRPr/>
          </a:p>
        </p:txBody>
      </p:sp>
      <p:sp>
        <p:nvSpPr>
          <p:cNvPr id="1048" name="Google Shape;1048;p17"/>
          <p:cNvSpPr/>
          <p:nvPr/>
        </p:nvSpPr>
        <p:spPr>
          <a:xfrm>
            <a:off x="1645920" y="5413248"/>
            <a:ext cx="310896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9" name="Google Shape;1049;p17"/>
          <p:cNvSpPr txBox="1"/>
          <p:nvPr/>
        </p:nvSpPr>
        <p:spPr>
          <a:xfrm>
            <a:off x="1700784" y="5458968"/>
            <a:ext cx="299923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권한 변경 사유는 보안 감사 필수 항목입니다.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사유(발령 근거 또는 요청 문서번호)를 입력해 주세요.</a:t>
            </a:r>
            <a:endParaRPr/>
          </a:p>
        </p:txBody>
      </p:sp>
      <p:sp>
        <p:nvSpPr>
          <p:cNvPr id="1050" name="Google Shape;1050;p17"/>
          <p:cNvSpPr/>
          <p:nvPr/>
        </p:nvSpPr>
        <p:spPr>
          <a:xfrm>
            <a:off x="2916936" y="6364224"/>
            <a:ext cx="566928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/>
          </a:p>
        </p:txBody>
      </p:sp>
      <p:sp>
        <p:nvSpPr>
          <p:cNvPr id="1051" name="Google Shape;1051;p17"/>
          <p:cNvSpPr/>
          <p:nvPr/>
        </p:nvSpPr>
        <p:spPr>
          <a:xfrm>
            <a:off x="157276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4A</a:t>
            </a:r>
            <a:endParaRPr/>
          </a:p>
        </p:txBody>
      </p:sp>
      <p:sp>
        <p:nvSpPr>
          <p:cNvPr id="1052" name="Google Shape;1052;p17"/>
          <p:cNvSpPr/>
          <p:nvPr/>
        </p:nvSpPr>
        <p:spPr>
          <a:xfrm>
            <a:off x="5120640" y="5413248"/>
            <a:ext cx="3200400" cy="12070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3" name="Google Shape;1053;p17"/>
          <p:cNvSpPr txBox="1"/>
          <p:nvPr/>
        </p:nvSpPr>
        <p:spPr>
          <a:xfrm>
            <a:off x="5175503" y="5458968"/>
            <a:ext cx="309067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박마케터(AP2021108)님의 역할([마케터]) 및 허용 브랜드(루미에르, 벨르코어)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권한 설정을 저장하시겠습니까? (감사 대장에 즉시 기록됩니다)</a:t>
            </a:r>
            <a:endParaRPr/>
          </a:p>
        </p:txBody>
      </p:sp>
      <p:sp>
        <p:nvSpPr>
          <p:cNvPr id="1054" name="Google Shape;1054;p17"/>
          <p:cNvSpPr/>
          <p:nvPr/>
        </p:nvSpPr>
        <p:spPr>
          <a:xfrm>
            <a:off x="6039612" y="6364224"/>
            <a:ext cx="644652" cy="201168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/>
          </a:p>
        </p:txBody>
      </p:sp>
      <p:sp>
        <p:nvSpPr>
          <p:cNvPr id="1055" name="Google Shape;1055;p17"/>
          <p:cNvSpPr/>
          <p:nvPr/>
        </p:nvSpPr>
        <p:spPr>
          <a:xfrm>
            <a:off x="6757416" y="6364224"/>
            <a:ext cx="644652" cy="201168"/>
          </a:xfrm>
          <a:prstGeom prst="rect">
            <a:avLst/>
          </a:prstGeom>
          <a:solidFill>
            <a:srgbClr val="7F7F7F"/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45700" spcFirstLastPara="1" rIns="4570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 확정</a:t>
            </a:r>
            <a:endParaRPr/>
          </a:p>
        </p:txBody>
      </p:sp>
      <p:sp>
        <p:nvSpPr>
          <p:cNvPr id="1056" name="Google Shape;1056;p17"/>
          <p:cNvSpPr/>
          <p:nvPr/>
        </p:nvSpPr>
        <p:spPr>
          <a:xfrm>
            <a:off x="5047488" y="5340096"/>
            <a:ext cx="228600" cy="192024"/>
          </a:xfrm>
          <a:prstGeom prst="ellipse">
            <a:avLst/>
          </a:prstGeom>
          <a:solidFill>
            <a:srgbClr val="325E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5A</a:t>
            </a:r>
            <a:endParaRPr/>
          </a:p>
        </p:txBody>
      </p:sp>
      <p:graphicFrame>
        <p:nvGraphicFramePr>
          <p:cNvPr id="1057" name="Google Shape;1057;p17"/>
          <p:cNvGraphicFramePr/>
          <p:nvPr/>
        </p:nvGraphicFramePr>
        <p:xfrm>
          <a:off x="9034272" y="329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{1382ADB6-92E1-46B1-B9C9-A0D32233A43D}</a:tableStyleId>
              </a:tblPr>
              <a:tblGrid>
                <a:gridCol w="347475"/>
                <a:gridCol w="271577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237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8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[사용자 계정 및 권한 관리 (SCR_ADM_01)]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[사용자 및 역할 검색 필터]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소속부서, 부여 역할(마케터/연구원/RA전문가/관리자), 계정상태(정상/휴직/퇴직차단), 사번/성명 검색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[HB-SSO 조직도 동기화]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사내 인사/SSO 시스템과 연동하여 부서 이동·퇴직자 계정을 자동 비활성화 동기화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[사용자 목록 그리드]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행 선택 시 우측 권한 설정 패널에 현재 부여된 역할 및 허용 브랜드 매핑 정보 로드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[RBAC 역할 지정 및 변경 사유 필수 검증]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4대 표준 역할 중 지정. 변경 사유 미입력 시 4A Alert 노출하여 무단 권한 변경 방지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3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[브랜드별 데이터 접근 통제 매핑]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7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 마케터/연구원은 체크된 담당 브랜드의 시안 및 이력만 열람 가능하도록 Row-level 보안 제어 (저장 시 5A Confirm)</a:t>
                      </a:r>
                      <a:endParaRPr/>
                    </a:p>
                  </a:txBody>
                  <a:tcPr marT="17775" marB="17775" marR="34925" marL="349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기본프레임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2015-05-14T02:17:08Z</dcterms:created>
  <dc:creator>주식회사 엠파시 (Empasy Inc.)</dc:creator>
</cp:coreProperties>
</file>