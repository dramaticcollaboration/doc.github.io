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36" autoAdjust="0"/>
  </p:normalViewPr>
  <p:slideViewPr>
    <p:cSldViewPr snapToGrid="0" snapToObjects="1">
      <p:cViewPr varScale="1">
        <p:scale>
          <a:sx n="95" d="100"/>
          <a:sy n="95" d="100"/>
        </p:scale>
        <p:origin x="115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7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안녕하십니까</a:t>
            </a:r>
            <a:r>
              <a:rPr lang="en-US" altLang="ko-KR" dirty="0"/>
              <a:t>! '</a:t>
            </a:r>
            <a:r>
              <a:rPr lang="ko-KR" altLang="en-US" dirty="0"/>
              <a:t>한빛글로벌 </a:t>
            </a:r>
            <a:r>
              <a:rPr lang="en-US" altLang="ko-KR" dirty="0"/>
              <a:t>SyncFlow AI </a:t>
            </a:r>
            <a:r>
              <a:rPr lang="ko-KR" altLang="en-US" dirty="0"/>
              <a:t>시스템 구축 사업</a:t>
            </a:r>
            <a:r>
              <a:rPr lang="en-US" altLang="ko-KR" dirty="0"/>
              <a:t>'</a:t>
            </a:r>
            <a:r>
              <a:rPr lang="ko-KR" altLang="en-US" dirty="0"/>
              <a:t>의 주관 수행사인 </a:t>
            </a:r>
            <a:r>
              <a:rPr lang="ko-KR" altLang="en-US" dirty="0" err="1"/>
              <a:t>엠파시</a:t>
            </a:r>
            <a:r>
              <a:rPr lang="ko-KR" altLang="en-US" dirty="0"/>
              <a:t> </a:t>
            </a:r>
            <a:r>
              <a:rPr lang="ko-KR" altLang="en-US" dirty="0" err="1"/>
              <a:t>박준혁입니다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저희는 기존 한빛글로벌의 </a:t>
            </a:r>
            <a:r>
              <a:rPr lang="ko-KR" altLang="en-US" dirty="0" err="1"/>
              <a:t>전자구매포털등에</a:t>
            </a:r>
            <a:r>
              <a:rPr lang="ko-KR" altLang="en-US" dirty="0"/>
              <a:t> 대한 경험이 많은 </a:t>
            </a:r>
            <a:r>
              <a:rPr lang="ko-KR" altLang="en-US" dirty="0" err="1"/>
              <a:t>데이터브릿지와</a:t>
            </a:r>
            <a:r>
              <a:rPr lang="ko-KR" altLang="en-US" dirty="0"/>
              <a:t> 함께 팀을 꾸렸습니다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이 프로젝트는 오늘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16</a:t>
            </a:r>
            <a:r>
              <a:rPr lang="ko-KR" altLang="en-US" dirty="0"/>
              <a:t>일을 시작으로 내년 </a:t>
            </a:r>
            <a:r>
              <a:rPr lang="en-US" altLang="ko-KR" dirty="0"/>
              <a:t>5</a:t>
            </a:r>
            <a:r>
              <a:rPr lang="ko-KR" altLang="en-US" dirty="0"/>
              <a:t>월 말까지 약 </a:t>
            </a:r>
            <a:r>
              <a:rPr lang="en-US" altLang="ko-KR" dirty="0"/>
              <a:t>7.5</a:t>
            </a:r>
            <a:r>
              <a:rPr lang="ko-KR" altLang="en-US" dirty="0"/>
              <a:t>개월 동안 </a:t>
            </a:r>
            <a:r>
              <a:rPr lang="ko-KR" altLang="en-US" dirty="0" err="1"/>
              <a:t>구매담당자분들과</a:t>
            </a:r>
            <a:r>
              <a:rPr lang="ko-KR" altLang="en-US" dirty="0"/>
              <a:t> </a:t>
            </a:r>
            <a:r>
              <a:rPr lang="en-US" altLang="ko-KR" dirty="0"/>
              <a:t>QA </a:t>
            </a:r>
            <a:r>
              <a:rPr lang="ko-KR" altLang="en-US" dirty="0"/>
              <a:t>담당자분들이 사용할  </a:t>
            </a:r>
            <a:r>
              <a:rPr lang="en-US" altLang="ko-KR" dirty="0"/>
              <a:t>AI </a:t>
            </a:r>
            <a:r>
              <a:rPr lang="ko-KR" altLang="en-US" dirty="0"/>
              <a:t>검증 파트너를 만드는 것을 목표로 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오늘 보고드릴 내용은 크게 세 가지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첫 </a:t>
            </a:r>
            <a:r>
              <a:rPr lang="ko-KR" altLang="en-US" dirty="0" err="1"/>
              <a:t>번째로는</a:t>
            </a:r>
            <a:r>
              <a:rPr lang="en-US" altLang="ko-KR" dirty="0"/>
              <a:t>, </a:t>
            </a:r>
            <a:r>
              <a:rPr lang="ko-KR" altLang="en-US" dirty="0"/>
              <a:t>이번 사업이 어떤 배경과 목표를 갖고 출발하는지 개요와 핵심 추진 전략을 설명 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</a:t>
            </a:r>
            <a:r>
              <a:rPr lang="ko-KR" altLang="en-US" dirty="0" err="1"/>
              <a:t>번째로는</a:t>
            </a:r>
            <a:r>
              <a:rPr lang="en-US" altLang="ko-KR" dirty="0"/>
              <a:t>, </a:t>
            </a:r>
            <a:r>
              <a:rPr lang="ko-KR" altLang="en-US" dirty="0"/>
              <a:t>실제로 구축될 시스템 아키텍처와 현업에서 매일 쓰시게 될 핵심 화면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AI</a:t>
            </a:r>
            <a:r>
              <a:rPr lang="ko-KR" altLang="en-US" dirty="0"/>
              <a:t>가 어떻게 안전하게 검증하는지 동작 방식을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 err="1"/>
              <a:t>PLM-Nexus</a:t>
            </a:r>
            <a:r>
              <a:rPr lang="ko-KR" altLang="en-US" dirty="0"/>
              <a:t>를 포함한 사내 시스템 연계 방안도 함께 설명드릴 예정입니다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 세 </a:t>
            </a:r>
            <a:r>
              <a:rPr lang="ko-KR" altLang="en-US" dirty="0" err="1"/>
              <a:t>번째로는</a:t>
            </a:r>
            <a:r>
              <a:rPr lang="en-US" altLang="ko-KR" dirty="0"/>
              <a:t>, </a:t>
            </a:r>
            <a:r>
              <a:rPr lang="ko-KR" altLang="en-US" dirty="0"/>
              <a:t>내년 </a:t>
            </a:r>
            <a:r>
              <a:rPr lang="en-US" altLang="ko-KR" dirty="0"/>
              <a:t>5</a:t>
            </a:r>
            <a:r>
              <a:rPr lang="ko-KR" altLang="en-US" dirty="0"/>
              <a:t>월 오픈까지 </a:t>
            </a:r>
            <a:r>
              <a:rPr lang="en-US" altLang="ko-KR" dirty="0"/>
              <a:t>7.5</a:t>
            </a:r>
            <a:r>
              <a:rPr lang="ko-KR" altLang="en-US" dirty="0"/>
              <a:t>개월간의 전체 공정표와 인력 투입 계획</a:t>
            </a:r>
            <a:r>
              <a:rPr lang="en-US" altLang="ko-KR" dirty="0"/>
              <a:t>, </a:t>
            </a:r>
            <a:r>
              <a:rPr lang="ko-KR" altLang="en-US" dirty="0"/>
              <a:t>품질과 위험 관리</a:t>
            </a:r>
            <a:r>
              <a:rPr lang="en-US" altLang="ko-KR" dirty="0"/>
              <a:t>, </a:t>
            </a:r>
            <a:r>
              <a:rPr lang="ko-KR" altLang="en-US" dirty="0"/>
              <a:t>그리고 당장 이번 주와 다음 주에 함께 </a:t>
            </a:r>
            <a:r>
              <a:rPr lang="ko-KR" altLang="en-US" dirty="0" err="1"/>
              <a:t>챙겨주셔야</a:t>
            </a:r>
            <a:r>
              <a:rPr lang="ko-KR" altLang="en-US" dirty="0"/>
              <a:t> 할 협조 사항을 말씀드리겠습니다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사업 개요부터 말씀드리겠습니다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이번 프로젝트의 공식 명칭은 </a:t>
            </a:r>
            <a:r>
              <a:rPr lang="en-US" altLang="ko-KR" dirty="0"/>
              <a:t>'</a:t>
            </a:r>
            <a:r>
              <a:rPr lang="ko-KR" altLang="en-US" dirty="0"/>
              <a:t>한빛글로벌 </a:t>
            </a:r>
            <a:r>
              <a:rPr lang="en-US" altLang="ko-KR" dirty="0" err="1"/>
              <a:t>SyncFlow</a:t>
            </a:r>
            <a:r>
              <a:rPr lang="en-US" altLang="ko-KR" dirty="0"/>
              <a:t> AI </a:t>
            </a:r>
            <a:r>
              <a:rPr lang="ko-KR" altLang="en-US" dirty="0"/>
              <a:t>시스템 구축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사업 기간은 오늘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16</a:t>
            </a:r>
            <a:r>
              <a:rPr lang="ko-KR" altLang="en-US" dirty="0"/>
              <a:t>일부터 내년 </a:t>
            </a:r>
            <a:r>
              <a:rPr lang="en-US" altLang="ko-KR" dirty="0"/>
              <a:t>2027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일까지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7.5</a:t>
            </a:r>
            <a:r>
              <a:rPr lang="ko-KR" altLang="en-US" dirty="0"/>
              <a:t>개월간 진행됩니다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추진 배경에 대해서는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 전장부품 구매계약 규제는 날로 엄격해지고 구매조달 채널과 콘텐츠는 폭발적으로 늘고 있습니다</a:t>
            </a:r>
            <a:r>
              <a:rPr lang="en-US" altLang="ko-KR" dirty="0"/>
              <a:t>. </a:t>
            </a:r>
            <a:r>
              <a:rPr lang="ko-KR" altLang="en-US" dirty="0"/>
              <a:t>사람이 일일이 눈으로 보다 보면 병목도 생기고 놓치는 부분도 생길 수밖에 없습니다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법률 조항과 시험성적서를 찾아 대조하는 </a:t>
            </a:r>
            <a:r>
              <a:rPr lang="en-US" altLang="ko-KR" dirty="0"/>
              <a:t>AI </a:t>
            </a:r>
            <a:r>
              <a:rPr lang="ko-KR" altLang="en-US" dirty="0"/>
              <a:t>엔진을 만들어</a:t>
            </a:r>
            <a:r>
              <a:rPr lang="en-US" altLang="ko-KR" dirty="0"/>
              <a:t>, </a:t>
            </a:r>
            <a:r>
              <a:rPr lang="ko-KR" altLang="en-US" dirty="0"/>
              <a:t>법적 리스크를 사전에 판단하고 검증 시간도 대폭 줄이는 것을 목표로 하고 있습니다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추진 배경과 기대 효과입니다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현재는 구매담당자가 계약·도서을 올리면 </a:t>
            </a:r>
            <a:r>
              <a:rPr lang="en-US" altLang="ko-KR" dirty="0"/>
              <a:t>QA </a:t>
            </a:r>
            <a:r>
              <a:rPr lang="ko-KR" altLang="en-US" dirty="0"/>
              <a:t>담당자분들이 하나하나 손으로 검토하시다 보니 검토 기간이 오래 걸렸습니다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그러다 보니 구매조달 일정이 촉박해지기도 하고</a:t>
            </a:r>
            <a:r>
              <a:rPr lang="en-US" altLang="ko-KR" dirty="0"/>
              <a:t>, </a:t>
            </a:r>
            <a:r>
              <a:rPr lang="ko-KR" altLang="en-US" dirty="0"/>
              <a:t>혹시라도 </a:t>
            </a:r>
            <a:r>
              <a:rPr lang="ko-KR" altLang="en-US" dirty="0" err="1"/>
              <a:t>미시험검증</a:t>
            </a:r>
            <a:r>
              <a:rPr lang="ko-KR" altLang="en-US" dirty="0"/>
              <a:t> 표현이 나가서 </a:t>
            </a:r>
            <a:r>
              <a:rPr lang="ko-KR" altLang="en-US" dirty="0" err="1"/>
              <a:t>공정위·표준원</a:t>
            </a:r>
            <a:r>
              <a:rPr lang="ko-KR" altLang="en-US" dirty="0"/>
              <a:t> 시정명령이나 과징금을 받게 되면 사업본부에도 타격을 </a:t>
            </a:r>
            <a:r>
              <a:rPr lang="ko-KR" altLang="en-US" dirty="0" err="1"/>
              <a:t>받을수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이번 </a:t>
            </a:r>
            <a:r>
              <a:rPr lang="en-US" altLang="ko-KR" dirty="0"/>
              <a:t>AI </a:t>
            </a:r>
            <a:r>
              <a:rPr lang="ko-KR" altLang="en-US" dirty="0"/>
              <a:t>시스템이 도입되면 </a:t>
            </a:r>
            <a:r>
              <a:rPr lang="en-US" altLang="ko-KR" dirty="0"/>
              <a:t> </a:t>
            </a:r>
            <a:r>
              <a:rPr lang="ko-KR" altLang="en-US" dirty="0"/>
              <a:t>계약·도서을 올리자마자 몇 분 안에 </a:t>
            </a:r>
            <a:r>
              <a:rPr lang="en-US" altLang="ko-KR" dirty="0"/>
              <a:t>AI</a:t>
            </a:r>
            <a:r>
              <a:rPr lang="ko-KR" altLang="en-US" dirty="0"/>
              <a:t>가 </a:t>
            </a:r>
            <a:r>
              <a:rPr lang="ko-KR" altLang="en-US" dirty="0" err="1"/>
              <a:t>독소조항나</a:t>
            </a:r>
            <a:r>
              <a:rPr lang="ko-KR" altLang="en-US" dirty="0"/>
              <a:t> 주의 표현을 하이라이트로 보여줍니다</a:t>
            </a:r>
            <a:r>
              <a:rPr lang="en-US" altLang="ko-KR" dirty="0"/>
              <a:t>. </a:t>
            </a:r>
            <a:r>
              <a:rPr lang="ko-KR" altLang="en-US" dirty="0"/>
              <a:t>단순한 반복적인 사전 검토 시간이 대폭 줄어 </a:t>
            </a:r>
            <a:r>
              <a:rPr lang="ko-KR" altLang="en-US" dirty="0" err="1"/>
              <a:t>들거라고</a:t>
            </a:r>
            <a:r>
              <a:rPr lang="ko-KR" altLang="en-US" dirty="0"/>
              <a:t> 기대하고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거기에 </a:t>
            </a:r>
            <a:r>
              <a:rPr lang="ko-KR" altLang="en-US" dirty="0" err="1"/>
              <a:t>공정위·표준원</a:t>
            </a:r>
            <a:r>
              <a:rPr lang="ko-KR" altLang="en-US" dirty="0"/>
              <a:t> 규정과 </a:t>
            </a:r>
            <a:r>
              <a:rPr lang="en-US" altLang="ko-KR" dirty="0" err="1"/>
              <a:t>PLM-Nexus</a:t>
            </a:r>
            <a:r>
              <a:rPr lang="ko-KR" altLang="en-US" dirty="0"/>
              <a:t>에 있는 시험검증 데이터에 대한 대조를 통해서</a:t>
            </a:r>
            <a:r>
              <a:rPr lang="en-US" altLang="ko-KR" dirty="0"/>
              <a:t>, </a:t>
            </a:r>
            <a:r>
              <a:rPr lang="ko-KR" altLang="en-US" dirty="0"/>
              <a:t>법적 리스크를 최소화 하고 그동안 쌓인 검증 노하우도 회사의 자산으로 남길수 있습니다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과업 범위입니다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지금까지 수집했던 요구사항 내용들을 기반으로 과업 범위를 만들었습니다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 </a:t>
            </a:r>
            <a:r>
              <a:rPr lang="ko-KR" altLang="en-US" dirty="0" err="1"/>
              <a:t>번째에</a:t>
            </a:r>
            <a:r>
              <a:rPr lang="ko-KR" altLang="en-US" dirty="0"/>
              <a:t> 있는 </a:t>
            </a:r>
            <a:r>
              <a:rPr lang="en-US" altLang="ko-KR" dirty="0"/>
              <a:t>'</a:t>
            </a:r>
            <a:r>
              <a:rPr lang="ko-KR" altLang="en-US" dirty="0"/>
              <a:t>시험성적서 </a:t>
            </a:r>
            <a:r>
              <a:rPr lang="en-US" altLang="ko-KR" dirty="0"/>
              <a:t>DB </a:t>
            </a:r>
            <a:r>
              <a:rPr lang="ko-KR" altLang="en-US" dirty="0" err="1"/>
              <a:t>구축＇은</a:t>
            </a:r>
            <a:r>
              <a:rPr lang="ko-KR" altLang="en-US" dirty="0"/>
              <a:t> </a:t>
            </a:r>
            <a:r>
              <a:rPr lang="en-US" altLang="ko-KR" dirty="0" err="1"/>
              <a:t>PLM-Nexus</a:t>
            </a:r>
            <a:r>
              <a:rPr lang="ko-KR" altLang="en-US" dirty="0"/>
              <a:t>에 있는 원소재 </a:t>
            </a:r>
            <a:r>
              <a:rPr lang="ko-KR" altLang="en-US" dirty="0" err="1"/>
              <a:t>배상한도성능규격이나</a:t>
            </a:r>
            <a:r>
              <a:rPr lang="ko-KR" altLang="en-US" dirty="0"/>
              <a:t> 기술원 보고서를 </a:t>
            </a:r>
            <a:r>
              <a:rPr lang="en-US" altLang="ko-KR" dirty="0"/>
              <a:t>AI</a:t>
            </a:r>
            <a:r>
              <a:rPr lang="ko-KR" altLang="en-US" dirty="0"/>
              <a:t>가 바로 읽을 수 있게 기반을 다지는 작업입니다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계약·도서을 올리면 글자와 위치를 뽑아내는 텍스트 추출</a:t>
            </a:r>
            <a:r>
              <a:rPr lang="en-US" altLang="ko-KR" dirty="0"/>
              <a:t>, </a:t>
            </a:r>
            <a:r>
              <a:rPr lang="ko-KR" altLang="en-US" dirty="0"/>
              <a:t>규칙과 법령을 따지는 </a:t>
            </a:r>
            <a:r>
              <a:rPr lang="en-US" altLang="ko-KR" dirty="0"/>
              <a:t>3</a:t>
            </a:r>
            <a:r>
              <a:rPr lang="ko-KR" altLang="en-US" dirty="0"/>
              <a:t>단계 판정 엔진과 </a:t>
            </a:r>
            <a:r>
              <a:rPr lang="en-US" altLang="ko-KR" dirty="0"/>
              <a:t>AI </a:t>
            </a:r>
            <a:r>
              <a:rPr lang="ko-KR" altLang="en-US" dirty="0"/>
              <a:t>에이전트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그리고 원본 계약·도서과 판정 결과를 한눈에 비교해 볼 수 있는 </a:t>
            </a:r>
            <a:r>
              <a:rPr lang="en-US" altLang="ko-KR" dirty="0"/>
              <a:t>'</a:t>
            </a:r>
            <a:r>
              <a:rPr lang="ko-KR" altLang="en-US" dirty="0"/>
              <a:t>계약·도서 대조 뷰어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AI Blink </a:t>
            </a:r>
            <a:r>
              <a:rPr lang="ko-KR" altLang="en-US" dirty="0"/>
              <a:t>기능</a:t>
            </a:r>
            <a:r>
              <a:rPr lang="en-US" altLang="ko-KR" dirty="0"/>
              <a:t>, </a:t>
            </a:r>
            <a:r>
              <a:rPr lang="ko-KR" altLang="en-US" dirty="0"/>
              <a:t>마지막으로 검증 결과서에 대한 </a:t>
            </a:r>
            <a:r>
              <a:rPr lang="en-US" altLang="ko-KR" dirty="0"/>
              <a:t>'</a:t>
            </a:r>
            <a:r>
              <a:rPr lang="ko-KR" altLang="en-US" dirty="0"/>
              <a:t>결과 파일 고도화</a:t>
            </a:r>
            <a:r>
              <a:rPr lang="en-US" altLang="ko-KR" dirty="0"/>
              <a:t>'</a:t>
            </a:r>
            <a:r>
              <a:rPr lang="ko-KR" altLang="en-US" dirty="0"/>
              <a:t>까지 들어갑니다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단순한 </a:t>
            </a:r>
            <a:r>
              <a:rPr lang="ko-KR" altLang="en-US" dirty="0" err="1"/>
              <a:t>챗봇</a:t>
            </a:r>
            <a:r>
              <a:rPr lang="ko-KR" altLang="en-US" dirty="0"/>
              <a:t> 하나 만드는 게 아니라</a:t>
            </a:r>
            <a:r>
              <a:rPr lang="en-US" altLang="ko-KR" dirty="0"/>
              <a:t>, </a:t>
            </a:r>
            <a:r>
              <a:rPr lang="ko-KR" altLang="en-US" dirty="0"/>
              <a:t>실제 업무가 물 흐르듯 돌아가는 완결된 검증 시스템을 완성하겠습니다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범위 경계와 확정 사항입니다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위쪽 표를 보시면</a:t>
            </a:r>
            <a:r>
              <a:rPr lang="en-US" altLang="ko-KR" dirty="0"/>
              <a:t>, </a:t>
            </a:r>
            <a:r>
              <a:rPr lang="ko-KR" altLang="en-US" dirty="0"/>
              <a:t>이번 프로젝트의 범위는 </a:t>
            </a:r>
            <a:r>
              <a:rPr lang="en-US" altLang="ko-KR" dirty="0"/>
              <a:t>'</a:t>
            </a:r>
            <a:r>
              <a:rPr lang="ko-KR" altLang="en-US" dirty="0"/>
              <a:t>한국어 텍스트와 레이아웃</a:t>
            </a:r>
            <a:r>
              <a:rPr lang="en-US" altLang="ko-KR" dirty="0"/>
              <a:t>', '</a:t>
            </a:r>
            <a:r>
              <a:rPr lang="ko-KR" altLang="en-US" dirty="0" err="1"/>
              <a:t>공정위·표준원</a:t>
            </a:r>
            <a:r>
              <a:rPr lang="ko-KR" altLang="en-US" dirty="0"/>
              <a:t> 하도급거래 공정화법</a:t>
            </a:r>
            <a:r>
              <a:rPr lang="en-US" altLang="ko-KR" dirty="0"/>
              <a:t>', '</a:t>
            </a:r>
            <a:r>
              <a:rPr lang="en-US" altLang="ko-KR" dirty="0" err="1"/>
              <a:t>PLM-Nexus</a:t>
            </a:r>
            <a:r>
              <a:rPr lang="ko-KR" altLang="en-US" dirty="0"/>
              <a:t> 시험검증 </a:t>
            </a:r>
            <a:r>
              <a:rPr lang="en-US" altLang="ko-KR" dirty="0"/>
              <a:t>DB</a:t>
            </a:r>
            <a:r>
              <a:rPr lang="ko-KR" altLang="en-US" dirty="0"/>
              <a:t>와 </a:t>
            </a:r>
            <a:r>
              <a:rPr lang="ko-KR" altLang="en-US" dirty="0" err="1"/>
              <a:t>기간계</a:t>
            </a:r>
            <a:r>
              <a:rPr lang="ko-KR" altLang="en-US" dirty="0"/>
              <a:t> 연계</a:t>
            </a:r>
            <a:r>
              <a:rPr lang="en-US" altLang="ko-KR" dirty="0"/>
              <a:t>'</a:t>
            </a:r>
            <a:r>
              <a:rPr lang="ko-KR" altLang="en-US" dirty="0"/>
              <a:t>에 집중합니다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사진 속 사람 얼굴이 진짜인지 판별하는 </a:t>
            </a:r>
            <a:r>
              <a:rPr lang="ko-KR" altLang="en-US" dirty="0" err="1"/>
              <a:t>3D모델링</a:t>
            </a:r>
            <a:r>
              <a:rPr lang="ko-KR" altLang="en-US" dirty="0"/>
              <a:t> 분석이나 외국 법률 검증</a:t>
            </a:r>
            <a:r>
              <a:rPr lang="en-US" altLang="ko-KR" dirty="0"/>
              <a:t>, </a:t>
            </a:r>
            <a:r>
              <a:rPr lang="ko-KR" altLang="en-US" dirty="0"/>
              <a:t>사내 결재 시스템 자체를 새로 구축하는 것은 범위에서 제외했습니다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확정사항 </a:t>
            </a:r>
            <a:r>
              <a:rPr lang="en-US" altLang="ko-KR" dirty="0"/>
              <a:t>4</a:t>
            </a:r>
            <a:r>
              <a:rPr lang="ko-KR" altLang="en-US" dirty="0"/>
              <a:t>가지는 가능하면 다음 주까지 함께 확정해 주시면 프로젝트에 큰 도움이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확정해야 하는 사항은</a:t>
            </a:r>
            <a:endParaRPr lang="en-US" altLang="ko-KR" dirty="0"/>
          </a:p>
          <a:p>
            <a:r>
              <a:rPr lang="en-US" altLang="ko-KR" dirty="0"/>
              <a:t> AI </a:t>
            </a:r>
            <a:r>
              <a:rPr lang="ko-KR" altLang="en-US" dirty="0"/>
              <a:t>정답지가 될 </a:t>
            </a:r>
            <a:r>
              <a:rPr lang="en-US" altLang="ko-KR" dirty="0"/>
              <a:t>＇</a:t>
            </a:r>
            <a:r>
              <a:rPr lang="ko-KR" altLang="en-US" dirty="0" err="1"/>
              <a:t>골든셋</a:t>
            </a:r>
            <a:r>
              <a:rPr lang="en-US" altLang="ko-KR" dirty="0"/>
              <a:t>’,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PLM-Nexus</a:t>
            </a:r>
            <a:r>
              <a:rPr lang="ko-KR" altLang="en-US" dirty="0"/>
              <a:t>와 사내 시스템 </a:t>
            </a:r>
            <a:r>
              <a:rPr lang="en-US" altLang="ko-KR" dirty="0"/>
              <a:t>＇</a:t>
            </a:r>
            <a:r>
              <a:rPr lang="ko-KR" altLang="en-US" dirty="0"/>
              <a:t>연동 방식</a:t>
            </a:r>
            <a:r>
              <a:rPr lang="en-US" altLang="ko-KR" dirty="0"/>
              <a:t>’, </a:t>
            </a:r>
          </a:p>
          <a:p>
            <a:r>
              <a:rPr lang="ko-KR" altLang="en-US" dirty="0"/>
              <a:t>신제품 계약·도서이 </a:t>
            </a:r>
            <a:r>
              <a:rPr lang="en-US" altLang="ko-KR" dirty="0"/>
              <a:t>AI </a:t>
            </a:r>
            <a:r>
              <a:rPr lang="ko-KR" altLang="en-US" dirty="0"/>
              <a:t>학습에 쓰이지 않도록 막는 </a:t>
            </a:r>
            <a:r>
              <a:rPr lang="en-US" altLang="ko-KR" dirty="0"/>
              <a:t>＇</a:t>
            </a:r>
            <a:r>
              <a:rPr lang="ko-KR" altLang="en-US" dirty="0"/>
              <a:t>보안 승인</a:t>
            </a:r>
            <a:r>
              <a:rPr lang="en-US" altLang="ko-KR" dirty="0"/>
              <a:t>’, </a:t>
            </a:r>
          </a:p>
          <a:p>
            <a:r>
              <a:rPr lang="ko-KR" altLang="en-US" dirty="0"/>
              <a:t>그리고 현업 목소리를 들려주실 </a:t>
            </a:r>
            <a:r>
              <a:rPr lang="en-US" altLang="ko-KR" dirty="0"/>
              <a:t>'</a:t>
            </a:r>
            <a:r>
              <a:rPr lang="ko-KR" altLang="en-US" dirty="0"/>
              <a:t>인터뷰 대상자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이 내용들이 </a:t>
            </a:r>
            <a:r>
              <a:rPr lang="en-US" altLang="ko-KR" dirty="0"/>
              <a:t>2</a:t>
            </a:r>
            <a:r>
              <a:rPr lang="ko-KR" altLang="en-US" dirty="0"/>
              <a:t>주차에 </a:t>
            </a:r>
            <a:r>
              <a:rPr lang="ko-KR" altLang="en-US" dirty="0" err="1"/>
              <a:t>확정될수</a:t>
            </a:r>
            <a:r>
              <a:rPr lang="ko-KR" altLang="en-US" dirty="0"/>
              <a:t> 있으면 프로젝트를 빠르게 진행할 수 </a:t>
            </a:r>
            <a:r>
              <a:rPr lang="ko-KR" altLang="en-US" dirty="0" err="1"/>
              <a:t>있을거라고</a:t>
            </a:r>
            <a:r>
              <a:rPr lang="ko-KR" altLang="en-US" dirty="0"/>
              <a:t> 생각합니다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추진 전략입니다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전체 일정은 분석</a:t>
            </a:r>
            <a:r>
              <a:rPr lang="en-US" altLang="ko-KR" dirty="0"/>
              <a:t>,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시험</a:t>
            </a:r>
            <a:r>
              <a:rPr lang="en-US" altLang="ko-KR" dirty="0"/>
              <a:t>, </a:t>
            </a:r>
            <a:r>
              <a:rPr lang="ko-KR" altLang="en-US" dirty="0"/>
              <a:t>이행 </a:t>
            </a:r>
            <a:r>
              <a:rPr lang="en-US" altLang="ko-KR" dirty="0"/>
              <a:t>5</a:t>
            </a:r>
            <a:r>
              <a:rPr lang="ko-KR" altLang="en-US" dirty="0"/>
              <a:t>단계로 진행됩니다</a:t>
            </a:r>
            <a:r>
              <a:rPr lang="en-US" altLang="ko-KR" dirty="0"/>
              <a:t>, </a:t>
            </a:r>
            <a:r>
              <a:rPr lang="ko-KR" altLang="en-US" dirty="0"/>
              <a:t>단계가 끝날 때마다 </a:t>
            </a:r>
            <a:r>
              <a:rPr lang="en-US" altLang="ko-KR" dirty="0"/>
              <a:t>M1</a:t>
            </a:r>
            <a:r>
              <a:rPr lang="ko-KR" altLang="en-US" dirty="0"/>
              <a:t>부터 </a:t>
            </a:r>
            <a:r>
              <a:rPr lang="en-US" altLang="ko-KR" dirty="0"/>
              <a:t>M6</a:t>
            </a:r>
            <a:r>
              <a:rPr lang="ko-KR" altLang="en-US" dirty="0"/>
              <a:t>까지 마일스톤을 </a:t>
            </a:r>
            <a:r>
              <a:rPr lang="ko-KR" altLang="en-US"/>
              <a:t>둬서 고객사 </a:t>
            </a:r>
            <a:r>
              <a:rPr lang="ko-KR" altLang="en-US" dirty="0"/>
              <a:t>승인을 받고 다음 단계로 넘어가는 구조입니다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추진 전략에 대한 저희의 </a:t>
            </a:r>
            <a:r>
              <a:rPr lang="en-US" altLang="ko-KR" dirty="0"/>
              <a:t>3</a:t>
            </a:r>
            <a:r>
              <a:rPr lang="ko-KR" altLang="en-US" dirty="0"/>
              <a:t>가지 핵심 내용을 말씀드리겠습니다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많은 프로젝트에서 </a:t>
            </a:r>
            <a:r>
              <a:rPr lang="en-US" altLang="ko-KR" dirty="0"/>
              <a:t>'</a:t>
            </a:r>
            <a:r>
              <a:rPr lang="ko-KR" altLang="en-US" dirty="0"/>
              <a:t>개발 끝날 때까지 화면을 보지 못하는 </a:t>
            </a:r>
            <a:r>
              <a:rPr lang="ko-KR" altLang="en-US" dirty="0" err="1"/>
              <a:t>답답함＇이</a:t>
            </a:r>
            <a:r>
              <a:rPr lang="ko-KR" altLang="en-US" dirty="0"/>
              <a:t> 있는 경우들이 많습니다</a:t>
            </a:r>
            <a:r>
              <a:rPr lang="en-US" altLang="ko-KR" dirty="0"/>
              <a:t>. 1</a:t>
            </a:r>
            <a:r>
              <a:rPr lang="ko-KR" altLang="en-US" dirty="0"/>
              <a:t>월 말 중간보고회 전에 현업분들이 직접 </a:t>
            </a:r>
            <a:r>
              <a:rPr lang="ko-KR" altLang="en-US" dirty="0" err="1"/>
              <a:t>볼수</a:t>
            </a:r>
            <a:r>
              <a:rPr lang="ko-KR" altLang="en-US" dirty="0"/>
              <a:t> 있는 프로토타입을 만들겠습니다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en-US" altLang="ko-KR" dirty="0" err="1"/>
              <a:t>PLM-Nexus</a:t>
            </a:r>
            <a:r>
              <a:rPr lang="ko-KR" altLang="en-US" dirty="0"/>
              <a:t>나 </a:t>
            </a:r>
            <a:r>
              <a:rPr lang="en-US" altLang="ko-KR" dirty="0" err="1"/>
              <a:t>SRM-Portal</a:t>
            </a:r>
            <a:r>
              <a:rPr lang="ko-KR" altLang="en-US" dirty="0"/>
              <a:t> 같은 사내 연계는 나중에 하면 늦기 때문에</a:t>
            </a:r>
            <a:r>
              <a:rPr lang="en-US" altLang="ko-KR" dirty="0"/>
              <a:t>, Mock</a:t>
            </a:r>
            <a:r>
              <a:rPr lang="ko-KR" altLang="en-US" dirty="0"/>
              <a:t>서버를 통해서라도 초반부터 미리미리 연동에 대한 개발 계획을 수립하도록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셋째</a:t>
            </a:r>
            <a:r>
              <a:rPr lang="en-US" altLang="ko-KR" dirty="0"/>
              <a:t>, 'AI</a:t>
            </a:r>
            <a:r>
              <a:rPr lang="ko-KR" altLang="en-US" dirty="0"/>
              <a:t>가 잘 되는 것 같다</a:t>
            </a:r>
            <a:r>
              <a:rPr lang="en-US" altLang="ko-KR" dirty="0"/>
              <a:t>'</a:t>
            </a:r>
            <a:r>
              <a:rPr lang="ko-KR" altLang="en-US" dirty="0"/>
              <a:t>는 막연한 느낌이 아니라</a:t>
            </a:r>
            <a:r>
              <a:rPr lang="en-US" altLang="ko-KR" dirty="0"/>
              <a:t>, </a:t>
            </a:r>
            <a:r>
              <a:rPr lang="ko-KR" altLang="en-US" dirty="0" err="1"/>
              <a:t>골든셋으로</a:t>
            </a:r>
            <a:r>
              <a:rPr lang="ko-KR" altLang="en-US" dirty="0"/>
              <a:t> 매번 시험을 치러서 정확도 수치를 투명하게 보여드리겠습니다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목표 시스템 구성입니다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왼쪽은 사용자가 보실 </a:t>
            </a:r>
            <a:r>
              <a:rPr lang="ko-KR" altLang="en-US" dirty="0" err="1"/>
              <a:t>프론트엔드로</a:t>
            </a:r>
            <a:r>
              <a:rPr lang="en-US" altLang="ko-KR" dirty="0"/>
              <a:t>, </a:t>
            </a:r>
            <a:r>
              <a:rPr lang="ko-KR" altLang="en-US" dirty="0"/>
              <a:t>계약·도서과 판정 결과를 한 화면에서 비교할 수 있게 만들겠습니다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가운데는 업무</a:t>
            </a:r>
            <a:r>
              <a:rPr lang="en-US" altLang="ko-KR" dirty="0"/>
              <a:t> </a:t>
            </a:r>
            <a:r>
              <a:rPr lang="ko-KR" altLang="en-US" dirty="0"/>
              <a:t>서버로 회원 인증과 연계</a:t>
            </a:r>
            <a:r>
              <a:rPr lang="en-US" altLang="ko-KR" dirty="0"/>
              <a:t>, </a:t>
            </a:r>
            <a:r>
              <a:rPr lang="ko-KR" altLang="en-US" dirty="0"/>
              <a:t>이력 관리를 수행하게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오른쪽이 핵심인 </a:t>
            </a:r>
            <a:r>
              <a:rPr lang="en-US" altLang="ko-KR" dirty="0"/>
              <a:t>AI </a:t>
            </a:r>
            <a:r>
              <a:rPr lang="ko-KR" altLang="en-US" dirty="0"/>
              <a:t>엔진입니다</a:t>
            </a:r>
            <a:r>
              <a:rPr lang="en-US" altLang="ko-KR" dirty="0"/>
              <a:t>. RAG</a:t>
            </a:r>
            <a:r>
              <a:rPr lang="ko-KR" altLang="en-US" dirty="0"/>
              <a:t>를 통한 규칙 사전과 법령 검색을 수행하고 이를 기반으로</a:t>
            </a:r>
            <a:r>
              <a:rPr lang="en-US" altLang="ko-KR" dirty="0"/>
              <a:t> LLM</a:t>
            </a:r>
            <a:r>
              <a:rPr lang="ko-KR" altLang="en-US" dirty="0"/>
              <a:t>과 연동하는 </a:t>
            </a:r>
            <a:r>
              <a:rPr lang="en-US" altLang="ko-KR" dirty="0"/>
              <a:t>AI </a:t>
            </a:r>
            <a:r>
              <a:rPr lang="ko-KR" altLang="en-US" dirty="0"/>
              <a:t>에이전트를 구축하게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아래쪽 데이터베이스는 </a:t>
            </a:r>
            <a:r>
              <a:rPr lang="en-US" altLang="ko-KR" dirty="0"/>
              <a:t>PostgreSQL</a:t>
            </a:r>
            <a:r>
              <a:rPr lang="ko-KR" altLang="en-US" dirty="0"/>
              <a:t>과 </a:t>
            </a:r>
            <a:r>
              <a:rPr lang="en-US" altLang="ko-KR" dirty="0" err="1"/>
              <a:t>pgvector</a:t>
            </a:r>
            <a:r>
              <a:rPr lang="ko-KR" altLang="en-US" dirty="0"/>
              <a:t>를 사용해서 데이터와 </a:t>
            </a:r>
            <a:r>
              <a:rPr lang="en-US" altLang="ko-KR" dirty="0"/>
              <a:t>AI</a:t>
            </a:r>
            <a:r>
              <a:rPr lang="ko-KR" altLang="en-US" dirty="0"/>
              <a:t>를 위한 벡터 검색을 한곳에서 처리합니다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상단과 우측에는 </a:t>
            </a:r>
            <a:r>
              <a:rPr lang="en-US" altLang="ko-KR" dirty="0"/>
              <a:t>SSO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 err="1"/>
              <a:t>전자구매포털</a:t>
            </a:r>
            <a:r>
              <a:rPr lang="en-US" altLang="ko-KR" dirty="0"/>
              <a:t>, KT </a:t>
            </a:r>
            <a:r>
              <a:rPr lang="ko-KR" altLang="en-US" dirty="0"/>
              <a:t>HB-Monitor 성분 사전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 err="1"/>
              <a:t>PLM-Nexus</a:t>
            </a:r>
            <a:r>
              <a:rPr lang="ko-KR" altLang="en-US" dirty="0"/>
              <a:t> 시험검증 데이터까지 연결하게 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en-US" altLang="ko-KR" dirty="0"/>
              <a:t>'AI</a:t>
            </a:r>
            <a:r>
              <a:rPr lang="ko-KR" altLang="en-US" dirty="0"/>
              <a:t>가 과연 믿을 </a:t>
            </a:r>
            <a:r>
              <a:rPr lang="ko-KR" altLang="en-US" dirty="0" err="1"/>
              <a:t>만한가</a:t>
            </a:r>
            <a:r>
              <a:rPr lang="en-US" altLang="ko-KR" dirty="0"/>
              <a:t>?'</a:t>
            </a:r>
            <a:r>
              <a:rPr lang="ko-KR" altLang="en-US" dirty="0"/>
              <a:t>에 대한 답을 드리기</a:t>
            </a:r>
            <a:r>
              <a:rPr lang="en-US" altLang="ko-KR" dirty="0"/>
              <a:t> </a:t>
            </a:r>
            <a:r>
              <a:rPr lang="ko-KR" altLang="en-US" dirty="0"/>
              <a:t>위한 판정 방식과 안전장치입니다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가 한 번에 찍어서 대답하는 게 아니라</a:t>
            </a:r>
            <a:r>
              <a:rPr lang="en-US" altLang="ko-KR" dirty="0"/>
              <a:t>, 3</a:t>
            </a:r>
            <a:r>
              <a:rPr lang="ko-KR" altLang="en-US" dirty="0"/>
              <a:t>단계로 꼼꼼하게 검증합니다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단계에서는 </a:t>
            </a:r>
            <a:r>
              <a:rPr lang="ko-KR" altLang="en-US" dirty="0" err="1"/>
              <a:t>독소조항</a:t>
            </a:r>
            <a:r>
              <a:rPr lang="ko-KR" altLang="en-US" dirty="0"/>
              <a:t> 사전으로 명백한 위반을 빠르게 먼저 걸러내게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단계에서는 </a:t>
            </a:r>
            <a:r>
              <a:rPr lang="ko-KR" altLang="en-US" dirty="0" err="1"/>
              <a:t>공정위·표준원</a:t>
            </a:r>
            <a:r>
              <a:rPr lang="ko-KR" altLang="en-US" dirty="0"/>
              <a:t> 가이드라인과 </a:t>
            </a:r>
            <a:r>
              <a:rPr lang="en-US" altLang="ko-KR" dirty="0" err="1"/>
              <a:t>PLM-Nexus</a:t>
            </a:r>
            <a:r>
              <a:rPr lang="ko-KR" altLang="en-US" dirty="0"/>
              <a:t> 시험성적서에서 </a:t>
            </a:r>
            <a:r>
              <a:rPr lang="en-US" altLang="ko-KR" dirty="0"/>
              <a:t>'</a:t>
            </a:r>
            <a:r>
              <a:rPr lang="ko-KR" altLang="en-US" dirty="0"/>
              <a:t>관련 법 조항과 실제 성능규격 근거</a:t>
            </a:r>
            <a:r>
              <a:rPr lang="en-US" altLang="ko-KR" dirty="0"/>
              <a:t>'</a:t>
            </a:r>
            <a:r>
              <a:rPr lang="ko-KR" altLang="en-US" dirty="0"/>
              <a:t>를 찾아냅니다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단계에서 </a:t>
            </a:r>
            <a:r>
              <a:rPr lang="en-US" altLang="ko-KR" dirty="0"/>
              <a:t>AI</a:t>
            </a:r>
            <a:r>
              <a:rPr lang="ko-KR" altLang="en-US" dirty="0"/>
              <a:t>가 문맥을 따져서 </a:t>
            </a:r>
            <a:r>
              <a:rPr lang="en-US" altLang="ko-KR" dirty="0"/>
              <a:t>'</a:t>
            </a:r>
            <a:r>
              <a:rPr lang="ko-KR" altLang="en-US" dirty="0"/>
              <a:t>금지</a:t>
            </a:r>
            <a:r>
              <a:rPr lang="en-US" altLang="ko-KR" dirty="0"/>
              <a:t>', '</a:t>
            </a:r>
            <a:r>
              <a:rPr lang="ko-KR" altLang="en-US" dirty="0"/>
              <a:t>주의</a:t>
            </a:r>
            <a:r>
              <a:rPr lang="en-US" altLang="ko-KR" dirty="0"/>
              <a:t>', '</a:t>
            </a:r>
            <a:r>
              <a:rPr lang="ko-KR" altLang="en-US" dirty="0"/>
              <a:t>안전</a:t>
            </a:r>
            <a:r>
              <a:rPr lang="en-US" altLang="ko-KR" dirty="0"/>
              <a:t>' </a:t>
            </a:r>
            <a:r>
              <a:rPr lang="ko-KR" altLang="en-US" dirty="0"/>
              <a:t>판정을 내리고 대안 조항까지 추천해 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아래쪽에는 </a:t>
            </a:r>
            <a:r>
              <a:rPr lang="en-US" altLang="ko-KR" dirty="0"/>
              <a:t>3</a:t>
            </a:r>
            <a:r>
              <a:rPr lang="ko-KR" altLang="en-US" dirty="0"/>
              <a:t>대 안전 가드레일 내용이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1</a:t>
            </a:r>
            <a:r>
              <a:rPr lang="ko-KR" altLang="en-US" dirty="0"/>
              <a:t>단계에서 걸린 금지 표현은 </a:t>
            </a:r>
            <a:r>
              <a:rPr lang="en-US" altLang="ko-KR" dirty="0"/>
              <a:t>AI</a:t>
            </a:r>
            <a:r>
              <a:rPr lang="ko-KR" altLang="en-US" dirty="0"/>
              <a:t>가 제아무리 똑똑해도 </a:t>
            </a:r>
            <a:r>
              <a:rPr lang="en-US" altLang="ko-KR" dirty="0"/>
              <a:t>'</a:t>
            </a:r>
            <a:r>
              <a:rPr lang="ko-KR" altLang="en-US" dirty="0"/>
              <a:t>안전하다</a:t>
            </a:r>
            <a:r>
              <a:rPr lang="en-US" altLang="ko-KR" dirty="0"/>
              <a:t>'</a:t>
            </a:r>
            <a:r>
              <a:rPr lang="ko-KR" altLang="en-US" dirty="0"/>
              <a:t>고 낮출 수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명확한 법률 조항이나 시험검증 데이터 근거가 없으면 판정 자체를 내리지 못하게 막았습니다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AI </a:t>
            </a:r>
            <a:r>
              <a:rPr lang="ko-KR" altLang="en-US" dirty="0"/>
              <a:t>확신도가 </a:t>
            </a:r>
            <a:r>
              <a:rPr lang="en-US" altLang="ko-KR" dirty="0"/>
              <a:t>70% </a:t>
            </a:r>
            <a:r>
              <a:rPr lang="ko-KR" altLang="en-US" dirty="0"/>
              <a:t>밑으로 떨어지는 애매한 문장은 사람 전문가에게 자동으로 넘겨서 안심하고 쓰실 수 있도록 하겠습니다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현업 </a:t>
            </a:r>
            <a:r>
              <a:rPr lang="ko-KR" altLang="en-US" dirty="0" err="1"/>
              <a:t>구매담당자분들과</a:t>
            </a:r>
            <a:r>
              <a:rPr lang="ko-KR" altLang="en-US" dirty="0"/>
              <a:t> </a:t>
            </a:r>
            <a:r>
              <a:rPr lang="en-US" altLang="ko-KR" dirty="0"/>
              <a:t>QA </a:t>
            </a:r>
            <a:r>
              <a:rPr lang="ko-KR" altLang="en-US" dirty="0"/>
              <a:t>담당자분들이 쓰시게 될 가장 중요한 화면입니다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화면 왼쪽에는 올리신 구매계약 계약·도서이나 기술시방서 원본이 그대로 보여지고</a:t>
            </a:r>
            <a:r>
              <a:rPr lang="en-US" altLang="ko-KR" dirty="0"/>
              <a:t>, </a:t>
            </a:r>
            <a:r>
              <a:rPr lang="ko-KR" altLang="en-US" dirty="0"/>
              <a:t>문제가 있는 문장마다 빨간색이나 노란색 박스로 표시합니다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오른쪽에는 </a:t>
            </a:r>
            <a:r>
              <a:rPr lang="en-US" altLang="ko-KR" dirty="0"/>
              <a:t>AI</a:t>
            </a:r>
            <a:r>
              <a:rPr lang="ko-KR" altLang="en-US" dirty="0"/>
              <a:t>가 분석한 판정 결과 카드가 정리되어 나오게 됩니다</a:t>
            </a:r>
            <a:r>
              <a:rPr lang="en-US" altLang="ko-KR" dirty="0"/>
              <a:t>, </a:t>
            </a:r>
            <a:r>
              <a:rPr lang="ko-KR" altLang="en-US" dirty="0"/>
              <a:t>위반된 법 조항과 함께 개선할 추천 조항까지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왼쪽 계약·도서에서 문장을 클릭하면</a:t>
            </a:r>
            <a:r>
              <a:rPr lang="en-US" altLang="ko-KR" dirty="0"/>
              <a:t>, </a:t>
            </a:r>
            <a:r>
              <a:rPr lang="ko-KR" altLang="en-US" dirty="0"/>
              <a:t>오른쪽에서 해당 카드가 깜빡이면서 바로 찾아주는 </a:t>
            </a:r>
            <a:r>
              <a:rPr lang="en-US" altLang="ko-KR" dirty="0"/>
              <a:t>AI Blink </a:t>
            </a:r>
            <a:r>
              <a:rPr lang="ko-KR" altLang="en-US" dirty="0"/>
              <a:t>기능이 들어있어서</a:t>
            </a:r>
            <a:r>
              <a:rPr lang="en-US" altLang="ko-KR" dirty="0"/>
              <a:t>, </a:t>
            </a:r>
            <a:r>
              <a:rPr lang="ko-KR" altLang="en-US" dirty="0"/>
              <a:t>수십 장짜리 기술시방서도 스크롤로 헤매지 않고 클릭 몇 번으로 바로바로 검토하고 수정하실 수 있도록 개발하겠습니다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사내 시스템 연계 방안입니다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사내 </a:t>
            </a:r>
            <a:r>
              <a:rPr lang="en-US" altLang="ko-KR" dirty="0"/>
              <a:t>SSO</a:t>
            </a:r>
            <a:r>
              <a:rPr lang="ko-KR" altLang="en-US" dirty="0"/>
              <a:t>를 통해 사번 로그인으로 별도 가입 없이 바로 </a:t>
            </a:r>
            <a:r>
              <a:rPr lang="ko-KR" altLang="en-US" dirty="0" err="1"/>
              <a:t>사용하실수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구매조달 결재 시스템인 </a:t>
            </a:r>
            <a:r>
              <a:rPr lang="ko-KR" altLang="en-US" dirty="0" err="1"/>
              <a:t>전자구매포털</a:t>
            </a:r>
            <a:r>
              <a:rPr lang="en-US" altLang="ko-KR" dirty="0"/>
              <a:t>(</a:t>
            </a:r>
            <a:r>
              <a:rPr lang="en-US" altLang="ko-KR" dirty="0" err="1"/>
              <a:t>SRM-Portal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en-US" altLang="ko-KR" dirty="0"/>
              <a:t>AI </a:t>
            </a:r>
            <a:r>
              <a:rPr lang="ko-KR" altLang="en-US" dirty="0"/>
              <a:t>검증 결과서와 </a:t>
            </a:r>
            <a:r>
              <a:rPr lang="en-US" altLang="ko-KR" dirty="0"/>
              <a:t>PDF </a:t>
            </a:r>
            <a:r>
              <a:rPr lang="ko-KR" altLang="en-US" dirty="0"/>
              <a:t>요약본을 전달하게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KT </a:t>
            </a:r>
            <a:r>
              <a:rPr lang="ko-KR" altLang="en-US" dirty="0"/>
              <a:t>HB-Monitor 시스템에서 최신 원소재 규제와 조성 금지 성분 데이터를 자동으로 가져와 동기화합니다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ko-KR" altLang="en-US" dirty="0"/>
              <a:t>연구개발 시스템인 </a:t>
            </a:r>
            <a:r>
              <a:rPr lang="en-US" altLang="ko-KR" dirty="0" err="1"/>
              <a:t>PLM-Nexus</a:t>
            </a:r>
            <a:r>
              <a:rPr lang="ko-KR" altLang="en-US" dirty="0"/>
              <a:t>와 연계해서 </a:t>
            </a:r>
            <a:r>
              <a:rPr lang="ko-KR" altLang="en-US" dirty="0" err="1"/>
              <a:t>배상한도성능규격</a:t>
            </a:r>
            <a:r>
              <a:rPr lang="ko-KR" altLang="en-US" dirty="0"/>
              <a:t> 보고서와 기술원 </a:t>
            </a:r>
            <a:r>
              <a:rPr lang="ko-KR" altLang="en-US" dirty="0" err="1"/>
              <a:t>보고서등의</a:t>
            </a:r>
            <a:r>
              <a:rPr lang="ko-KR" altLang="en-US" dirty="0"/>
              <a:t> 시험검증 </a:t>
            </a:r>
            <a:r>
              <a:rPr lang="en-US" altLang="ko-KR" dirty="0"/>
              <a:t>DB</a:t>
            </a:r>
            <a:r>
              <a:rPr lang="ko-KR" altLang="en-US" dirty="0"/>
              <a:t>를 연계하게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오늘부터 내년 </a:t>
            </a:r>
            <a:r>
              <a:rPr lang="en-US" altLang="ko-KR" dirty="0"/>
              <a:t>5</a:t>
            </a:r>
            <a:r>
              <a:rPr lang="ko-KR" altLang="en-US" dirty="0"/>
              <a:t>월 말까지 </a:t>
            </a:r>
            <a:r>
              <a:rPr lang="en-US" altLang="ko-KR" dirty="0"/>
              <a:t>7.5</a:t>
            </a:r>
            <a:r>
              <a:rPr lang="ko-KR" altLang="en-US" dirty="0"/>
              <a:t>개월간의 로드맵입니다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6</a:t>
            </a:r>
            <a:r>
              <a:rPr lang="ko-KR" altLang="en-US" dirty="0"/>
              <a:t>개 마일스톤으로 구성했습니다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20</a:t>
            </a:r>
            <a:r>
              <a:rPr lang="ko-KR" altLang="en-US" dirty="0"/>
              <a:t>일에는 분석을 끝내고 설계를 확정하는 </a:t>
            </a:r>
            <a:r>
              <a:rPr lang="en-US" altLang="ko-KR" dirty="0"/>
              <a:t>M1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12</a:t>
            </a:r>
            <a:r>
              <a:rPr lang="ko-KR" altLang="en-US" dirty="0"/>
              <a:t>월과 </a:t>
            </a:r>
            <a:r>
              <a:rPr lang="en-US" altLang="ko-KR" dirty="0"/>
              <a:t>1</a:t>
            </a:r>
            <a:r>
              <a:rPr lang="ko-KR" altLang="en-US" dirty="0"/>
              <a:t>월에 </a:t>
            </a:r>
            <a:r>
              <a:rPr lang="en-US" altLang="ko-KR" dirty="0"/>
              <a:t>AI </a:t>
            </a:r>
            <a:r>
              <a:rPr lang="ko-KR" altLang="en-US" dirty="0"/>
              <a:t>핵심 엔진과 </a:t>
            </a:r>
            <a:r>
              <a:rPr lang="en-US" altLang="ko-KR" dirty="0" err="1"/>
              <a:t>PLM-Nexus</a:t>
            </a:r>
            <a:r>
              <a:rPr lang="ko-KR" altLang="en-US" dirty="0"/>
              <a:t> 시험검증 </a:t>
            </a:r>
            <a:r>
              <a:rPr lang="en-US" altLang="ko-KR" dirty="0"/>
              <a:t>DB</a:t>
            </a:r>
            <a:r>
              <a:rPr lang="ko-KR" altLang="en-US" dirty="0"/>
              <a:t>를 집중 개발해서</a:t>
            </a:r>
            <a:r>
              <a:rPr lang="en-US" altLang="ko-KR" dirty="0"/>
              <a:t>, 1</a:t>
            </a:r>
            <a:r>
              <a:rPr lang="ko-KR" altLang="en-US" dirty="0"/>
              <a:t>월 말 중간보고회 때 </a:t>
            </a:r>
            <a:r>
              <a:rPr lang="en-US" altLang="ko-KR" dirty="0"/>
              <a:t>'</a:t>
            </a:r>
            <a:r>
              <a:rPr lang="ko-KR" altLang="en-US" dirty="0"/>
              <a:t>실제로 돌아가는 프로토타입</a:t>
            </a:r>
            <a:r>
              <a:rPr lang="en-US" altLang="ko-KR" dirty="0"/>
              <a:t>'</a:t>
            </a:r>
            <a:r>
              <a:rPr lang="ko-KR" altLang="en-US" dirty="0"/>
              <a:t>으로 </a:t>
            </a:r>
            <a:r>
              <a:rPr lang="en-US" altLang="ko-KR" dirty="0"/>
              <a:t>M2</a:t>
            </a:r>
            <a:r>
              <a:rPr lang="ko-KR" altLang="en-US" dirty="0"/>
              <a:t>와 </a:t>
            </a:r>
            <a:r>
              <a:rPr lang="en-US" altLang="ko-KR" dirty="0"/>
              <a:t>M3</a:t>
            </a:r>
            <a:r>
              <a:rPr lang="ko-KR" altLang="en-US" dirty="0"/>
              <a:t>를 달성합니다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월 말에는 화면과 연계를 끝내서 구현을 완료하고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월과 </a:t>
            </a:r>
            <a:r>
              <a:rPr lang="en-US" altLang="ko-KR" dirty="0"/>
              <a:t>4</a:t>
            </a:r>
            <a:r>
              <a:rPr lang="ko-KR" altLang="en-US" dirty="0"/>
              <a:t>월에는 </a:t>
            </a:r>
            <a:r>
              <a:rPr lang="ko-KR" altLang="en-US" dirty="0" err="1"/>
              <a:t>골든셋</a:t>
            </a:r>
            <a:r>
              <a:rPr lang="ko-KR" altLang="en-US" dirty="0"/>
              <a:t> 평가와 현업 파일럿을 통해서 </a:t>
            </a:r>
            <a:r>
              <a:rPr lang="en-US" altLang="ko-KR" dirty="0"/>
              <a:t>4</a:t>
            </a:r>
            <a:r>
              <a:rPr lang="ko-KR" altLang="en-US" dirty="0"/>
              <a:t>월 말에 </a:t>
            </a:r>
            <a:r>
              <a:rPr lang="en-US" altLang="ko-KR" dirty="0"/>
              <a:t>M5</a:t>
            </a:r>
            <a:r>
              <a:rPr lang="ko-KR" altLang="en-US" dirty="0"/>
              <a:t>의 파일럿을 마칩니다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</a:t>
            </a:r>
            <a:r>
              <a:rPr lang="en-US" altLang="ko-KR" dirty="0"/>
              <a:t>5</a:t>
            </a:r>
            <a:r>
              <a:rPr lang="ko-KR" altLang="en-US" dirty="0"/>
              <a:t>월 한 달간 시스템을 다듬고 교육을 진행한 뒤</a:t>
            </a:r>
            <a:r>
              <a:rPr lang="en-US" altLang="ko-KR" dirty="0"/>
              <a:t>, 5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</a:t>
            </a:r>
            <a:r>
              <a:rPr lang="en-US" altLang="ko-KR" dirty="0"/>
              <a:t>M6 </a:t>
            </a:r>
            <a:r>
              <a:rPr lang="ko-KR" altLang="en-US" dirty="0"/>
              <a:t>그랜드 오픈을 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각 단계마다 납품하고 </a:t>
            </a:r>
            <a:r>
              <a:rPr lang="ko-KR" altLang="en-US" dirty="0" err="1"/>
              <a:t>승인받을</a:t>
            </a:r>
            <a:r>
              <a:rPr lang="ko-KR" altLang="en-US" dirty="0"/>
              <a:t> 공식 산출물 목록입니다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산출물은 나중에 몰아서 한꺼번에 쓰기보다는</a:t>
            </a:r>
            <a:r>
              <a:rPr lang="en-US" altLang="ko-KR" dirty="0"/>
              <a:t>, </a:t>
            </a:r>
            <a:r>
              <a:rPr lang="ko-KR" altLang="en-US" dirty="0"/>
              <a:t>단계가 끝날 때마다 검토를 받는 </a:t>
            </a:r>
            <a:r>
              <a:rPr lang="en-US" altLang="ko-KR" dirty="0"/>
              <a:t>'</a:t>
            </a:r>
            <a:r>
              <a:rPr lang="ko-KR" altLang="en-US" dirty="0"/>
              <a:t>단계 점검</a:t>
            </a:r>
            <a:r>
              <a:rPr lang="en-US" altLang="ko-KR" dirty="0"/>
              <a:t>' </a:t>
            </a:r>
            <a:r>
              <a:rPr lang="ko-KR" altLang="en-US" dirty="0"/>
              <a:t>방식으로 진행합니다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분석 단계에는 사업수행계획서</a:t>
            </a:r>
            <a:r>
              <a:rPr lang="en-US" altLang="ko-KR" dirty="0"/>
              <a:t>, WBS, </a:t>
            </a:r>
            <a:br>
              <a:rPr lang="en-US" altLang="ko-KR" dirty="0"/>
            </a:br>
            <a:r>
              <a:rPr lang="ko-KR" altLang="en-US" dirty="0"/>
              <a:t>설계 단계에는 </a:t>
            </a:r>
            <a:r>
              <a:rPr lang="en-US" altLang="ko-KR" dirty="0"/>
              <a:t> </a:t>
            </a:r>
            <a:r>
              <a:rPr lang="ko-KR" altLang="en-US" dirty="0"/>
              <a:t>화면 정의서</a:t>
            </a:r>
            <a:r>
              <a:rPr lang="en-US" altLang="ko-KR" dirty="0"/>
              <a:t>, </a:t>
            </a:r>
            <a:r>
              <a:rPr lang="ko-KR" altLang="en-US" dirty="0"/>
              <a:t>아키텍처 </a:t>
            </a:r>
            <a:r>
              <a:rPr lang="ko-KR" altLang="en-US" dirty="0" err="1"/>
              <a:t>설계서등을</a:t>
            </a:r>
            <a:r>
              <a:rPr lang="ko-KR" altLang="en-US" dirty="0"/>
              <a:t> 작성합니다</a:t>
            </a:r>
            <a:r>
              <a:rPr lang="en-US" altLang="ko-KR" dirty="0"/>
              <a:t>. </a:t>
            </a:r>
            <a:r>
              <a:rPr lang="ko-KR" altLang="en-US" dirty="0"/>
              <a:t>특히 이번에 현업 사용성을 고려해 </a:t>
            </a:r>
            <a:r>
              <a:rPr lang="en-US" altLang="ko-KR" dirty="0"/>
              <a:t>'</a:t>
            </a:r>
            <a:r>
              <a:rPr lang="ko-KR" altLang="en-US" dirty="0"/>
              <a:t>정보구조</a:t>
            </a:r>
            <a:r>
              <a:rPr lang="en-US" altLang="ko-KR" dirty="0"/>
              <a:t> </a:t>
            </a:r>
            <a:r>
              <a:rPr lang="ko-KR" altLang="en-US" dirty="0"/>
              <a:t>정의서</a:t>
            </a:r>
            <a:r>
              <a:rPr lang="en-US" altLang="ko-KR" dirty="0"/>
              <a:t>'</a:t>
            </a:r>
            <a:r>
              <a:rPr lang="ko-KR" altLang="en-US" dirty="0"/>
              <a:t>를 설계 산출물로 추가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구현에는 소스코드</a:t>
            </a:r>
            <a:r>
              <a:rPr lang="en-US" altLang="ko-KR" dirty="0"/>
              <a:t>, </a:t>
            </a:r>
            <a:r>
              <a:rPr lang="ko-KR" altLang="en-US" dirty="0"/>
              <a:t>시험에는 각종 테스트케이스와 결과서</a:t>
            </a:r>
            <a:endParaRPr lang="en-US" altLang="ko-KR" dirty="0"/>
          </a:p>
          <a:p>
            <a:r>
              <a:rPr lang="en-US" altLang="ko-KR" dirty="0"/>
              <a:t>, </a:t>
            </a:r>
            <a:r>
              <a:rPr lang="ko-KR" altLang="en-US" dirty="0"/>
              <a:t>이행 단계에서는 사용자 매뉴얼과 함께 프로젝트 최종 결과인 </a:t>
            </a:r>
            <a:r>
              <a:rPr lang="en-US" altLang="ko-KR" dirty="0"/>
              <a:t>'</a:t>
            </a:r>
            <a:r>
              <a:rPr lang="ko-KR" altLang="en-US" dirty="0"/>
              <a:t>완료보고서</a:t>
            </a:r>
            <a:r>
              <a:rPr lang="en-US" altLang="ko-KR" dirty="0"/>
              <a:t>'</a:t>
            </a:r>
            <a:r>
              <a:rPr lang="ko-KR" altLang="en-US" dirty="0"/>
              <a:t>를 작성하게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주간 보고서나 변경 대장 같은 상시 문서도 투명하게 공유해 드리겠습니다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수행 조직과 역할입니다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한빛글로벌에서는 기술 총괄 </a:t>
            </a:r>
            <a:r>
              <a:rPr lang="ko-KR" altLang="en-US" dirty="0" err="1"/>
              <a:t>한승우님</a:t>
            </a:r>
            <a:r>
              <a:rPr lang="en-US" altLang="ko-KR" dirty="0"/>
              <a:t>, </a:t>
            </a:r>
            <a:r>
              <a:rPr lang="ko-KR" altLang="en-US" dirty="0"/>
              <a:t>현업 총괄은 </a:t>
            </a:r>
            <a:r>
              <a:rPr lang="ko-KR" altLang="en-US" dirty="0" err="1"/>
              <a:t>정민수님으로</a:t>
            </a:r>
            <a:r>
              <a:rPr lang="ko-KR" altLang="en-US" dirty="0"/>
              <a:t> 알고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수행사에서는 제가 </a:t>
            </a:r>
            <a:r>
              <a:rPr lang="en-US" altLang="ko-KR" dirty="0"/>
              <a:t>PM</a:t>
            </a:r>
            <a:r>
              <a:rPr lang="ko-KR" altLang="en-US" dirty="0"/>
              <a:t>을 담당하고  품질 관리에 대해서는 </a:t>
            </a:r>
            <a:r>
              <a:rPr lang="ko-KR" altLang="en-US" dirty="0" err="1"/>
              <a:t>이지훈님이</a:t>
            </a:r>
            <a:r>
              <a:rPr lang="ko-KR" altLang="en-US" dirty="0"/>
              <a:t> </a:t>
            </a:r>
            <a:r>
              <a:rPr lang="en-US" altLang="ko-KR" dirty="0"/>
              <a:t>PMO</a:t>
            </a:r>
            <a:r>
              <a:rPr lang="ko-KR" altLang="en-US" dirty="0"/>
              <a:t>를 담당하게 됩니다</a:t>
            </a:r>
            <a:r>
              <a:rPr lang="en-US" altLang="ko-KR" dirty="0"/>
              <a:t>, </a:t>
            </a:r>
            <a:r>
              <a:rPr lang="ko-KR" altLang="en-US" dirty="0"/>
              <a:t>실무 구현 관련은 개발 </a:t>
            </a:r>
            <a:r>
              <a:rPr lang="en-US" altLang="ko-KR" dirty="0"/>
              <a:t>PL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 err="1"/>
              <a:t>김태윤님이</a:t>
            </a:r>
            <a:r>
              <a:rPr lang="ko-KR" altLang="en-US" dirty="0"/>
              <a:t> 현업분들과 상시 소통하게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인력 투입 계획입니다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데이터브릿지의</a:t>
            </a:r>
            <a:r>
              <a:rPr lang="ko-KR" altLang="en-US" dirty="0"/>
              <a:t> 지원 공수 </a:t>
            </a:r>
            <a:r>
              <a:rPr lang="en-US" altLang="ko-KR" dirty="0"/>
              <a:t>3.0 M/M</a:t>
            </a:r>
            <a:r>
              <a:rPr lang="ko-KR" altLang="en-US" dirty="0"/>
              <a:t>을 </a:t>
            </a:r>
            <a:r>
              <a:rPr lang="en-US" altLang="ko-KR" dirty="0"/>
              <a:t>11, 12</a:t>
            </a:r>
            <a:r>
              <a:rPr lang="ko-KR" altLang="en-US" dirty="0"/>
              <a:t>월 그리고 </a:t>
            </a:r>
            <a:r>
              <a:rPr lang="en-US" altLang="ko-KR" dirty="0"/>
              <a:t>27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월에 투입합니다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데이터브릿지</a:t>
            </a:r>
            <a:r>
              <a:rPr lang="ko-KR" altLang="en-US" dirty="0"/>
              <a:t> 전문 인력이 </a:t>
            </a:r>
            <a:r>
              <a:rPr lang="en-US" altLang="ko-KR" dirty="0"/>
              <a:t>11</a:t>
            </a:r>
            <a:r>
              <a:rPr lang="ko-KR" altLang="en-US" dirty="0"/>
              <a:t>월</a:t>
            </a:r>
            <a:r>
              <a:rPr lang="en-US" altLang="ko-KR" dirty="0"/>
              <a:t>, 12</a:t>
            </a:r>
            <a:r>
              <a:rPr lang="ko-KR" altLang="en-US" dirty="0"/>
              <a:t>월</a:t>
            </a:r>
            <a:r>
              <a:rPr lang="en-US" altLang="ko-KR" dirty="0"/>
              <a:t> 2</a:t>
            </a:r>
            <a:r>
              <a:rPr lang="ko-KR" altLang="en-US" dirty="0"/>
              <a:t>달 동안 </a:t>
            </a:r>
            <a:r>
              <a:rPr lang="en-US" altLang="ko-KR" dirty="0" err="1"/>
              <a:t>PLM-Nexus</a:t>
            </a:r>
            <a:r>
              <a:rPr lang="ko-KR" altLang="en-US" dirty="0"/>
              <a:t> 연구 데이터 시험검증 </a:t>
            </a:r>
            <a:r>
              <a:rPr lang="en-US" altLang="ko-KR" dirty="0"/>
              <a:t>DB </a:t>
            </a:r>
            <a:r>
              <a:rPr lang="ko-KR" altLang="en-US" dirty="0"/>
              <a:t>구축과 연계 개발을 진행하게 됩니다</a:t>
            </a:r>
            <a:r>
              <a:rPr lang="en-US" altLang="ko-KR" dirty="0"/>
              <a:t>. </a:t>
            </a:r>
            <a:r>
              <a:rPr lang="ko-KR" altLang="en-US" dirty="0"/>
              <a:t>그리고 오픈전에 연동 테스트와 테스트 결과에 따른 보완 작업을 프로젝트 후반에 진행하게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이렇게 </a:t>
            </a:r>
            <a:r>
              <a:rPr lang="en-US" altLang="ko-KR" dirty="0"/>
              <a:t>1</a:t>
            </a:r>
            <a:r>
              <a:rPr lang="ko-KR" altLang="en-US" dirty="0"/>
              <a:t>월 말까지 시험검증 데이터가 갖춰지면</a:t>
            </a:r>
            <a:r>
              <a:rPr lang="en-US" altLang="ko-KR" dirty="0"/>
              <a:t>, 3</a:t>
            </a:r>
            <a:r>
              <a:rPr lang="ko-KR" altLang="en-US" dirty="0"/>
              <a:t>월부터 </a:t>
            </a:r>
            <a:r>
              <a:rPr lang="en-US" altLang="ko-KR" dirty="0"/>
              <a:t>5</a:t>
            </a:r>
            <a:r>
              <a:rPr lang="ko-KR" altLang="en-US" dirty="0"/>
              <a:t>월까지의 통합 시험</a:t>
            </a:r>
            <a:r>
              <a:rPr lang="en-US" altLang="ko-KR" dirty="0"/>
              <a:t>, </a:t>
            </a:r>
            <a:r>
              <a:rPr lang="ko-KR" altLang="en-US" dirty="0" err="1"/>
              <a:t>골든셋</a:t>
            </a:r>
            <a:r>
              <a:rPr lang="ko-KR" altLang="en-US" dirty="0"/>
              <a:t> 검증</a:t>
            </a:r>
            <a:r>
              <a:rPr lang="en-US" altLang="ko-KR" dirty="0"/>
              <a:t>, </a:t>
            </a:r>
            <a:r>
              <a:rPr lang="ko-KR" altLang="en-US" dirty="0"/>
              <a:t>현업 파일럿</a:t>
            </a:r>
            <a:r>
              <a:rPr lang="en-US" altLang="ko-KR" dirty="0"/>
              <a:t>, </a:t>
            </a:r>
            <a:r>
              <a:rPr lang="ko-KR" altLang="en-US" dirty="0"/>
              <a:t>그리고 오픈 안정화까지 마무리 짓게 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다음은 프로젝트 현황을 공유하고 필요한 결정을 제때 내리기 위한 보고 및 회의 체계입니다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큰 보고회는 </a:t>
            </a:r>
            <a:r>
              <a:rPr lang="en-US" altLang="ko-KR" dirty="0"/>
              <a:t>3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오늘 </a:t>
            </a:r>
            <a:r>
              <a:rPr lang="en-US" altLang="ko-KR" dirty="0"/>
              <a:t>'</a:t>
            </a:r>
            <a:r>
              <a:rPr lang="ko-KR" altLang="en-US" dirty="0"/>
              <a:t>착수보고회</a:t>
            </a:r>
            <a:r>
              <a:rPr lang="en-US" altLang="ko-KR" dirty="0"/>
              <a:t>', 1</a:t>
            </a:r>
            <a:r>
              <a:rPr lang="ko-KR" altLang="en-US" dirty="0"/>
              <a:t>월 말 프로토타입을 보여드리는 </a:t>
            </a:r>
            <a:r>
              <a:rPr lang="en-US" altLang="ko-KR" dirty="0"/>
              <a:t>'</a:t>
            </a:r>
            <a:r>
              <a:rPr lang="ko-KR" altLang="en-US" dirty="0"/>
              <a:t>중간보고회</a:t>
            </a:r>
            <a:r>
              <a:rPr lang="en-US" altLang="ko-KR" dirty="0"/>
              <a:t>', </a:t>
            </a:r>
            <a:r>
              <a:rPr lang="ko-KR" altLang="en-US" dirty="0"/>
              <a:t>그리고 </a:t>
            </a:r>
            <a:r>
              <a:rPr lang="en-US" altLang="ko-KR" dirty="0"/>
              <a:t>5</a:t>
            </a:r>
            <a:r>
              <a:rPr lang="ko-KR" altLang="en-US" dirty="0"/>
              <a:t>월 말 </a:t>
            </a:r>
            <a:r>
              <a:rPr lang="en-US" altLang="ko-KR" dirty="0"/>
              <a:t>'</a:t>
            </a:r>
            <a:r>
              <a:rPr lang="ko-KR" altLang="en-US" dirty="0"/>
              <a:t>완료보고회</a:t>
            </a:r>
            <a:r>
              <a:rPr lang="en-US" altLang="ko-KR" dirty="0"/>
              <a:t>'</a:t>
            </a:r>
            <a:r>
              <a:rPr lang="ko-KR" altLang="en-US" dirty="0"/>
              <a:t>로 진행합니다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실무 레벨에서는 매주 주간 회의를 진행하게 됩니다</a:t>
            </a:r>
            <a:r>
              <a:rPr lang="en-US" altLang="ko-KR" dirty="0"/>
              <a:t>, </a:t>
            </a:r>
            <a:r>
              <a:rPr lang="ko-KR" altLang="en-US" dirty="0" err="1"/>
              <a:t>한승우님</a:t>
            </a:r>
            <a:r>
              <a:rPr lang="en-US" altLang="ko-KR" dirty="0"/>
              <a:t>, </a:t>
            </a:r>
            <a:r>
              <a:rPr lang="ko-KR" altLang="en-US" dirty="0" err="1"/>
              <a:t>정민수님</a:t>
            </a:r>
            <a:r>
              <a:rPr lang="en-US" altLang="ko-KR" dirty="0"/>
              <a:t>, </a:t>
            </a:r>
            <a:r>
              <a:rPr lang="ko-KR" altLang="en-US" dirty="0"/>
              <a:t>그리고 저희가 매주 실적과 차주 계획</a:t>
            </a:r>
            <a:r>
              <a:rPr lang="en-US" altLang="ko-KR" dirty="0"/>
              <a:t>, </a:t>
            </a:r>
            <a:r>
              <a:rPr lang="ko-KR" altLang="en-US" dirty="0"/>
              <a:t>이슈들을 점검 했으면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</a:t>
            </a:r>
            <a:r>
              <a:rPr lang="en-US" altLang="ko-KR" dirty="0"/>
              <a:t>'AI</a:t>
            </a:r>
            <a:r>
              <a:rPr lang="ko-KR" altLang="en-US" dirty="0"/>
              <a:t>가 일을 잘하고 있는지 어떻게 증명할 것인가</a:t>
            </a:r>
            <a:r>
              <a:rPr lang="en-US" altLang="ko-KR" dirty="0"/>
              <a:t>?'</a:t>
            </a:r>
            <a:r>
              <a:rPr lang="ko-KR" altLang="en-US" dirty="0"/>
              <a:t>에 대한 품질 검증 방안입니다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그냥 느낌으로 </a:t>
            </a:r>
            <a:r>
              <a:rPr lang="en-US" altLang="ko-KR" dirty="0"/>
              <a:t>'</a:t>
            </a:r>
            <a:r>
              <a:rPr lang="ko-KR" altLang="en-US" dirty="0"/>
              <a:t>잘 되는 것 같네요</a:t>
            </a:r>
            <a:r>
              <a:rPr lang="en-US" altLang="ko-KR" dirty="0"/>
              <a:t>' </a:t>
            </a:r>
            <a:r>
              <a:rPr lang="ko-KR" altLang="en-US" dirty="0"/>
              <a:t>하는 게 아니라</a:t>
            </a:r>
            <a:r>
              <a:rPr lang="en-US" altLang="ko-KR" dirty="0"/>
              <a:t>, </a:t>
            </a:r>
            <a:r>
              <a:rPr lang="ko-KR" altLang="en-US" dirty="0"/>
              <a:t>실제 한빛글로벌의 과거 검증 사례 중에서 엄선한 정답 시험지인 </a:t>
            </a:r>
            <a:r>
              <a:rPr lang="en-US" altLang="ko-KR" dirty="0"/>
              <a:t>'</a:t>
            </a:r>
            <a:r>
              <a:rPr lang="ko-KR" altLang="en-US" dirty="0" err="1"/>
              <a:t>골든셋</a:t>
            </a:r>
            <a:r>
              <a:rPr lang="en-US" altLang="ko-KR" dirty="0"/>
              <a:t>'</a:t>
            </a:r>
            <a:r>
              <a:rPr lang="ko-KR" altLang="en-US" dirty="0"/>
              <a:t>을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목표치는 정확도 </a:t>
            </a:r>
            <a:r>
              <a:rPr lang="en-US" altLang="ko-KR" dirty="0"/>
              <a:t>92%, </a:t>
            </a:r>
            <a:r>
              <a:rPr lang="ko-KR" altLang="en-US" dirty="0"/>
              <a:t>금지 표현 </a:t>
            </a:r>
            <a:r>
              <a:rPr lang="ko-KR" altLang="en-US" dirty="0" err="1"/>
              <a:t>검출률</a:t>
            </a:r>
            <a:r>
              <a:rPr lang="ko-KR" altLang="en-US" dirty="0"/>
              <a:t> </a:t>
            </a:r>
            <a:r>
              <a:rPr lang="en-US" altLang="ko-KR" dirty="0"/>
              <a:t>95%, </a:t>
            </a:r>
            <a:r>
              <a:rPr lang="ko-KR" altLang="en-US" dirty="0"/>
              <a:t>수정 권고 일치율은 </a:t>
            </a:r>
            <a:r>
              <a:rPr lang="en-US" altLang="ko-KR" dirty="0"/>
              <a:t>90%</a:t>
            </a:r>
            <a:r>
              <a:rPr lang="ko-KR" altLang="en-US" dirty="0"/>
              <a:t>로 잡았습니다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 수치는 </a:t>
            </a:r>
            <a:r>
              <a:rPr lang="ko-KR" altLang="en-US" dirty="0" err="1"/>
              <a:t>확정됐다기</a:t>
            </a:r>
            <a:r>
              <a:rPr lang="ko-KR" altLang="en-US" dirty="0"/>
              <a:t> 보다는 </a:t>
            </a:r>
            <a:r>
              <a:rPr lang="en-US" altLang="ko-KR" dirty="0"/>
              <a:t>1</a:t>
            </a:r>
            <a:r>
              <a:rPr lang="ko-KR" altLang="en-US" dirty="0"/>
              <a:t>월 말 중간보고회 때 </a:t>
            </a:r>
            <a:r>
              <a:rPr lang="en-US" altLang="ko-KR" dirty="0"/>
              <a:t>1</a:t>
            </a:r>
            <a:r>
              <a:rPr lang="ko-KR" altLang="en-US" dirty="0"/>
              <a:t>차 성적표를 보여드리고 최종 수치를 함께 확정했으면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하도급거래 공정화법 위반을 놓치지 않도록 </a:t>
            </a:r>
            <a:r>
              <a:rPr lang="en-US" altLang="ko-KR" dirty="0"/>
              <a:t>'</a:t>
            </a:r>
            <a:r>
              <a:rPr lang="ko-KR" altLang="en-US" dirty="0" err="1"/>
              <a:t>검출률</a:t>
            </a:r>
            <a:r>
              <a:rPr lang="ko-KR" altLang="en-US" dirty="0"/>
              <a:t> </a:t>
            </a:r>
            <a:r>
              <a:rPr lang="en-US" altLang="ko-KR" dirty="0"/>
              <a:t>95%'</a:t>
            </a:r>
            <a:r>
              <a:rPr lang="ko-KR" altLang="en-US" dirty="0"/>
              <a:t>를 가장 엄격하게 관리할 생각입니다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AI </a:t>
            </a:r>
            <a:r>
              <a:rPr lang="ko-KR" altLang="en-US" dirty="0"/>
              <a:t>엔진 코드를 손볼 때마다 이 시험을 자동으로 다시 치르게 해서</a:t>
            </a:r>
            <a:r>
              <a:rPr lang="en-US" altLang="ko-KR" dirty="0"/>
              <a:t>, </a:t>
            </a:r>
            <a:r>
              <a:rPr lang="ko-KR" altLang="en-US" dirty="0"/>
              <a:t>어제 맞히던 문제를 오늘 틀리는 일이 없도록 품질을 높이도록 하겠습니다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현재 예상하고 있는 위험 목록입니다</a:t>
            </a:r>
            <a:r>
              <a:rPr lang="en-US" altLang="ko-KR" dirty="0"/>
              <a:t>. </a:t>
            </a:r>
            <a:r>
              <a:rPr lang="ko-KR" altLang="en-US" dirty="0"/>
              <a:t>위험이 </a:t>
            </a:r>
            <a:r>
              <a:rPr lang="ko-KR" altLang="en-US" dirty="0" err="1"/>
              <a:t>이것뿐만</a:t>
            </a:r>
            <a:r>
              <a:rPr lang="ko-KR" altLang="en-US" dirty="0"/>
              <a:t> 아니라 앞으로 많이 생기겠지만 현재로서 예상한 주요 목록이라고 생각하시면 </a:t>
            </a:r>
            <a:r>
              <a:rPr lang="ko-KR" altLang="en-US" dirty="0" err="1"/>
              <a:t>될거</a:t>
            </a:r>
            <a:r>
              <a:rPr lang="ko-KR" altLang="en-US" dirty="0"/>
              <a:t> 같습니다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 err="1"/>
              <a:t>공정위·표준원</a:t>
            </a:r>
            <a:r>
              <a:rPr lang="ko-KR" altLang="en-US" dirty="0"/>
              <a:t> 법규가 중간에 바뀌더라도 코드를 뜯어고칠 필요 없이 관리자 화면에서 </a:t>
            </a:r>
            <a:r>
              <a:rPr lang="en-US" altLang="ko-KR" dirty="0"/>
              <a:t>DB </a:t>
            </a:r>
            <a:r>
              <a:rPr lang="ko-KR" altLang="en-US" dirty="0"/>
              <a:t>규칙만 바꾸면 바로 </a:t>
            </a:r>
            <a:r>
              <a:rPr lang="ko-KR" altLang="en-US" dirty="0" err="1"/>
              <a:t>반영될수</a:t>
            </a:r>
            <a:r>
              <a:rPr lang="ko-KR" altLang="en-US" dirty="0"/>
              <a:t> 있도록 유연하게 개발 되어야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사내 시스템 연동이 혹시라도 지연되면 가짜 </a:t>
            </a:r>
            <a:r>
              <a:rPr lang="en-US" altLang="ko-KR" dirty="0"/>
              <a:t>Mock </a:t>
            </a:r>
            <a:r>
              <a:rPr lang="ko-KR" altLang="en-US" dirty="0"/>
              <a:t>서버를 활용해서 개발이 멈추지 않게 진행할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AI</a:t>
            </a:r>
            <a:r>
              <a:rPr lang="ko-KR" altLang="en-US" dirty="0"/>
              <a:t>가 엉뚱한 판단을 하지 못하도록 법적 근거가 없으면 판정을 거부하는 안전망을 구축하도록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ko-KR" altLang="en-US" dirty="0"/>
              <a:t>아직 세상에 안 나온 신제품 계약·도서이 </a:t>
            </a:r>
            <a:r>
              <a:rPr lang="en-US" altLang="ko-KR" dirty="0"/>
              <a:t>AI </a:t>
            </a:r>
            <a:r>
              <a:rPr lang="ko-KR" altLang="en-US" dirty="0"/>
              <a:t>학습 데이터로 </a:t>
            </a:r>
            <a:r>
              <a:rPr lang="ko-KR" altLang="en-US" dirty="0" err="1"/>
              <a:t>새어나가지</a:t>
            </a:r>
            <a:r>
              <a:rPr lang="ko-KR" altLang="en-US" dirty="0"/>
              <a:t> 않도록 보안 계약과 격리망을 구성하도록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골든셋은</a:t>
            </a:r>
            <a:r>
              <a:rPr lang="ko-KR" altLang="en-US" dirty="0"/>
              <a:t> 가능하면 빠르게 후보를 미리 넘겨주신다면 </a:t>
            </a:r>
            <a:r>
              <a:rPr lang="ko-KR" altLang="en-US" dirty="0" err="1"/>
              <a:t>여유있게</a:t>
            </a:r>
            <a:r>
              <a:rPr lang="ko-KR" altLang="en-US" dirty="0"/>
              <a:t> 성능 검증을 준비 할 수 </a:t>
            </a:r>
            <a:r>
              <a:rPr lang="ko-KR" altLang="en-US" dirty="0" err="1"/>
              <a:t>있을듯</a:t>
            </a:r>
            <a:r>
              <a:rPr lang="ko-KR" altLang="en-US" dirty="0"/>
              <a:t> 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보안</a:t>
            </a:r>
            <a:r>
              <a:rPr lang="en-US" altLang="ko-KR" dirty="0"/>
              <a:t>, </a:t>
            </a:r>
            <a:r>
              <a:rPr lang="ko-KR" altLang="en-US" dirty="0"/>
              <a:t>변경</a:t>
            </a:r>
            <a:r>
              <a:rPr lang="en-US" altLang="ko-KR" dirty="0"/>
              <a:t>, </a:t>
            </a:r>
            <a:r>
              <a:rPr lang="ko-KR" altLang="en-US" dirty="0"/>
              <a:t>검수 관리입니다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 보안은</a:t>
            </a:r>
            <a:r>
              <a:rPr lang="en-US" altLang="ko-KR" dirty="0"/>
              <a:t>, </a:t>
            </a:r>
            <a:r>
              <a:rPr lang="ko-KR" altLang="en-US" dirty="0" err="1"/>
              <a:t>미출시</a:t>
            </a:r>
            <a:r>
              <a:rPr lang="ko-KR" altLang="en-US" dirty="0"/>
              <a:t> 신제품 구매계약 계약·도서이 외부 상용 </a:t>
            </a:r>
            <a:r>
              <a:rPr lang="en-US" altLang="ko-KR" dirty="0"/>
              <a:t>AI</a:t>
            </a:r>
            <a:r>
              <a:rPr lang="ko-KR" altLang="en-US" dirty="0"/>
              <a:t>의 학습 데이터로 들어가지 않도록 </a:t>
            </a:r>
            <a:r>
              <a:rPr lang="en-US" altLang="ko-KR" dirty="0"/>
              <a:t>'</a:t>
            </a:r>
            <a:r>
              <a:rPr lang="ko-KR" altLang="en-US" dirty="0"/>
              <a:t>학습 미사용</a:t>
            </a:r>
            <a:r>
              <a:rPr lang="en-US" altLang="ko-KR" dirty="0"/>
              <a:t>(Zero Data Retention)' </a:t>
            </a:r>
            <a:r>
              <a:rPr lang="ko-KR" altLang="en-US" dirty="0"/>
              <a:t>보안 계약 설정을 하고</a:t>
            </a:r>
            <a:r>
              <a:rPr lang="en-US" altLang="ko-KR" dirty="0"/>
              <a:t>, </a:t>
            </a:r>
            <a:r>
              <a:rPr lang="ko-KR" altLang="en-US" dirty="0"/>
              <a:t>전송 구간 암호화와 접속 기록을 철저히 남기겠습니다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둘째 변경 관리는</a:t>
            </a:r>
            <a:r>
              <a:rPr lang="en-US" altLang="ko-KR" dirty="0"/>
              <a:t>, </a:t>
            </a:r>
            <a:r>
              <a:rPr lang="ko-KR" altLang="en-US" dirty="0"/>
              <a:t>개발하다가 현업에서 좋은 아이디어는 계속 나올 수 있습니다</a:t>
            </a:r>
            <a:r>
              <a:rPr lang="en-US" altLang="ko-KR" dirty="0"/>
              <a:t>. </a:t>
            </a:r>
            <a:r>
              <a:rPr lang="ko-KR" altLang="en-US" dirty="0"/>
              <a:t>무조건 거부 </a:t>
            </a:r>
            <a:r>
              <a:rPr lang="ko-KR" altLang="en-US" dirty="0" err="1"/>
              <a:t>하는게</a:t>
            </a:r>
            <a:r>
              <a:rPr lang="ko-KR" altLang="en-US" dirty="0"/>
              <a:t> 아니라 일정과 공수에 미치는 영향을 분석해서 양사 </a:t>
            </a:r>
            <a:r>
              <a:rPr lang="en-US" altLang="ko-KR" dirty="0"/>
              <a:t>PM </a:t>
            </a:r>
            <a:r>
              <a:rPr lang="ko-KR" altLang="en-US" dirty="0" err="1"/>
              <a:t>협의하에</a:t>
            </a:r>
            <a:r>
              <a:rPr lang="ko-KR" altLang="en-US" dirty="0"/>
              <a:t> 공식 반영하는 절차를 거쳐서</a:t>
            </a:r>
            <a:r>
              <a:rPr lang="en-US" altLang="ko-KR" dirty="0"/>
              <a:t> </a:t>
            </a:r>
            <a:r>
              <a:rPr lang="ko-KR" altLang="en-US" dirty="0"/>
              <a:t>납기에 영향을 최소화 하도록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셋째 검수는</a:t>
            </a:r>
            <a:r>
              <a:rPr lang="en-US" altLang="ko-KR" dirty="0"/>
              <a:t>, </a:t>
            </a:r>
            <a:r>
              <a:rPr lang="ko-KR" altLang="en-US" dirty="0"/>
              <a:t>필수 기능이 잘 돌아가는지</a:t>
            </a:r>
            <a:r>
              <a:rPr lang="en-US" altLang="ko-KR" dirty="0"/>
              <a:t>, </a:t>
            </a:r>
            <a:r>
              <a:rPr lang="ko-KR" altLang="en-US" dirty="0" err="1"/>
              <a:t>골든셋</a:t>
            </a:r>
            <a:r>
              <a:rPr lang="ko-KR" altLang="en-US" dirty="0"/>
              <a:t> 목표 수치를 넘겼는지</a:t>
            </a:r>
            <a:r>
              <a:rPr lang="en-US" altLang="ko-KR" dirty="0"/>
              <a:t>, </a:t>
            </a:r>
            <a:r>
              <a:rPr lang="ko-KR" altLang="en-US" dirty="0"/>
              <a:t>산출물이 승인되었는지를 종합 평가를 받도록 하겠습니다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이번 페이지는 성공적인 출발을 위해 한빛글로벌 담당자분께 부탁드리는 협조 사항입니다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왼쪽 표에 </a:t>
            </a:r>
            <a:r>
              <a:rPr lang="en-US" altLang="ko-KR" dirty="0"/>
              <a:t>8</a:t>
            </a:r>
            <a:r>
              <a:rPr lang="ko-KR" altLang="en-US" dirty="0"/>
              <a:t>가지 요청 사항을 있습니다</a:t>
            </a:r>
            <a:r>
              <a:rPr lang="en-US" altLang="ko-KR" dirty="0"/>
              <a:t>, </a:t>
            </a:r>
            <a:r>
              <a:rPr lang="ko-KR" altLang="en-US" dirty="0"/>
              <a:t>가능하면 빠르게 </a:t>
            </a:r>
            <a:r>
              <a:rPr lang="ko-KR" altLang="en-US" dirty="0" err="1"/>
              <a:t>챙겨주시면</a:t>
            </a:r>
            <a:r>
              <a:rPr lang="ko-KR" altLang="en-US" dirty="0"/>
              <a:t> 프로젝트 진행에 큰 도움이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검증 노하우를 알려주실 현업 담당자 지정이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 err="1"/>
              <a:t>골든셋을</a:t>
            </a:r>
            <a:r>
              <a:rPr lang="ko-KR" altLang="en-US" dirty="0"/>
              <a:t> 만들 과거 </a:t>
            </a:r>
            <a:r>
              <a:rPr lang="en-US" altLang="ko-KR" dirty="0"/>
              <a:t>1</a:t>
            </a:r>
            <a:r>
              <a:rPr lang="ko-KR" altLang="en-US" dirty="0"/>
              <a:t>년간의 계약·규격 검증 사례 약 </a:t>
            </a:r>
            <a:r>
              <a:rPr lang="en-US" altLang="ko-KR" dirty="0"/>
              <a:t>300</a:t>
            </a:r>
            <a:r>
              <a:rPr lang="ko-KR" altLang="en-US" dirty="0"/>
              <a:t>건 정도가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SSO, </a:t>
            </a:r>
            <a:r>
              <a:rPr lang="ko-KR" altLang="en-US" dirty="0" err="1"/>
              <a:t>전자구매포털</a:t>
            </a:r>
            <a:r>
              <a:rPr lang="en-US" altLang="ko-KR" dirty="0"/>
              <a:t>, KT </a:t>
            </a:r>
            <a:r>
              <a:rPr lang="ko-KR" altLang="en-US" dirty="0"/>
              <a:t>HB-Monitor</a:t>
            </a:r>
            <a:r>
              <a:rPr lang="en-US" altLang="ko-KR" dirty="0"/>
              <a:t>, </a:t>
            </a:r>
            <a:r>
              <a:rPr lang="en-US" altLang="ko-KR" dirty="0" err="1"/>
              <a:t>PLM-Nexus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 시스템의 연동 규격서와 개발 계정을 생성을 지원해 주시면 감사하겠습니다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적극적인 지원 부탁드립니다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</a:p>
          <a:p>
            <a:r>
              <a:rPr lang="ko-KR" altLang="en-US" dirty="0"/>
              <a:t>경청해 주셔서 진심으로 감사드립니다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395467"/>
            <a:ext cx="10515600" cy="100584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</a:rPr>
              <a:t>한빛글로벌 SyncFlow AI 시스템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29707"/>
            <a:ext cx="73152" cy="1783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983987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1" dirty="0" err="1">
                <a:solidFill>
                  <a:srgbClr val="93C5FD"/>
                </a:solidFill>
                <a:latin typeface="Malgun Gothic"/>
              </a:rPr>
              <a:t>착수보고</a:t>
            </a:r>
            <a:r>
              <a:rPr lang="ko-KR" altLang="en-US" sz="1500" b="1" dirty="0">
                <a:solidFill>
                  <a:srgbClr val="93C5FD"/>
                </a:solidFill>
                <a:latin typeface="Malgun Gothic"/>
              </a:rPr>
              <a:t>서</a:t>
            </a:r>
            <a:endParaRPr sz="1500" b="1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3584187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0" dirty="0" err="1">
                <a:solidFill>
                  <a:srgbClr val="C8D3E6"/>
                </a:solidFill>
              </a:rPr>
              <a:t>전장부품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구매계약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계약·도서의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계약·기술규격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법규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준수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여부를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AI가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먼저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점검하고</a:t>
            </a:r>
            <a:r>
              <a:rPr sz="1500" b="0" dirty="0">
                <a:solidFill>
                  <a:srgbClr val="C8D3E6"/>
                </a:solidFill>
              </a:rPr>
              <a:t> QA </a:t>
            </a:r>
            <a:r>
              <a:rPr sz="1500" b="0" dirty="0" err="1">
                <a:solidFill>
                  <a:srgbClr val="C8D3E6"/>
                </a:solidFill>
              </a:rPr>
              <a:t>최종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검증을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지원하는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시스템</a:t>
            </a:r>
            <a:endParaRPr sz="1500" b="0" dirty="0">
              <a:solidFill>
                <a:srgbClr val="C8D3E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5084461"/>
            <a:ext cx="1097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93C5FD"/>
                </a:solidFill>
              </a:rPr>
              <a:t>일시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5084461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2026. 10. 16.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68509"/>
            <a:ext cx="1097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lang="ko-KR" altLang="en-US" sz="1300" b="1" dirty="0">
                <a:solidFill>
                  <a:srgbClr val="93C5FD"/>
                </a:solidFill>
              </a:rPr>
              <a:t>고객사</a:t>
            </a:r>
            <a:endParaRPr sz="1300" b="1" dirty="0">
              <a:solidFill>
                <a:srgbClr val="93C5FD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840" y="5468509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㈜한빛글로벌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52557"/>
            <a:ext cx="1097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93C5FD"/>
                </a:solidFill>
              </a:rPr>
              <a:t>수행사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852557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㈜엠파시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6B4D42B-86D6-0462-3533-6D0433BB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443"/>
            <a:ext cx="2761629" cy="274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보고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84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사업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399032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사업 개요, 추진 배경과 기대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399032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3쪽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79191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93976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93976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사업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093976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8개 영역 43개 기능, 범위 경계와 착수 후 확정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093976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5쪽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5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88920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추진 전략 및 목표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788920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수행 방법론, 시스템 구성, AI 판정 방식, 핵심 화면, 사내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788920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7쪽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83864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83864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추진 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483864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단계별 일정과 마일스톤, 단계별 산출물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483864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12쪽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64024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178808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78808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수행 조직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78808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조직 구성과 역할, 인력 투입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4178808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14쪽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5896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73752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73752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사업 관리 방안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873752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보고·회의, 품질, 위험, 보안·변경·검수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873752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16쪽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15391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568696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568696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협조 요청 및 향후 일정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568696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협조 요청 사항, 착수 후 2주 일정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5568696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20쪽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Ⅰ. 사업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 dirty="0" err="1">
                <a:solidFill>
                  <a:srgbClr val="6B7280"/>
                </a:solidFill>
              </a:rPr>
              <a:t>구매계약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계약·도서의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계약·기술규격</a:t>
            </a:r>
            <a:r>
              <a:rPr lang="ko-KR" altLang="en-US" sz="1300" b="0" dirty="0" err="1">
                <a:solidFill>
                  <a:srgbClr val="6B7280"/>
                </a:solidFill>
              </a:rPr>
              <a:t>에</a:t>
            </a:r>
            <a:r>
              <a:rPr lang="ko-KR" altLang="en-US" sz="1300" b="0" dirty="0">
                <a:solidFill>
                  <a:srgbClr val="6B7280"/>
                </a:solidFill>
              </a:rPr>
              <a:t> 대한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법규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위반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소지를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AI가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먼저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점검하고</a:t>
            </a:r>
            <a:r>
              <a:rPr sz="1300" b="0" dirty="0">
                <a:solidFill>
                  <a:srgbClr val="6B7280"/>
                </a:solidFill>
              </a:rPr>
              <a:t>, QA </a:t>
            </a:r>
            <a:r>
              <a:rPr sz="1300" b="0" dirty="0" err="1">
                <a:solidFill>
                  <a:srgbClr val="6B7280"/>
                </a:solidFill>
              </a:rPr>
              <a:t>전문가가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근거를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보며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최종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검증하는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체계를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만듭니다</a:t>
            </a:r>
            <a:r>
              <a:rPr sz="1300" b="0" dirty="0">
                <a:solidFill>
                  <a:srgbClr val="6B7280"/>
                </a:solidFill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66182"/>
              </p:ext>
            </p:extLst>
          </p:nvPr>
        </p:nvGraphicFramePr>
        <p:xfrm>
          <a:off x="457200" y="1508760"/>
          <a:ext cx="6858000" cy="4352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 dirty="0" err="1">
                          <a:solidFill>
                            <a:srgbClr val="374151"/>
                          </a:solidFill>
                        </a:rPr>
                        <a:t>사업명</a:t>
                      </a:r>
                      <a:endParaRPr sz="1200" b="1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한빛글로벌 SyncFlow AI 시스템 구축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사업 목적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전장부품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구매계약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계약·도서의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계약·기술규격</a:t>
                      </a:r>
                      <a:r>
                        <a:rPr lang="ko-KR" altLang="en-US" sz="1200" b="0" dirty="0" err="1">
                          <a:solidFill>
                            <a:srgbClr val="374151"/>
                          </a:solidFill>
                        </a:rPr>
                        <a:t>에</a:t>
                      </a:r>
                      <a:r>
                        <a:rPr lang="ko-KR" altLang="en-US" sz="1200" b="0" dirty="0">
                          <a:solidFill>
                            <a:srgbClr val="374151"/>
                          </a:solidFill>
                        </a:rPr>
                        <a:t> 대한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법규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위반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소지를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AI가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1차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점검하고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QA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전문가의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최종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검증을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지원</a:t>
                      </a:r>
                      <a:endParaRPr sz="120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사업 기간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2026. 10. 16. ~ 2027. 05. 31. (7.5개월)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lang="ko-KR" altLang="en-US" sz="1200" b="1" dirty="0">
                          <a:solidFill>
                            <a:srgbClr val="374151"/>
                          </a:solidFill>
                        </a:rPr>
                        <a:t>고객사</a:t>
                      </a:r>
                      <a:endParaRPr sz="1200" b="1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㈜한빛글로벌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수행사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㈜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엠파시</a:t>
                      </a:r>
                      <a:endParaRPr sz="120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사업 규모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8개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영역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43개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기능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사내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연계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4종(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PLM-Nexus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포함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주요 사용자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구매담당자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연구원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QA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담당자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시스템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관리자</a:t>
                      </a:r>
                      <a:endParaRPr sz="120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481328"/>
            <a:ext cx="4114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추진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874519"/>
            <a:ext cx="414223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0" y="1874519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984248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984248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검증 시간 단축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84048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계약·도서을 올리면 AI가 문장별 위험도와 근거를 먼저 보여 줘, 검토를 바로 시작할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154679"/>
            <a:ext cx="414223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3154679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264408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64408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일관된 기준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611879"/>
            <a:ext cx="384048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공정위·표준원 기준과 사내 검증 기준을 같은 방식으로 적용해 담당자별 판단 차이를 줄입니다.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434840"/>
            <a:ext cx="414223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4434840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4544568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544568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검증 자산 축적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92040"/>
            <a:ext cx="384048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QA가 확정한 판정과 대체 표현을 기록해 다음 검증와 조항 작성에 다시 씁니다.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추진 배경과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Ⅰ. 사업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규제 기준은 세분화되고 검토할 계약·도서은 늘어, 사람의 검토만으로는 속도와 일관성을 함께 지키기 어렵습니다.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9344"/>
            <a:ext cx="3392424" cy="18379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외부 환경</a:t>
            </a:r>
          </a:p>
          <a:p>
            <a:pPr algn="l" eaLnBrk="0">
              <a:lnSpc>
                <a:spcPct val="115000"/>
              </a:lnSpc>
              <a:spcBef>
                <a:spcPts val="100"/>
              </a:spcBef>
            </a:pPr>
            <a:r>
              <a:rPr sz="1300" b="1">
                <a:solidFill>
                  <a:srgbClr val="0F2340"/>
                </a:solidFill>
              </a:rPr>
              <a:t>규제 기준 세분화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하도급법 제3조의4와 시행규칙 [별표 5] 계약·기술규격 준수사항 점검 강화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불공정 독소조항, 부당 원가전가 표현, 시험검증이 필요한 성능규격 표현 등 기준 세분화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위반 시 시정명령·심결과 사업본부 신뢰도 하락 위험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14630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1609344"/>
            <a:ext cx="3392424" cy="18379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사내 현황</a:t>
            </a:r>
          </a:p>
          <a:p>
            <a:pPr algn="l" eaLnBrk="0">
              <a:lnSpc>
                <a:spcPct val="115000"/>
              </a:lnSpc>
              <a:spcBef>
                <a:spcPts val="100"/>
              </a:spcBef>
            </a:pPr>
            <a:r>
              <a:rPr sz="1300" b="1">
                <a:solidFill>
                  <a:srgbClr val="0F2340"/>
                </a:solidFill>
              </a:rPr>
              <a:t>검토 요청 증가와 수작업 한계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계약서·기술시방서 등 매체가 늘며 검토 요청 증가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계약·도서을 눈으로 확인하고 기준 문서와 직접 대조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판단 근거와 이력이 개인 메일·문서에 흩어져 보관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1463040"/>
            <a:ext cx="3611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09344"/>
            <a:ext cx="3392424" cy="18379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도입 방향</a:t>
            </a:r>
          </a:p>
          <a:p>
            <a:pPr algn="l" eaLnBrk="0">
              <a:lnSpc>
                <a:spcPct val="115000"/>
              </a:lnSpc>
              <a:spcBef>
                <a:spcPts val="100"/>
              </a:spcBef>
            </a:pPr>
            <a:r>
              <a:rPr sz="1300" b="1">
                <a:solidFill>
                  <a:srgbClr val="0F2340"/>
                </a:solidFill>
              </a:rPr>
              <a:t>AI 1차 점검과 전문가 검증의 결합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계약·도서에서 문장을 뽑아 기준에 따라 1차 점검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위험 문장에 근거 조항과 대체 표현을 함께 제시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QA는 최종 판단에 집중하고 결과는 자산으로 축적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703320"/>
          <a:ext cx="11274552" cy="19751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도입 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기대 효과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검토 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계약·도서 1건당 2~3 영업일(추정)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AI 1차 점검 결과를 수 분 안에 확인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출시 일정 대응력 향상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판단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담당자 경험에 따라 판단 차이 발생 가능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같은 기준 데이터로 점검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부서 간 일관된 기준 적용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이력 관리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개인 메일·문서에 분산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확정 조항과 근거를 한곳에 기록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다음 검증·조항 작성에 재활용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</a:rPr>
              <a:t>※ 현재 검토 시간은 추정치이며, 착수 인터뷰에서 기준값을 확정한 뒤 효과 측정에 사용합니다.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과업 범위: 8개 영역 43개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Ⅱ. 사업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 dirty="0" err="1">
                <a:solidFill>
                  <a:srgbClr val="6B7280"/>
                </a:solidFill>
              </a:rPr>
              <a:t>기능명세서</a:t>
            </a:r>
            <a:r>
              <a:rPr sz="1300" b="0" dirty="0">
                <a:solidFill>
                  <a:srgbClr val="6B7280"/>
                </a:solidFill>
              </a:rPr>
              <a:t>(F-01~F-43) </a:t>
            </a:r>
            <a:r>
              <a:rPr sz="1300" b="0" dirty="0" err="1">
                <a:solidFill>
                  <a:srgbClr val="6B7280"/>
                </a:solidFill>
              </a:rPr>
              <a:t>기준이며</a:t>
            </a:r>
            <a:r>
              <a:rPr sz="1300" b="0" dirty="0">
                <a:solidFill>
                  <a:srgbClr val="6B7280"/>
                </a:solidFill>
              </a:rPr>
              <a:t>, </a:t>
            </a:r>
            <a:r>
              <a:rPr sz="1300" b="0" dirty="0" err="1">
                <a:solidFill>
                  <a:srgbClr val="6B7280"/>
                </a:solidFill>
              </a:rPr>
              <a:t>사내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연계</a:t>
            </a:r>
            <a:r>
              <a:rPr sz="1300" b="0" dirty="0">
                <a:solidFill>
                  <a:srgbClr val="6B7280"/>
                </a:solidFill>
              </a:rPr>
              <a:t> 4종, </a:t>
            </a:r>
            <a:r>
              <a:rPr sz="1300" b="0" dirty="0" err="1">
                <a:solidFill>
                  <a:srgbClr val="6B7280"/>
                </a:solidFill>
              </a:rPr>
              <a:t>시험성적서</a:t>
            </a:r>
            <a:r>
              <a:rPr sz="1300" b="0" dirty="0">
                <a:solidFill>
                  <a:srgbClr val="6B7280"/>
                </a:solidFill>
              </a:rPr>
              <a:t> DB </a:t>
            </a:r>
            <a:r>
              <a:rPr sz="1300" b="0" dirty="0" err="1">
                <a:solidFill>
                  <a:srgbClr val="6B7280"/>
                </a:solidFill>
              </a:rPr>
              <a:t>구축</a:t>
            </a:r>
            <a:r>
              <a:rPr sz="1300" b="0" dirty="0">
                <a:solidFill>
                  <a:srgbClr val="6B7280"/>
                </a:solidFill>
              </a:rPr>
              <a:t>(</a:t>
            </a:r>
            <a:r>
              <a:rPr sz="1300" b="0" dirty="0" err="1">
                <a:solidFill>
                  <a:srgbClr val="6B7280"/>
                </a:solidFill>
              </a:rPr>
              <a:t>PLM-Nexus</a:t>
            </a:r>
            <a:r>
              <a:rPr sz="1300" b="0" dirty="0">
                <a:solidFill>
                  <a:srgbClr val="6B7280"/>
                </a:solidFill>
              </a:rPr>
              <a:t>)을 </a:t>
            </a:r>
            <a:r>
              <a:rPr sz="1300" b="0" dirty="0" err="1">
                <a:solidFill>
                  <a:srgbClr val="6B7280"/>
                </a:solidFill>
              </a:rPr>
              <a:t>포함합니다</a:t>
            </a:r>
            <a:r>
              <a:rPr sz="1300" b="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01 데이터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6개 · F-01~06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문서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파싱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>
                <a:solidFill>
                  <a:srgbClr val="374151"/>
                </a:solidFill>
              </a:rPr>
              <a:t>OCR </a:t>
            </a:r>
            <a:r>
              <a:rPr sz="1050" b="0" dirty="0" err="1">
                <a:solidFill>
                  <a:srgbClr val="374151"/>
                </a:solidFill>
              </a:rPr>
              <a:t>텍스트·위치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추출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검증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문장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분리·정제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규제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문서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수집·적재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금지·주의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표현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사전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시험성적서</a:t>
            </a:r>
            <a:r>
              <a:rPr sz="1050" b="0" dirty="0">
                <a:solidFill>
                  <a:srgbClr val="374151"/>
                </a:solidFill>
              </a:rPr>
              <a:t> DB </a:t>
            </a:r>
            <a:r>
              <a:rPr sz="1050" b="0" dirty="0" err="1">
                <a:solidFill>
                  <a:srgbClr val="374151"/>
                </a:solidFill>
              </a:rPr>
              <a:t>구축</a:t>
            </a:r>
            <a:r>
              <a:rPr sz="1050" b="0" dirty="0">
                <a:solidFill>
                  <a:srgbClr val="374151"/>
                </a:solidFill>
              </a:rPr>
              <a:t>(</a:t>
            </a:r>
            <a:r>
              <a:rPr sz="1050" b="0" dirty="0" err="1">
                <a:solidFill>
                  <a:srgbClr val="374151"/>
                </a:solidFill>
              </a:rPr>
              <a:t>PLM-Nexus</a:t>
            </a:r>
            <a:r>
              <a:rPr sz="1050" b="0" dirty="0">
                <a:solidFill>
                  <a:srgbClr val="374151"/>
                </a:solidFill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6528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6528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6256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02 검색·근거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6256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3개 · F-07~09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56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규제 근거 하이브리드 검색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판단 근거 생성·근거 없는 판단 차단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유사 검증 사례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5857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5857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5585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03 AI 판정 엔진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5585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7개 · F-10~16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5585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표현 사전 규칙 점검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3단계 위험도 판정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대체 표현 제안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시험성적서 필요 판단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AI Agent 기반 탐색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프롬프트·판정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1차 검토 자동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5186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35186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914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04 공통·기반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914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8개 · F-17~24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914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역할별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권한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화면·메일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알림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파일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업로드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검토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요청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등록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요청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목록·상태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조회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결과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파일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고도화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결과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리포트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출력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결과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통보</a:t>
            </a:r>
            <a:endParaRPr sz="1050" b="0" dirty="0">
              <a:solidFill>
                <a:srgbClr val="37415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05 검증·검토 화면 (관리자)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6개 · F-25~30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공통 화면 틀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문장 확인·편집 화면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시험검증 검증 화면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판정 결과 대조 화면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QA 최종 판정 입력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검증 이력 검색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6528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16528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6256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06 품질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6256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4개 · F-31~34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6256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골든셋 평가 실행 (표준화 검토 후 협의)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수정 불가 검증 이력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확정 결과 반영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골든셋 구축 (표준화 검토 후 단계적 협의)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5857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5857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5585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07 외부 연계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5585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4개 · F-35~38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5585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사내 SSO 로그인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SRM-Portal 결과(HTML/JSON) 인터페이스 전달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HB-Monitor 기준 데이터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PLM-Nexus 시험성적서 연동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5186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35186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914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08 관리자·운영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914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6개 · F-38~43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914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사용자·권한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규제 문서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표현 사전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프롬프트·모델 설정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운영 통계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공통 코드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범위 경계와 착수 후 확정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Ⅱ. 사업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범위 밖 항목을 사전에 명확히 하고, 아직 정하지 않은 사항은 확정 시점을 정해 관리합니다.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범위 경계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5486399" cy="35372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포함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제외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대상 계약·도서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PPTX·PDF 계약·도서, 계약·도서 내 텍스트/이미지, 국문/영문 혼용 조항(번역 연계)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해외 법률 검증, 3D 솔리드 모델링 구조 해석 제외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※ 대용량 CAD 설계도면 및 스캔 계약서는 기술 PoC 우선 수행 후 단계적 적용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적용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국내 구매계약·기술규격 기준, 사내 검증 기준(표현 사전)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해외 국가별 규제 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SRM-Portal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검증 요청 연계, 판정 결과(HTML/JSON) 인터페이스 전달(전자구매포털 화면 표출) 및 관리자 뷰어 연동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결재 시스템 자체 구축, 결재선 직접 연동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HB-Monitor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성분·원소재 기준 데이터 활용 검토 (비교 PoC 후 연계 결정)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설계사양·조성 적합성 판정 (별개 검토 분리)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검증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AI 1차 점검, 3단계 판정 하향 금지, QA 확정 지원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AI 단독 최종 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352" y="146304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착수 후 확정 사항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828800"/>
          <a:ext cx="5486400" cy="34015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확정할 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확정 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골든셋 단계적 구축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1차 선별본(엑셀 약 50건) 우선 검토 — 골든셋 표준화 여부 검토 완료 후 단계적 적용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검토 후 단계적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사내 기간계 연계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사내 SSO(IAM), SRM-Portal(결과 HTML/JSON 인터페이스·뷰어 연동), PLM-Nexus(시험검증DB 연계) 확정, HB-Monitor 비교 PoC 진행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10.20 인프라 미팅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설계도면 및 JPG PoC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도면요약 설계도면(자막/스냅샷) 및 스크롤형 JPG 장표 분할 기술 PoC 수행 및 일정/공수 분석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10.23 PoC 검토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보안 및 비학습 정책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외부 상용 LLM 기업 계약(Zero Data Retention, 미출시 계약·도서 비학습 옵션) 적용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정책 확정 완료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품질 관리 목표치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금지 표현 검출률 95% 이상, 법무·QA 판정 일치율 90% 이상 / 프로토타입 기반 최종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M2 (1월말 확정)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rIns="182880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0" dirty="0" err="1">
                <a:solidFill>
                  <a:srgbClr val="374151"/>
                </a:solidFill>
              </a:rPr>
              <a:t>범위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변경이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필요하면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1" dirty="0" err="1">
                <a:solidFill>
                  <a:srgbClr val="1D4ED8"/>
                </a:solidFill>
              </a:rPr>
              <a:t>변경</a:t>
            </a:r>
            <a:r>
              <a:rPr sz="1200" b="1" dirty="0">
                <a:solidFill>
                  <a:srgbClr val="1D4ED8"/>
                </a:solidFill>
              </a:rPr>
              <a:t> </a:t>
            </a:r>
            <a:r>
              <a:rPr sz="1200" b="1" dirty="0" err="1">
                <a:solidFill>
                  <a:srgbClr val="1D4ED8"/>
                </a:solidFill>
              </a:rPr>
              <a:t>관리</a:t>
            </a:r>
            <a:r>
              <a:rPr sz="1200" b="1" dirty="0">
                <a:solidFill>
                  <a:srgbClr val="1D4ED8"/>
                </a:solidFill>
              </a:rPr>
              <a:t> </a:t>
            </a:r>
            <a:r>
              <a:rPr sz="1200" b="1" dirty="0" err="1">
                <a:solidFill>
                  <a:srgbClr val="1D4ED8"/>
                </a:solidFill>
              </a:rPr>
              <a:t>절차</a:t>
            </a:r>
            <a:r>
              <a:rPr sz="1200" b="1" dirty="0">
                <a:solidFill>
                  <a:srgbClr val="1D4ED8"/>
                </a:solidFill>
              </a:rPr>
              <a:t>(19쪽)</a:t>
            </a:r>
            <a:r>
              <a:rPr sz="1200" b="0" dirty="0">
                <a:solidFill>
                  <a:srgbClr val="374151"/>
                </a:solidFill>
              </a:rPr>
              <a:t>에 </a:t>
            </a:r>
            <a:r>
              <a:rPr sz="1200" b="0" dirty="0" err="1">
                <a:solidFill>
                  <a:srgbClr val="374151"/>
                </a:solidFill>
              </a:rPr>
              <a:t>따라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영향</a:t>
            </a:r>
            <a:r>
              <a:rPr sz="1200" b="0" dirty="0">
                <a:solidFill>
                  <a:srgbClr val="374151"/>
                </a:solidFill>
              </a:rPr>
              <a:t>(</a:t>
            </a:r>
            <a:r>
              <a:rPr sz="1200" b="0" dirty="0" err="1">
                <a:solidFill>
                  <a:srgbClr val="374151"/>
                </a:solidFill>
              </a:rPr>
              <a:t>일정·공수</a:t>
            </a:r>
            <a:r>
              <a:rPr sz="1200" b="0" dirty="0">
                <a:solidFill>
                  <a:srgbClr val="374151"/>
                </a:solidFill>
              </a:rPr>
              <a:t>)을 </a:t>
            </a:r>
            <a:r>
              <a:rPr sz="1200" b="0" dirty="0" err="1">
                <a:solidFill>
                  <a:srgbClr val="374151"/>
                </a:solidFill>
              </a:rPr>
              <a:t>분석하고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lang="ko-KR" altLang="en-US" sz="1200" b="0" dirty="0">
                <a:solidFill>
                  <a:srgbClr val="374151"/>
                </a:solidFill>
              </a:rPr>
              <a:t>고객사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승인</a:t>
            </a:r>
            <a:r>
              <a:rPr sz="1200" b="0" dirty="0">
                <a:solidFill>
                  <a:srgbClr val="374151"/>
                </a:solidFill>
              </a:rPr>
              <a:t> 후 </a:t>
            </a:r>
            <a:r>
              <a:rPr sz="1200" b="0" dirty="0" err="1">
                <a:solidFill>
                  <a:srgbClr val="374151"/>
                </a:solidFill>
              </a:rPr>
              <a:t>반영합니다</a:t>
            </a:r>
            <a:r>
              <a:rPr sz="1200" b="0" dirty="0">
                <a:solidFill>
                  <a:srgbClr val="374151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추진 전략과 수행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단계마다 산출물을 승인받고 다음 단계로 넘어가며, 현업 검증을 일정 안에 미리 배치합니다.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1463040"/>
            <a:ext cx="2377440" cy="658368"/>
          </a:xfrm>
          <a:prstGeom prst="homePlate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분석</a:t>
            </a:r>
            <a:r>
              <a:rPr sz="1150" b="0">
                <a:solidFill>
                  <a:srgbClr val="FFFFFF"/>
                </a:solidFill>
              </a:rPr>
              <a:t>  10월~11월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요구사항 인터뷰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현행 검증 절차 분석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시험성적서 DB 요건 분석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연계 규격 협의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사업수행계획서, 요구사항정의서</a:t>
            </a:r>
          </a:p>
        </p:txBody>
      </p:sp>
      <p:sp>
        <p:nvSpPr>
          <p:cNvPr id="8" name="Chevron 7"/>
          <p:cNvSpPr/>
          <p:nvPr/>
        </p:nvSpPr>
        <p:spPr>
          <a:xfrm>
            <a:off x="2679192" y="1463040"/>
            <a:ext cx="2377440" cy="658368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설계</a:t>
            </a:r>
            <a:r>
              <a:rPr sz="1150" b="0">
                <a:solidFill>
                  <a:srgbClr val="FFFFFF"/>
                </a:solidFill>
              </a:rPr>
              <a:t>  11월~12월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0632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화면·DB·연계 설계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IA 정의서 작성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판정 기준과 점검 분야 정의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화면설계서, IA정의서, DB설계서, 연계정의서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6784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M1</a:t>
            </a:r>
          </a:p>
        </p:txBody>
      </p:sp>
      <p:sp>
        <p:nvSpPr>
          <p:cNvPr id="12" name="Chevron 11"/>
          <p:cNvSpPr/>
          <p:nvPr/>
        </p:nvSpPr>
        <p:spPr>
          <a:xfrm>
            <a:off x="4901184" y="1463040"/>
            <a:ext cx="2377440" cy="658368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구현</a:t>
            </a:r>
            <a:r>
              <a:rPr sz="1150" b="0">
                <a:solidFill>
                  <a:srgbClr val="FFFFFF"/>
                </a:solidFill>
              </a:rPr>
              <a:t>  12월~3월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4064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규칙 사전·근거 검색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판정 엔진·AI Agent 개발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시험검증 DB 구축 및 화면·연계 개발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소스코드, 프롬프트 명세서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M2~M4</a:t>
            </a:r>
          </a:p>
        </p:txBody>
      </p:sp>
      <p:sp>
        <p:nvSpPr>
          <p:cNvPr id="16" name="Chevron 15"/>
          <p:cNvSpPr/>
          <p:nvPr/>
        </p:nvSpPr>
        <p:spPr>
          <a:xfrm>
            <a:off x="7123176" y="1463040"/>
            <a:ext cx="2377440" cy="658368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시험</a:t>
            </a:r>
            <a:r>
              <a:rPr sz="1150" b="0">
                <a:solidFill>
                  <a:srgbClr val="FFFFFF"/>
                </a:solidFill>
              </a:rPr>
              <a:t>  3월~4월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4616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06056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통합·연계·보안·성능 시험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골든셋 평가(표준화 검토 후 단계적 협의)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결과 파일 고도화 검증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통합시험 결과서, 골든셋 평가보고서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M5</a:t>
            </a:r>
          </a:p>
        </p:txBody>
      </p:sp>
      <p:sp>
        <p:nvSpPr>
          <p:cNvPr id="20" name="Chevron 19"/>
          <p:cNvSpPr/>
          <p:nvPr/>
        </p:nvSpPr>
        <p:spPr>
          <a:xfrm>
            <a:off x="9345168" y="1463040"/>
            <a:ext cx="2377440" cy="658368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이행</a:t>
            </a:r>
            <a:r>
              <a:rPr sz="1150" b="0">
                <a:solidFill>
                  <a:srgbClr val="FFFFFF"/>
                </a:solidFill>
              </a:rPr>
              <a:t>  4월~5월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6608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현업 파일럿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운영 이관, 사용자 교육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완료보고서 작성 및 최종 검수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시범운영 결과보고서, 매뉴얼, 완료보고서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52760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36118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전략 1  </a:t>
            </a:r>
            <a:r>
              <a:rPr sz="1350" b="1">
                <a:solidFill>
                  <a:srgbClr val="0F2340"/>
                </a:solidFill>
              </a:rPr>
              <a:t>현업 참여형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03520"/>
            <a:ext cx="33832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골든셋 정답 확인(골든셋 표준화 여부 검토 완료 후 단계적 적용 협의)과 파일럿에 QA·구매담당자가 참여해 실제 업무 기준으로 품질을 확인합니다.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8536" y="4846320"/>
            <a:ext cx="36118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25696" y="4937760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전략 2  </a:t>
            </a:r>
            <a:r>
              <a:rPr sz="1350" b="1">
                <a:solidFill>
                  <a:srgbClr val="0F2340"/>
                </a:solidFill>
              </a:rPr>
              <a:t>연계 규격 조기 확정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5303520"/>
            <a:ext cx="33832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10~11월에 연계 규격을 정하고 가상 연계기 및 시험검증 DB 구축으로 사내 일정 영향을 줄입니다.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4846320"/>
            <a:ext cx="36118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2" y="4937760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전략 3  </a:t>
            </a:r>
            <a:r>
              <a:rPr sz="1350" b="1">
                <a:solidFill>
                  <a:srgbClr val="0F2340"/>
                </a:solidFill>
              </a:rPr>
              <a:t>단계별 승인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5303520"/>
            <a:ext cx="33832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M1~M6마다 산출물을 승인받고 다음 단계로 넘어가 뒤늦은 재작업을 줄입니다.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목표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관리자 웹 화면, 업무 서버, AI 판정 엔진, 데이터 저장소로 구성하고, 검증 요청·결과 화면 표출은 SRM-Portal 인터페이스(HTML/JSON)로 연계합니다.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7373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사용자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구매담당자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연구원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법무·QA 담당자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시스템 관리자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886200"/>
            <a:ext cx="320040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2514600" y="1508760"/>
            <a:ext cx="219456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사내 SSO (IAM)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한빛글로벌 IAM 통합 인증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11880" y="2194560"/>
            <a:ext cx="0" cy="36576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2514600" y="2560320"/>
            <a:ext cx="219456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2633472"/>
            <a:ext cx="201168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1D4ED8"/>
                </a:solidFill>
              </a:rPr>
              <a:t>웹 화면 (관리자 사이트)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050" b="1">
                <a:solidFill>
                  <a:srgbClr val="0F2340"/>
                </a:solidFill>
              </a:rPr>
              <a:t>검증·검토 화면 (관리자 통합)</a:t>
            </a:r>
          </a:p>
          <a:p>
            <a:pPr algn="l" eaLnBrk="0">
              <a:lnSpc>
                <a:spcPct val="115000"/>
              </a:lnSpc>
            </a:pPr>
            <a:r>
              <a:rPr sz="1050" b="0">
                <a:solidFill>
                  <a:srgbClr val="4B5563"/>
                </a:solidFill>
              </a:rPr>
              <a:t>문장 편집, 결과 대조, 시험검증 검증, QA 확정, 이력 검색
(검증 결과 HTML 등은 인터페이스로 SRM-Portal 전달·표출)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0F2340"/>
                </a:solidFill>
              </a:rPr>
              <a:t>기준·운영 관리 화면</a:t>
            </a:r>
          </a:p>
          <a:p>
            <a:pPr algn="l" eaLnBrk="0">
              <a:lnSpc>
                <a:spcPct val="115000"/>
              </a:lnSpc>
            </a:pPr>
            <a:r>
              <a:rPr sz="1050" b="0">
                <a:solidFill>
                  <a:srgbClr val="4B5563"/>
                </a:solidFill>
              </a:rPr>
              <a:t>표현 사전, 규제 문서, AI 설정, 사용자·코드, 통계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3154680"/>
            <a:ext cx="320040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5029200" y="1508760"/>
            <a:ext cx="23774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SRM-Portal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의뢰 연계 · 결과(HTML/JSON) 전달 및 전자구매포털 화면 표출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7920" y="2194560"/>
            <a:ext cx="0" cy="36576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5029200" y="2560320"/>
            <a:ext cx="237744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34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633472"/>
            <a:ext cx="219456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업무 · 연계 서버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Spring Boot (be · api)</a:t>
            </a:r>
          </a:p>
          <a:p>
            <a:pPr marL="155448" indent="-155448" algn="l" eaLnBrk="0">
              <a:lnSpc>
                <a:spcPct val="115000"/>
              </a:lnSpc>
              <a:spcBef>
                <a:spcPts val="4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검증 요청 · 대외 I/F 연계</a:t>
            </a:r>
          </a:p>
          <a:p>
            <a:pPr marL="155448" indent="-155448" algn="l" eaLnBrk="0">
              <a:lnSpc>
                <a:spcPct val="115000"/>
              </a:lnSpc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판정 결과 · QA 확정 · 상충탐지</a:t>
            </a:r>
          </a:p>
          <a:p>
            <a:pPr marL="155448" indent="-155448" algn="l" eaLnBrk="0">
              <a:lnSpc>
                <a:spcPct val="115000"/>
              </a:lnSpc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결과서(HTML/PDF) · 성적서요청 메일</a:t>
            </a:r>
          </a:p>
          <a:p>
            <a:pPr marL="155448" indent="-155448" algn="l" eaLnBrk="0">
              <a:lnSpc>
                <a:spcPct val="115000"/>
              </a:lnSpc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권한 · 불변 감사 이력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4434840"/>
            <a:ext cx="2157984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배치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기준 데이터 일 1회 동기화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3154680"/>
            <a:ext cx="320039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7726679" y="1508760"/>
            <a:ext cx="4005072" cy="2743200"/>
          </a:xfrm>
          <a:prstGeom prst="rect">
            <a:avLst/>
          </a:prstGeom>
          <a:solidFill>
            <a:srgbClr val="EEF3FE"/>
          </a:solidFill>
          <a:ln w="15875">
            <a:solidFill>
              <a:srgbClr val="1D4E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1572768"/>
            <a:ext cx="374903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1D4ED8"/>
                </a:solidFill>
              </a:rPr>
              <a:t>AI 판정 엔진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19385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문서/영상 도면스냅샷·특약주석 추출, OCR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3957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1단계 규칙 점검 (표현 사전)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8529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2단계 근거·과거 상충 검색 (RAG·이력)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3101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3단계 문맥 판정·AI Agent 탐색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794760"/>
            <a:ext cx="363931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850" b="1" dirty="0" err="1">
                <a:solidFill>
                  <a:srgbClr val="1D4ED8"/>
                </a:solidFill>
                <a:latin typeface="Malgun Gothic"/>
              </a:rPr>
              <a:t>외부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상용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LLM(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기업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계약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)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연동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· Zero Data Retention(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학습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제외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4480560"/>
            <a:ext cx="19202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HB-Monitor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성분·기준 데이터 (비교 PoC 후 결정)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296912" y="4764024"/>
            <a:ext cx="429767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9784080" y="4480560"/>
            <a:ext cx="1947672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PLM-Nexus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자재BOM·유해물질한도 및 배상한도성능규격·기술원 시험성적서 (데이터브릿지)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646920" y="4764024"/>
            <a:ext cx="137160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33" name="Rectangle 32"/>
          <p:cNvSpPr/>
          <p:nvPr/>
        </p:nvSpPr>
        <p:spPr>
          <a:xfrm>
            <a:off x="2514600" y="5486400"/>
            <a:ext cx="9217152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5486400"/>
            <a:ext cx="91440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데이터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57784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50" b="1">
                <a:solidFill>
                  <a:srgbClr val="374151"/>
                </a:solidFill>
              </a:rPr>
              <a:t>Redis</a:t>
            </a:r>
            <a:r>
              <a:rPr sz="1000" b="0">
                <a:solidFill>
                  <a:srgbClr val="6B7280"/>
                </a:solidFill>
              </a:rPr>
              <a:t>  캐시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557784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50" b="1">
                <a:solidFill>
                  <a:srgbClr val="374151"/>
                </a:solidFill>
              </a:rPr>
              <a:t>파일 저장소</a:t>
            </a:r>
            <a:r>
              <a:rPr sz="1000" b="0">
                <a:solidFill>
                  <a:srgbClr val="6B7280"/>
                </a:solidFill>
              </a:rPr>
              <a:t>  계약·도서 원본, 결과서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5577840"/>
            <a:ext cx="3886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50" b="1" dirty="0">
                <a:solidFill>
                  <a:srgbClr val="374151"/>
                </a:solidFill>
              </a:rPr>
              <a:t>PostgreSQL · </a:t>
            </a:r>
            <a:r>
              <a:rPr sz="1050" b="1" dirty="0" err="1">
                <a:solidFill>
                  <a:srgbClr val="374151"/>
                </a:solidFill>
              </a:rPr>
              <a:t>pgvector</a:t>
            </a:r>
            <a:r>
              <a:rPr sz="1000" b="0" dirty="0">
                <a:solidFill>
                  <a:srgbClr val="6B7280"/>
                </a:solidFill>
              </a:rPr>
              <a:t>  </a:t>
            </a:r>
            <a:r>
              <a:rPr sz="1000" b="0" dirty="0" err="1">
                <a:solidFill>
                  <a:srgbClr val="6B7280"/>
                </a:solidFill>
              </a:rPr>
              <a:t>업무</a:t>
            </a:r>
            <a:r>
              <a:rPr sz="1000" b="0" dirty="0">
                <a:solidFill>
                  <a:srgbClr val="6B7280"/>
                </a:solidFill>
              </a:rPr>
              <a:t> </a:t>
            </a:r>
            <a:r>
              <a:rPr sz="1000" b="0" dirty="0" err="1">
                <a:solidFill>
                  <a:srgbClr val="6B7280"/>
                </a:solidFill>
              </a:rPr>
              <a:t>데이터</a:t>
            </a:r>
            <a:r>
              <a:rPr sz="1000" b="0" dirty="0">
                <a:solidFill>
                  <a:srgbClr val="6B7280"/>
                </a:solidFill>
              </a:rPr>
              <a:t>, </a:t>
            </a:r>
            <a:r>
              <a:rPr sz="1000" b="0" dirty="0" err="1">
                <a:solidFill>
                  <a:srgbClr val="6B7280"/>
                </a:solidFill>
              </a:rPr>
              <a:t>규제</a:t>
            </a:r>
            <a:r>
              <a:rPr sz="1000" b="0" dirty="0">
                <a:solidFill>
                  <a:srgbClr val="6B7280"/>
                </a:solidFill>
              </a:rPr>
              <a:t> </a:t>
            </a:r>
            <a:r>
              <a:rPr sz="1000" b="0" dirty="0" err="1">
                <a:solidFill>
                  <a:srgbClr val="6B7280"/>
                </a:solidFill>
              </a:rPr>
              <a:t>조항</a:t>
            </a:r>
            <a:r>
              <a:rPr sz="1000" b="0" dirty="0">
                <a:solidFill>
                  <a:srgbClr val="6B7280"/>
                </a:solidFill>
              </a:rPr>
              <a:t> </a:t>
            </a:r>
            <a:r>
              <a:rPr sz="1000" b="0" dirty="0" err="1">
                <a:solidFill>
                  <a:srgbClr val="6B7280"/>
                </a:solidFill>
              </a:rPr>
              <a:t>임베딩</a:t>
            </a:r>
            <a:endParaRPr sz="1000" b="0" dirty="0">
              <a:solidFill>
                <a:srgbClr val="6B7280"/>
              </a:solidFill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217920" y="5212080"/>
            <a:ext cx="0" cy="27432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9692640" y="4251960"/>
            <a:ext cx="0" cy="123444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457200" y="5577840"/>
            <a:ext cx="2743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522976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사내 연계 4종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AI 판정 방식과 안전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규칙 점검, 근거 검색, 문맥 판정을 차례로 거치고, 최종 확정은 법무·QA 전문위원가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011680" cy="1691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문장 · 장면 추출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계약·도서과 도면 핵심규격·특약주석를 파싱하고 OCR로 검증 문장과 위치를 뽑습니다.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96312" y="23500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2770632" y="1508760"/>
            <a:ext cx="2011680" cy="1691640"/>
          </a:xfrm>
          <a:prstGeom prst="rect">
            <a:avLst/>
          </a:prstGeom>
          <a:solidFill>
            <a:srgbClr val="EEF3FE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1단계 규칙 점검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금지·주의 표현 사전과 패턴으로 문장을 빠르게 걸러 냅니다.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9744" y="2350008"/>
            <a:ext cx="246887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5084064" y="1508760"/>
            <a:ext cx="2011680" cy="1691640"/>
          </a:xfrm>
          <a:prstGeom prst="rect">
            <a:avLst/>
          </a:prstGeom>
          <a:solidFill>
            <a:srgbClr val="EEF3FE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9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2단계 근거 · 상충 검색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문장과 관련된 규제 조항, 시험성적서, 과거 검증 상충 사례를 찾습니다.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23175" y="23500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7397496" y="1508760"/>
            <a:ext cx="2011680" cy="1691640"/>
          </a:xfrm>
          <a:prstGeom prst="rect">
            <a:avLst/>
          </a:prstGeom>
          <a:solidFill>
            <a:srgbClr val="EEF3FE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5512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3단계 문맥 판정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문맥을 보고 안전·주의·금지를 판정하고 대체 표현을 제안합니다.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36608" y="23500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9710928" y="1508760"/>
            <a:ext cx="2011680" cy="1691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38944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</a:rPr>
              <a:t>QA 최종 확정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DCE4F2"/>
                </a:solidFill>
              </a:rPr>
              <a:t>AI 결과를 검토해 등급과 조항을 확정합니다.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14630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점검 분야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불공정 독소조항 표현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3048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부당 원가전가 표현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97296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절대·최상급 표현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81544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부당 비교 표현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2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핵심규격 오인 표현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64008" cy="2103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133087"/>
            <a:ext cx="333756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원칙 1  </a:t>
            </a:r>
            <a:r>
              <a:rPr sz="1400" b="1">
                <a:solidFill>
                  <a:srgbClr val="0F2340"/>
                </a:solidFill>
              </a:rPr>
              <a:t>판정 하향 금지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1단계에서 금지·주의로 걸린 표현은 3단계에서 안전으로 낮출 수 없도록 시스템에서 막습니다.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애매한 표현은 보수적으로 남겨 QA가 직접 확인합니다.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8536" y="40233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88536" y="4023360"/>
            <a:ext cx="64008" cy="2103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25696" y="4133087"/>
            <a:ext cx="333756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원칙 2  </a:t>
            </a:r>
            <a:r>
              <a:rPr sz="1400" b="1">
                <a:solidFill>
                  <a:srgbClr val="0F2340"/>
                </a:solidFill>
              </a:rPr>
              <a:t>근거 조항 제시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AI 판정 사유에는 검색된 규제 조항 원문을 함께 표시합니다.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근거 조항과 맞지 않는 판단은 결과에서 걸러 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9872" y="40233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19872" y="4023360"/>
            <a:ext cx="64008" cy="2103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4133087"/>
            <a:ext cx="333756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원칙 3  </a:t>
            </a:r>
            <a:r>
              <a:rPr sz="1400" b="1">
                <a:solidFill>
                  <a:srgbClr val="0F2340"/>
                </a:solidFill>
              </a:rPr>
              <a:t>전문가 최종 확정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AI 결과는 검토를 돕는 권고안이며, 최종 검증은 법무·QA 담당자가 확정합니다.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확정 결과는 다음 판정의 참고 사례로 쌓입니다.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핵심 화면: 계약·도서·판정 결과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계약·도서 원본과 문장별 판정 결과를 나란히 놓고, 한쪽을 누르면 다른 쪽에서 같은 위치가 함께 표시됩니다.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73152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결과 검토  |  구동모터 제어기(MCU) 물품공급계약서 (12쪽 중 1쪽)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63040"/>
            <a:ext cx="3749039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화면 예시 · 예시 조항 판정은 법무·QA 검토 후 확정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25780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737360" cy="2606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제품 이미지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240280"/>
            <a:ext cx="3017520" cy="603504"/>
          </a:xfrm>
          <a:prstGeom prst="rect">
            <a:avLst/>
          </a:prstGeom>
          <a:solidFill>
            <a:srgbClr val="FEE2E2"/>
          </a:solidFill>
          <a:ln w="22225">
            <a:solidFill>
              <a:srgbClr val="B91C1C"/>
            </a:solidFill>
          </a:ln>
        </p:spPr>
        <p:txBody>
          <a:bodyPr wrap="square" tIns="27432" bIns="27432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</a:rPr>
              <a:t>납품 지연 시 사유 불문 일일 3% 지체상금 및 무한 간접손해 배상</a:t>
            </a:r>
          </a:p>
        </p:txBody>
      </p:sp>
      <p:sp>
        <p:nvSpPr>
          <p:cNvPr id="12" name="Oval 11"/>
          <p:cNvSpPr/>
          <p:nvPr/>
        </p:nvSpPr>
        <p:spPr>
          <a:xfrm>
            <a:off x="2606040" y="2167128"/>
            <a:ext cx="237744" cy="23774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081528"/>
            <a:ext cx="3017520" cy="603504"/>
          </a:xfrm>
          <a:prstGeom prst="rect">
            <a:avLst/>
          </a:prstGeom>
          <a:solidFill>
            <a:srgbClr val="FEF3C7"/>
          </a:solidFill>
          <a:ln w="15875">
            <a:solidFill>
              <a:srgbClr val="92400E"/>
            </a:solidFill>
          </a:ln>
        </p:spPr>
        <p:txBody>
          <a:bodyPr wrap="square" tIns="27432" bIns="27432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</a:rPr>
              <a:t>2,000시간 내열·진동 보증</a:t>
            </a:r>
          </a:p>
        </p:txBody>
      </p:sp>
      <p:sp>
        <p:nvSpPr>
          <p:cNvPr id="14" name="Oval 13"/>
          <p:cNvSpPr/>
          <p:nvPr/>
        </p:nvSpPr>
        <p:spPr>
          <a:xfrm>
            <a:off x="2606040" y="3008376"/>
            <a:ext cx="237744" cy="237744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922776"/>
            <a:ext cx="3017520" cy="603504"/>
          </a:xfrm>
          <a:prstGeom prst="rect">
            <a:avLst/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txBody>
          <a:bodyPr wrap="square" tIns="27432" bIns="27432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</a:rPr>
              <a:t>ISO 26262 기능안전 ASIL-D 및 AEC-Q100 Grade 1 규격을 충족합니다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2606040" y="3849624"/>
            <a:ext cx="237744" cy="23774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4983480"/>
            <a:ext cx="47548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1016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7943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2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98348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쪽 썸네일: 누르면 해당 쪽으로 이동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6168" y="3246120"/>
            <a:ext cx="283464" cy="0"/>
          </a:xfrm>
          <a:prstGeom prst="line">
            <a:avLst/>
          </a:prstGeom>
          <a:ln w="25400">
            <a:solidFill>
              <a:srgbClr val="1D4ED8"/>
            </a:solidFill>
            <a:headEnd type="triangle" w="med" len="med"/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626364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0F2340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</a:rPr>
              <a:t>전체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B91C1C"/>
                </a:solidFill>
              </a:rPr>
              <a:t>금지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주의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047857"/>
                </a:solidFill>
              </a:rPr>
              <a:t>안전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286000"/>
            <a:ext cx="5330952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2340864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0F2340"/>
                </a:solidFill>
              </a:rPr>
              <a:t>문장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236829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</a:rPr>
              <a:t>금지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633472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111827"/>
                </a:solidFill>
              </a:rPr>
              <a:t>납품 지연 시 사유 불문 일일 3% 지체상금 및 무한 간접손해 배상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2926080"/>
            <a:ext cx="5111496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tIns="1828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</a:rPr>
              <a:t>점검 분야  </a:t>
            </a:r>
            <a:r>
              <a:rPr sz="1000" b="0">
                <a:solidFill>
                  <a:srgbClr val="374151"/>
                </a:solidFill>
              </a:rPr>
              <a:t>불공정 독소조항 표현, 부당 원가전가 표현</a:t>
            </a:r>
          </a:p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</a:rPr>
              <a:t>근거  </a:t>
            </a:r>
            <a:r>
              <a:rPr sz="1000" b="0">
                <a:solidFill>
                  <a:srgbClr val="374151"/>
                </a:solidFill>
              </a:rPr>
              <a:t>하도급법 제3조의4, 같은 법 시행규칙 [별표 5] 계약·기술규격 준수사항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4747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1D4ED8"/>
                </a:solidFill>
              </a:rPr>
              <a:t>대체 표현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712463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</a:rPr>
              <a:t>1안 사내 승인 표현  </a:t>
            </a:r>
            <a:r>
              <a:rPr sz="1050" b="0">
                <a:solidFill>
                  <a:srgbClr val="374151"/>
                </a:solidFill>
              </a:rPr>
              <a:t>KS R ISO 16750-4 열충격 시험 기준을 완벽히 준수합니다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08792" y="3730751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1D4ED8"/>
                </a:solidFill>
              </a:rPr>
              <a:t>반영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986783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</a:rPr>
              <a:t>2안 AI 제안  </a:t>
            </a:r>
            <a:r>
              <a:rPr sz="1050" b="0">
                <a:solidFill>
                  <a:srgbClr val="374151"/>
                </a:solidFill>
              </a:rPr>
              <a:t>IATF 16949 품질경영시스템 인증 기준에 따라 양산 공급합니다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08792" y="4005071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1D4ED8"/>
                </a:solidFill>
              </a:rPr>
              <a:t>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4224528"/>
            <a:ext cx="5111496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0" bIns="0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법무·QA 판정  </a:t>
            </a:r>
            <a:r>
              <a:rPr sz="950" b="0">
                <a:solidFill>
                  <a:srgbClr val="92400E"/>
                </a:solidFill>
              </a:rPr>
              <a:t>금지 ▾     메모: 1안으로 수정 권고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572000"/>
            <a:ext cx="53309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73368" y="4572000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문장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79" y="4617720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주의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4572000"/>
            <a:ext cx="3840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2,000시간 내열·진동 보증 · 시험성적서 필요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901184"/>
            <a:ext cx="53309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4901184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문장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79" y="4946904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안전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901184"/>
            <a:ext cx="3840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ISO 26262 기능안전 ASIL-D 및 AEC-Q100 Grade 1 규격을 충족합니다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87037" y="5248656"/>
            <a:ext cx="804672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 dirty="0" err="1">
                <a:solidFill>
                  <a:srgbClr val="374151"/>
                </a:solidFill>
              </a:rPr>
              <a:t>일괄</a:t>
            </a:r>
            <a:r>
              <a:rPr sz="950" b="1" dirty="0">
                <a:solidFill>
                  <a:srgbClr val="374151"/>
                </a:solidFill>
              </a:rPr>
              <a:t> </a:t>
            </a:r>
            <a:r>
              <a:rPr sz="950" b="1" dirty="0" err="1">
                <a:solidFill>
                  <a:srgbClr val="374151"/>
                </a:solidFill>
              </a:rPr>
              <a:t>승인</a:t>
            </a:r>
            <a:endParaRPr sz="950" b="1" dirty="0">
              <a:solidFill>
                <a:srgbClr val="37415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762488" y="5248656"/>
            <a:ext cx="804672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</a:rPr>
              <a:t>검증 확정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15000"/>
            <a:ext cx="3611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28016" tIns="18288" rIns="128016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양방향 위치 연동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계약·도서 박스와 문장 카드가 서로 같은 위치를 표시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8536" y="5715000"/>
            <a:ext cx="3611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28016" tIns="18288" rIns="128016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3색 위험도 표시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금지는 빨강, 주의는 노랑, 안전은 초록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5715000"/>
            <a:ext cx="3611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28016" tIns="18288" rIns="128016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대체 표현 바로 반영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사내 승인 표현과 AI 제안 중 골라 반영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사내 시스템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연계 범위는 로그인(SSO), 검증 요청·결과 회신(SRM-Portal), 자재BOM·시험성적서(PLM-Nexus), [Option] HB-Monitor이며, 10~11월에 확정합니다.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1554480"/>
            <a:ext cx="2286000" cy="12344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</a:rPr>
              <a:t>SyncFlow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246888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50" b="1">
                <a:solidFill>
                  <a:srgbClr val="92400E"/>
                </a:solidFill>
              </a:rPr>
              <a:t>사내 SSO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7112" y="1188720"/>
            <a:ext cx="24688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50" b="1">
                <a:solidFill>
                  <a:srgbClr val="92400E"/>
                </a:solidFill>
              </a:rPr>
              <a:t>SRM-Portal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1783080"/>
            <a:ext cx="24688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50" b="1">
                <a:solidFill>
                  <a:srgbClr val="92400E"/>
                </a:solidFill>
              </a:rPr>
              <a:t>HB-Monitor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2377440"/>
            <a:ext cx="24688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50" b="1">
                <a:solidFill>
                  <a:srgbClr val="92400E"/>
                </a:solidFill>
              </a:rPr>
              <a:t>PLM-Nexus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167128"/>
            <a:ext cx="1664208" cy="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3291840" y="1847088"/>
            <a:ext cx="16642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로그인·사용자 정보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242048" y="1426464"/>
            <a:ext cx="1655064" cy="310896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7223760" y="1325880"/>
            <a:ext cx="16916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계약·도서·설계도면 의뢰 접수 및 결과(HTML/JSON) 전달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242048" y="2020824"/>
            <a:ext cx="1655064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7223760" y="1847088"/>
            <a:ext cx="16916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[Option] 연구보고서 벡터 검색 (비교 검증 후 결정)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242048" y="2615184"/>
            <a:ext cx="1655064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7223760" y="2286000"/>
            <a:ext cx="16916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자재BOM·유해물질한도 및 배상한도성능규격·기술원 시험성적서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971800"/>
          <a:ext cx="11274552" cy="24780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시스템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연계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주기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연계 내용과 범위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사내 SSO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인증·사용자 정보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SAML 2.0 또는 OIDC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실시간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사내 IAM 통합 인증 연계, 사용자 권한(RBAC) 및 세션 연동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SRM-Portal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검증 요청 및 결과 회신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REST API (HTML/JSON) / 뷰어 링크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건별 실시간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SRM-Portal에서 검증 요청 접수 및 판정 결과(HTML/JSON 등) 인터페이스 전달을 통한 전자구매포털 화면 표출, 관리자 상세 뷰어 연동 (결재 시스템 자체 구축 제외)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HB-Monitor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성분·기준 데이터 (연계 검토)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REST API / 비교 PoC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PoC 후 결정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상용 LLM 직접 파싱 대비 HB-Monitor API 호출 품질/정확도 사전 비교 PoC 후 최종 연계 여부 결정 (현재 분리 검토)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PLM-Nexus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자재BOM·유해물질한도 및 배상한도성능규격·기술원 시험성적서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REST API / DB 연계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일배치 및 수시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원소재코드별 배상한도성능규격 보고서(혼합처리 포함), 기술원 보고서 연결 및 시험검증 첨부파일 DB 구축 연동 (데이터브릿지 전담)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68183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0" dirty="0">
                <a:solidFill>
                  <a:srgbClr val="6B7280"/>
                </a:solidFill>
              </a:rPr>
              <a:t>※ </a:t>
            </a:r>
            <a:r>
              <a:rPr sz="1050" b="0" dirty="0" err="1">
                <a:solidFill>
                  <a:srgbClr val="6B7280"/>
                </a:solidFill>
              </a:rPr>
              <a:t>연계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규격과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테스트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일정은</a:t>
            </a:r>
            <a:r>
              <a:rPr sz="1050" b="0" dirty="0">
                <a:solidFill>
                  <a:srgbClr val="6B7280"/>
                </a:solidFill>
              </a:rPr>
              <a:t> 10~11월 </a:t>
            </a:r>
            <a:r>
              <a:rPr sz="1050" b="0" dirty="0" err="1">
                <a:solidFill>
                  <a:srgbClr val="6B7280"/>
                </a:solidFill>
              </a:rPr>
              <a:t>정보전략팀</a:t>
            </a:r>
            <a:r>
              <a:rPr sz="1050" b="0" dirty="0">
                <a:solidFill>
                  <a:srgbClr val="6B7280"/>
                </a:solidFill>
              </a:rPr>
              <a:t> 및 </a:t>
            </a:r>
            <a:r>
              <a:rPr sz="1050" b="0" dirty="0" err="1">
                <a:solidFill>
                  <a:srgbClr val="6B7280"/>
                </a:solidFill>
              </a:rPr>
              <a:t>담당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부서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협의로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확정합니다</a:t>
            </a:r>
            <a:r>
              <a:rPr sz="1050" b="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단계별 일정과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Ⅳ. 추진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2026년 10월 16일부터 2027년 5월 31일까지 7.5개월간 12개 작업을 진행하며, 마일스톤 M1~M6를 둡니다.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11274552" cy="5120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274320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444752"/>
            <a:ext cx="109728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담당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453896"/>
            <a:ext cx="2393442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AFC2E0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681" y="1453896"/>
            <a:ext cx="3989070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AFC2E0"/>
                </a:solidFill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10월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7054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11월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4868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12월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2681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2월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8310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3월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6124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4월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3938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5월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56816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6314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1956816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마일스톤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67712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574036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67712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분석·설계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267712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[01] 착수, 요구사항·연계 규격 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267712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PM·데이터브릿지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78608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288493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54480" y="2578608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[02] 화면·DB·IA·연계 상세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2578608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기획·개발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9504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9582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889504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AI 엔진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889504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[03] 규칙 사전·근거 검색·Agent 구축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889504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AI 리드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00400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506724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3200400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[04] 3단계 판정 엔진·프롬프트 개발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200400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AI 리드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511296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381762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3511296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개발·연계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3511296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[05] 화면 개발 및 결과 파일 고도화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511296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풀스택 개발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822191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4128515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54480" y="3822191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[06] SSO·SRM-Portal·HB-Monitor 연계 개발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3822191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개발 1·2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33088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43941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133088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시험검증 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4133088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[07] PLM-Nexus 시험성적서 DB 구축·연동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4133088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데이터브릿지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43984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475030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43984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시험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4443984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[08] 통합·연계·보안·성능 시험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60" y="4443984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데이터브릿지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754880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57200" y="5061204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54480" y="4754880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850" b="0">
                <a:solidFill>
                  <a:srgbClr val="374151"/>
                </a:solidFill>
              </a:rPr>
              <a:t>[09] 골든셋 평가·조정 (표준화 검토 후 단계적 협의)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4754880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AI 리드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065776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537210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065776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현업 검증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4480" y="5065776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[10] 구매담당자·QA 현업 파일럿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1960" y="5065776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전체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376672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7200" y="5682996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5376672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이행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4480" y="5376672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[11] 운영 이관·교육·검수 및 오픈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51960" y="5376672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PM·전체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687568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57200" y="599389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5687568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lang="ko-KR" altLang="en-US" sz="1000" b="1" dirty="0">
                <a:solidFill>
                  <a:srgbClr val="0F2340"/>
                </a:solidFill>
              </a:rPr>
              <a:t>고객사</a:t>
            </a:r>
            <a:endParaRPr sz="1000" b="1" dirty="0">
              <a:solidFill>
                <a:srgbClr val="0F234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554480" y="5687568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850" b="0">
                <a:solidFill>
                  <a:srgbClr val="374151"/>
                </a:solidFill>
              </a:rPr>
              <a:t>자료 제공·골든셋 검토 (표준화 검토 후 단계적 협의)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1960" y="5687568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lang="ko-KR" altLang="en-US" sz="950" b="0" dirty="0">
                <a:solidFill>
                  <a:srgbClr val="6B7280"/>
                </a:solidFill>
              </a:rPr>
              <a:t>고객사</a:t>
            </a:r>
            <a:r>
              <a:rPr sz="950" b="0" dirty="0">
                <a:solidFill>
                  <a:srgbClr val="6B7280"/>
                </a:solidFill>
              </a:rPr>
              <a:t> QA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47054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944868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742681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540496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338310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136124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933938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349240" y="1956816"/>
            <a:ext cx="7315" cy="404164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744489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542303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137931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935745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733559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770717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728094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5748147" y="2340864"/>
            <a:ext cx="797814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6306616" y="2651760"/>
            <a:ext cx="1037158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6785305" y="2962656"/>
            <a:ext cx="1755190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7343775" y="3273552"/>
            <a:ext cx="1994535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7742681" y="3584448"/>
            <a:ext cx="1994535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141588" y="3895344"/>
            <a:ext cx="1595628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147054" y="4206240"/>
            <a:ext cx="1595628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737217" y="4517136"/>
            <a:ext cx="1037158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9737217" y="4828032"/>
            <a:ext cx="1037158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0136124" y="5138928"/>
            <a:ext cx="957376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0933938" y="5449824"/>
            <a:ext cx="797814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5748147" y="5760720"/>
            <a:ext cx="1994535" cy="16459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Diamond 104"/>
          <p:cNvSpPr/>
          <p:nvPr/>
        </p:nvSpPr>
        <p:spPr>
          <a:xfrm>
            <a:off x="5674995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821299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착수</a:t>
            </a:r>
          </a:p>
        </p:txBody>
      </p:sp>
      <p:sp>
        <p:nvSpPr>
          <p:cNvPr id="107" name="Diamond 106"/>
          <p:cNvSpPr/>
          <p:nvPr/>
        </p:nvSpPr>
        <p:spPr>
          <a:xfrm>
            <a:off x="6472808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619113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M1</a:t>
            </a:r>
          </a:p>
        </p:txBody>
      </p:sp>
      <p:sp>
        <p:nvSpPr>
          <p:cNvPr id="109" name="Diamond 108"/>
          <p:cNvSpPr/>
          <p:nvPr/>
        </p:nvSpPr>
        <p:spPr>
          <a:xfrm>
            <a:off x="8068436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214740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M2</a:t>
            </a:r>
          </a:p>
        </p:txBody>
      </p:sp>
      <p:sp>
        <p:nvSpPr>
          <p:cNvPr id="111" name="Diamond 110"/>
          <p:cNvSpPr/>
          <p:nvPr/>
        </p:nvSpPr>
        <p:spPr>
          <a:xfrm>
            <a:off x="8866251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012555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M3</a:t>
            </a:r>
          </a:p>
        </p:txBody>
      </p:sp>
      <p:sp>
        <p:nvSpPr>
          <p:cNvPr id="113" name="Diamond 112"/>
          <p:cNvSpPr/>
          <p:nvPr/>
        </p:nvSpPr>
        <p:spPr>
          <a:xfrm>
            <a:off x="9664065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810369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M4</a:t>
            </a:r>
          </a:p>
        </p:txBody>
      </p:sp>
      <p:sp>
        <p:nvSpPr>
          <p:cNvPr id="115" name="Diamond 114"/>
          <p:cNvSpPr/>
          <p:nvPr/>
        </p:nvSpPr>
        <p:spPr>
          <a:xfrm>
            <a:off x="10701223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847527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M5</a:t>
            </a:r>
          </a:p>
        </p:txBody>
      </p:sp>
      <p:sp>
        <p:nvSpPr>
          <p:cNvPr id="117" name="Diamond 116"/>
          <p:cNvSpPr/>
          <p:nvPr/>
        </p:nvSpPr>
        <p:spPr>
          <a:xfrm>
            <a:off x="11658600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045952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6089904"/>
            <a:ext cx="1127455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50" b="1">
                <a:solidFill>
                  <a:srgbClr val="92400E"/>
                </a:solidFill>
                <a:latin typeface="Malgun Gothic"/>
              </a:rPr>
              <a:t>착수 착수보고(10.16)   M1 분석·설계 승인(11.20)   M2 엔진검증·중간보고(1월말)   M3 시험검증DB 구축(1월말)   M4 구현 완료(3월말)   M5 골든셋(표준화 검토 후 단계적 적용 협의)·파일럿(4월말)   M6 그랜드 오픈(5.31)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단계별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Ⅳ. 추진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단계 점검 회의에서 해당 단계 산출물을 검토·승인합니다. 최종 목록과 양식은 2주차에 확정합니다.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780781"/>
              </p:ext>
            </p:extLst>
          </p:nvPr>
        </p:nvGraphicFramePr>
        <p:xfrm>
          <a:off x="457200" y="1508760"/>
          <a:ext cx="11274552" cy="46085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승인 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분석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10월~11월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사업수행계획서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WBS,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요구사항정의서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연계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규격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협의서</a:t>
                      </a:r>
                      <a:endParaRPr sz="12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착수 후 2주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설계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11월~12월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화면설계서, IA정의서, DB설계서, 인터페이스 정의서, 아키텍처 설계서, AI 판정·프롬프트 설계서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M1 (12월초)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구현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12월~3월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소스코드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규칙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사전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정의서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프롬프트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명세서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연계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명세서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단위시험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결과서</a:t>
                      </a:r>
                      <a:endParaRPr sz="12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M2 · M3 · M4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시험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3월~4월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통합시험 시나리오·결과서, 보안 점검 결과서, 성능 시험 결과서, 골든셋 평가보고서(골든셋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M5 (4월말)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이행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4월~5월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시범운영 결과보고서, 사용자·운영자 매뉴얼, 교육 결과보고서, 완료보고서, 최종 검수확인서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M6 (5월말)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상시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매주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주간보고서, 회의록, 이슈·위험 관리대장, 변경 관리대장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수시</a:t>
                      </a:r>
                      <a:endParaRPr sz="12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수행 조직과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Ⅴ. 수행 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lang="ko-KR" altLang="en-US" sz="1300" b="0" dirty="0">
                <a:solidFill>
                  <a:srgbClr val="6B7280"/>
                </a:solidFill>
              </a:rPr>
              <a:t>고객사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PM과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수행사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PM을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단일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창구로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두고</a:t>
            </a:r>
            <a:r>
              <a:rPr sz="1300" b="0" dirty="0">
                <a:solidFill>
                  <a:srgbClr val="6B7280"/>
                </a:solidFill>
              </a:rPr>
              <a:t>, </a:t>
            </a:r>
            <a:r>
              <a:rPr sz="1300" b="0" dirty="0" err="1">
                <a:solidFill>
                  <a:srgbClr val="6B7280"/>
                </a:solidFill>
              </a:rPr>
              <a:t>분야별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담당자가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함께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일합니다</a:t>
            </a:r>
            <a:r>
              <a:rPr sz="1300" b="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7448" y="1417320"/>
            <a:ext cx="2743200" cy="56692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사업 총괄 스폰서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C8D3E6"/>
                </a:solidFill>
              </a:rPr>
              <a:t>㈜한빛글로벌 · 주요 의사결정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984248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017520" y="2212848"/>
            <a:ext cx="4544568" cy="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17520" y="2212848"/>
            <a:ext cx="0" cy="237744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7562088" y="2212848"/>
            <a:ext cx="0" cy="237744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1600200" y="2450592"/>
            <a:ext cx="2834640" cy="658368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900" b="1">
                <a:solidFill>
                  <a:srgbClr val="0F2340"/>
                </a:solidFill>
                <a:latin typeface="Malgun Gothic"/>
              </a:rPr>
              <a:t>고객사 PM</a:t>
            </a:r>
          </a:p>
          <a:p>
            <a:pPr algn="ctr"/>
            <a:r>
              <a:rPr sz="900" b="1">
                <a:solidFill>
                  <a:srgbClr val="0F2340"/>
                </a:solidFill>
                <a:latin typeface="Malgun Gothic"/>
              </a:rPr>
              <a:t>정민수(현업 PM) / 한승우(기술PM)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2779776"/>
            <a:ext cx="1920240" cy="0"/>
          </a:xfrm>
          <a:prstGeom prst="line">
            <a:avLst/>
          </a:prstGeom>
          <a:ln w="19050">
            <a:solidFill>
              <a:srgbClr val="1D4ED8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4434840" y="2450592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Malgun Gothic"/>
              </a:rPr>
              <a:t>단일 창구 (현업/기술 PM) · 주간 정례 회의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50592"/>
            <a:ext cx="2423160" cy="658368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수행 총괄 / 수행 PM</a:t>
            </a:r>
          </a:p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박준혁(총괄/AA) · 김태윤(수행PM)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450592"/>
            <a:ext cx="2423160" cy="658368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수행사 PMO</a:t>
            </a:r>
          </a:p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이지훈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10896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060704" y="3337560"/>
            <a:ext cx="3895344" cy="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060704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57200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구매조달</a:t>
            </a:r>
          </a:p>
          <a:p>
            <a:pPr algn="ctr" eaLnBrk="0">
              <a:lnSpc>
                <a:spcPct val="115000"/>
              </a:lnSpc>
              <a:spcBef>
                <a:spcPts val="400"/>
              </a:spcBef>
            </a:pPr>
            <a:r>
              <a:rPr sz="1000" b="0">
                <a:solidFill>
                  <a:srgbClr val="4B5563"/>
                </a:solidFill>
              </a:rPr>
              <a:t>계약·도서 제공, 파일럿 참여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59152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1755648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01368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전장부품 연구소</a:t>
            </a:r>
          </a:p>
          <a:p>
            <a:pPr algn="ctr" eaLnBrk="0">
              <a:lnSpc>
                <a:spcPct val="115000"/>
              </a:lnSpc>
              <a:spcBef>
                <a:spcPts val="400"/>
              </a:spcBef>
            </a:pPr>
            <a:r>
              <a:rPr sz="1000" b="0">
                <a:solidFill>
                  <a:srgbClr val="4B5563"/>
                </a:solidFill>
              </a:rPr>
              <a:t>성분·시험성적서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3054096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99816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품질법무검증팀 (최윤아·윤서연·배수빈·송하늘)</a:t>
            </a:r>
          </a:p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검증 기준 정의, 골든셋 검증(골든셋 표준화 여부 검토 완료 후 단계적 적용 협의), 주간회의 전원 참여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6048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4352544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ERP플랫폼기획 (한승우 기술PM)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PLM-Nexus 연계, 사내 SSO(IAM) 승인, 인프라 지원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62088" y="310896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7232904" y="3337560"/>
            <a:ext cx="3895344" cy="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7232904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6629400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서비스 기획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요구사항 분석, 화면 UI/UX 및 IA 설계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31352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7927848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73568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AI 아키텍트 / 백엔드 (박준혁, 김태윤)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3단계 판정 엔진, pgvector RAG, 외부 LLM 연계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9800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9226296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72016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풀스택 개발 리드 (최현우)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Side-by-Side 대조 뷰어, 검증 포털, API 연계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128248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42" name="Rectangle 41"/>
          <p:cNvSpPr/>
          <p:nvPr/>
        </p:nvSpPr>
        <p:spPr>
          <a:xfrm>
            <a:off x="10524744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70464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시험검증 DB 리드 (데이터브릿지 강동현 수석 / 조성민 상무)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PLM-Nexus 시험검증 DB 구축 및 인터페이스 연동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29200"/>
            <a:ext cx="555955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64592" rIns="164592" rtlCol="0" anchor="ctr">
            <a:noAutofit/>
          </a:bodyPr>
          <a:lstStyle/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고객사 역할</a:t>
            </a:r>
          </a:p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담당자 지정 및 의사결정, 검증 기준·참조 데이터(50건) 제공, 골든셋 검증(골든셋 표준화 여부 검토 완료 후 단계적 적용 협의), 파일럿 참여, 사내 연계/인프라 지원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029200"/>
            <a:ext cx="555955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64592" rIns="164592" rtlCol="0" anchor="ctr">
            <a:noAutofit/>
          </a:bodyPr>
          <a:lstStyle/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수행사 역할</a:t>
            </a:r>
          </a:p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일정·품질·위험 관리, 아키텍처 수립 및 풀스택 개발, 3단계 판정 엔진/RAG 구축, 골든셋 평가(골든셋 표준화 여부 검토 완료 후 단계적 적용 협의), 정례보고 및 이관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역할별 전담 업무 및 추진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Ⅴ. 수행 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사업 기간(2026.10~2027.05) 동안 분야별 전담 인력이 상시 협업하며, 4~5월 시험·파일럿에 집중 투입됩니다.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666331"/>
              </p:ext>
            </p:extLst>
          </p:nvPr>
        </p:nvGraphicFramePr>
        <p:xfrm>
          <a:off x="457200" y="1508760"/>
          <a:ext cx="11274552" cy="34015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소속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주요 전담 업무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10월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11월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12월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2월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3월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4월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5월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투입 형태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6"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74151"/>
                          </a:solidFill>
                          <a:latin typeface="Malgun Gothic"/>
                        </a:rPr>
                        <a:t>㈜</a:t>
                      </a:r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엠파시</a:t>
                      </a:r>
                      <a:endParaRPr sz="800" b="0" dirty="0">
                        <a:solidFill>
                          <a:srgbClr val="374151"/>
                        </a:solidFill>
                        <a:latin typeface="Malgun Gothic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사업 총괄 · AA (박준혁)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프로젝트 총괄, 시스템 아키텍처 수립, 기술 이슈 리딩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상주 / 비상주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㈜엠파시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수행 PM · PMO (김태윤, 이지훈)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사업 공정·일정 관리, 품질 관리, 28종 산출물 검수, 정기 보고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전담 관리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㈜엠파시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AI 아키텍트 / 백엔드 (박준혁, 김태윤)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규칙 사전, RAG 근거 검색, 3단계 판정 엔진, API 개발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전담 상주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㈜엠파시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개발 리드 · 풀스택 (최현우)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Side-by-Side 대조 뷰어, 검증 포털, 결과서 파일 고도화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개발 집중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Malgun Gothic"/>
                        </a:rPr>
                        <a:t>㈜데이터브릿지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시험검증 DB 리드 (강동현 수석)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PLM-Nexus 원소재 배상한도성능규격·기술원 보고서 연결 DB 구축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 dirty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초기 집중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㈜데이터브릿지/수행사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연계 · 품질 검증 (조성민 상무 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PLM-Nexus 연계 지원, 통합·연계 시험 및 골든셋 검증 지원(골든셋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lang="ko-KR" altLang="en-US"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  <a:endParaRPr sz="1100" b="1" dirty="0">
                        <a:solidFill>
                          <a:srgbClr val="1D4ED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0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검증 집중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12080"/>
            <a:ext cx="1127455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266944"/>
            <a:ext cx="1088136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Malgun Gothic"/>
              </a:rPr>
              <a:t>판정 엔진과 풀스택 포털의 일관성 및 품질을 위해 수행사 핵심 개발진이 분석부터 오픈까지 전 기간(7.5개월) 전담 투입됩니다.</a:t>
            </a:r>
          </a:p>
          <a:p>
            <a:pPr algn="l"/>
            <a:r>
              <a:rPr sz="850" b="0">
                <a:solidFill>
                  <a:srgbClr val="374151"/>
                </a:solidFill>
                <a:latin typeface="Malgun Gothic"/>
              </a:rPr>
              <a:t>시험성적서 DB 구축은 ㈜데이터브릿지(강동현 수석)가 초반(11~12월)에 집중 투입되어 PLM-Nexus 연구 데이터 연동 기반을 조기 완성합니다.</a:t>
            </a:r>
          </a:p>
          <a:p>
            <a:pPr algn="l"/>
            <a:r>
              <a:rPr sz="850" b="0">
                <a:solidFill>
                  <a:srgbClr val="374151"/>
                </a:solidFill>
                <a:latin typeface="Malgun Gothic"/>
              </a:rPr>
              <a:t>4월 통합 시험 및 현업 파일럿 기간에 데이터브릿지 및 품질 검증 인력이 집중 투입되어 오픈 전 완성도를 다듬습니다.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보고 및 회의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보고회 3회, 단계 점검 6회, 정기 회의로 진행 상황을 공유하고 의사결정을 받습니다.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86472"/>
              </p:ext>
            </p:extLst>
          </p:nvPr>
        </p:nvGraphicFramePr>
        <p:xfrm>
          <a:off x="457200" y="1508760"/>
          <a:ext cx="11274552" cy="37124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주요 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착수보고회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2026. 10. 16. (완료)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PM, 현업 책임자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사업 계획 공유, 범위·일정 합의, 착수 킥오프 공식 승인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착수보고서 (v1.8)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중간보고회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2027. 1월말 (M2)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PM, 현업 책임자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동작 프로토타입 시연, AI 엔진 검증 결과 및 품질 지표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중간보고서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완료보고회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2027. 5월말 (M6)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PM, 현업 책임자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최종 그랜드 오픈 보고, 28종 산출물 인계, 최종 검수 완료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완료보고서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인프라 미팅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2026. 10. 20.(화) 16:00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 및 기술진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사내 SSO(IAM), SRM-Portal, PLM-Nexus 연계 규격 및 네트워크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연계 협의록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주간 정례 회의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매주 금요일 13:30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발주사 PM/QA 전원(4명), 수행사 핵심진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금주 실적, 차주 계획, 검증 기준 및 UI/UX 피드백, 이슈 점검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주간보고서, 회의록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수시 보고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중대 이슈 발생 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관련 담당자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원인·대안 공유, 24시간 내 의사결정 요청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이슈 보고서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394960"/>
            <a:ext cx="3611880" cy="73152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단일 창구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요구사항과 의사결정은 양사 PM(정민수/김태윤)을 통해 공식 접수 및 관리합니다.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5394960"/>
            <a:ext cx="3611880" cy="73152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실시간 소통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프로젝트 전용 단체 메신저 채널(10/20 개설)을 통해 실시간 질의응답을 진행합니다.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5394960"/>
            <a:ext cx="3611880" cy="73152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이력 관리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회의록·산출물은 구글 드라이브에 상시 동기화하고, 사내 IAM 계정은 10/20 발급받습니다.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품질 관리: 골든셋 기반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과거 검증 사례로 정답 데이터(골든셋)를 만들고, 판정 기준이 바뀔 때마다 같은 데이터로 다시 측정합니다. (골든셋 표준화 여부 검토 완료 후 단계적 적용 협의)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572768"/>
            <a:ext cx="3600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금지 표현 검출률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0934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목표치(안)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74519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600" b="1">
                <a:solidFill>
                  <a:srgbClr val="1D4ED8"/>
                </a:solidFill>
              </a:rPr>
              <a:t>95%</a:t>
            </a:r>
            <a:r>
              <a:rPr sz="1400" b="1">
                <a:solidFill>
                  <a:srgbClr val="1D4ED8"/>
                </a:solidFill>
              </a:rPr>
              <a:t> 이상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4B5563"/>
                </a:solidFill>
              </a:rPr>
              <a:t>정답이 금지인 문장 중 AI가 금지로 찾아낸 비율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4630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1463040"/>
            <a:ext cx="548640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572768"/>
            <a:ext cx="3600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법무·QA 판정 일치율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25912" y="160934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목표치(안)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874519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600" b="1">
                <a:solidFill>
                  <a:srgbClr val="1D4ED8"/>
                </a:solidFill>
              </a:rPr>
              <a:t>90%</a:t>
            </a:r>
            <a:r>
              <a:rPr sz="1400" b="1">
                <a:solidFill>
                  <a:srgbClr val="1D4ED8"/>
                </a:solidFill>
              </a:rPr>
              <a:t>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4231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4B5563"/>
                </a:solidFill>
              </a:rPr>
              <a:t>파일럿 기간 QA 최종 판정과 AI 판정이 같은 비율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127455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※ 측정 단위는 문장입니다. 1차 참조 데이터(약 50건)는 10/23 이관받으며, 골든셋 표준화 여부 검토 완료 후 단계적 적용을 협의합니다.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검증 절차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00" b="1">
                <a:solidFill>
                  <a:srgbClr val="0F2340"/>
                </a:solidFill>
                <a:latin typeface="Malgun Gothic"/>
              </a:rPr>
              <a:t>1. 골든셋 단계적 구축 (표준화 검토 후 협의)</a:t>
            </a:r>
          </a:p>
          <a:p>
            <a:pPr algn="l"/>
            <a:r>
              <a:rPr sz="800" b="1">
                <a:solidFill>
                  <a:srgbClr val="0F2340"/>
                </a:solidFill>
                <a:latin typeface="Malgun Gothic"/>
              </a:rPr>
              <a:t>1차 정례회의 참조 데이터(엑셀 약 50건)를 바탕으로 골든셋 표준화 여부 검토 완료 후 단계적 적용 협의 (시스템 운영 중 현업 확정 이력 자동 축적 연계)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44952" y="44074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3319272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1">
                <a:solidFill>
                  <a:srgbClr val="0F2340"/>
                </a:solidFill>
              </a:rPr>
              <a:t>2. 변경 시 재측정</a:t>
            </a:r>
          </a:p>
          <a:p>
            <a:pPr algn="l" eaLnBrk="0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</a:rPr>
              <a:t>프롬프트·규칙 사전·모델을 바꿀 때마다 같은 골든셋으로 측정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07024" y="44074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6181344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1">
                <a:solidFill>
                  <a:srgbClr val="0F2340"/>
                </a:solidFill>
              </a:rPr>
              <a:t>3. 기준 미달 시 반영 보류</a:t>
            </a:r>
          </a:p>
          <a:p>
            <a:pPr algn="l" eaLnBrk="0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</a:rPr>
              <a:t>측정 결과와 오류 사례를 기록하고 원인을 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69096" y="44074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9043416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53144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1">
                <a:solidFill>
                  <a:srgbClr val="0F2340"/>
                </a:solidFill>
              </a:rPr>
              <a:t>4. 확정 결과 반영</a:t>
            </a:r>
          </a:p>
          <a:p>
            <a:pPr algn="l" eaLnBrk="0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</a:rPr>
              <a:t>QA가 확정한 판정과 대체 표현을 참고 사례로 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57800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시험 활동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단위 시험</a:t>
            </a:r>
            <a:r>
              <a:rPr sz="1000" b="0">
                <a:solidFill>
                  <a:srgbClr val="6B7280"/>
                </a:solidFill>
              </a:rPr>
              <a:t>  11월~3월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13048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통합·연계 시험</a:t>
            </a:r>
            <a:r>
              <a:rPr sz="1000" b="0">
                <a:solidFill>
                  <a:srgbClr val="6B7280"/>
                </a:solidFill>
              </a:rPr>
              <a:t>  4월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97296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보안 점검</a:t>
            </a:r>
            <a:r>
              <a:rPr sz="1000" b="0">
                <a:solidFill>
                  <a:srgbClr val="6B7280"/>
                </a:solidFill>
              </a:rPr>
              <a:t>  4월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81544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성능 시험</a:t>
            </a:r>
            <a:r>
              <a:rPr sz="1000" b="0">
                <a:solidFill>
                  <a:srgbClr val="6B7280"/>
                </a:solidFill>
              </a:rPr>
              <a:t>  4월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65792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현업 파일럿</a:t>
            </a:r>
            <a:r>
              <a:rPr sz="1000" b="0">
                <a:solidFill>
                  <a:srgbClr val="6B7280"/>
                </a:solidFill>
              </a:rPr>
              <a:t>  4월~5월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위험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착수 시점에 확인한 위험과 대응 방안입니다. 영향도와 가능성은 월간 보고에서 다시 평가합니다.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38130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9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</a:rPr>
                        <a:t>번호</a:t>
                      </a:r>
                      <a:endParaRPr sz="115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영향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대응 방안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규제 기준 개정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개정 문서를 관리자 화면에서 재등록·재색인하고 규칙 사전을 수정, 개정 후 골든셋 재측정(골든셋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AI 리드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사내 연계 지연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10.20 인프라 연계 미팅 진행, SRM-Portal/PLM-Nexus 규격 조기 확정 및 가상 연계기 개발 병행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PM, 데이터브릿지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현업 검토 지연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검토 일정을 월초에 확정, 주간 회의에서 피드백 일괄 처리, 부서별 담당자 지정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양사 PM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AI 오판, 근거 없는 판단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근거 조항이 확인된 판단만 표시, 규칙 판정 하향 금지, QA 최종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AI 리드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계약·도서 데이터 외부 유출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7857"/>
                          </a:solidFill>
                        </a:rPr>
                        <a:t>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외부 LLM 데이터 비학습(Zero-Retention) 적용, 통신 암호화 및 이력 관리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PM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골든셋 확보 지연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1차 50건 선별본(엑셀) 우선 이관(10.23) 후 골든셋 표준화 여부 검토 완료 후 단계적 적용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lang="ko-KR" altLang="en-US" sz="1150" b="0" dirty="0">
                          <a:solidFill>
                            <a:srgbClr val="374151"/>
                          </a:solidFill>
                        </a:rPr>
                        <a:t>고객사</a:t>
                      </a:r>
                      <a:r>
                        <a:rPr sz="1150" b="0" dirty="0">
                          <a:solidFill>
                            <a:srgbClr val="374151"/>
                          </a:solidFill>
                        </a:rPr>
                        <a:t> QA, AI </a:t>
                      </a:r>
                      <a:r>
                        <a:rPr sz="1150" b="0" dirty="0" err="1">
                          <a:solidFill>
                            <a:srgbClr val="374151"/>
                          </a:solidFill>
                        </a:rPr>
                        <a:t>리드</a:t>
                      </a:r>
                      <a:endParaRPr sz="11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645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관리 방식</a:t>
            </a:r>
          </a:p>
        </p:txBody>
      </p:sp>
      <p:sp>
        <p:nvSpPr>
          <p:cNvPr id="7" name="Pentagon 6"/>
          <p:cNvSpPr/>
          <p:nvPr/>
        </p:nvSpPr>
        <p:spPr>
          <a:xfrm>
            <a:off x="2011680" y="5486400"/>
            <a:ext cx="2194560" cy="502920"/>
          </a:xfrm>
          <a:prstGeom prst="homePlate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식별</a:t>
            </a:r>
            <a:r>
              <a:rPr sz="1000" b="0">
                <a:solidFill>
                  <a:srgbClr val="4B5563"/>
                </a:solidFill>
              </a:rPr>
              <a:t>  주간 회의</a:t>
            </a:r>
          </a:p>
        </p:txBody>
      </p:sp>
      <p:sp>
        <p:nvSpPr>
          <p:cNvPr id="8" name="Chevron 7"/>
          <p:cNvSpPr/>
          <p:nvPr/>
        </p:nvSpPr>
        <p:spPr>
          <a:xfrm>
            <a:off x="4443984" y="5486400"/>
            <a:ext cx="2194560" cy="502920"/>
          </a:xfrm>
          <a:prstGeom prst="chevron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평가</a:t>
            </a:r>
            <a:r>
              <a:rPr sz="1000" b="0">
                <a:solidFill>
                  <a:srgbClr val="4B5563"/>
                </a:solidFill>
              </a:rPr>
              <a:t>  월간 보고</a:t>
            </a:r>
          </a:p>
        </p:txBody>
      </p:sp>
      <p:sp>
        <p:nvSpPr>
          <p:cNvPr id="9" name="Chevron 8"/>
          <p:cNvSpPr/>
          <p:nvPr/>
        </p:nvSpPr>
        <p:spPr>
          <a:xfrm>
            <a:off x="6876288" y="5486400"/>
            <a:ext cx="2194560" cy="502920"/>
          </a:xfrm>
          <a:prstGeom prst="chevron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대응</a:t>
            </a:r>
            <a:r>
              <a:rPr sz="1000" b="0">
                <a:solidFill>
                  <a:srgbClr val="4B5563"/>
                </a:solidFill>
              </a:rPr>
              <a:t>  관리대장 기록</a:t>
            </a:r>
          </a:p>
        </p:txBody>
      </p:sp>
      <p:sp>
        <p:nvSpPr>
          <p:cNvPr id="10" name="Chevron 9"/>
          <p:cNvSpPr/>
          <p:nvPr/>
        </p:nvSpPr>
        <p:spPr>
          <a:xfrm>
            <a:off x="9308592" y="5486400"/>
            <a:ext cx="2194560" cy="502920"/>
          </a:xfrm>
          <a:prstGeom prst="chevron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종료</a:t>
            </a:r>
            <a:r>
              <a:rPr sz="1000" b="0">
                <a:solidFill>
                  <a:srgbClr val="4B5563"/>
                </a:solidFill>
              </a:rPr>
              <a:t>  단계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보안, 변경, 검수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보안 기준과 변경 절차, 검수 기준을 착수 시점에 합의합니다.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9344"/>
            <a:ext cx="3392424" cy="2843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1" dirty="0" err="1">
                <a:solidFill>
                  <a:srgbClr val="0F2340"/>
                </a:solidFill>
              </a:rPr>
              <a:t>보안</a:t>
            </a:r>
            <a:r>
              <a:rPr sz="1500" b="1" dirty="0">
                <a:solidFill>
                  <a:srgbClr val="0F2340"/>
                </a:solidFill>
              </a:rPr>
              <a:t> </a:t>
            </a:r>
            <a:r>
              <a:rPr sz="1500" b="1" dirty="0" err="1">
                <a:solidFill>
                  <a:srgbClr val="0F2340"/>
                </a:solidFill>
              </a:rPr>
              <a:t>관리</a:t>
            </a:r>
            <a:endParaRPr sz="1500" b="1" dirty="0">
              <a:solidFill>
                <a:srgbClr val="0F2340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lang="ko-KR" altLang="en-US" sz="1200" b="0" dirty="0">
                <a:solidFill>
                  <a:srgbClr val="374151"/>
                </a:solidFill>
              </a:rPr>
              <a:t>고객사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보안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규정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준수</a:t>
            </a:r>
            <a:r>
              <a:rPr sz="1200" b="0" dirty="0">
                <a:solidFill>
                  <a:srgbClr val="374151"/>
                </a:solidFill>
              </a:rPr>
              <a:t>, </a:t>
            </a:r>
            <a:r>
              <a:rPr sz="1200" b="0" dirty="0" err="1">
                <a:solidFill>
                  <a:srgbClr val="374151"/>
                </a:solidFill>
              </a:rPr>
              <a:t>참여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인력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보안서약서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제출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계약·도서·검증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자료는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지정된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환경에서만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처리하고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외부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반출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금지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외부</a:t>
            </a:r>
            <a:r>
              <a:rPr sz="1200" b="0" dirty="0">
                <a:solidFill>
                  <a:srgbClr val="374151"/>
                </a:solidFill>
              </a:rPr>
              <a:t> LLM </a:t>
            </a:r>
            <a:r>
              <a:rPr sz="1200" b="0" dirty="0" err="1">
                <a:solidFill>
                  <a:srgbClr val="374151"/>
                </a:solidFill>
              </a:rPr>
              <a:t>활용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확정</a:t>
            </a:r>
            <a:r>
              <a:rPr sz="1200" b="0" dirty="0">
                <a:solidFill>
                  <a:srgbClr val="374151"/>
                </a:solidFill>
              </a:rPr>
              <a:t>: </a:t>
            </a:r>
            <a:r>
              <a:rPr sz="1200" b="0" dirty="0" err="1">
                <a:solidFill>
                  <a:srgbClr val="374151"/>
                </a:solidFill>
              </a:rPr>
              <a:t>데이터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비학습</a:t>
            </a:r>
            <a:r>
              <a:rPr sz="1200" b="0" dirty="0">
                <a:solidFill>
                  <a:srgbClr val="374151"/>
                </a:solidFill>
              </a:rPr>
              <a:t>(Zero-Retention) </a:t>
            </a:r>
            <a:r>
              <a:rPr sz="1200" b="0" dirty="0" err="1">
                <a:solidFill>
                  <a:srgbClr val="374151"/>
                </a:solidFill>
              </a:rPr>
              <a:t>조건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적용</a:t>
            </a:r>
            <a:r>
              <a:rPr sz="1200" b="0" dirty="0">
                <a:solidFill>
                  <a:srgbClr val="374151"/>
                </a:solidFill>
              </a:rPr>
              <a:t> 및 </a:t>
            </a:r>
            <a:r>
              <a:rPr sz="1200" b="0" dirty="0" err="1">
                <a:solidFill>
                  <a:srgbClr val="374151"/>
                </a:solidFill>
              </a:rPr>
              <a:t>전송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구간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암호화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역할별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접근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권한</a:t>
            </a:r>
            <a:r>
              <a:rPr sz="1200" b="0" dirty="0">
                <a:solidFill>
                  <a:srgbClr val="374151"/>
                </a:solidFill>
              </a:rPr>
              <a:t>, </a:t>
            </a:r>
            <a:r>
              <a:rPr sz="1200" b="0" dirty="0" err="1">
                <a:solidFill>
                  <a:srgbClr val="374151"/>
                </a:solidFill>
              </a:rPr>
              <a:t>접속·작업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이력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기록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개인정보는</a:t>
            </a:r>
            <a:r>
              <a:rPr sz="1200" b="0" dirty="0">
                <a:solidFill>
                  <a:srgbClr val="374151"/>
                </a:solidFill>
              </a:rPr>
              <a:t> SSO </a:t>
            </a:r>
            <a:r>
              <a:rPr sz="1200" b="0" dirty="0" err="1">
                <a:solidFill>
                  <a:srgbClr val="374151"/>
                </a:solidFill>
              </a:rPr>
              <a:t>계정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정보</a:t>
            </a:r>
            <a:r>
              <a:rPr sz="1200" b="0" dirty="0">
                <a:solidFill>
                  <a:srgbClr val="374151"/>
                </a:solidFill>
              </a:rPr>
              <a:t>(</a:t>
            </a:r>
            <a:r>
              <a:rPr sz="1200" b="0" dirty="0" err="1">
                <a:solidFill>
                  <a:srgbClr val="374151"/>
                </a:solidFill>
              </a:rPr>
              <a:t>사번·성명·부서</a:t>
            </a:r>
            <a:r>
              <a:rPr sz="1200" b="0" dirty="0">
                <a:solidFill>
                  <a:srgbClr val="374151"/>
                </a:solidFill>
              </a:rPr>
              <a:t>)만 </a:t>
            </a:r>
            <a:r>
              <a:rPr sz="1200" b="0" dirty="0" err="1">
                <a:solidFill>
                  <a:srgbClr val="374151"/>
                </a:solidFill>
              </a:rPr>
              <a:t>처리</a:t>
            </a:r>
            <a:endParaRPr sz="1200" b="0" dirty="0">
              <a:solidFill>
                <a:srgbClr val="37415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88536" y="14630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1463040"/>
            <a:ext cx="3611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1609344"/>
            <a:ext cx="3392424" cy="2843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1" dirty="0" err="1">
                <a:solidFill>
                  <a:srgbClr val="0F2340"/>
                </a:solidFill>
              </a:rPr>
              <a:t>변경</a:t>
            </a:r>
            <a:r>
              <a:rPr sz="1500" b="1" dirty="0">
                <a:solidFill>
                  <a:srgbClr val="0F2340"/>
                </a:solidFill>
              </a:rPr>
              <a:t> </a:t>
            </a:r>
            <a:r>
              <a:rPr sz="1500" b="1" dirty="0" err="1">
                <a:solidFill>
                  <a:srgbClr val="0F2340"/>
                </a:solidFill>
              </a:rPr>
              <a:t>관리</a:t>
            </a:r>
            <a:endParaRPr sz="1500" b="1" dirty="0">
              <a:solidFill>
                <a:srgbClr val="0F2340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요구사항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기준선은</a:t>
            </a:r>
            <a:r>
              <a:rPr sz="1200" b="0" dirty="0">
                <a:solidFill>
                  <a:srgbClr val="374151"/>
                </a:solidFill>
              </a:rPr>
              <a:t> M1(11월말) </a:t>
            </a:r>
            <a:r>
              <a:rPr sz="1200" b="0" dirty="0" err="1">
                <a:solidFill>
                  <a:srgbClr val="374151"/>
                </a:solidFill>
              </a:rPr>
              <a:t>설계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승인</a:t>
            </a:r>
            <a:r>
              <a:rPr sz="1200" b="0" dirty="0">
                <a:solidFill>
                  <a:srgbClr val="374151"/>
                </a:solidFill>
              </a:rPr>
              <a:t> 때 </a:t>
            </a:r>
            <a:r>
              <a:rPr sz="1200" b="0" dirty="0" err="1">
                <a:solidFill>
                  <a:srgbClr val="374151"/>
                </a:solidFill>
              </a:rPr>
              <a:t>확정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변경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요청</a:t>
            </a:r>
            <a:r>
              <a:rPr sz="1200" b="0" dirty="0">
                <a:solidFill>
                  <a:srgbClr val="374151"/>
                </a:solidFill>
              </a:rPr>
              <a:t> → </a:t>
            </a:r>
            <a:r>
              <a:rPr sz="1200" b="0" dirty="0" err="1">
                <a:solidFill>
                  <a:srgbClr val="374151"/>
                </a:solidFill>
              </a:rPr>
              <a:t>영향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분석</a:t>
            </a:r>
            <a:r>
              <a:rPr sz="1200" b="0" dirty="0">
                <a:solidFill>
                  <a:srgbClr val="374151"/>
                </a:solidFill>
              </a:rPr>
              <a:t>(</a:t>
            </a:r>
            <a:r>
              <a:rPr sz="1200" b="0" dirty="0" err="1">
                <a:solidFill>
                  <a:srgbClr val="374151"/>
                </a:solidFill>
              </a:rPr>
              <a:t>일정·공수</a:t>
            </a:r>
            <a:r>
              <a:rPr sz="1200" b="0" dirty="0">
                <a:solidFill>
                  <a:srgbClr val="374151"/>
                </a:solidFill>
              </a:rPr>
              <a:t>) → </a:t>
            </a:r>
            <a:r>
              <a:rPr lang="ko-KR" altLang="en-US" sz="1200" b="0" dirty="0">
                <a:solidFill>
                  <a:srgbClr val="374151"/>
                </a:solidFill>
              </a:rPr>
              <a:t>고객사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승인</a:t>
            </a:r>
            <a:r>
              <a:rPr sz="1200" b="0" dirty="0">
                <a:solidFill>
                  <a:srgbClr val="374151"/>
                </a:solidFill>
              </a:rPr>
              <a:t> → </a:t>
            </a:r>
            <a:r>
              <a:rPr sz="1200" b="0" dirty="0" err="1">
                <a:solidFill>
                  <a:srgbClr val="374151"/>
                </a:solidFill>
              </a:rPr>
              <a:t>반영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변경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이력은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변경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관리대장에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기록하고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주간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회의에서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공유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범위</a:t>
            </a:r>
            <a:r>
              <a:rPr sz="1200" b="0" dirty="0">
                <a:solidFill>
                  <a:srgbClr val="374151"/>
                </a:solidFill>
              </a:rPr>
              <a:t> 밖 </a:t>
            </a:r>
            <a:r>
              <a:rPr sz="1200" b="0" dirty="0" err="1">
                <a:solidFill>
                  <a:srgbClr val="374151"/>
                </a:solidFill>
              </a:rPr>
              <a:t>요청은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별도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협의</a:t>
            </a:r>
            <a:endParaRPr sz="1200" b="0" dirty="0">
              <a:solidFill>
                <a:srgbClr val="37415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09344"/>
            <a:ext cx="3392424" cy="2843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1">
                <a:solidFill>
                  <a:srgbClr val="0F2340"/>
                </a:solidFill>
              </a:rPr>
              <a:t>검수 기준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단계별 산출물 검토·승인(M1~M6)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통합 시험, 골든셋 평가(골든셋 표준화 여부 검토 완료 후 단계적 적용 협의), 파일럿 결과로 확인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품질 목표치는 M2에서 확정한 값을 기준으로 적용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최종 검수확인서 발행(5월말)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하자보수 기간과 범위는 계약 조건에 따름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변경 처리 절차</a:t>
            </a:r>
          </a:p>
        </p:txBody>
      </p:sp>
      <p:sp>
        <p:nvSpPr>
          <p:cNvPr id="15" name="Pentagon 14"/>
          <p:cNvSpPr/>
          <p:nvPr/>
        </p:nvSpPr>
        <p:spPr>
          <a:xfrm>
            <a:off x="457200" y="5166360"/>
            <a:ext cx="2286000" cy="777240"/>
          </a:xfrm>
          <a:prstGeom prst="homePlate">
            <a:avLst/>
          </a:prstGeom>
          <a:solidFill>
            <a:srgbClr val="0F2340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변경 요청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요청서 접수</a:t>
            </a:r>
          </a:p>
        </p:txBody>
      </p:sp>
      <p:sp>
        <p:nvSpPr>
          <p:cNvPr id="16" name="Chevron 15"/>
          <p:cNvSpPr/>
          <p:nvPr/>
        </p:nvSpPr>
        <p:spPr>
          <a:xfrm>
            <a:off x="2697480" y="5166360"/>
            <a:ext cx="2286000" cy="777240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영향 분석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일정·공수 검토</a:t>
            </a:r>
          </a:p>
        </p:txBody>
      </p:sp>
      <p:sp>
        <p:nvSpPr>
          <p:cNvPr id="17" name="Chevron 16"/>
          <p:cNvSpPr/>
          <p:nvPr/>
        </p:nvSpPr>
        <p:spPr>
          <a:xfrm>
            <a:off x="4937760" y="5166360"/>
            <a:ext cx="2286000" cy="777240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lang="ko-KR" altLang="en-US" sz="1300" b="1" dirty="0">
                <a:solidFill>
                  <a:srgbClr val="FFFFFF"/>
                </a:solidFill>
              </a:rPr>
              <a:t>고객사</a:t>
            </a:r>
            <a:r>
              <a:rPr sz="1300" b="1" dirty="0">
                <a:solidFill>
                  <a:srgbClr val="FFFFFF"/>
                </a:solidFill>
              </a:rPr>
              <a:t> </a:t>
            </a:r>
            <a:r>
              <a:rPr sz="1300" b="1" dirty="0" err="1">
                <a:solidFill>
                  <a:srgbClr val="FFFFFF"/>
                </a:solidFill>
              </a:rPr>
              <a:t>승인</a:t>
            </a:r>
            <a:endParaRPr sz="1300" b="1" dirty="0">
              <a:solidFill>
                <a:srgbClr val="FFFFFF"/>
              </a:solidFill>
            </a:endParaRPr>
          </a:p>
          <a:p>
            <a:pPr algn="ctr" eaLnBrk="0">
              <a:lnSpc>
                <a:spcPct val="115000"/>
              </a:lnSpc>
            </a:pPr>
            <a:r>
              <a:rPr sz="1000" b="0" dirty="0" err="1">
                <a:solidFill>
                  <a:srgbClr val="DCE4F2"/>
                </a:solidFill>
              </a:rPr>
              <a:t>양사</a:t>
            </a:r>
            <a:r>
              <a:rPr sz="1000" b="0" dirty="0">
                <a:solidFill>
                  <a:srgbClr val="DCE4F2"/>
                </a:solidFill>
              </a:rPr>
              <a:t> PM </a:t>
            </a:r>
            <a:r>
              <a:rPr sz="1000" b="0" dirty="0" err="1">
                <a:solidFill>
                  <a:srgbClr val="DCE4F2"/>
                </a:solidFill>
              </a:rPr>
              <a:t>합의</a:t>
            </a:r>
            <a:endParaRPr sz="1000" b="0" dirty="0">
              <a:solidFill>
                <a:srgbClr val="DCE4F2"/>
              </a:solidFill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178040" y="5166360"/>
            <a:ext cx="2286000" cy="777240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반영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설계·개발 반영</a:t>
            </a:r>
          </a:p>
        </p:txBody>
      </p:sp>
      <p:sp>
        <p:nvSpPr>
          <p:cNvPr id="19" name="Chevron 18"/>
          <p:cNvSpPr/>
          <p:nvPr/>
        </p:nvSpPr>
        <p:spPr>
          <a:xfrm>
            <a:off x="9418320" y="5166360"/>
            <a:ext cx="2286000" cy="777240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기록·공유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관리대장, 주간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협조 요청과 착수 후 2주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Ⅶ. 협조 요청 및 향후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아래 항목을 기한 안에 지원해 주시면 요구사항 정의와 설계를 일정대로 시작할 수 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7040880" cy="42793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요청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사항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담당 부서(안)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기한(안)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고객사 PM 및 QA 전담팀 지정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공급망혁신팀 / ERP플랫폼기획 / 품질법무검증팀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16. (완료)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물품공급계약서(PDF) 및 CAD 설계도면 샘플 파일 전달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(정민수 PM)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19.(월)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사내 인프라 및 시스템 연계 킥오프 미팅 진행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 및 기술진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20.(화) 16:00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수행사 개발 계정(IAM) 발급 승인 및 단체 메신저 개설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(정민수 PM / 기술팀)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20.(화)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공정위·표준원 가이드라인 및 사내 검증 기준 자료 전달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(품질법무검증팀)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골든셋 1차 참조 데이터(약 50건) 전달 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(품질법무검증팀)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설계도면(도면시트) 및 긴 JPG 이미지 처리 기술 PoC 수행/검토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수행사 (박준혁 AA, 김태윤 PM)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제1차 주간 정례 회의 개최 (매주 금요일 13:30)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참석자 전원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 13:30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463040"/>
            <a:ext cx="39593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0" y="1463040"/>
            <a:ext cx="64008" cy="2057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61188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1주차  10. 16.~10. 17.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착수 킥오프 회의 완료 (10.16)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프로젝트 공식 개시 및 범위·일정 합의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주간 정례 회의(금 13:30) 확정 및 계정 신청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675887"/>
            <a:ext cx="39593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3675887"/>
            <a:ext cx="64008" cy="2057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813048"/>
            <a:ext cx="361188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2주차  10. 19.~10. 23.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10/19 도면시트/JPG 샘플 전달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10/20 인프라 미팅(16:00) 및 IAM 계정 발급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10/23 1차 검증자료/골든셋(50건, 골든셋 표준화 여부 검토 완료 후 단계적 적용 협의) 전달, 제1차 정례 회의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SyncFlow AI 시스템 구축 착수보고서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468880"/>
            <a:ext cx="10515600" cy="822960"/>
          </a:xfrm>
        </p:spPr>
        <p:txBody>
          <a:bodyPr wrap="square" lIns="36576" tIns="0" rIns="36576" bIns="0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</a:rPr>
              <a:t>질의응답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600" b="0" dirty="0" err="1">
                <a:solidFill>
                  <a:srgbClr val="C8D3E6"/>
                </a:solidFill>
              </a:rPr>
              <a:t>한빛글로벌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SyncFlow</a:t>
            </a:r>
            <a:r>
              <a:rPr sz="1600" b="0" dirty="0">
                <a:solidFill>
                  <a:srgbClr val="C8D3E6"/>
                </a:solidFill>
              </a:rPr>
              <a:t> AI </a:t>
            </a:r>
            <a:r>
              <a:rPr sz="1600" b="0" dirty="0" err="1">
                <a:solidFill>
                  <a:srgbClr val="C8D3E6"/>
                </a:solidFill>
              </a:rPr>
              <a:t>시스템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구축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사업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착수보고를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마칩니다</a:t>
            </a:r>
            <a:r>
              <a:rPr sz="1600" b="0" dirty="0">
                <a:solidFill>
                  <a:srgbClr val="C8D3E6"/>
                </a:solidFill>
              </a:rPr>
              <a:t>. </a:t>
            </a:r>
            <a:endParaRPr lang="en-US" sz="1600" b="0" dirty="0">
              <a:solidFill>
                <a:srgbClr val="C8D3E6"/>
              </a:solidFill>
            </a:endParaRPr>
          </a:p>
          <a:p>
            <a:pPr algn="ctr" eaLnBrk="0">
              <a:lnSpc>
                <a:spcPct val="115000"/>
              </a:lnSpc>
            </a:pPr>
            <a:endParaRPr lang="en-US" sz="1600" b="0" dirty="0">
              <a:solidFill>
                <a:srgbClr val="C8D3E6"/>
              </a:solidFill>
            </a:endParaRPr>
          </a:p>
          <a:p>
            <a:pPr algn="ctr" eaLnBrk="0">
              <a:lnSpc>
                <a:spcPct val="115000"/>
              </a:lnSpc>
            </a:pPr>
            <a:r>
              <a:rPr sz="1600" b="0" dirty="0" err="1">
                <a:solidFill>
                  <a:srgbClr val="C8D3E6"/>
                </a:solidFill>
              </a:rPr>
              <a:t>감사합니다</a:t>
            </a:r>
            <a:r>
              <a:rPr sz="1600" b="0" dirty="0">
                <a:solidFill>
                  <a:srgbClr val="C8D3E6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6724</Words>
  <Application>Microsoft Office PowerPoint</Application>
  <PresentationFormat>와이드스크린</PresentationFormat>
  <Paragraphs>1022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맑은 고딕</vt:lpstr>
      <vt:lpstr>Arial</vt:lpstr>
      <vt:lpstr>Office Theme</vt:lpstr>
      <vt:lpstr>한빛글로벌 SyncFlow AI 시스템 구축</vt:lpstr>
      <vt:lpstr>보고 순서</vt:lpstr>
      <vt:lpstr>사업 개요</vt:lpstr>
      <vt:lpstr>추진 배경과 기대 효과</vt:lpstr>
      <vt:lpstr>과업 범위: 8개 영역 43개 기능</vt:lpstr>
      <vt:lpstr>범위 경계와 착수 후 확정 사항</vt:lpstr>
      <vt:lpstr>추진 전략과 수행 방법론</vt:lpstr>
      <vt:lpstr>목표 시스템 구성</vt:lpstr>
      <vt:lpstr>AI 판정 방식과 안전 원칙</vt:lpstr>
      <vt:lpstr>핵심 화면: 계약·도서·판정 결과 대조</vt:lpstr>
      <vt:lpstr>사내 시스템 연계</vt:lpstr>
      <vt:lpstr>단계별 일정과 마일스톤</vt:lpstr>
      <vt:lpstr>단계별 산출물</vt:lpstr>
      <vt:lpstr>수행 조직과 역할</vt:lpstr>
      <vt:lpstr>역할별 전담 업무 및 추진 체계</vt:lpstr>
      <vt:lpstr>보고 및 회의 체계</vt:lpstr>
      <vt:lpstr>품질 관리: 골든셋 기반 검증</vt:lpstr>
      <vt:lpstr>위험 관리</vt:lpstr>
      <vt:lpstr>보안, 변경, 검수 관리</vt:lpstr>
      <vt:lpstr>협조 요청과 착수 후 2주 일정</vt:lpstr>
      <vt:lpstr>질의응답</vt:lpstr>
    </vt:vector>
  </TitlesOfParts>
  <Manager/>
  <Company>주식회사 엠파시 (Empasy Inc.)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한빛글로벌 SyncFlow AI 시스템 구축 사업 착수보고서</dc:title>
  <dc:subject>EMP_INT_000 v1.7</dc:subject>
  <dc:creator>주식회사 엠파시 (Empasy Inc.)</dc:creator>
  <cp:keywords/>
  <dc:description>generated using python-pptx</dc:description>
  <cp:lastModifiedBy>주식회사 엠파시 (Empasy Inc.)</cp:lastModifiedBy>
  <cp:revision>224</cp:revision>
  <dcterms:created xsi:type="dcterms:W3CDTF">2013-01-27T09:14:16Z</dcterms:created>
  <dcterms:modified xsi:type="dcterms:W3CDTF">2026-10-19T06:14:41Z</dcterms:modified>
  <cp:category/>
</cp:coreProperties>
</file>