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HANBIT GLOBAL SyncFlow AI</a:t>
            </a:r>
          </a:p>
          <a:p>
            <a:pPr>
              <a:spcBef>
                <a:spcPts val="1200"/>
              </a:spcBef>
              <a:defRPr sz="3400" b="1">
                <a:solidFill>
                  <a:srgbClr val="FFFFFF"/>
                </a:solidFill>
              </a:defRPr>
            </a:pPr>
            <a:r>
              <a:t>벤치마킹 보고서 (Benchmarking Report)</a:t>
            </a:r>
          </a:p>
          <a:p>
            <a:pPr>
              <a:spcBef>
                <a:spcPts val="1000"/>
              </a:spcBef>
              <a:defRPr sz="1600">
                <a:solidFill>
                  <a:srgbClr val="CBD5E1"/>
                </a:solidFill>
              </a:defRPr>
            </a:pPr>
            <a:r>
              <a:t>국내외 구매계약·기술규격 규제 검증 및 AI 기반 계약 검토 선진 사례 비교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572000"/>
            <a:ext cx="9966960" cy="1371600"/>
          </a:xfrm>
          <a:prstGeom prst="roundRect">
            <a:avLst/>
          </a:prstGeom>
          <a:solidFill>
            <a:srgbClr val="0F29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7091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문서 번호: EMP_ANL_010  |  버전: v1.0 (최종 승인본)  |  작성 일자: 2026년 10월 16일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분석 대상: 글로벌 모빌리티·전장 선도 기업(B사, C사) 검증 체계, 공정위·표준원 모니터링 시스템, AI LLM 기반 법률 컴플라이언스</a:t>
            </a:r>
          </a:p>
          <a:p>
            <a:pPr>
              <a:defRPr sz="1100" b="1">
                <a:solidFill>
                  <a:srgbClr val="60A5FA"/>
                </a:solidFill>
              </a:defRPr>
            </a:pPr>
            <a:r>
              <a:t>발주사: ㈜한빛글로벌 (Hanbit Global Corp.)   |   수행사: 엠파시 (EMPASY)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벤치마킹 보고서  &gt;  1. 벤치마킹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1.1 국내외 AI 컴플라이언스 및 계약·기술규격 검증 동향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EMP_ANL_010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벤치마킹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2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글로벌 전장부품 A사</a:t>
            </a:r>
          </a:p>
          <a:p>
            <a:pPr>
              <a:spcBef>
                <a:spcPts val="800"/>
              </a:spcBef>
              <a:defRPr b="1" sz="1400">
                <a:solidFill>
                  <a:srgbClr val="2563EB"/>
                </a:solidFill>
              </a:defRPr>
            </a:pPr>
            <a:r>
              <a:t>규제 데이터베이스 RAG</a:t>
            </a:r>
          </a:p>
          <a:p>
            <a:pPr>
              <a:spcBef>
                <a:spcPts val="1200"/>
              </a:spcBef>
              <a:defRPr sz="1000">
                <a:solidFill>
                  <a:srgbClr val="1E3A5F"/>
                </a:solidFill>
              </a:defRPr>
            </a:pPr>
            <a:r>
              <a:t>ISO/IATF 16949 및 EU RoHS/REACH 기술규격 데이터베이스와 LLM을 결합하여 성분별 규격·계약 유효성을 실시간 검증하는 시스템 도입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5448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글로벌 모빌리티 B사</a:t>
            </a:r>
          </a:p>
          <a:p>
            <a:pPr>
              <a:spcBef>
                <a:spcPts val="800"/>
              </a:spcBef>
              <a:defRPr b="1" sz="1400">
                <a:solidFill>
                  <a:srgbClr val="0F172A"/>
                </a:solidFill>
              </a:defRPr>
            </a:pPr>
            <a:r>
              <a:t>사전 조항 추천 엔진</a:t>
            </a:r>
          </a:p>
          <a:p>
            <a:pPr>
              <a:spcBef>
                <a:spcPts val="1200"/>
              </a:spcBef>
              <a:defRPr sz="1000">
                <a:solidFill>
                  <a:srgbClr val="1E3A5F"/>
                </a:solidFill>
              </a:defRPr>
            </a:pPr>
            <a:r>
              <a:t>독소조항 발생 시 대체 가능한 구매조달 조항를 AI가 3가지 옵션으로 자동 제시하여 기획자 편의성 제고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국내 공정위·표준원 모니터링</a:t>
            </a:r>
          </a:p>
          <a:p>
            <a:pPr>
              <a:spcBef>
                <a:spcPts val="800"/>
              </a:spcBef>
              <a:defRPr b="1" sz="1400">
                <a:solidFill>
                  <a:srgbClr val="059669"/>
                </a:solidFill>
              </a:defRPr>
            </a:pPr>
            <a:r>
              <a:t>정규식 + OCR 탐지</a:t>
            </a:r>
          </a:p>
          <a:p>
            <a:pPr>
              <a:spcBef>
                <a:spcPts val="1200"/>
              </a:spcBef>
              <a:defRPr sz="1000">
                <a:solidFill>
                  <a:srgbClr val="1E3A5F"/>
                </a:solidFill>
              </a:defRPr>
            </a:pPr>
            <a:r>
              <a:t>글로벌 공급망 전자계약서 이미지 텍스트를 OCR로 추출하고 불공정 독소조항성 표현을 자동 필터링하는 관제망 운영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55448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C3AED"/>
                </a:solidFill>
              </a:defRPr>
            </a:pPr>
            <a:r>
              <a:t>한빛글로벌 지향점</a:t>
            </a:r>
          </a:p>
          <a:p>
            <a:pPr>
              <a:spcBef>
                <a:spcPts val="800"/>
              </a:spcBef>
              <a:defRPr b="1" sz="1400">
                <a:solidFill>
                  <a:srgbClr val="7C3AED"/>
                </a:solidFill>
              </a:defRPr>
            </a:pPr>
            <a:r>
              <a:t>다단계 AI 종합 검증</a:t>
            </a:r>
          </a:p>
          <a:p>
            <a:pPr>
              <a:spcBef>
                <a:spcPts val="1200"/>
              </a:spcBef>
              <a:defRPr sz="1000">
                <a:solidFill>
                  <a:srgbClr val="1E3A5F"/>
                </a:solidFill>
              </a:defRPr>
            </a:pPr>
            <a:r>
              <a:t>사내 원소재 규격(PLM-Nexus) + 100개 룰셋 + 공정위·표준원 법령 RAG + LLM 4단계 판정 및 즉시 표준대안 제시 일원화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벤치마킹 보고서  &gt;  2. 비교 분석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2.1 검증 방식 및 주요 기능별 상세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EMP_ANL_010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벤치마킹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3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  <a:gridCol w="2103120"/>
                <a:gridCol w="240761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비교 항목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기존 수동 검증 (AS-IS)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글로벌 상용 툴 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공정위·표준원 모니터링망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SyncFlow AI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</a:defRPr>
                      </a:pPr>
                      <a:r>
                        <a:t>검증 소요 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평균 3일 (72시간)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1~2시간 (텍스트 한정)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배치 수집 (일 단위)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평균 2시간 이내 (실시간 3초)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</a:defRPr>
                      </a:pPr>
                      <a:r>
                        <a:t>이미지/PDP 분석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수기 육안 확인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지원 안 됨 (별도 OCR)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기본 OCR 키워드 매칭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Vision OCR Bounding Box 매핑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</a:defRPr>
                      </a:pPr>
                      <a:r>
                        <a:t>사내 원소재 규격 연계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수동 PLM-Nexus 검색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사내 연동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연동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PLM-Nexus REST API 실시간 연동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</a:defRPr>
                      </a:pPr>
                      <a:r>
                        <a:t>대체 조항 추천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법무·QA 담당자 수기 작성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단순 동의어 사전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미지원 (위반 통보만)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AI 문맥 기반 대체 추천 100종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</a:defRPr>
                      </a:pPr>
                      <a:r>
                        <a:t>판정 일관성/정확도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담당자 편차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영문 중심 (국문 70%)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키워드 단순 매칭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골든셋 정밀도 96.2% 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벤치마킹 보고서  &gt;  3. 시사점 도출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3.1 한빛글로벌 특화 AI 검증 시스템 요구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EMP_ANL_010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벤치마킹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4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1. 국내 하도급법 제3조의4 특화 엔진 필요</a:t>
            </a:r>
          </a:p>
          <a:p>
            <a:pPr>
              <a:spcBef>
                <a:spcPts val="400"/>
              </a:spcBef>
              <a:defRPr sz="950">
                <a:solidFill>
                  <a:srgbClr val="1E3A5F"/>
                </a:solidFill>
              </a:defRPr>
            </a:pPr>
            <a:r>
              <a:t>• 해외 툴은 국내 공정위·표준원의 세부 관리지침(불공정 독소조항, 핵심규격 고시, EU RoHS/REACH 환경규제 기준)을 충족하지 못함.</a:t>
            </a:r>
          </a:p>
          <a:p>
            <a:pPr>
              <a:spcBef>
                <a:spcPts val="400"/>
              </a:spcBef>
              <a:defRPr sz="950">
                <a:solidFill>
                  <a:srgbClr val="1E3A5F"/>
                </a:solidFill>
              </a:defRPr>
            </a:pPr>
            <a:r>
              <a:t>• 공정위·표준원 100대 금지/주의 표현 및 최신 불공정 심결 사례를 학습한 한국형 특화 룰셋 구축 필수.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2. 조성 성분 데이터(PLM-Nexus)와의 유기적 결합</a:t>
            </a:r>
          </a:p>
          <a:p>
            <a:pPr>
              <a:spcBef>
                <a:spcPts val="400"/>
              </a:spcBef>
              <a:defRPr sz="950">
                <a:solidFill>
                  <a:srgbClr val="1E3A5F"/>
                </a:solidFill>
              </a:defRPr>
            </a:pPr>
            <a:r>
              <a:t>• 규격·계약의 타당성은 제품에 실제 함유된 원소재 성분 및 조성 함량과 직결됨.</a:t>
            </a:r>
          </a:p>
          <a:p>
            <a:pPr>
              <a:spcBef>
                <a:spcPts val="400"/>
              </a:spcBef>
              <a:defRPr sz="950">
                <a:solidFill>
                  <a:srgbClr val="1E3A5F"/>
                </a:solidFill>
              </a:defRPr>
            </a:pPr>
            <a:r>
              <a:t>• 사내 PLM-Nexus 시스템과 실시간 API를 연동하여 '해당 성분이 실제로 포함되어 있는지' 즉시 자동 검증 필요.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59669"/>
                </a:solidFill>
              </a:defRPr>
            </a:pPr>
            <a:r>
              <a:t>3. 단순 차단이 아닌 '대체 조항 제시형' AI</a:t>
            </a:r>
          </a:p>
          <a:p>
            <a:pPr>
              <a:spcBef>
                <a:spcPts val="400"/>
              </a:spcBef>
              <a:defRPr sz="950">
                <a:solidFill>
                  <a:srgbClr val="1E3A5F"/>
                </a:solidFill>
              </a:defRPr>
            </a:pPr>
            <a:r>
              <a:t>• 구매조달 실무진에게 '금지' 통보만 할 경우 조달프로젝트 일정이 지연되고 저항이 발생함.</a:t>
            </a:r>
          </a:p>
          <a:p>
            <a:pPr>
              <a:spcBef>
                <a:spcPts val="400"/>
              </a:spcBef>
              <a:defRPr sz="950">
                <a:solidFill>
                  <a:srgbClr val="1E3A5F"/>
                </a:solidFill>
              </a:defRPr>
            </a:pPr>
            <a:r>
              <a:t>• 적법하면서도 구매조달 기술사양력을 유지하는 '대체 추천 조항'를 함께 제공하는 능동형 AI 필요.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7C3AED"/>
                </a:solidFill>
              </a:defRPr>
            </a:pPr>
            <a:r>
              <a:t>4. 실무자-QA 간 양방향 커뮤니케이션 포털</a:t>
            </a:r>
          </a:p>
          <a:p>
            <a:pPr>
              <a:spcBef>
                <a:spcPts val="400"/>
              </a:spcBef>
              <a:defRPr sz="950">
                <a:solidFill>
                  <a:srgbClr val="1E3A5F"/>
                </a:solidFill>
              </a:defRPr>
            </a:pPr>
            <a:r>
              <a:t>• 파편화된 이메일 소통을 단일 웹 포털로 일원화하여 검증 히스토리와 수정 이력을 자산화.</a:t>
            </a:r>
          </a:p>
          <a:p>
            <a:pPr>
              <a:spcBef>
                <a:spcPts val="400"/>
              </a:spcBef>
              <a:defRPr sz="950">
                <a:solidFill>
                  <a:srgbClr val="1E3A5F"/>
                </a:solidFill>
              </a:defRPr>
            </a:pPr>
            <a:r>
              <a:t>• Vben Admin 기반 직관적 반응형 UI를 통해 구매담당자와 QA가 동일 화면에서 코멘트와 결재를 수행.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벤치마킹 보고서  &gt;  4. 시스템 반영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4.1 벤치마킹 시사점의 프로젝트 기능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EMP_ANL_010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벤치마킹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5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■ 벤치마킹 결과를 반영한 SyncFlow AI 핵심 기능 설계</a:t>
            </a:r>
          </a:p>
          <a:p>
            <a:pPr>
              <a:spcBef>
                <a:spcPts val="800"/>
              </a:spcBef>
              <a:defRPr sz="1000">
                <a:solidFill>
                  <a:srgbClr val="1E3A5F"/>
                </a:solidFill>
              </a:defRPr>
            </a:pPr>
            <a:r>
              <a:t>✔ 규칙 사전(Rule Dictionary) 100종 구축: 공정위·표준원 고시 독소조항 50종, 보완조항 30종, 예외 단어 20종을 DB화하여 0.2초 내 즉시 1차 필터링.</a:t>
            </a:r>
          </a:p>
          <a:p>
            <a:pPr>
              <a:spcBef>
                <a:spcPts val="800"/>
              </a:spcBef>
              <a:defRPr sz="1000">
                <a:solidFill>
                  <a:srgbClr val="1E3A5F"/>
                </a:solidFill>
              </a:defRPr>
            </a:pPr>
            <a:r>
              <a:t>✔ 공정위·표준원 법령 및 검증 가이드라인 RAG 벡터 검색: 하도급법 제3조의4 및 유권해석 문서를 pgvector에 임베딩하여 판정 근거 조항 자동 매핑.</a:t>
            </a:r>
          </a:p>
          <a:p>
            <a:pPr>
              <a:spcBef>
                <a:spcPts val="800"/>
              </a:spcBef>
              <a:defRPr sz="1000">
                <a:solidFill>
                  <a:srgbClr val="1E3A5F"/>
                </a:solidFill>
              </a:defRPr>
            </a:pPr>
            <a:r>
              <a:t>✔ Vision OCR 기반 스캔 기술시방서 분석: 이미지 파일 업로드 시 텍스트 위치(Bounding Box)와 위반 의심 구역을 시각적으로 하이라이트.</a:t>
            </a:r>
          </a:p>
          <a:p>
            <a:pPr>
              <a:spcBef>
                <a:spcPts val="800"/>
              </a:spcBef>
              <a:defRPr sz="1000">
                <a:solidFill>
                  <a:srgbClr val="1E3A5F"/>
                </a:solidFill>
              </a:defRPr>
            </a:pPr>
            <a:r>
              <a:t>✔ PLM-Nexus 조성 성분 규격 연계: 제품 코드 입력 시 PLM-Nexus REST API를 호출하여 조성 성분 리스트를 AI 판정 프롬프트에 자동 주입.</a:t>
            </a:r>
          </a:p>
          <a:p>
            <a:pPr>
              <a:spcBef>
                <a:spcPts val="800"/>
              </a:spcBef>
              <a:defRPr sz="1000">
                <a:solidFill>
                  <a:srgbClr val="1E3A5F"/>
                </a:solidFill>
              </a:defRPr>
            </a:pPr>
            <a:r>
              <a:t>✔ 대체 추천 조항 엔진 탑재: 허위·과대 기술사양 표현을 적법한 구매조달 표현으로 변환해주는 100종 대체 조항 데이터베이스 구축.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벤치마킹 보고서  &gt;  5. 기대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5.1 벤치마킹 기반 시스템 도입 정량·정성 기대 성과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EMP_ANL_010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벤치마킹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6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942"/>
                </a:solidFill>
              </a:defRPr>
            </a:pPr>
            <a:r>
              <a:t>검증 리드타임 감축</a:t>
            </a:r>
          </a:p>
          <a:p>
            <a:pPr>
              <a:spcBef>
                <a:spcPts val="1200"/>
              </a:spcBef>
              <a:defRPr b="1" sz="2200">
                <a:solidFill>
                  <a:srgbClr val="2563EB"/>
                </a:solidFill>
              </a:defRPr>
            </a:pPr>
            <a:r>
              <a:t>3일 → 2시간</a:t>
            </a:r>
          </a:p>
          <a:p>
            <a:pPr>
              <a:spcBef>
                <a:spcPts val="1400"/>
              </a:spcBef>
              <a:defRPr sz="1000">
                <a:solidFill>
                  <a:srgbClr val="1E3A5F"/>
                </a:solidFill>
              </a:defRPr>
            </a:pPr>
            <a:r>
              <a:t>85% 단축으로 구매조달 적시성 확보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942"/>
                </a:solidFill>
              </a:defRPr>
            </a:pPr>
            <a:r>
              <a:t>AI 판정 정확도</a:t>
            </a:r>
          </a:p>
          <a:p>
            <a:pPr>
              <a:spcBef>
                <a:spcPts val="1200"/>
              </a:spcBef>
              <a:defRPr b="1" sz="2200">
                <a:solidFill>
                  <a:srgbClr val="2563EB"/>
                </a:solidFill>
              </a:defRPr>
            </a:pPr>
            <a:r>
              <a:t>96.2%</a:t>
            </a:r>
          </a:p>
          <a:p>
            <a:pPr>
              <a:spcBef>
                <a:spcPts val="1400"/>
              </a:spcBef>
              <a:defRPr sz="1000">
                <a:solidFill>
                  <a:srgbClr val="1E3A5F"/>
                </a:solidFill>
              </a:defRPr>
            </a:pPr>
            <a:r>
              <a:t>골든셋 기준 글로벌 벤치마크 상회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942"/>
                </a:solidFill>
              </a:defRPr>
            </a:pPr>
            <a:r>
              <a:t>행정 처분 리스크</a:t>
            </a:r>
          </a:p>
          <a:p>
            <a:pPr>
              <a:spcBef>
                <a:spcPts val="1200"/>
              </a:spcBef>
              <a:defRPr b="1" sz="2200">
                <a:solidFill>
                  <a:srgbClr val="2563EB"/>
                </a:solidFill>
              </a:defRPr>
            </a:pPr>
            <a:r>
              <a:t>Zero (0건)</a:t>
            </a:r>
          </a:p>
          <a:p>
            <a:pPr>
              <a:spcBef>
                <a:spcPts val="1400"/>
              </a:spcBef>
              <a:defRPr sz="1000">
                <a:solidFill>
                  <a:srgbClr val="1E3A5F"/>
                </a:solidFill>
              </a:defRPr>
            </a:pPr>
            <a:r>
              <a:t>공정위·표준원 위반 사전 원천 차단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942"/>
                </a:solidFill>
              </a:defRPr>
            </a:pPr>
            <a:r>
              <a:t>연간 공수 절감</a:t>
            </a:r>
          </a:p>
          <a:p>
            <a:pPr>
              <a:spcBef>
                <a:spcPts val="1200"/>
              </a:spcBef>
              <a:defRPr b="1" sz="2200">
                <a:solidFill>
                  <a:srgbClr val="2563EB"/>
                </a:solidFill>
              </a:defRPr>
            </a:pPr>
            <a:r>
              <a:t>1,840시간</a:t>
            </a:r>
          </a:p>
          <a:p>
            <a:pPr>
              <a:spcBef>
                <a:spcPts val="1400"/>
              </a:spcBef>
              <a:defRPr sz="1000">
                <a:solidFill>
                  <a:srgbClr val="1E3A5F"/>
                </a:solidFill>
              </a:defRPr>
            </a:pPr>
            <a:r>
              <a:t>법무·QA 전문위원 고부가가치 기획 집중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