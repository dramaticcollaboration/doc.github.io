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HANBIT GLOBAL SyncGuard AI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시스템 이행계획서 (System Transition &amp; Cutover Plan)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한빛글로벌 AI 심의 시스템 상용 배포, 데이터 전환, 롤백 및 안정화 가이드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문서 번호: EMP_IMP_010  |  버전: v1.0 (최종 승인본)  |  작성 일자: 2026년 10월 16일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이행 목표: 무중단 상용 오픈, DB 정합성 100% 보장, 외부 4대 시스템 연계 무결성 확보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발주사: ㈜한빛글로벌 (Hanbit Global Corp.)   |   수행사: ㈜엠파시 (Empasy Inc.)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SyncGuard AI 시스템 이행계획서  &gt;  1. 이행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1.1 시스템 상용 전환 기본 방침 및 핵심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EMP_IMP_010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시스템 오픈 및 상용 전환 이행계획서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무중단 상용 오픈</a:t>
            </a:r>
          </a:p>
          <a:p>
            <a:pPr>
              <a:spcBef>
                <a:spcPts val="600"/>
              </a:spcBef>
              <a:defRPr b="1" sz="2000">
                <a:solidFill>
                  <a:srgbClr val="2563EB"/>
                </a:solidFill>
              </a:defRPr>
            </a:pPr>
            <a:r>
              <a:t>Zero Downtime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Blue-Green 무중단 전환 전략 적용</a:t>
            </a:r>
            <a:br/>
            <a:r>
              <a:t>기존 수동 접수 업무 공백 0건 보장</a:t>
            </a:r>
            <a:br/>
            <a:r>
              <a:t>점검 시간 내 100% 정상화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데이터 무결성 확보</a:t>
            </a:r>
          </a:p>
          <a:p>
            <a:pPr>
              <a:spcBef>
                <a:spcPts val="600"/>
              </a:spcBef>
              <a:defRPr b="1" sz="2000">
                <a:solidFill>
                  <a:srgbClr val="0F172A"/>
                </a:solidFill>
              </a:defRPr>
            </a:pPr>
            <a:r>
              <a:t>100% 검증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100개 규칙 사전, 50문항 골든셋</a:t>
            </a:r>
            <a:br/>
            <a:r>
              <a:t>식약처 법령 벡터 DB 100% 정합성 검증</a:t>
            </a:r>
            <a:br/>
            <a:r>
              <a:t>사전 DML 마스터 스크립트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외부 시스템 연계</a:t>
            </a:r>
          </a:p>
          <a:p>
            <a:pPr>
              <a:spcBef>
                <a:spcPts val="600"/>
              </a:spcBef>
              <a:defRPr b="1" sz="2000">
                <a:solidFill>
                  <a:srgbClr val="059669"/>
                </a:solidFill>
              </a:defRPr>
            </a:pPr>
            <a:r>
              <a:t>4대 채널 무결성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ProductLab 원료 규격 REST API</a:t>
            </a:r>
            <a:br/>
            <a:r>
              <a:t>MarketingHub 결재 동기화</a:t>
            </a:r>
            <a:br/>
            <a:r>
              <a:t>사내 SSO 로그인 및 KT 문자망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철저한 롤백 안전망</a:t>
            </a:r>
          </a:p>
          <a:p>
            <a:pPr>
              <a:spcBef>
                <a:spcPts val="600"/>
              </a:spcBef>
              <a:defRPr b="1" sz="2000">
                <a:solidFill>
                  <a:srgbClr val="7C3AED"/>
                </a:solidFill>
              </a:defRPr>
            </a:pPr>
            <a:r>
              <a:t>15분 내 복구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단계별 롤백 트리거 수립</a:t>
            </a:r>
            <a:br/>
            <a:r>
              <a:t>PostgreSQL 자동 스냅샷 복구</a:t>
            </a:r>
            <a:br/>
            <a:r>
              <a:t>비상 시 수동 심의 프로세스 즉시 가동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■ 이행 기본 방침 및 원칙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단계별 검증(Gate Review): 사전 리허설(D-3) → 모의 컷오버(D-1) → 상용 배포(D-Day) → 안정화 모니터링(D+1~D+7) 4단계 체계 적용.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역할과 책임 명확화: 한빛글로벌 RA팀(업무 승인), IT운영팀(인프라/방화벽), 엠파시(사업 총괄 및 AI 파이프라인/배포) 공조 체계 확립.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보안 및 접근 제어: 상용 전환 작업 중 관리자 권한 작업 로그 전수 기록 및 DB 암호화 통신(TLS 1.3) 적용.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종료 승인 기준: 스모크 테스트 42개 전 항목 정상 통과 및 한빛글로벌 검수책임관 최종 승인 시 상용 전환 완료 선언.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SyncGuard AI 시스템 이행계획서  &gt;  2. 추진 조직 및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2.1 이행 종합 추진 조직 및 역할 분담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EMP_IMP_010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시스템 오픈 및 상용 전환 이행계획서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870655"/>
                <a:gridCol w="1371600"/>
                <a:gridCol w="13716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조직 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담당 역할 (Role)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주요 책임 업무 (Responsibilities)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소속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비상연락망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이행 총괄 책임관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이행 총괄 의사결정 / GO/NO-GO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컷오버 개시 선언, 비상 롤백 최종 승인, 상용 오픈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한빛글로벌 RA팀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사내 핫라인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사업 총괄 PM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이행 공정 및 일정 총괄 조율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타임라인 관리, 부서 간 조율, 이행 체크리스트 종합 확인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주식회사 엠파시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010-2026-1001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AI 및 시스템 구축 리드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서버 배포 / AI 엔진 / DB 이행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Docker 컨테이너 배포, DB 시딩, AI 모델 서빙, 연계 점검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주식회사 엠파시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010-2026-2002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인프라 및 연계 지원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네트워크 / 방화벽 / 계정 권한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ProductLab 연계 포트 오픈, SSO 인증 연동, LB 헬스체크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한빛글로벌 IT팀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사내 핫라인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SyncGuard AI 시스템 이행계획서  &gt;  3. 컷오버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3.1 D-Day 상세 컷오버 타임라인 및 마일스톤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EMP_IMP_010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시스템 오픈 및 상용 전환 이행계획서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4327855"/>
                <a:gridCol w="1371600"/>
                <a:gridCol w="1371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시간 (Time)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작업 단계 (Step)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세부 작업 내용 (Activity)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담당 주체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성공 기준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00:00 ~ 01:00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1. 인프라 준비 및 백업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상용 운영 서버 상태 점검, PostgreSQL 스냅샷 생성, 방화벽 점검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엠파시 / IT팀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백업 정상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01:00 ~ 02:30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2. DB 마이그레이션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마스터 DDL 적용, 100개 룰셋 및 식약처 가이드라인 DB 시딩 적재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엠파시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DML 오류 0건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02:30 ~ 04:00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3. 앱 및 AI 엔진 배포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통합 웹(Client/fe), 코어 백엔드(be/api/batch), AI Agent(5대 모듈) 컨테이너 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엠파시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컨테이너 UP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04:00 ~ 05:30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4. 연계 인터페이스 검증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ProductLab 원료 규격, MarketingHub 결재 연동, SSO 로그인, SMS 통지 테스트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엠파시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연계 4대 채널 통과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05:30 ~ 07:00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5. 종합 스모크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42개 핵심 시나리오 전수 점검, 골든셋 50문항 정밀도 검증 (96.2%)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전원 합동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오류 0건 / 오픈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SyncGuard AI 시스템 이행계획서  &gt;  4. 배포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4.1 시스템 이행 인프라 및 네트워크 환경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EMP_IMP_010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시스템 오픈 및 상용 전환 이행계획서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통합 웹 콘솔 및 코어 서버 (Web/API)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AWS Internal ALB / Caddy Reverse Proxy (SSL TLS 1.3)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Vben Admin 기반 Vue 3 통합 웹 콘솔 (Client/fe :3104)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Spring Boot 3.3.5 멀티모듈 (be :18080 / api :18085, Java 21)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사내 SSO(HB-SSO) &amp; IAM 역할 인가 연동 및 JWT 인증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AI 에이전트 &amp; 배치 워커 (AI Agent / Batch)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AI Agent(:18083) 동시 4건 세마포어 &amp; QUEUED 대기열 워커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영상 피크프레임·미세각주 자동 추출 &amp; 네이버/패들 선택형 OCR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규칙 사전 100대 룰셋 &amp; 과거 심의 이력 상충 탐지 엔진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Batch(:18084) 매일 02:00 ProductLab·02:30 KT레몬 일배치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데이터베이스 및 저장소 (Persistence)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AWS RDS PostgreSQL 16 (Multi-AZ, 25개 정규 테이블 + 뷰)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pgvector 1536차원 HNSW 벡터 색인 &amp; GIN Trigram 검색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AWS S3 전용 버킷 (300MB 시안·영상·피크프레임·리포트 보관)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불변 감사 원장(review_history_immutable, WORM 해시체인)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외부 연계 네트워크 (Interface Hub)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마케팅허브(MarketingHub) 심의 의뢰 수신 &amp; 결과(HTML/JSON) 웹훅 회신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프로덕트랩(ProductLab) 전성분·임상/설문 실증보고서 일배치 연계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연구원 실증자료 업로드 요청 이메일(SMTP) 발송 연동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비학습 상용 LLM(Claude/GPT) &amp; 네이버 클로바 OCR(:443) 연동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SyncGuard AI 시스템 이행계획서  &gt;  5. 데이터 마이그레이션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5.1 초기 마스터 데이터 이관 및 DB 적재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EMP_IMP_010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시스템 오픈 및 상용 전환 이행계획서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6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504895"/>
                <a:gridCol w="1463040"/>
                <a:gridCol w="14630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데이터 영역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대상 테이블 / 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적재 내용 및 규모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검증 방식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금지어/주의어 룰셋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review_prohibited_word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식약처 고시 기반 100개 규칙 사전 전수 적재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건수 및 정규식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100%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대체 추천 문구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review_prohibited_word (recommended_phrases)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허위·과대 표현 대체 추천 문구 100종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문맥 적합성 검증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100% 적합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식약처 가이드라인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review_regulation_doc / review_regulation_chunk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표시·광고 공정화법 제3조, 표시광고 가이드라인 전문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임베딩 벡터 정합성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100%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골든셋 평가 데이터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review_golden_set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50개 표준 벤치마크 테스트셋 및 정답 라벨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정밀도 96.2% 재현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100% 적합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기초 코드 및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sys_user, sys_role, review_brand_guideline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공통 코드 12종, 11개 브랜드, 18명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계정 로그인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100%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SyncGuard AI 시스템 이행계획서  &gt;  6. 롤백 및 비상대책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6.1 단계별 비상 롤백 시나리오 및 업무 연속성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EMP_IMP_010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시스템 오픈 및 상용 전환 이행계획서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롤백 발동 기준 (Decision Criteria)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DB 마이그레이션 중 치명적 스크립트 오류 발생 시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핵심 기능(심의 접수/AI 판정) 스모크 테스트 실패율 5% 초과 시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외부 시스템(ProductLab/SSO) 연계가 1시간 이상 복구 불가할 시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이행 총괄 책임관의 공식 롤백 지시가 하달된 경우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2. 기술적 롤백 절차 (Technical Rollback)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1단계: Nginx 트래픽 차단 및 점검 안내 페이지 전환 (1분)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2단계: 컨테이너 롤백 (이전 안정 버전 이미지 재기동, 3분)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3단계: PostgreSQL D-Day 00:00 스냅샷 복구 (5분)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4단계: 인프라 헬스체크 및 롤백 정상화 확인 (5분, 총 14분)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3. 업무 연속성 유지 계획 (Contingency Plan)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시스템 오픈 연기 시 기존 사내 이메일/오프라인 심의 즉시 유지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접수된 시범운영 데이터의 손실 방지 백업 저장소 분리 보관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마케팅 실무 부서에 오픈 일정 변경 비상 공지 발송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4. 사후 분석 및 재이행 계획 수립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롤백 직후 2시간 이내 장애 원인 분석 회의 소집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결함 긴급 패치 및 QA 환경 완벽 재검증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48시간 이내 차기 이행 일정 재수립 및 발주사 보고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SyncGuard AI 시스템 이행계획서  &gt;  7. 완료 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7.1 이행 성공 판정 기준 및 상용 오픈 승인 서명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293B"/>
                </a:solidFill>
              </a:defRPr>
            </a:pPr>
            <a:r>
              <a:t>산출물 ID: EMP_IMP_010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SyncGuard AI | 시스템 오픈 및 상용 전환 이행계획서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8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0876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■ 상용 오픈 판정 및 이행 완료 확인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본 이행계획서에 명시된 컷오버 시나리오 및 스모크 테스트 항목 42개 전수가 100% 정상 통과되었으며, ProductLab 및 MarketingHub을 포함한 사내 4대 외부 시스템과의 인터페이스 연계 무결성이 확인되었기에 본 시스템의 상용 오픈 이행 완료를 정식으로 승인합니다.</a:t>
            </a:r>
          </a:p>
          <a:p>
            <a:pPr algn="ctr"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2026년 10월 16일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발주사 (이행 총괄)</a:t>
            </a:r>
          </a:p>
          <a:p>
            <a:pPr algn="ctr">
              <a:spcBef>
                <a:spcPts val="1600"/>
              </a:spcBef>
              <a:defRPr sz="1000">
                <a:solidFill>
                  <a:srgbClr val="334155"/>
                </a:solidFill>
              </a:defRPr>
            </a:pPr>
            <a:r>
              <a:t>주식회사 한빛글로벌</a:t>
            </a:r>
            <a:br/>
            <a:r>
              <a:t>RA팀 검수책임관</a:t>
            </a:r>
            <a:br/>
            <a:br/>
            <a:r>
              <a:t>성명:               (서명)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4747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주사업자 (사업 총괄)</a:t>
            </a:r>
          </a:p>
          <a:p>
            <a:pPr algn="ctr">
              <a:spcBef>
                <a:spcPts val="1600"/>
              </a:spcBef>
              <a:defRPr sz="1000">
                <a:solidFill>
                  <a:srgbClr val="334155"/>
                </a:solidFill>
              </a:defRPr>
            </a:pPr>
            <a:r>
              <a:t>주식회사 엠파시 (EMPASY)</a:t>
            </a:r>
            <a:br/>
            <a:r>
              <a:t>사업총괄 PM</a:t>
            </a:r>
            <a:br/>
            <a:br/>
            <a:r>
              <a:t>성명:               (서명)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4747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65760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공동수행사 (이행 기술총괄)</a:t>
            </a:r>
          </a:p>
          <a:p>
            <a:pPr algn="ctr">
              <a:spcBef>
                <a:spcPts val="1600"/>
              </a:spcBef>
              <a:defRPr sz="1000">
                <a:solidFill>
                  <a:srgbClr val="334155"/>
                </a:solidFill>
              </a:defRPr>
            </a:pPr>
            <a:r>
              <a:t>주식회사 엠파시 (Empasy Inc.)AI 테크니컬 리드성명:               (서명)</a:t>
            </a:r>
            <a:br/>
            <a:r>
              <a:t/>
            </a:r>
            <a:br/>
            <a:br/>
            <a: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