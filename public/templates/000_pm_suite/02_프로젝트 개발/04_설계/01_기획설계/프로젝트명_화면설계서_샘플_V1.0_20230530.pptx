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7" r:id="rId2"/>
  </p:sldMasterIdLst>
  <p:notesMasterIdLst>
    <p:notesMasterId r:id="rId6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9" roundtripDataSignature="AMtx7mh80yiKlIb1R1+z0+Ux18KmND0a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E133EE-DB41-4125-A488-5C14177497C7}">
  <a:tblStyle styleId="{3AE133EE-DB41-4125-A488-5C14177497C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6D099D6-B71A-4573-80F2-A8A7518E7D8A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8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7" Type="http://schemas.openxmlformats.org/officeDocument/2006/relationships/slide" Target="slides/slide5.xml"/><Relationship Id="rId71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1" name="Google Shape;2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9" name="Google Shape;2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3" name="Google Shape;2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1" name="Google Shape;2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2" name="Google Shape;2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5" name="Google Shape;3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7" name="Google Shape;3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9" name="Google Shape;3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1" name="Google Shape;3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9" name="Google Shape;3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8" name="Google Shape;3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9" name="Google Shape;40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0" name="Google Shape;5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5" name="Google Shape;6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3" name="Google Shape;6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1" name="Google Shape;76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17" name="Google Shape;8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9" name="Google Shape;8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9" name="Google Shape;92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8" name="Google Shape;9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1" name="Google Shape;98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4" name="Google Shape;101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7" name="Google Shape;10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9" name="Google Shape;10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4" name="Google Shape;120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7" name="Google Shape;130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9" name="Google Shape;135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7" name="Google Shape;136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5" name="Google Shape;13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0" name="Google Shape;14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8" name="Google Shape;14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4" name="Google Shape;147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0" name="Google Shape;150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9" name="Google Shape;152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37" name="Google Shape;153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7" name="Google Shape;156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3" name="Google Shape;159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2" name="Google Shape;165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6" name="Google Shape;168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9" name="Google Shape;172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9" name="Google Shape;175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5" name="Google Shape;178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05" name="Google Shape;180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9" name="Google Shape;183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0" name="Google Shape;186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9" name="Google Shape;194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6" name="Google Shape;197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4" name="Google Shape;198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3" name="Google Shape;203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8" name="Google Shape;207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7" name="Google Shape;210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56" name="Google Shape;215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0" name="Google Shape;220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8" name="Google Shape;220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31" name="Google Shape;223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6" name="Google Shape;225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4" name="Google Shape;227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81" name="Google Shape;2281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89" name="Google Shape;228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7" name="Google Shape;229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g25512ed35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43" name="Google Shape;2343;g25512ed35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3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4;p63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3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63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>
                <a:latin typeface="Malgun Gothic"/>
                <a:ea typeface="Malgun Gothic"/>
                <a:cs typeface="Malgun Gothic"/>
                <a:sym typeface="Malgun Gothic"/>
              </a:rPr>
              <a:t>프로젝트명</a:t>
            </a: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7;p63"/>
          <p:cNvSpPr txBox="1">
            <a:spLocks noGrp="1"/>
          </p:cNvSpPr>
          <p:nvPr>
            <p:ph type="subTitle" idx="1"/>
          </p:nvPr>
        </p:nvSpPr>
        <p:spPr>
          <a:xfrm>
            <a:off x="420452" y="2738949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>
                <a:solidFill>
                  <a:srgbClr val="595959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3"/>
          <p:cNvSpPr txBox="1">
            <a:spLocks noGrp="1"/>
          </p:cNvSpPr>
          <p:nvPr>
            <p:ph type="ctrTitle"/>
          </p:nvPr>
        </p:nvSpPr>
        <p:spPr>
          <a:xfrm>
            <a:off x="420452" y="2150072"/>
            <a:ext cx="11309267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  <a:defRPr sz="2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63"/>
          <p:cNvCxnSpPr/>
          <p:nvPr/>
        </p:nvCxnSpPr>
        <p:spPr>
          <a:xfrm>
            <a:off x="403035" y="2634441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제목 슬라이드">
  <p:cSld name="4_제목 슬라이드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4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64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4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64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>
                <a:latin typeface="Malgun Gothic"/>
                <a:ea typeface="Malgun Gothic"/>
                <a:cs typeface="Malgun Gothic"/>
                <a:sym typeface="Malgun Gothic"/>
              </a:rPr>
              <a:t>프로젝트명</a:t>
            </a: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5" name="Google Shape;25;p64"/>
          <p:cNvCxnSpPr/>
          <p:nvPr/>
        </p:nvCxnSpPr>
        <p:spPr>
          <a:xfrm>
            <a:off x="403035" y="605345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" name="Google Shape;26;p64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5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65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5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65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>
                <a:latin typeface="Malgun Gothic"/>
                <a:ea typeface="Malgun Gothic"/>
                <a:cs typeface="Malgun Gothic"/>
                <a:sym typeface="Malgun Gothic"/>
              </a:rPr>
              <a:t>프로젝트명</a:t>
            </a: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33;p65"/>
          <p:cNvSpPr txBox="1">
            <a:spLocks noGrp="1"/>
          </p:cNvSpPr>
          <p:nvPr>
            <p:ph type="subTitle" idx="1"/>
          </p:nvPr>
        </p:nvSpPr>
        <p:spPr>
          <a:xfrm>
            <a:off x="717391" y="2837544"/>
            <a:ext cx="10671969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>
                <a:solidFill>
                  <a:srgbClr val="595959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4" name="Google Shape;34;p65"/>
          <p:cNvSpPr txBox="1">
            <a:spLocks noGrp="1"/>
          </p:cNvSpPr>
          <p:nvPr>
            <p:ph type="ctrTitle"/>
          </p:nvPr>
        </p:nvSpPr>
        <p:spPr>
          <a:xfrm>
            <a:off x="717391" y="2344464"/>
            <a:ext cx="10671969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  <a:defRPr sz="2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5"/>
          <p:cNvSpPr/>
          <p:nvPr/>
        </p:nvSpPr>
        <p:spPr>
          <a:xfrm>
            <a:off x="420452" y="1045030"/>
            <a:ext cx="11309267" cy="5207726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6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" name="Google Shape;38;p66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6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66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>
                <a:latin typeface="Malgun Gothic"/>
                <a:ea typeface="Malgun Gothic"/>
                <a:cs typeface="Malgun Gothic"/>
                <a:sym typeface="Malgun Gothic"/>
              </a:rPr>
              <a:t>프로젝트명</a:t>
            </a: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66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>
                <a:solidFill>
                  <a:srgbClr val="595959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2" name="Google Shape;42;p66"/>
          <p:cNvCxnSpPr/>
          <p:nvPr/>
        </p:nvCxnSpPr>
        <p:spPr>
          <a:xfrm>
            <a:off x="403035" y="605345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66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제목 슬라이드">
  <p:cSld name="3_제목 슬라이드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9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46;p69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9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>
                <a:latin typeface="Malgun Gothic"/>
                <a:ea typeface="Malgun Gothic"/>
                <a:cs typeface="Malgun Gothic"/>
                <a:sym typeface="Malgun Gothic"/>
              </a:rPr>
              <a:t>프로젝트명</a:t>
            </a: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49;p69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>
                <a:solidFill>
                  <a:srgbClr val="595959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50" name="Google Shape;50;p69"/>
          <p:cNvCxnSpPr/>
          <p:nvPr/>
        </p:nvCxnSpPr>
        <p:spPr>
          <a:xfrm>
            <a:off x="403035" y="605345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" name="Google Shape;51;p69"/>
          <p:cNvSpPr/>
          <p:nvPr/>
        </p:nvSpPr>
        <p:spPr>
          <a:xfrm>
            <a:off x="420452" y="1323702"/>
            <a:ext cx="11309267" cy="5059684"/>
          </a:xfrm>
          <a:prstGeom prst="rect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52;p69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7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7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8"/>
          <p:cNvSpPr txBox="1">
            <a:spLocks noGrp="1"/>
          </p:cNvSpPr>
          <p:nvPr>
            <p:ph type="ctrTitle"/>
          </p:nvPr>
        </p:nvSpPr>
        <p:spPr>
          <a:xfrm>
            <a:off x="3927564" y="42499"/>
            <a:ext cx="4615545" cy="2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  <a:defRPr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68"/>
          <p:cNvSpPr txBox="1">
            <a:spLocks noGrp="1"/>
          </p:cNvSpPr>
          <p:nvPr>
            <p:ph type="subTitle" idx="1"/>
          </p:nvPr>
        </p:nvSpPr>
        <p:spPr>
          <a:xfrm>
            <a:off x="3936273" y="252549"/>
            <a:ext cx="4606836" cy="20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0" name="Google Shape;80;p68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8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68"/>
          <p:cNvSpPr txBox="1">
            <a:spLocks noGrp="1"/>
          </p:cNvSpPr>
          <p:nvPr>
            <p:ph type="body" idx="2"/>
          </p:nvPr>
        </p:nvSpPr>
        <p:spPr>
          <a:xfrm>
            <a:off x="9261748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3" name="Google Shape;83;p68"/>
          <p:cNvSpPr txBox="1">
            <a:spLocks noGrp="1"/>
          </p:cNvSpPr>
          <p:nvPr>
            <p:ph type="body" idx="3"/>
          </p:nvPr>
        </p:nvSpPr>
        <p:spPr>
          <a:xfrm>
            <a:off x="9270457" y="260215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4" name="Google Shape;84;p68"/>
          <p:cNvSpPr txBox="1">
            <a:spLocks noGrp="1"/>
          </p:cNvSpPr>
          <p:nvPr>
            <p:ph type="body" idx="4"/>
          </p:nvPr>
        </p:nvSpPr>
        <p:spPr>
          <a:xfrm>
            <a:off x="10872834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5" name="Google Shape;85;p68"/>
          <p:cNvSpPr txBox="1">
            <a:spLocks noGrp="1"/>
          </p:cNvSpPr>
          <p:nvPr>
            <p:ph type="body" idx="5"/>
          </p:nvPr>
        </p:nvSpPr>
        <p:spPr>
          <a:xfrm>
            <a:off x="10881543" y="260215"/>
            <a:ext cx="1310457" cy="20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6" name="Google Shape;86;p68"/>
          <p:cNvSpPr/>
          <p:nvPr/>
        </p:nvSpPr>
        <p:spPr>
          <a:xfrm>
            <a:off x="1555181" y="704832"/>
            <a:ext cx="2690948" cy="56518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7" name="Google Shape;87;p68"/>
          <p:cNvSpPr txBox="1">
            <a:spLocks noGrp="1"/>
          </p:cNvSpPr>
          <p:nvPr>
            <p:ph type="body" idx="6"/>
          </p:nvPr>
        </p:nvSpPr>
        <p:spPr>
          <a:xfrm>
            <a:off x="2049387" y="251506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pic>
        <p:nvPicPr>
          <p:cNvPr id="88" name="Google Shape;88;p68"/>
          <p:cNvPicPr preferRelativeResize="0"/>
          <p:nvPr/>
        </p:nvPicPr>
        <p:blipFill rotWithShape="1">
          <a:blip r:embed="rId2">
            <a:alphaModFix/>
          </a:blip>
          <a:srcRect t="26197" b="19146"/>
          <a:stretch/>
        </p:blipFill>
        <p:spPr>
          <a:xfrm>
            <a:off x="1577746" y="717144"/>
            <a:ext cx="2628000" cy="16854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8"/>
          <p:cNvSpPr/>
          <p:nvPr/>
        </p:nvSpPr>
        <p:spPr>
          <a:xfrm>
            <a:off x="1555181" y="704832"/>
            <a:ext cx="2690948" cy="203713"/>
          </a:xfrm>
          <a:prstGeom prst="rect">
            <a:avLst/>
          </a:prstGeom>
          <a:solidFill>
            <a:srgbClr val="0D0D0D">
              <a:alpha val="20000"/>
            </a:srgbClr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3"/>
          <p:cNvSpPr txBox="1">
            <a:spLocks noGrp="1"/>
          </p:cNvSpPr>
          <p:nvPr>
            <p:ph type="ctrTitle"/>
          </p:nvPr>
        </p:nvSpPr>
        <p:spPr>
          <a:xfrm>
            <a:off x="3927564" y="42499"/>
            <a:ext cx="4615545" cy="2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  <a:defRPr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73"/>
          <p:cNvSpPr txBox="1">
            <a:spLocks noGrp="1"/>
          </p:cNvSpPr>
          <p:nvPr>
            <p:ph type="subTitle" idx="1"/>
          </p:nvPr>
        </p:nvSpPr>
        <p:spPr>
          <a:xfrm>
            <a:off x="3936273" y="252549"/>
            <a:ext cx="4606836" cy="20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3" name="Google Shape;93;p73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73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73"/>
          <p:cNvSpPr txBox="1">
            <a:spLocks noGrp="1"/>
          </p:cNvSpPr>
          <p:nvPr>
            <p:ph type="body" idx="2"/>
          </p:nvPr>
        </p:nvSpPr>
        <p:spPr>
          <a:xfrm>
            <a:off x="9261748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6" name="Google Shape;96;p73"/>
          <p:cNvSpPr txBox="1">
            <a:spLocks noGrp="1"/>
          </p:cNvSpPr>
          <p:nvPr>
            <p:ph type="body" idx="3"/>
          </p:nvPr>
        </p:nvSpPr>
        <p:spPr>
          <a:xfrm>
            <a:off x="9270457" y="260215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7" name="Google Shape;97;p73"/>
          <p:cNvSpPr txBox="1">
            <a:spLocks noGrp="1"/>
          </p:cNvSpPr>
          <p:nvPr>
            <p:ph type="body" idx="4"/>
          </p:nvPr>
        </p:nvSpPr>
        <p:spPr>
          <a:xfrm>
            <a:off x="10872834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8" name="Google Shape;98;p73"/>
          <p:cNvSpPr txBox="1">
            <a:spLocks noGrp="1"/>
          </p:cNvSpPr>
          <p:nvPr>
            <p:ph type="body" idx="5"/>
          </p:nvPr>
        </p:nvSpPr>
        <p:spPr>
          <a:xfrm>
            <a:off x="10881543" y="260215"/>
            <a:ext cx="1310457" cy="20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9" name="Google Shape;99;p73"/>
          <p:cNvSpPr txBox="1">
            <a:spLocks noGrp="1"/>
          </p:cNvSpPr>
          <p:nvPr>
            <p:ph type="body" idx="6"/>
          </p:nvPr>
        </p:nvSpPr>
        <p:spPr>
          <a:xfrm>
            <a:off x="2049387" y="251506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4"/>
          <p:cNvSpPr txBox="1">
            <a:spLocks noGrp="1"/>
          </p:cNvSpPr>
          <p:nvPr>
            <p:ph type="ctrTitle"/>
          </p:nvPr>
        </p:nvSpPr>
        <p:spPr>
          <a:xfrm>
            <a:off x="3927564" y="42499"/>
            <a:ext cx="4615545" cy="2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  <a:defRPr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74"/>
          <p:cNvSpPr txBox="1">
            <a:spLocks noGrp="1"/>
          </p:cNvSpPr>
          <p:nvPr>
            <p:ph type="subTitle" idx="1"/>
          </p:nvPr>
        </p:nvSpPr>
        <p:spPr>
          <a:xfrm>
            <a:off x="3936273" y="252549"/>
            <a:ext cx="4606836" cy="20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3" name="Google Shape;103;p74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4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74"/>
          <p:cNvSpPr txBox="1">
            <a:spLocks noGrp="1"/>
          </p:cNvSpPr>
          <p:nvPr>
            <p:ph type="body" idx="2"/>
          </p:nvPr>
        </p:nvSpPr>
        <p:spPr>
          <a:xfrm>
            <a:off x="9261748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6" name="Google Shape;106;p74"/>
          <p:cNvSpPr txBox="1">
            <a:spLocks noGrp="1"/>
          </p:cNvSpPr>
          <p:nvPr>
            <p:ph type="body" idx="3"/>
          </p:nvPr>
        </p:nvSpPr>
        <p:spPr>
          <a:xfrm>
            <a:off x="9270457" y="260215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7" name="Google Shape;107;p74"/>
          <p:cNvSpPr txBox="1">
            <a:spLocks noGrp="1"/>
          </p:cNvSpPr>
          <p:nvPr>
            <p:ph type="body" idx="4"/>
          </p:nvPr>
        </p:nvSpPr>
        <p:spPr>
          <a:xfrm>
            <a:off x="10872834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8" name="Google Shape;108;p74"/>
          <p:cNvSpPr txBox="1">
            <a:spLocks noGrp="1"/>
          </p:cNvSpPr>
          <p:nvPr>
            <p:ph type="body" idx="5"/>
          </p:nvPr>
        </p:nvSpPr>
        <p:spPr>
          <a:xfrm>
            <a:off x="10881543" y="260215"/>
            <a:ext cx="1310457" cy="20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9" name="Google Shape;109;p74"/>
          <p:cNvSpPr txBox="1">
            <a:spLocks noGrp="1"/>
          </p:cNvSpPr>
          <p:nvPr>
            <p:ph type="body" idx="6"/>
          </p:nvPr>
        </p:nvSpPr>
        <p:spPr>
          <a:xfrm>
            <a:off x="2049387" y="251506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0" name="Google Shape;110;p74"/>
          <p:cNvSpPr/>
          <p:nvPr/>
        </p:nvSpPr>
        <p:spPr>
          <a:xfrm>
            <a:off x="1555181" y="704832"/>
            <a:ext cx="2690948" cy="56518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1" name="Google Shape;111;p74"/>
          <p:cNvPicPr preferRelativeResize="0"/>
          <p:nvPr/>
        </p:nvPicPr>
        <p:blipFill rotWithShape="1">
          <a:blip r:embed="rId2">
            <a:alphaModFix/>
          </a:blip>
          <a:srcRect t="26197" b="19146"/>
          <a:stretch/>
        </p:blipFill>
        <p:spPr>
          <a:xfrm>
            <a:off x="1577746" y="717144"/>
            <a:ext cx="2628000" cy="16854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4"/>
          <p:cNvSpPr/>
          <p:nvPr/>
        </p:nvSpPr>
        <p:spPr>
          <a:xfrm>
            <a:off x="1555181" y="704832"/>
            <a:ext cx="2690948" cy="203713"/>
          </a:xfrm>
          <a:prstGeom prst="rect">
            <a:avLst/>
          </a:prstGeom>
          <a:solidFill>
            <a:srgbClr val="0D0D0D">
              <a:alpha val="20000"/>
            </a:srgbClr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74"/>
          <p:cNvSpPr/>
          <p:nvPr/>
        </p:nvSpPr>
        <p:spPr>
          <a:xfrm>
            <a:off x="1555181" y="6254838"/>
            <a:ext cx="2690948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페이지 계속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제목 슬라이드">
  <p:cSld name="3_제목 슬라이드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5"/>
          <p:cNvSpPr txBox="1">
            <a:spLocks noGrp="1"/>
          </p:cNvSpPr>
          <p:nvPr>
            <p:ph type="ctrTitle"/>
          </p:nvPr>
        </p:nvSpPr>
        <p:spPr>
          <a:xfrm>
            <a:off x="3927564" y="42499"/>
            <a:ext cx="4615545" cy="2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  <a:defRPr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p75"/>
          <p:cNvSpPr txBox="1">
            <a:spLocks noGrp="1"/>
          </p:cNvSpPr>
          <p:nvPr>
            <p:ph type="subTitle" idx="1"/>
          </p:nvPr>
        </p:nvSpPr>
        <p:spPr>
          <a:xfrm>
            <a:off x="3936273" y="252549"/>
            <a:ext cx="4606836" cy="20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7" name="Google Shape;117;p75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5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75"/>
          <p:cNvSpPr txBox="1">
            <a:spLocks noGrp="1"/>
          </p:cNvSpPr>
          <p:nvPr>
            <p:ph type="body" idx="2"/>
          </p:nvPr>
        </p:nvSpPr>
        <p:spPr>
          <a:xfrm>
            <a:off x="9261748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0" name="Google Shape;120;p75"/>
          <p:cNvSpPr txBox="1">
            <a:spLocks noGrp="1"/>
          </p:cNvSpPr>
          <p:nvPr>
            <p:ph type="body" idx="3"/>
          </p:nvPr>
        </p:nvSpPr>
        <p:spPr>
          <a:xfrm>
            <a:off x="9270457" y="260215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1" name="Google Shape;121;p75"/>
          <p:cNvSpPr txBox="1">
            <a:spLocks noGrp="1"/>
          </p:cNvSpPr>
          <p:nvPr>
            <p:ph type="body" idx="4"/>
          </p:nvPr>
        </p:nvSpPr>
        <p:spPr>
          <a:xfrm>
            <a:off x="10872834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2" name="Google Shape;122;p75"/>
          <p:cNvSpPr txBox="1">
            <a:spLocks noGrp="1"/>
          </p:cNvSpPr>
          <p:nvPr>
            <p:ph type="body" idx="5"/>
          </p:nvPr>
        </p:nvSpPr>
        <p:spPr>
          <a:xfrm>
            <a:off x="10881543" y="260215"/>
            <a:ext cx="1310457" cy="20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3" name="Google Shape;123;p75"/>
          <p:cNvSpPr txBox="1">
            <a:spLocks noGrp="1"/>
          </p:cNvSpPr>
          <p:nvPr>
            <p:ph type="body" idx="6"/>
          </p:nvPr>
        </p:nvSpPr>
        <p:spPr>
          <a:xfrm>
            <a:off x="2049387" y="251506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4" name="Google Shape;124;p75"/>
          <p:cNvSpPr/>
          <p:nvPr/>
        </p:nvSpPr>
        <p:spPr>
          <a:xfrm>
            <a:off x="1555181" y="704832"/>
            <a:ext cx="2690948" cy="56518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5" name="Google Shape;125;p75"/>
          <p:cNvPicPr preferRelativeResize="0"/>
          <p:nvPr/>
        </p:nvPicPr>
        <p:blipFill rotWithShape="1">
          <a:blip r:embed="rId2">
            <a:alphaModFix/>
          </a:blip>
          <a:srcRect t="26197" b="19146"/>
          <a:stretch/>
        </p:blipFill>
        <p:spPr>
          <a:xfrm>
            <a:off x="1577746" y="717144"/>
            <a:ext cx="2628000" cy="16854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5"/>
          <p:cNvSpPr/>
          <p:nvPr/>
        </p:nvSpPr>
        <p:spPr>
          <a:xfrm>
            <a:off x="1555181" y="6254838"/>
            <a:ext cx="2690948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페이지 계속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5"/>
          <p:cNvSpPr/>
          <p:nvPr/>
        </p:nvSpPr>
        <p:spPr>
          <a:xfrm>
            <a:off x="1555181" y="701614"/>
            <a:ext cx="2690948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페이지 계속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제목 슬라이드">
  <p:cSld name="5_제목 슬라이드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6"/>
          <p:cNvSpPr txBox="1">
            <a:spLocks noGrp="1"/>
          </p:cNvSpPr>
          <p:nvPr>
            <p:ph type="ctrTitle"/>
          </p:nvPr>
        </p:nvSpPr>
        <p:spPr>
          <a:xfrm>
            <a:off x="3927564" y="42499"/>
            <a:ext cx="4615545" cy="2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  <a:defRPr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p76"/>
          <p:cNvSpPr txBox="1">
            <a:spLocks noGrp="1"/>
          </p:cNvSpPr>
          <p:nvPr>
            <p:ph type="subTitle" idx="1"/>
          </p:nvPr>
        </p:nvSpPr>
        <p:spPr>
          <a:xfrm>
            <a:off x="3936273" y="252549"/>
            <a:ext cx="4606836" cy="20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1" name="Google Shape;131;p76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76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76"/>
          <p:cNvSpPr txBox="1">
            <a:spLocks noGrp="1"/>
          </p:cNvSpPr>
          <p:nvPr>
            <p:ph type="body" idx="2"/>
          </p:nvPr>
        </p:nvSpPr>
        <p:spPr>
          <a:xfrm>
            <a:off x="9261748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4" name="Google Shape;134;p76"/>
          <p:cNvSpPr txBox="1">
            <a:spLocks noGrp="1"/>
          </p:cNvSpPr>
          <p:nvPr>
            <p:ph type="body" idx="3"/>
          </p:nvPr>
        </p:nvSpPr>
        <p:spPr>
          <a:xfrm>
            <a:off x="9270457" y="260215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5" name="Google Shape;135;p76"/>
          <p:cNvSpPr txBox="1">
            <a:spLocks noGrp="1"/>
          </p:cNvSpPr>
          <p:nvPr>
            <p:ph type="body" idx="4"/>
          </p:nvPr>
        </p:nvSpPr>
        <p:spPr>
          <a:xfrm>
            <a:off x="10872834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6" name="Google Shape;136;p76"/>
          <p:cNvSpPr txBox="1">
            <a:spLocks noGrp="1"/>
          </p:cNvSpPr>
          <p:nvPr>
            <p:ph type="body" idx="5"/>
          </p:nvPr>
        </p:nvSpPr>
        <p:spPr>
          <a:xfrm>
            <a:off x="10881543" y="260215"/>
            <a:ext cx="1310457" cy="20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7" name="Google Shape;137;p76"/>
          <p:cNvSpPr/>
          <p:nvPr/>
        </p:nvSpPr>
        <p:spPr>
          <a:xfrm>
            <a:off x="98125" y="542925"/>
            <a:ext cx="8369599" cy="59816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76"/>
          <p:cNvSpPr txBox="1">
            <a:spLocks noGrp="1"/>
          </p:cNvSpPr>
          <p:nvPr>
            <p:ph type="body" idx="6"/>
          </p:nvPr>
        </p:nvSpPr>
        <p:spPr>
          <a:xfrm>
            <a:off x="2049387" y="251506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제목 슬라이드">
  <p:cSld name="7_제목 슬라이드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7"/>
          <p:cNvSpPr txBox="1">
            <a:spLocks noGrp="1"/>
          </p:cNvSpPr>
          <p:nvPr>
            <p:ph type="ctrTitle"/>
          </p:nvPr>
        </p:nvSpPr>
        <p:spPr>
          <a:xfrm>
            <a:off x="3927564" y="42499"/>
            <a:ext cx="4615545" cy="2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  <a:defRPr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77"/>
          <p:cNvSpPr txBox="1">
            <a:spLocks noGrp="1"/>
          </p:cNvSpPr>
          <p:nvPr>
            <p:ph type="subTitle" idx="1"/>
          </p:nvPr>
        </p:nvSpPr>
        <p:spPr>
          <a:xfrm>
            <a:off x="3936273" y="252549"/>
            <a:ext cx="4606836" cy="20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2" name="Google Shape;142;p77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77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77"/>
          <p:cNvSpPr txBox="1">
            <a:spLocks noGrp="1"/>
          </p:cNvSpPr>
          <p:nvPr>
            <p:ph type="body" idx="2"/>
          </p:nvPr>
        </p:nvSpPr>
        <p:spPr>
          <a:xfrm>
            <a:off x="9261748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5" name="Google Shape;145;p77"/>
          <p:cNvSpPr txBox="1">
            <a:spLocks noGrp="1"/>
          </p:cNvSpPr>
          <p:nvPr>
            <p:ph type="body" idx="3"/>
          </p:nvPr>
        </p:nvSpPr>
        <p:spPr>
          <a:xfrm>
            <a:off x="9270457" y="260215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6" name="Google Shape;146;p77"/>
          <p:cNvSpPr txBox="1">
            <a:spLocks noGrp="1"/>
          </p:cNvSpPr>
          <p:nvPr>
            <p:ph type="body" idx="4"/>
          </p:nvPr>
        </p:nvSpPr>
        <p:spPr>
          <a:xfrm>
            <a:off x="10872834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7" name="Google Shape;147;p77"/>
          <p:cNvSpPr txBox="1">
            <a:spLocks noGrp="1"/>
          </p:cNvSpPr>
          <p:nvPr>
            <p:ph type="body" idx="5"/>
          </p:nvPr>
        </p:nvSpPr>
        <p:spPr>
          <a:xfrm>
            <a:off x="10881543" y="260215"/>
            <a:ext cx="1310457" cy="20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8" name="Google Shape;148;p77"/>
          <p:cNvSpPr txBox="1">
            <a:spLocks noGrp="1"/>
          </p:cNvSpPr>
          <p:nvPr>
            <p:ph type="body" idx="6"/>
          </p:nvPr>
        </p:nvSpPr>
        <p:spPr>
          <a:xfrm>
            <a:off x="2049387" y="251506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9" name="Google Shape;149;p77"/>
          <p:cNvSpPr/>
          <p:nvPr/>
        </p:nvSpPr>
        <p:spPr>
          <a:xfrm>
            <a:off x="98125" y="542925"/>
            <a:ext cx="8369599" cy="59816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77"/>
          <p:cNvSpPr/>
          <p:nvPr/>
        </p:nvSpPr>
        <p:spPr>
          <a:xfrm>
            <a:off x="96093" y="6322042"/>
            <a:ext cx="8371631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페이지 계속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제목 슬라이드">
  <p:cSld name="4_제목 슬라이드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8"/>
          <p:cNvSpPr txBox="1">
            <a:spLocks noGrp="1"/>
          </p:cNvSpPr>
          <p:nvPr>
            <p:ph type="ctrTitle"/>
          </p:nvPr>
        </p:nvSpPr>
        <p:spPr>
          <a:xfrm>
            <a:off x="3927564" y="42499"/>
            <a:ext cx="4615545" cy="2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  <a:defRPr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78"/>
          <p:cNvSpPr txBox="1">
            <a:spLocks noGrp="1"/>
          </p:cNvSpPr>
          <p:nvPr>
            <p:ph type="subTitle" idx="1"/>
          </p:nvPr>
        </p:nvSpPr>
        <p:spPr>
          <a:xfrm>
            <a:off x="3936273" y="252549"/>
            <a:ext cx="4606836" cy="20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54" name="Google Shape;154;p78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78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78"/>
          <p:cNvSpPr txBox="1">
            <a:spLocks noGrp="1"/>
          </p:cNvSpPr>
          <p:nvPr>
            <p:ph type="body" idx="2"/>
          </p:nvPr>
        </p:nvSpPr>
        <p:spPr>
          <a:xfrm>
            <a:off x="9261748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57" name="Google Shape;157;p78"/>
          <p:cNvSpPr txBox="1">
            <a:spLocks noGrp="1"/>
          </p:cNvSpPr>
          <p:nvPr>
            <p:ph type="body" idx="3"/>
          </p:nvPr>
        </p:nvSpPr>
        <p:spPr>
          <a:xfrm>
            <a:off x="9270457" y="260215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58" name="Google Shape;158;p78"/>
          <p:cNvSpPr txBox="1">
            <a:spLocks noGrp="1"/>
          </p:cNvSpPr>
          <p:nvPr>
            <p:ph type="body" idx="4"/>
          </p:nvPr>
        </p:nvSpPr>
        <p:spPr>
          <a:xfrm>
            <a:off x="10872834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59" name="Google Shape;159;p78"/>
          <p:cNvSpPr txBox="1">
            <a:spLocks noGrp="1"/>
          </p:cNvSpPr>
          <p:nvPr>
            <p:ph type="body" idx="5"/>
          </p:nvPr>
        </p:nvSpPr>
        <p:spPr>
          <a:xfrm>
            <a:off x="10881543" y="260215"/>
            <a:ext cx="1310457" cy="20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60" name="Google Shape;160;p78"/>
          <p:cNvSpPr txBox="1">
            <a:spLocks noGrp="1"/>
          </p:cNvSpPr>
          <p:nvPr>
            <p:ph type="body" idx="6"/>
          </p:nvPr>
        </p:nvSpPr>
        <p:spPr>
          <a:xfrm>
            <a:off x="2049387" y="251506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61" name="Google Shape;161;p78"/>
          <p:cNvSpPr/>
          <p:nvPr/>
        </p:nvSpPr>
        <p:spPr>
          <a:xfrm>
            <a:off x="96093" y="538414"/>
            <a:ext cx="8371631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페이지 계속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8"/>
          <p:cNvSpPr/>
          <p:nvPr/>
        </p:nvSpPr>
        <p:spPr>
          <a:xfrm>
            <a:off x="98125" y="542925"/>
            <a:ext cx="8369599" cy="59816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제목 슬라이드">
  <p:cSld name="6_제목 슬라이드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9"/>
          <p:cNvSpPr txBox="1">
            <a:spLocks noGrp="1"/>
          </p:cNvSpPr>
          <p:nvPr>
            <p:ph type="ctrTitle"/>
          </p:nvPr>
        </p:nvSpPr>
        <p:spPr>
          <a:xfrm>
            <a:off x="3927564" y="42499"/>
            <a:ext cx="4615545" cy="2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  <a:defRPr sz="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79"/>
          <p:cNvSpPr txBox="1">
            <a:spLocks noGrp="1"/>
          </p:cNvSpPr>
          <p:nvPr>
            <p:ph type="subTitle" idx="1"/>
          </p:nvPr>
        </p:nvSpPr>
        <p:spPr>
          <a:xfrm>
            <a:off x="3936273" y="252549"/>
            <a:ext cx="4606836" cy="20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66" name="Google Shape;166;p79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7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79"/>
          <p:cNvSpPr txBox="1">
            <a:spLocks noGrp="1"/>
          </p:cNvSpPr>
          <p:nvPr>
            <p:ph type="body" idx="2"/>
          </p:nvPr>
        </p:nvSpPr>
        <p:spPr>
          <a:xfrm>
            <a:off x="9261748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69" name="Google Shape;169;p79"/>
          <p:cNvSpPr txBox="1">
            <a:spLocks noGrp="1"/>
          </p:cNvSpPr>
          <p:nvPr>
            <p:ph type="body" idx="3"/>
          </p:nvPr>
        </p:nvSpPr>
        <p:spPr>
          <a:xfrm>
            <a:off x="9270457" y="260215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70" name="Google Shape;170;p79"/>
          <p:cNvSpPr txBox="1">
            <a:spLocks noGrp="1"/>
          </p:cNvSpPr>
          <p:nvPr>
            <p:ph type="body" idx="4"/>
          </p:nvPr>
        </p:nvSpPr>
        <p:spPr>
          <a:xfrm>
            <a:off x="10872834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71" name="Google Shape;171;p79"/>
          <p:cNvSpPr txBox="1">
            <a:spLocks noGrp="1"/>
          </p:cNvSpPr>
          <p:nvPr>
            <p:ph type="body" idx="5"/>
          </p:nvPr>
        </p:nvSpPr>
        <p:spPr>
          <a:xfrm>
            <a:off x="10881543" y="260215"/>
            <a:ext cx="1310457" cy="20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72" name="Google Shape;172;p79"/>
          <p:cNvSpPr txBox="1">
            <a:spLocks noGrp="1"/>
          </p:cNvSpPr>
          <p:nvPr>
            <p:ph type="body" idx="6"/>
          </p:nvPr>
        </p:nvSpPr>
        <p:spPr>
          <a:xfrm>
            <a:off x="2049387" y="251506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73" name="Google Shape;173;p79"/>
          <p:cNvSpPr/>
          <p:nvPr/>
        </p:nvSpPr>
        <p:spPr>
          <a:xfrm>
            <a:off x="96093" y="538414"/>
            <a:ext cx="8371631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페이지 계속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9"/>
          <p:cNvSpPr/>
          <p:nvPr/>
        </p:nvSpPr>
        <p:spPr>
          <a:xfrm>
            <a:off x="98125" y="542925"/>
            <a:ext cx="8369599" cy="59816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p79"/>
          <p:cNvSpPr/>
          <p:nvPr/>
        </p:nvSpPr>
        <p:spPr>
          <a:xfrm>
            <a:off x="96093" y="6322042"/>
            <a:ext cx="8371631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페이지 계속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79" name="Google Shape;179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80" name="Google Shape;180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8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85" name="Google Shape;185;p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86" name="Google Shape;186;p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8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91" name="Google Shape;191;p8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92" name="Google Shape;192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93" name="Google Shape;193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" name="Google Shape;197;p8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98" name="Google Shape;198;p8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99" name="Google Shape;199;p8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00" name="Google Shape;200;p8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01" name="Google Shape;201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02" name="Google Shape;202;p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" name="Google Shape;206;p8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07" name="Google Shape;207;p8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8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11" name="Google Shape;211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" name="Google Shape;215;p8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16" name="Google Shape;216;p8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17" name="Google Shape;217;p8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18" name="Google Shape;218;p8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" name="Google Shape;222;p8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8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24" name="Google Shape;224;p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25" name="Google Shape;225;p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" name="Google Shape;229;p8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30" name="Google Shape;230;p8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31" name="Google Shape;231;p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" name="Google Shape;235;p8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36" name="Google Shape;236;p8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37" name="Google Shape;237;p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Malgun Gothic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7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67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4" name="Google Shape;74;p67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  <a:def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67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ko-KR" altLang="en-US" sz="800" b="0" i="0" u="none" strike="noStrike" cap="none" dirty="0" err="1" smtClean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프로젝트명</a:t>
            </a:r>
            <a:r>
              <a:rPr lang="en-US" sz="800" b="0" i="0" u="none" strike="noStrike" cap="none" dirty="0" smtClean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8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  Page</a:t>
            </a:r>
            <a:endParaRPr sz="8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76" name="Google Shape;76;p67"/>
          <p:cNvGraphicFramePr/>
          <p:nvPr>
            <p:extLst>
              <p:ext uri="{D42A27DB-BD31-4B8C-83A1-F6EECF244321}">
                <p14:modId xmlns:p14="http://schemas.microsoft.com/office/powerpoint/2010/main" val="1121849410"/>
              </p:ext>
            </p:extLst>
          </p:nvPr>
        </p:nvGraphicFramePr>
        <p:xfrm>
          <a:off x="28779" y="35966"/>
          <a:ext cx="12119700" cy="6556445"/>
        </p:xfrm>
        <a:graphic>
          <a:graphicData uri="http://schemas.openxmlformats.org/drawingml/2006/table">
            <a:tbl>
              <a:tblPr>
                <a:noFill/>
                <a:tableStyleId>{3AE133EE-DB41-4125-A488-5C14177497C7}</a:tableStyleId>
              </a:tblPr>
              <a:tblGrid>
                <a:gridCol w="151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2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2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5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0175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i="0" u="none" strike="noStrike" cap="none" dirty="0" smtClean="0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000</a:t>
                      </a:r>
                      <a:endParaRPr sz="1400" u="none" strike="noStrike" cap="none" dirty="0"/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Project</a:t>
                      </a:r>
                      <a:endParaRPr sz="800" b="1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i="0" u="none" strike="noStrike" cap="none" dirty="0" smtClean="0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000</a:t>
                      </a:r>
                      <a:endParaRPr sz="1400" u="none" strike="noStrike" cap="none" dirty="0"/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Page Name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Device</a:t>
                      </a:r>
                      <a:endParaRPr sz="800" b="1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Writer</a:t>
                      </a:r>
                      <a:endParaRPr sz="800" b="1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Page ID</a:t>
                      </a:r>
                      <a:endParaRPr sz="800" b="1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Page Path</a:t>
                      </a:r>
                      <a:endParaRPr sz="800" b="1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Authority</a:t>
                      </a:r>
                      <a:endParaRPr sz="800" b="1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i="0" u="none" strike="noStrike" cap="non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</a:t>
                      </a:r>
                      <a:endParaRPr sz="800" b="1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2900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i="0" u="none" strike="noStrike" cap="non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i="0" u="none" strike="noStrike" cap="none" dirty="0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000" marR="54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s.statcounter.com/screen-resolution-stats/mobile/asi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"/>
          <p:cNvSpPr txBox="1">
            <a:spLocks noGrp="1"/>
          </p:cNvSpPr>
          <p:nvPr>
            <p:ph type="ctrTitle"/>
          </p:nvPr>
        </p:nvSpPr>
        <p:spPr>
          <a:xfrm>
            <a:off x="420452" y="2150072"/>
            <a:ext cx="11309267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rPr lang="en-US"/>
              <a:t>프로젝트명</a:t>
            </a:r>
            <a:endParaRPr/>
          </a:p>
        </p:txBody>
      </p:sp>
      <p:sp>
        <p:nvSpPr>
          <p:cNvPr id="244" name="Google Shape;244;p1"/>
          <p:cNvSpPr txBox="1">
            <a:spLocks noGrp="1"/>
          </p:cNvSpPr>
          <p:nvPr>
            <p:ph type="subTitle" idx="1"/>
          </p:nvPr>
        </p:nvSpPr>
        <p:spPr>
          <a:xfrm>
            <a:off x="420452" y="2738949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</a:pPr>
            <a:r>
              <a:rPr lang="en-US"/>
              <a:t>UI/UX 화면설계가이드</a:t>
            </a:r>
            <a:endParaRPr/>
          </a:p>
        </p:txBody>
      </p:sp>
      <p:graphicFrame>
        <p:nvGraphicFramePr>
          <p:cNvPr id="245" name="Google Shape;245;p1"/>
          <p:cNvGraphicFramePr/>
          <p:nvPr/>
        </p:nvGraphicFramePr>
        <p:xfrm>
          <a:off x="403035" y="3762741"/>
          <a:ext cx="6080075" cy="1219250"/>
        </p:xfrm>
        <a:graphic>
          <a:graphicData uri="http://schemas.openxmlformats.org/drawingml/2006/table">
            <a:tbl>
              <a:tblPr firstRow="1" bandRow="1">
                <a:noFill/>
                <a:tableStyleId>{86D099D6-B71A-4573-80F2-A8A7518E7D8A}</a:tableStyleId>
              </a:tblPr>
              <a:tblGrid>
                <a:gridCol w="74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문서번호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</a:rPr>
                        <a:t>화면설계가이드_MO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단계기준</a:t>
                      </a:r>
                      <a:endParaRPr sz="10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</a:rPr>
                        <a:t>표준(Standard)</a:t>
                      </a:r>
                      <a:endParaRPr sz="10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업무구분</a:t>
                      </a:r>
                      <a:endParaRPr sz="10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</a:rPr>
                        <a:t>공통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문서버전</a:t>
                      </a:r>
                      <a:endParaRPr sz="10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</a:rPr>
                        <a:t>v.0.1</a:t>
                      </a:r>
                      <a:endParaRPr sz="10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</a:rPr>
                        <a:t>담당부서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</a:rPr>
                        <a:t>UX/UI 팀</a:t>
                      </a:r>
                      <a:endParaRPr sz="10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6" name="Google Shape;246;p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HISTORY OF DOCUMENT</a:t>
            </a:r>
            <a:endParaRPr/>
          </a:p>
        </p:txBody>
      </p:sp>
      <p:sp>
        <p:nvSpPr>
          <p:cNvPr id="252" name="Google Shape;252;p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53" name="Google Shape;253;p2"/>
          <p:cNvGraphicFramePr/>
          <p:nvPr/>
        </p:nvGraphicFramePr>
        <p:xfrm>
          <a:off x="417287" y="814330"/>
          <a:ext cx="11313175" cy="2474720"/>
        </p:xfrm>
        <a:graphic>
          <a:graphicData uri="http://schemas.openxmlformats.org/drawingml/2006/table">
            <a:tbl>
              <a:tblPr>
                <a:noFill/>
                <a:tableStyleId>{3AE133EE-DB41-4125-A488-5C14177497C7}</a:tableStyleId>
              </a:tblPr>
              <a:tblGrid>
                <a:gridCol w="90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Version</a:t>
                      </a:r>
                      <a:endParaRPr sz="1400" u="none" strike="noStrike" cap="none"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9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작성날짜</a:t>
                      </a:r>
                      <a:endParaRPr sz="9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9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확인자</a:t>
                      </a:r>
                      <a:endParaRPr sz="900" b="1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v.0.1</a:t>
                      </a:r>
                      <a:endParaRPr sz="1400" u="none" strike="noStrike" cap="none"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문서작성 완료</a:t>
                      </a:r>
                      <a:endParaRPr sz="1400" u="none" strike="noStrike" cap="none"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2021.04.27</a:t>
                      </a:r>
                      <a:endParaRPr sz="1400" u="none" strike="noStrike" cap="none"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홍길동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홍길동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3"/>
          <p:cNvSpPr txBox="1"/>
          <p:nvPr/>
        </p:nvSpPr>
        <p:spPr>
          <a:xfrm>
            <a:off x="691263" y="1602382"/>
            <a:ext cx="265282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8A"/>
              </a:buClr>
              <a:buSzPts val="4000"/>
              <a:buFont typeface="Malgun Gothic"/>
              <a:buNone/>
            </a:pPr>
            <a:r>
              <a:rPr lang="en-US" sz="4000" b="1" i="0" u="none" strike="noStrike" cap="none">
                <a:solidFill>
                  <a:srgbClr val="00458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"/>
          <p:cNvSpPr txBox="1"/>
          <p:nvPr/>
        </p:nvSpPr>
        <p:spPr>
          <a:xfrm>
            <a:off x="801186" y="2481942"/>
            <a:ext cx="7680960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algun Gothic"/>
              <a:buAutoNum type="arabicPeriod"/>
            </a:pPr>
            <a:r>
              <a:rPr lang="en-US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환경정의</a:t>
            </a:r>
            <a:endParaRPr sz="2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algun Gothic"/>
              <a:buAutoNum type="arabicPeriod"/>
            </a:pPr>
            <a:r>
              <a:rPr lang="en-US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내비게이션</a:t>
            </a:r>
            <a:endParaRPr sz="2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algun Gothic"/>
              <a:buAutoNum type="arabicPeriod"/>
            </a:pPr>
            <a:r>
              <a:rPr lang="en-US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레이아웃</a:t>
            </a:r>
            <a:endParaRPr sz="2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algun Gothic"/>
              <a:buAutoNum type="arabicPeriod"/>
            </a:pPr>
            <a:r>
              <a:rPr lang="en-US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용어정의</a:t>
            </a:r>
            <a:endParaRPr sz="2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algun Gothic"/>
              <a:buAutoNum type="arabicPeriod"/>
            </a:pPr>
            <a:r>
              <a:rPr lang="en-US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UI요소</a:t>
            </a:r>
            <a:endParaRPr sz="2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algun Gothic"/>
              <a:buAutoNum type="arabicPeriod"/>
            </a:pPr>
            <a:r>
              <a:rPr lang="en-US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인터랙션</a:t>
            </a:r>
            <a:endParaRPr sz="2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algun Gothic"/>
              <a:buAutoNum type="arabicPeriod"/>
            </a:pPr>
            <a:r>
              <a:rPr lang="en-US" sz="2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4"/>
          <p:cNvSpPr txBox="1">
            <a:spLocks noGrp="1"/>
          </p:cNvSpPr>
          <p:nvPr>
            <p:ph type="ctrTitle"/>
          </p:nvPr>
        </p:nvSpPr>
        <p:spPr>
          <a:xfrm>
            <a:off x="717391" y="2344464"/>
            <a:ext cx="10671969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rPr lang="en-US"/>
              <a:t>환경정의</a:t>
            </a:r>
            <a:endParaRPr/>
          </a:p>
        </p:txBody>
      </p:sp>
      <p:sp>
        <p:nvSpPr>
          <p:cNvPr id="267" name="Google Shape;267;p4"/>
          <p:cNvSpPr txBox="1"/>
          <p:nvPr/>
        </p:nvSpPr>
        <p:spPr>
          <a:xfrm>
            <a:off x="691264" y="1602382"/>
            <a:ext cx="93723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8A"/>
              </a:buClr>
              <a:buSzPts val="4000"/>
              <a:buFont typeface="Malgun Gothic"/>
              <a:buNone/>
            </a:pPr>
            <a:r>
              <a:rPr lang="en-US" sz="4000" b="1" i="0" u="none" strike="noStrike" cap="none">
                <a:solidFill>
                  <a:srgbClr val="00458A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</a:t>
            </a:r>
            <a:endParaRPr sz="4000" b="1" i="0" u="none" strike="noStrike" cap="none">
              <a:solidFill>
                <a:srgbClr val="0045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p4"/>
          <p:cNvSpPr txBox="1"/>
          <p:nvPr/>
        </p:nvSpPr>
        <p:spPr>
          <a:xfrm>
            <a:off x="801186" y="2995755"/>
            <a:ext cx="768096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화면</a:t>
            </a:r>
            <a:endParaRPr sz="2000" b="1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커버리지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5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모바일 스크린 점유율을 고려하여 최적화한다.</a:t>
            </a:r>
            <a:endParaRPr/>
          </a:p>
        </p:txBody>
      </p:sp>
      <p:sp>
        <p:nvSpPr>
          <p:cNvPr id="275" name="Google Shape;275;p5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1) 사용자 화면 : 해상도</a:t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530942" y="1406662"/>
            <a:ext cx="11085563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스크린 점유율을 기준으로 360*720px기준으로 작업한다.   </a:t>
            </a:r>
            <a:endParaRPr sz="105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7" name="Google Shape;27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8494" y="2583419"/>
            <a:ext cx="6311153" cy="35500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8" name="Google Shape;278;p5"/>
          <p:cNvGraphicFramePr/>
          <p:nvPr/>
        </p:nvGraphicFramePr>
        <p:xfrm>
          <a:off x="7870237" y="2537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{3AE133EE-DB41-4125-A488-5C14177497C7}</a:tableStyleId>
              </a:tblPr>
              <a:tblGrid>
                <a:gridCol w="145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Screen Resolution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Market Share Perc.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360x640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17.14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360x760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6.89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360x780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6.6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360x720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4.72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375x667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4.12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360x800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3.66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414x896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3.58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412x892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3.41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393x851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3.21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414x736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2.9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375x812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2.62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412x846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2.56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412x869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2.05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720x1280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1.88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412x732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1.8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1080x2340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1.76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1080x1920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1.68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412x915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1.51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360x740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1.37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360x772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1.3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Other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25.23</a:t>
                      </a:r>
                      <a:endParaRPr sz="1400" u="none" strike="noStrike" cap="none"/>
                    </a:p>
                  </a:txBody>
                  <a:tcPr marL="6825" marR="6825" marT="6825" marB="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279" name="Google Shape;279;p5"/>
          <p:cNvSpPr/>
          <p:nvPr/>
        </p:nvSpPr>
        <p:spPr>
          <a:xfrm>
            <a:off x="7780588" y="6171763"/>
            <a:ext cx="2814918" cy="202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sng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https://gs.statcounter.com/screen-resolution-stats/mobile/asia</a:t>
            </a: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5" name="Google Shape;285;p6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일관성있는 서비스 구조를 제공하기 위해 아래와 같은 그리드를 적용한다.</a:t>
            </a:r>
            <a:endParaRPr/>
          </a:p>
        </p:txBody>
      </p:sp>
      <p:sp>
        <p:nvSpPr>
          <p:cNvPr id="286" name="Google Shape;286;p6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1) 사용자 화면 : 그리드</a:t>
            </a:r>
            <a:endParaRPr/>
          </a:p>
        </p:txBody>
      </p:sp>
      <p:grpSp>
        <p:nvGrpSpPr>
          <p:cNvPr id="287" name="Google Shape;287;p6"/>
          <p:cNvGrpSpPr/>
          <p:nvPr/>
        </p:nvGrpSpPr>
        <p:grpSpPr>
          <a:xfrm>
            <a:off x="3070217" y="3106143"/>
            <a:ext cx="2690948" cy="3294659"/>
            <a:chOff x="1555181" y="1375954"/>
            <a:chExt cx="2690948" cy="3294659"/>
          </a:xfrm>
        </p:grpSpPr>
        <p:sp>
          <p:nvSpPr>
            <p:cNvPr id="288" name="Google Shape;288;p6"/>
            <p:cNvSpPr/>
            <p:nvPr/>
          </p:nvSpPr>
          <p:spPr>
            <a:xfrm>
              <a:off x="1555181" y="1375955"/>
              <a:ext cx="2690948" cy="329465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89" name="Google Shape;289;p6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290" name="Google Shape;290;p6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1" name="Google Shape;291;p6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92" name="Google Shape;292;p6"/>
          <p:cNvSpPr/>
          <p:nvPr/>
        </p:nvSpPr>
        <p:spPr>
          <a:xfrm>
            <a:off x="530942" y="1406662"/>
            <a:ext cx="11085563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화면 배치를 위한 화면 4단 그리드 배분 원칙을 따른다.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p6"/>
          <p:cNvGrpSpPr/>
          <p:nvPr/>
        </p:nvGrpSpPr>
        <p:grpSpPr>
          <a:xfrm>
            <a:off x="6216829" y="3106143"/>
            <a:ext cx="2690948" cy="3294659"/>
            <a:chOff x="1555181" y="1375954"/>
            <a:chExt cx="2690948" cy="3294659"/>
          </a:xfrm>
        </p:grpSpPr>
        <p:sp>
          <p:nvSpPr>
            <p:cNvPr id="294" name="Google Shape;294;p6"/>
            <p:cNvSpPr/>
            <p:nvPr/>
          </p:nvSpPr>
          <p:spPr>
            <a:xfrm>
              <a:off x="1555181" y="1375954"/>
              <a:ext cx="2690948" cy="329465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95" name="Google Shape;295;p6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296" name="Google Shape;296;p6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7" name="Google Shape;297;p6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98" name="Google Shape;298;p6"/>
          <p:cNvSpPr/>
          <p:nvPr/>
        </p:nvSpPr>
        <p:spPr>
          <a:xfrm>
            <a:off x="3065846" y="2603413"/>
            <a:ext cx="2695319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화면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6216829" y="2603413"/>
            <a:ext cx="2695319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서브 화면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0" name="Google Shape;300;p6"/>
          <p:cNvGraphicFramePr/>
          <p:nvPr/>
        </p:nvGraphicFramePr>
        <p:xfrm>
          <a:off x="3074811" y="332216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{86D099D6-B71A-4573-80F2-A8A7518E7D8A}</a:tableStyleId>
              </a:tblPr>
              <a:tblGrid>
                <a:gridCol w="8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650">
                <a:tc rowSpan="2"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9650">
                <a:tc gridSpan="2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01" name="Google Shape;301;p6"/>
          <p:cNvCxnSpPr/>
          <p:nvPr/>
        </p:nvCxnSpPr>
        <p:spPr>
          <a:xfrm>
            <a:off x="3065846" y="3352800"/>
            <a:ext cx="0" cy="3003177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2" name="Google Shape;302;p6"/>
          <p:cNvCxnSpPr/>
          <p:nvPr/>
        </p:nvCxnSpPr>
        <p:spPr>
          <a:xfrm>
            <a:off x="3971282" y="3352800"/>
            <a:ext cx="0" cy="3003177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3" name="Google Shape;303;p6"/>
          <p:cNvCxnSpPr/>
          <p:nvPr/>
        </p:nvCxnSpPr>
        <p:spPr>
          <a:xfrm>
            <a:off x="4858788" y="3352800"/>
            <a:ext cx="0" cy="3003177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4" name="Google Shape;304;p6"/>
          <p:cNvCxnSpPr/>
          <p:nvPr/>
        </p:nvCxnSpPr>
        <p:spPr>
          <a:xfrm>
            <a:off x="5761164" y="3352800"/>
            <a:ext cx="0" cy="3003177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5" name="Google Shape;305;p6"/>
          <p:cNvSpPr txBox="1"/>
          <p:nvPr/>
        </p:nvSpPr>
        <p:spPr>
          <a:xfrm>
            <a:off x="1456571" y="3352800"/>
            <a:ext cx="145228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sng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3단 그리드 적용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"/>
          <p:cNvSpPr txBox="1"/>
          <p:nvPr/>
        </p:nvSpPr>
        <p:spPr>
          <a:xfrm>
            <a:off x="9085536" y="3352800"/>
            <a:ext cx="145228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sng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4단 그리드 적용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7" name="Google Shape;307;p6"/>
          <p:cNvGraphicFramePr/>
          <p:nvPr/>
        </p:nvGraphicFramePr>
        <p:xfrm>
          <a:off x="6221464" y="33132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{86D099D6-B71A-4573-80F2-A8A7518E7D8A}</a:tableStyleId>
              </a:tblPr>
              <a:tblGrid>
                <a:gridCol w="67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08" name="Google Shape;308;p6"/>
          <p:cNvCxnSpPr/>
          <p:nvPr/>
        </p:nvCxnSpPr>
        <p:spPr>
          <a:xfrm>
            <a:off x="6221464" y="3352800"/>
            <a:ext cx="0" cy="3003177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9" name="Google Shape;309;p6"/>
          <p:cNvCxnSpPr/>
          <p:nvPr/>
        </p:nvCxnSpPr>
        <p:spPr>
          <a:xfrm>
            <a:off x="6893817" y="3352800"/>
            <a:ext cx="0" cy="3003177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0" name="Google Shape;310;p6"/>
          <p:cNvCxnSpPr/>
          <p:nvPr/>
        </p:nvCxnSpPr>
        <p:spPr>
          <a:xfrm>
            <a:off x="7557205" y="3352800"/>
            <a:ext cx="0" cy="3003177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1" name="Google Shape;311;p6"/>
          <p:cNvCxnSpPr/>
          <p:nvPr/>
        </p:nvCxnSpPr>
        <p:spPr>
          <a:xfrm>
            <a:off x="8238522" y="3352800"/>
            <a:ext cx="0" cy="3003177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2" name="Google Shape;312;p6"/>
          <p:cNvCxnSpPr/>
          <p:nvPr/>
        </p:nvCxnSpPr>
        <p:spPr>
          <a:xfrm>
            <a:off x="8907776" y="3352800"/>
            <a:ext cx="0" cy="3003177"/>
          </a:xfrm>
          <a:prstGeom prst="straightConnector1">
            <a:avLst/>
          </a:prstGeom>
          <a:noFill/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7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모바일웹 지원 범위를 규정하여 해당 브라우저에서의 정상 노출 구현한다.</a:t>
            </a:r>
            <a:endParaRPr/>
          </a:p>
        </p:txBody>
      </p:sp>
      <p:sp>
        <p:nvSpPr>
          <p:cNvPr id="319" name="Google Shape;319;p7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2) 서비스 커버리지(1/3)</a:t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530942" y="1406662"/>
            <a:ext cx="11085563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사용자의 90%이상 커버할 수 있도록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지원 범위 대상 브라우저에서는 레이아웃 정상 출력, 입/출력 기능 정상 작동 되도록 지원한다.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대상 브라우저 이외의 브라우저는 레이아웃에 대한 정상 구현을 고려하지 않는다.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1" name="Google Shape;321;p7"/>
          <p:cNvGraphicFramePr/>
          <p:nvPr/>
        </p:nvGraphicFramePr>
        <p:xfrm>
          <a:off x="542004" y="2485962"/>
          <a:ext cx="2948450" cy="3708450"/>
        </p:xfrm>
        <a:graphic>
          <a:graphicData uri="http://schemas.openxmlformats.org/drawingml/2006/table">
            <a:tbl>
              <a:tblPr>
                <a:noFill/>
                <a:tableStyleId>{3AE133EE-DB41-4125-A488-5C14177497C7}</a:tableStyleId>
              </a:tblPr>
              <a:tblGrid>
                <a:gridCol w="161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6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브라우저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점유율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Chrome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71.23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Safari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14.45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Samsung Internet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5.46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UC Browser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4.51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Opera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2.15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QQ Browser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0.59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Puffin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Android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0.19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Whale Browser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0.31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Firefox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0.26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KaiOS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0.28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Yandex Browser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0.13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Edge Legacy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0.07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Unknown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0.02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Coc Coc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0.02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IEMobile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0.01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6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Other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0.02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22" name="Google Shape;322;p7"/>
          <p:cNvSpPr/>
          <p:nvPr/>
        </p:nvSpPr>
        <p:spPr>
          <a:xfrm>
            <a:off x="3736257" y="2684207"/>
            <a:ext cx="216311" cy="625922"/>
          </a:xfrm>
          <a:prstGeom prst="rightBrace">
            <a:avLst>
              <a:gd name="adj1" fmla="val 8333"/>
              <a:gd name="adj2" fmla="val 50567"/>
            </a:avLst>
          </a:prstGeom>
          <a:noFill/>
          <a:ln w="9525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3" name="Google Shape;323;p7"/>
          <p:cNvSpPr txBox="1"/>
          <p:nvPr/>
        </p:nvSpPr>
        <p:spPr>
          <a:xfrm>
            <a:off x="4070554" y="2870210"/>
            <a:ext cx="552572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Chrome, Safari, Samsung Internet 브라우저로 </a:t>
            </a:r>
            <a:r>
              <a:rPr lang="en-US" sz="1050" b="1" i="0" u="none" strike="noStrike" cap="non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91.14% 사용자 지원 </a:t>
            </a:r>
            <a:endParaRPr sz="1050" b="1" i="0" u="none" strike="noStrike" cap="non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4" name="Google Shape;324;p7"/>
          <p:cNvSpPr txBox="1"/>
          <p:nvPr/>
        </p:nvSpPr>
        <p:spPr>
          <a:xfrm>
            <a:off x="430284" y="6250655"/>
            <a:ext cx="343145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: 2021.03 Statcounter.com (Asia)</a:t>
            </a:r>
            <a:endParaRPr sz="105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0" name="Google Shape;330;p8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모바일앱 IOS 지원 범위를 규정하여 해당 OS에서의 정상 노출 구현한다.</a:t>
            </a:r>
            <a:endParaRPr/>
          </a:p>
        </p:txBody>
      </p:sp>
      <p:sp>
        <p:nvSpPr>
          <p:cNvPr id="331" name="Google Shape;331;p8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2) 서비스 커버리지(2/3)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530942" y="1406662"/>
            <a:ext cx="11085563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사용자의 90% 이상 커버할 수 있도록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지원 범위 대상 OS에서는 정상 이용이 가능하도록 지원한다.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지원 범위 대상 OS에서는 레이아웃 정상 출력, 입/출력 기능 정상 작동 되도록 지원한다.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대상 외의 OS는 동작에 대한 정상 구현을 고려하지 않는다.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3" name="Google Shape;333;p8"/>
          <p:cNvGraphicFramePr/>
          <p:nvPr/>
        </p:nvGraphicFramePr>
        <p:xfrm>
          <a:off x="530941" y="2544954"/>
          <a:ext cx="3008675" cy="3236350"/>
        </p:xfrm>
        <a:graphic>
          <a:graphicData uri="http://schemas.openxmlformats.org/drawingml/2006/table">
            <a:tbl>
              <a:tblPr>
                <a:noFill/>
                <a:tableStyleId>{3AE133EE-DB41-4125-A488-5C14177497C7}</a:tableStyleId>
              </a:tblPr>
              <a:tblGrid>
                <a:gridCol w="163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IOS 버전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점유율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IOS 14.xx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74.24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IOS 13.xx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10.46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IOS 12.xx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9.16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IOS 11.xx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2.05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IOS 10.xx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1.81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IOS 9.xx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1.42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IOS 8.xx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0.23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IOS 7.xx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0.39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IOS 6.xx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0.07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IOS 5.xx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IOS 4.xx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0.05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Other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0.02</a:t>
                      </a:r>
                      <a:endParaRPr sz="1400" u="none" strike="noStrike" cap="none"/>
                    </a:p>
                  </a:txBody>
                  <a:tcPr marL="72000" marR="72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34" name="Google Shape;334;p8"/>
          <p:cNvSpPr/>
          <p:nvPr/>
        </p:nvSpPr>
        <p:spPr>
          <a:xfrm>
            <a:off x="3736257" y="2812026"/>
            <a:ext cx="216311" cy="766917"/>
          </a:xfrm>
          <a:prstGeom prst="rightBrace">
            <a:avLst>
              <a:gd name="adj1" fmla="val 8333"/>
              <a:gd name="adj2" fmla="val 50567"/>
            </a:avLst>
          </a:prstGeom>
          <a:noFill/>
          <a:ln w="9525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4070555" y="3077498"/>
            <a:ext cx="343145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iOS 12.xx 까지 </a:t>
            </a:r>
            <a:r>
              <a:rPr lang="en-US" sz="1050" b="1" i="0" u="none" strike="noStrike" cap="non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93.86% 사용자 지원 </a:t>
            </a:r>
            <a:endParaRPr sz="1050" b="1" i="0" u="none" strike="noStrike" cap="non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430284" y="5896693"/>
            <a:ext cx="343145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: 2021.03 Statcounter.com (Asia)</a:t>
            </a:r>
            <a:endParaRPr sz="105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2" name="Google Shape;342;p9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모바일앱 Android 지원 범위를 규정하여 해당 OS에서의 정상 노출 구현한다.</a:t>
            </a:r>
            <a:endParaRPr/>
          </a:p>
        </p:txBody>
      </p:sp>
      <p:sp>
        <p:nvSpPr>
          <p:cNvPr id="343" name="Google Shape;343;p9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2) 서비스 커버리지(3/3)</a:t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530942" y="1406662"/>
            <a:ext cx="11085563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사용자의 90% 이상 커버할 수 있도록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지원 범위 대상 OS에서는 정상 이용이 가능하도록 지원한다.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지원 범위 대상 OS에서는 레이아웃 정상 출력, 입/출력 기능 정상 작동 되도록 지원한다.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대상 외의 OS는 동작에 대한 정상 구현을 고려하지 않는다.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5" name="Google Shape;345;p9"/>
          <p:cNvGraphicFramePr/>
          <p:nvPr/>
        </p:nvGraphicFramePr>
        <p:xfrm>
          <a:off x="530940" y="2433810"/>
          <a:ext cx="3048000" cy="3756575"/>
        </p:xfrm>
        <a:graphic>
          <a:graphicData uri="http://schemas.openxmlformats.org/drawingml/2006/table">
            <a:tbl>
              <a:tblPr>
                <a:noFill/>
                <a:tableStyleId>{3AE133EE-DB41-4125-A488-5C14177497C7}</a:tableStyleId>
              </a:tblPr>
              <a:tblGrid>
                <a:gridCol w="200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안드로이드 버전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점유율</a:t>
                      </a:r>
                      <a:endParaRPr sz="10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Android 11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6.67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Android 10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39.89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9.0 Pie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19.57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8.1 Oreo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11.54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8.0 Oreo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3.57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7.0 Nougat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3.46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7.1 Nougat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3.44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6.0 Marshmallow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6.05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5.1 Lollipop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3.67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5.0 Lollipop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0.69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4.4 KitKat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1.11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4.3 Jelly Bean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0.07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4.2 Jelly Bean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0.17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4.1 Jelly Bean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0.06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4.0 Ice Cream Sandwich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0.01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Other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0.04</a:t>
                      </a:r>
                      <a:endParaRPr sz="1400" u="none" strike="noStrike" cap="none"/>
                    </a:p>
                  </a:txBody>
                  <a:tcPr marL="108000" marR="108000" marT="7625" marB="0" anchor="ctr">
                    <a:lnL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F3F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46" name="Google Shape;346;p9"/>
          <p:cNvSpPr/>
          <p:nvPr/>
        </p:nvSpPr>
        <p:spPr>
          <a:xfrm>
            <a:off x="3736257" y="2664541"/>
            <a:ext cx="226142" cy="1735100"/>
          </a:xfrm>
          <a:prstGeom prst="rightBrace">
            <a:avLst>
              <a:gd name="adj1" fmla="val 8333"/>
              <a:gd name="adj2" fmla="val 50567"/>
            </a:avLst>
          </a:prstGeom>
          <a:noFill/>
          <a:ln w="9525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7" name="Google Shape;347;p9"/>
          <p:cNvSpPr txBox="1"/>
          <p:nvPr/>
        </p:nvSpPr>
        <p:spPr>
          <a:xfrm>
            <a:off x="4070555" y="3431458"/>
            <a:ext cx="343145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6.0 Marshmallow까지 </a:t>
            </a:r>
            <a:r>
              <a:rPr lang="en-US" sz="1050" b="1" i="0" u="none" strike="noStrike" cap="non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94.19% 사용자 지원 </a:t>
            </a:r>
            <a:endParaRPr sz="1050" b="1" i="0" u="none" strike="noStrike" cap="none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8" name="Google Shape;348;p9"/>
          <p:cNvSpPr txBox="1"/>
          <p:nvPr/>
        </p:nvSpPr>
        <p:spPr>
          <a:xfrm>
            <a:off x="430284" y="6250656"/>
            <a:ext cx="343145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: 2021.03 Statcounter.com (Asia)</a:t>
            </a:r>
            <a:endParaRPr sz="105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p10"/>
          <p:cNvSpPr txBox="1">
            <a:spLocks noGrp="1"/>
          </p:cNvSpPr>
          <p:nvPr>
            <p:ph type="ctrTitle"/>
          </p:nvPr>
        </p:nvSpPr>
        <p:spPr>
          <a:xfrm>
            <a:off x="717391" y="2344464"/>
            <a:ext cx="10671969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rPr lang="en-US"/>
              <a:t>내비게이션</a:t>
            </a:r>
            <a:endParaRPr/>
          </a:p>
        </p:txBody>
      </p:sp>
      <p:sp>
        <p:nvSpPr>
          <p:cNvPr id="355" name="Google Shape;355;p10"/>
          <p:cNvSpPr txBox="1"/>
          <p:nvPr/>
        </p:nvSpPr>
        <p:spPr>
          <a:xfrm>
            <a:off x="691264" y="1602382"/>
            <a:ext cx="93723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8A"/>
              </a:buClr>
              <a:buSzPts val="4000"/>
              <a:buFont typeface="Malgun Gothic"/>
              <a:buNone/>
            </a:pPr>
            <a:r>
              <a:rPr lang="en-US" sz="4000" b="1" i="0" u="none" strike="noStrike" cap="none">
                <a:solidFill>
                  <a:srgbClr val="00458A"/>
                </a:solidFill>
                <a:latin typeface="Malgun Gothic"/>
                <a:ea typeface="Malgun Gothic"/>
                <a:cs typeface="Malgun Gothic"/>
                <a:sym typeface="Malgun Gothic"/>
              </a:rPr>
              <a:t>02.</a:t>
            </a:r>
            <a:endParaRPr sz="4000" b="1" i="0" u="none" strike="noStrike" cap="none">
              <a:solidFill>
                <a:srgbClr val="0045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801186" y="2995755"/>
            <a:ext cx="76809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정보구조</a:t>
            </a:r>
            <a:endParaRPr sz="2000" b="1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메뉴</a:t>
            </a:r>
            <a:endParaRPr sz="2000" b="1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경로이동</a:t>
            </a:r>
            <a:endParaRPr sz="2000" b="1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p11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정보구조는 화면 단위로 구성하며 화면 간의 상/하위 구조와 화면의 기능 및 속성을 규정하여 표시한다.</a:t>
            </a:r>
            <a:endParaRPr/>
          </a:p>
        </p:txBody>
      </p:sp>
      <p:sp>
        <p:nvSpPr>
          <p:cNvPr id="363" name="Google Shape;363;p11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1) 정보구조</a:t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530942" y="1406662"/>
            <a:ext cx="11085563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정보구조는 화면 단위로 구성한다. 화면은 공통 영역의 화면과의 조합으로 구성하거나 단일 화면으로 구성된다.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조합으로 구성하는 화면은 공통 영역(GNB, 유틸리티, Footer 등)을 제외한 부분 영역을 해당 화면의 영역으로 본다.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팝업창의 경우 단일 화면으로 완결 구성 가능하다.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화면은 규칙에 맞게 화면 ID 를 부여하여 해당 화면의 속성과 위상을 파악할 수 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095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65" name="Google Shape;365;p11"/>
          <p:cNvGraphicFramePr/>
          <p:nvPr/>
        </p:nvGraphicFramePr>
        <p:xfrm>
          <a:off x="536433" y="2433810"/>
          <a:ext cx="11080075" cy="3327875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132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기준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정보구조는 화면 단위로 구성한다.</a:t>
                      </a:r>
                      <a:endParaRPr sz="1400" u="none" strike="noStrike" cap="none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/>
                        <a:t>화면은 단일 화면으로 완결 구성할 수 있다.(팝업)</a:t>
                      </a:r>
                      <a:endParaRPr sz="1400" u="none" strike="noStrike" cap="none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/>
                        <a:t>하나의 화면은 화면의 일부를 다른 화면과 조합하여 구성할 수 있다.(공통 영역인 GNB, 유틸리티, Footer 등이 조합되어 작성되는 본 창)</a:t>
                      </a:r>
                      <a:endParaRPr sz="1400" u="none" strike="noStrike" cap="none"/>
                    </a:p>
                    <a:p>
                      <a:pPr marL="177800" marR="0" lvl="0" indent="-177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/>
                        <a:t>조합으로 구성되는 본 창은 공통 영역을 제외한 영역이 해당 화면의 영역이다.</a:t>
                      </a:r>
                      <a:endParaRPr sz="1400" u="none" strike="noStrike" cap="none"/>
                    </a:p>
                    <a:p>
                      <a:pPr marL="177800" marR="0" lvl="0" indent="-177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/>
                        <a:t>기능에 의해 종속관계를 가지는 화면들은 그룹핑한다.</a:t>
                      </a:r>
                      <a:endParaRPr sz="1400" u="none" strike="noStrike" cap="none"/>
                    </a:p>
                    <a:p>
                      <a:pPr marL="177800" marR="0" lvl="0" indent="-177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/>
                        <a:t>그룹핑하여 표시할 경우 Level 을 부여하여 상/하위 구조를 파악할 수 있도록 한다.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모듈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화면의 기능 소속 구분을 위해 모듈 기준으로 표시한다. ex) 회원, 상품, 이벤트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Level</a:t>
                      </a:r>
                      <a:endParaRPr sz="10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정보의 상/하위 구조는 Level 로 구분하여 표시한다. ex) 1Level 은 해당 기능의 첫 화면, 2Level은 1Level 의 하위 화면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Code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동일 Level 에서 분기하는 화면이 있는 경우, 나열된 화면을 구분할 수 있도록 코드를 부여한다.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이 코드는 화면 ID 에 반영하여 화면의 구분과 Level 파악이 가능하도록 한다.</a:t>
                      </a:r>
                      <a:endParaRPr sz="10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유형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화면의 유형을 구분하여 표시한다.</a:t>
                      </a:r>
                      <a:endParaRPr sz="1400" u="none" strike="noStrike" cap="none"/>
                    </a:p>
                    <a:p>
                      <a:pPr marL="177800" marR="0" lvl="0" indent="-177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/>
                        <a:t>Page : 본 창의 화면</a:t>
                      </a:r>
                      <a:endParaRPr sz="1000" u="none" strike="noStrike" cap="none"/>
                    </a:p>
                    <a:p>
                      <a:pPr marL="177800" marR="0" lvl="0" indent="-177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algun Gothic"/>
                        <a:buChar char="-"/>
                      </a:pPr>
                      <a:r>
                        <a:rPr lang="en-US" sz="1000" u="none" strike="noStrike" cap="none"/>
                        <a:t>Layer pop-up : 레이어 팝업으로 호출된 부속 창 (레이어 팝업 구분 코드는 L 적용, 단 P 사용도 허용)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/>
                        <a:t>화면 ID</a:t>
                      </a:r>
                      <a:endParaRPr sz="10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/>
                        <a:t>전 화면에 대해 해당 화면의 Level 과 모듈을 파악할 수 있도록 Level 별로 부여된 코드를 순차적으로 부여하여 화면의 고유번호를 배정한다.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p12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GNB 메뉴 수는 George Miller의 단기 기억 용량 논문을 참고하여 ‘7+2‘ 개를 벗어 나지 않도록 한다.</a:t>
            </a:r>
            <a:endParaRPr/>
          </a:p>
        </p:txBody>
      </p:sp>
      <p:sp>
        <p:nvSpPr>
          <p:cNvPr id="372" name="Google Shape;372;p1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2) 메뉴</a:t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530942" y="1406662"/>
            <a:ext cx="11085563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GNB 이외의 메뉴도 최대 9개를 초과하지 않도록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내차 팔기, 중고차 구매 등 종합적 오퍼링을 최우선 관심영역에 배치한다.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신규고객을 위한 고객센터, 안내 가이드 등 온라인 중심의 서비스를 2차 관심 영역 배치한다.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5464434" y="2654869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7031857" y="3303798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중고차시세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3885535" y="3303798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내차판매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2312374" y="3303798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10178179" y="3303798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ABOUT </a:t>
            </a:r>
            <a:r>
              <a:rPr lang="en-US" sz="1000" b="1" i="0" u="none" strike="noStrike" cap="none" dirty="0" smtClean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000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8605018" y="3303798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중고차 연구소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739213" y="3303798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내차구매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5458696" y="3303798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신차교환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739213" y="3805243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온라인 전시장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739213" y="4247220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라이브 커머스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739213" y="4698714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기획전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8605018" y="3805243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중고차 지식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8605018" y="4247220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트렌드 리포트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8605018" y="4698714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 리뷰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12"/>
          <p:cNvCxnSpPr>
            <a:stCxn id="380" idx="0"/>
            <a:endCxn id="374" idx="2"/>
          </p:cNvCxnSpPr>
          <p:nvPr/>
        </p:nvCxnSpPr>
        <p:spPr>
          <a:xfrm rot="-5400000">
            <a:off x="3552654" y="786348"/>
            <a:ext cx="309600" cy="4725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9" name="Google Shape;389;p12"/>
          <p:cNvCxnSpPr>
            <a:stCxn id="377" idx="0"/>
            <a:endCxn id="374" idx="2"/>
          </p:cNvCxnSpPr>
          <p:nvPr/>
        </p:nvCxnSpPr>
        <p:spPr>
          <a:xfrm rot="-5400000">
            <a:off x="4339215" y="1572948"/>
            <a:ext cx="309600" cy="3152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0" name="Google Shape;390;p12"/>
          <p:cNvCxnSpPr>
            <a:stCxn id="376" idx="0"/>
            <a:endCxn id="374" idx="2"/>
          </p:cNvCxnSpPr>
          <p:nvPr/>
        </p:nvCxnSpPr>
        <p:spPr>
          <a:xfrm rot="-5400000">
            <a:off x="5125776" y="2359548"/>
            <a:ext cx="309600" cy="1578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1" name="Google Shape;391;p12"/>
          <p:cNvCxnSpPr>
            <a:stCxn id="374" idx="2"/>
            <a:endCxn id="381" idx="0"/>
          </p:cNvCxnSpPr>
          <p:nvPr/>
        </p:nvCxnSpPr>
        <p:spPr>
          <a:xfrm flipH="1">
            <a:off x="6064325" y="2994127"/>
            <a:ext cx="5700" cy="3096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2" name="Google Shape;392;p12"/>
          <p:cNvCxnSpPr>
            <a:stCxn id="375" idx="0"/>
            <a:endCxn id="374" idx="2"/>
          </p:cNvCxnSpPr>
          <p:nvPr/>
        </p:nvCxnSpPr>
        <p:spPr>
          <a:xfrm rot="5400000" flipH="1">
            <a:off x="6698898" y="2365248"/>
            <a:ext cx="309600" cy="1567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3" name="Google Shape;393;p12"/>
          <p:cNvCxnSpPr>
            <a:stCxn id="379" idx="0"/>
            <a:endCxn id="374" idx="2"/>
          </p:cNvCxnSpPr>
          <p:nvPr/>
        </p:nvCxnSpPr>
        <p:spPr>
          <a:xfrm rot="5400000" flipH="1">
            <a:off x="7485459" y="1578648"/>
            <a:ext cx="309600" cy="31407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4" name="Google Shape;394;p12"/>
          <p:cNvCxnSpPr>
            <a:stCxn id="378" idx="0"/>
            <a:endCxn id="374" idx="2"/>
          </p:cNvCxnSpPr>
          <p:nvPr/>
        </p:nvCxnSpPr>
        <p:spPr>
          <a:xfrm rot="5400000" flipH="1">
            <a:off x="8272170" y="792198"/>
            <a:ext cx="309600" cy="4713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5" name="Google Shape;395;p12"/>
          <p:cNvSpPr/>
          <p:nvPr/>
        </p:nvSpPr>
        <p:spPr>
          <a:xfrm>
            <a:off x="739213" y="5147000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BEST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739213" y="5598494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HOT DEAL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2312374" y="3805243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3885535" y="3805243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개인차 판매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3885535" y="4247220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법인차 판매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5458696" y="3805243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개인차 교환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5458696" y="4247220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법인차 교환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10178180" y="3805243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보증서비스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10178180" y="4247220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홈서비스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10178180" y="4698714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환불정책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10178180" y="5147000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거점안내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6" name="Google Shape;406;p12"/>
          <p:cNvSpPr txBox="1"/>
          <p:nvPr/>
        </p:nvSpPr>
        <p:spPr>
          <a:xfrm>
            <a:off x="9129929" y="6224722"/>
            <a:ext cx="24865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가이드를 위한 도식으로 변경될 수 있음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2" name="Google Shape;412;p13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사용자의 동선을 고려해 원하는 정보를 쉽게 찾을 수 있도록 메뉴를 배치한다.</a:t>
            </a:r>
            <a:endParaRPr/>
          </a:p>
        </p:txBody>
      </p:sp>
      <p:sp>
        <p:nvSpPr>
          <p:cNvPr id="413" name="Google Shape;413;p13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3) 경로이동</a:t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530942" y="1406662"/>
            <a:ext cx="11085563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Trade-In의 동선은 Aware, Discover, Evaluate, Decide, Use, Advocate로 구성되며 Purchase와 일관성을 유지한다.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기능을 수행하는 단계는 메뉴로 표현하지 않는다.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기능을 수행 시 동일 키워드를 사용하여 서비스 인지를 용이하게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5" name="Google Shape;415;p13"/>
          <p:cNvGrpSpPr/>
          <p:nvPr/>
        </p:nvGrpSpPr>
        <p:grpSpPr>
          <a:xfrm>
            <a:off x="525601" y="2544954"/>
            <a:ext cx="11090903" cy="2739345"/>
            <a:chOff x="407617" y="3334318"/>
            <a:chExt cx="11368985" cy="2808029"/>
          </a:xfrm>
        </p:grpSpPr>
        <p:cxnSp>
          <p:nvCxnSpPr>
            <p:cNvPr id="416" name="Google Shape;416;p13"/>
            <p:cNvCxnSpPr>
              <a:stCxn id="417" idx="3"/>
              <a:endCxn id="418" idx="1"/>
            </p:cNvCxnSpPr>
            <p:nvPr/>
          </p:nvCxnSpPr>
          <p:spPr>
            <a:xfrm rot="10800000" flipH="1">
              <a:off x="2059048" y="3787714"/>
              <a:ext cx="9372300" cy="3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419" name="Google Shape;419;p13"/>
            <p:cNvSpPr/>
            <p:nvPr/>
          </p:nvSpPr>
          <p:spPr>
            <a:xfrm>
              <a:off x="1341119" y="3334318"/>
              <a:ext cx="10429118" cy="272885"/>
            </a:xfrm>
            <a:prstGeom prst="rect">
              <a:avLst/>
            </a:prstGeom>
            <a:solidFill>
              <a:srgbClr val="BFBFBF">
                <a:alpha val="18431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endParaRPr sz="1200" b="1" i="1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415285" y="3334318"/>
              <a:ext cx="1106702" cy="272885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endParaRPr sz="1200" b="1" i="1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1" name="Google Shape;421;p13"/>
            <p:cNvSpPr txBox="1"/>
            <p:nvPr/>
          </p:nvSpPr>
          <p:spPr>
            <a:xfrm>
              <a:off x="415285" y="3378428"/>
              <a:ext cx="1005509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r>
                <a:rPr lang="en-US" sz="1200" b="1" i="1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Trade-In</a:t>
              </a:r>
              <a:endParaRPr sz="1200" b="1" i="1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2" name="Google Shape;422;p13"/>
            <p:cNvSpPr txBox="1"/>
            <p:nvPr/>
          </p:nvSpPr>
          <p:spPr>
            <a:xfrm>
              <a:off x="482622" y="3930498"/>
              <a:ext cx="9530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Basic </a:t>
              </a:r>
              <a:b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Journey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3"/>
            <p:cNvSpPr txBox="1"/>
            <p:nvPr/>
          </p:nvSpPr>
          <p:spPr>
            <a:xfrm>
              <a:off x="482622" y="5306253"/>
              <a:ext cx="9530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Supporting</a:t>
              </a:r>
              <a:b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Task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4" name="Google Shape;424;p13"/>
            <p:cNvGrpSpPr/>
            <p:nvPr/>
          </p:nvGrpSpPr>
          <p:grpSpPr>
            <a:xfrm>
              <a:off x="1504795" y="3336759"/>
              <a:ext cx="9168740" cy="2805588"/>
              <a:chOff x="1504795" y="954837"/>
              <a:chExt cx="9168740" cy="5431850"/>
            </a:xfrm>
          </p:grpSpPr>
          <p:cxnSp>
            <p:nvCxnSpPr>
              <p:cNvPr id="425" name="Google Shape;425;p13"/>
              <p:cNvCxnSpPr/>
              <p:nvPr/>
            </p:nvCxnSpPr>
            <p:spPr>
              <a:xfrm flipH="1">
                <a:off x="1504795" y="954837"/>
                <a:ext cx="1" cy="543185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426" name="Google Shape;426;p13"/>
              <p:cNvGrpSpPr/>
              <p:nvPr/>
            </p:nvGrpSpPr>
            <p:grpSpPr>
              <a:xfrm>
                <a:off x="2718155" y="957527"/>
                <a:ext cx="7955380" cy="5429160"/>
                <a:chOff x="2718155" y="792654"/>
                <a:chExt cx="7955380" cy="5429160"/>
              </a:xfrm>
            </p:grpSpPr>
            <p:cxnSp>
              <p:nvCxnSpPr>
                <p:cNvPr id="427" name="Google Shape;427;p13"/>
                <p:cNvCxnSpPr/>
                <p:nvPr/>
              </p:nvCxnSpPr>
              <p:spPr>
                <a:xfrm flipH="1">
                  <a:off x="10673534" y="792654"/>
                  <a:ext cx="1" cy="542916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dot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428" name="Google Shape;428;p13"/>
                <p:cNvCxnSpPr/>
                <p:nvPr/>
              </p:nvCxnSpPr>
              <p:spPr>
                <a:xfrm flipH="1">
                  <a:off x="8702969" y="792654"/>
                  <a:ext cx="1" cy="542916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dot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429" name="Google Shape;429;p13"/>
                <p:cNvCxnSpPr/>
                <p:nvPr/>
              </p:nvCxnSpPr>
              <p:spPr>
                <a:xfrm flipH="1">
                  <a:off x="2718155" y="792654"/>
                  <a:ext cx="1" cy="542916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dot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430" name="Google Shape;430;p13"/>
                <p:cNvCxnSpPr/>
                <p:nvPr/>
              </p:nvCxnSpPr>
              <p:spPr>
                <a:xfrm flipH="1">
                  <a:off x="4777584" y="792654"/>
                  <a:ext cx="1" cy="542916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dot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431" name="Google Shape;431;p13"/>
                <p:cNvCxnSpPr/>
                <p:nvPr/>
              </p:nvCxnSpPr>
              <p:spPr>
                <a:xfrm flipH="1">
                  <a:off x="6086156" y="792654"/>
                  <a:ext cx="1" cy="542916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dot"/>
                  <a:round/>
                  <a:headEnd type="none" w="sm" len="sm"/>
                  <a:tailEnd type="none" w="sm" len="sm"/>
                </a:ln>
              </p:spPr>
            </p:cxnSp>
          </p:grpSp>
        </p:grpSp>
        <p:cxnSp>
          <p:nvCxnSpPr>
            <p:cNvPr id="432" name="Google Shape;432;p13"/>
            <p:cNvCxnSpPr/>
            <p:nvPr/>
          </p:nvCxnSpPr>
          <p:spPr>
            <a:xfrm>
              <a:off x="407617" y="4697535"/>
              <a:ext cx="11368985" cy="1"/>
            </a:xfrm>
            <a:prstGeom prst="straightConnector1">
              <a:avLst/>
            </a:prstGeom>
            <a:noFill/>
            <a:ln w="9525" cap="flat" cmpd="sng">
              <a:solidFill>
                <a:srgbClr val="606060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433" name="Google Shape;433;p13"/>
            <p:cNvCxnSpPr/>
            <p:nvPr/>
          </p:nvCxnSpPr>
          <p:spPr>
            <a:xfrm>
              <a:off x="407617" y="6134773"/>
              <a:ext cx="11368985" cy="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34" name="Google Shape;434;p13"/>
            <p:cNvSpPr txBox="1"/>
            <p:nvPr/>
          </p:nvSpPr>
          <p:spPr>
            <a:xfrm>
              <a:off x="1608250" y="3358366"/>
              <a:ext cx="1017513" cy="1892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Aware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3"/>
            <p:cNvSpPr txBox="1"/>
            <p:nvPr/>
          </p:nvSpPr>
          <p:spPr>
            <a:xfrm>
              <a:off x="3239204" y="3358366"/>
              <a:ext cx="998183" cy="1892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Discover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3"/>
            <p:cNvSpPr txBox="1"/>
            <p:nvPr/>
          </p:nvSpPr>
          <p:spPr>
            <a:xfrm>
              <a:off x="6906041" y="3358366"/>
              <a:ext cx="977045" cy="1892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Decide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3"/>
            <p:cNvSpPr txBox="1"/>
            <p:nvPr/>
          </p:nvSpPr>
          <p:spPr>
            <a:xfrm>
              <a:off x="9187026" y="3358366"/>
              <a:ext cx="1017513" cy="1892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3"/>
            <p:cNvSpPr txBox="1"/>
            <p:nvPr/>
          </p:nvSpPr>
          <p:spPr>
            <a:xfrm>
              <a:off x="10724853" y="3358366"/>
              <a:ext cx="1017513" cy="1892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Advocate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3"/>
            <p:cNvSpPr txBox="1"/>
            <p:nvPr/>
          </p:nvSpPr>
          <p:spPr>
            <a:xfrm>
              <a:off x="4957621" y="3358366"/>
              <a:ext cx="977045" cy="1892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0" name="Google Shape;440;p13"/>
            <p:cNvGrpSpPr/>
            <p:nvPr/>
          </p:nvGrpSpPr>
          <p:grpSpPr>
            <a:xfrm>
              <a:off x="1563842" y="4815114"/>
              <a:ext cx="772648" cy="692077"/>
              <a:chOff x="1563842" y="2461768"/>
              <a:chExt cx="772648" cy="692077"/>
            </a:xfrm>
          </p:grpSpPr>
          <p:pic>
            <p:nvPicPr>
              <p:cNvPr id="441" name="Google Shape;441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42166" y="2461768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2" name="Google Shape;442;p13"/>
              <p:cNvSpPr txBox="1"/>
              <p:nvPr/>
            </p:nvSpPr>
            <p:spPr>
              <a:xfrm>
                <a:off x="1563842" y="2738347"/>
                <a:ext cx="772648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신차매장 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방문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443" name="Google Shape;443;p13"/>
            <p:cNvGrpSpPr/>
            <p:nvPr/>
          </p:nvGrpSpPr>
          <p:grpSpPr>
            <a:xfrm>
              <a:off x="1584761" y="3683013"/>
              <a:ext cx="732573" cy="692076"/>
              <a:chOff x="1584761" y="1329667"/>
              <a:chExt cx="732573" cy="692076"/>
            </a:xfrm>
          </p:grpSpPr>
          <p:pic>
            <p:nvPicPr>
              <p:cNvPr id="417" name="Google Shape;417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43047" y="1329667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4" name="Google Shape;444;p13"/>
              <p:cNvSpPr txBox="1"/>
              <p:nvPr/>
            </p:nvSpPr>
            <p:spPr>
              <a:xfrm>
                <a:off x="1584761" y="1606245"/>
                <a:ext cx="732573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신차사이트 내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Trade-in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선택</a:t>
                </a:r>
                <a:endParaRPr sz="900" b="1" i="0" u="none" strike="noStrike" cap="none">
                  <a:solidFill>
                    <a:srgbClr val="008CF2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45" name="Google Shape;445;p13" descr="그림 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11203" y="3683013"/>
              <a:ext cx="216001" cy="216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13"/>
            <p:cNvSpPr txBox="1"/>
            <p:nvPr/>
          </p:nvSpPr>
          <p:spPr>
            <a:xfrm>
              <a:off x="2852780" y="3959591"/>
              <a:ext cx="309310" cy="287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C30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플랫폼</a:t>
              </a:r>
              <a:br>
                <a:rPr lang="en-US"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진입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7" name="Google Shape;447;p13" descr="그림 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229855" y="3683013"/>
              <a:ext cx="216001" cy="216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13"/>
            <p:cNvSpPr txBox="1"/>
            <p:nvPr/>
          </p:nvSpPr>
          <p:spPr>
            <a:xfrm>
              <a:off x="6220866" y="3959591"/>
              <a:ext cx="210440" cy="287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C30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매각</a:t>
              </a:r>
              <a:br>
                <a:rPr lang="en-US"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9" name="Google Shape;449;p13"/>
            <p:cNvGrpSpPr/>
            <p:nvPr/>
          </p:nvGrpSpPr>
          <p:grpSpPr>
            <a:xfrm>
              <a:off x="9205221" y="4815114"/>
              <a:ext cx="408179" cy="447302"/>
              <a:chOff x="9452655" y="1120197"/>
              <a:chExt cx="408179" cy="447302"/>
            </a:xfrm>
          </p:grpSpPr>
          <p:pic>
            <p:nvPicPr>
              <p:cNvPr id="450" name="Google Shape;450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548744" y="1120197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1" name="Google Shape;451;p13"/>
              <p:cNvSpPr txBox="1"/>
              <p:nvPr/>
            </p:nvSpPr>
            <p:spPr>
              <a:xfrm>
                <a:off x="9452655" y="1427798"/>
                <a:ext cx="408179" cy="1397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홈서비스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18" name="Google Shape;418;p13" descr="그림 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431263" y="3679772"/>
              <a:ext cx="216001" cy="2160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13"/>
            <p:cNvSpPr txBox="1"/>
            <p:nvPr/>
          </p:nvSpPr>
          <p:spPr>
            <a:xfrm>
              <a:off x="11288885" y="3956350"/>
              <a:ext cx="477215" cy="287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C30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SNS 통한</a:t>
              </a:r>
              <a:br>
                <a:rPr lang="en-US"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지인공유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3" name="Google Shape;453;p13"/>
            <p:cNvGrpSpPr/>
            <p:nvPr/>
          </p:nvGrpSpPr>
          <p:grpSpPr>
            <a:xfrm>
              <a:off x="10227645" y="3700555"/>
              <a:ext cx="461665" cy="503252"/>
              <a:chOff x="10199467" y="1329667"/>
              <a:chExt cx="461665" cy="553577"/>
            </a:xfrm>
          </p:grpSpPr>
          <p:pic>
            <p:nvPicPr>
              <p:cNvPr id="454" name="Google Shape;454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334072" y="1329667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5" name="Google Shape;455;p13"/>
              <p:cNvSpPr txBox="1"/>
              <p:nvPr/>
            </p:nvSpPr>
            <p:spPr>
              <a:xfrm>
                <a:off x="10199467" y="1606245"/>
                <a:ext cx="4616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신차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프로세스</a:t>
                </a:r>
                <a:endParaRPr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456" name="Google Shape;456;p13"/>
            <p:cNvGrpSpPr/>
            <p:nvPr/>
          </p:nvGrpSpPr>
          <p:grpSpPr>
            <a:xfrm>
              <a:off x="7157937" y="3683374"/>
              <a:ext cx="577082" cy="553577"/>
              <a:chOff x="7267049" y="1330028"/>
              <a:chExt cx="577082" cy="553577"/>
            </a:xfrm>
          </p:grpSpPr>
          <p:pic>
            <p:nvPicPr>
              <p:cNvPr id="457" name="Google Shape;457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447590" y="1330028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8" name="Google Shape;458;p13"/>
              <p:cNvSpPr txBox="1"/>
              <p:nvPr/>
            </p:nvSpPr>
            <p:spPr>
              <a:xfrm>
                <a:off x="7267049" y="1606606"/>
                <a:ext cx="57708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탁송비포함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가격확정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459" name="Google Shape;459;p13"/>
            <p:cNvGrpSpPr/>
            <p:nvPr/>
          </p:nvGrpSpPr>
          <p:grpSpPr>
            <a:xfrm>
              <a:off x="6594716" y="4815114"/>
              <a:ext cx="512962" cy="549078"/>
              <a:chOff x="6886300" y="3143553"/>
              <a:chExt cx="512962" cy="549078"/>
            </a:xfrm>
          </p:grpSpPr>
          <p:pic>
            <p:nvPicPr>
              <p:cNvPr id="460" name="Google Shape;460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046551" y="3143553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1" name="Google Shape;461;p13"/>
              <p:cNvSpPr txBox="1"/>
              <p:nvPr/>
            </p:nvSpPr>
            <p:spPr>
              <a:xfrm>
                <a:off x="6886300" y="3415632"/>
                <a:ext cx="51296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인도여부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/일정선택</a:t>
                </a:r>
                <a:endParaRPr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462" name="Google Shape;462;p13"/>
            <p:cNvCxnSpPr>
              <a:stCxn id="417" idx="3"/>
              <a:endCxn id="445" idx="1"/>
            </p:cNvCxnSpPr>
            <p:nvPr/>
          </p:nvCxnSpPr>
          <p:spPr>
            <a:xfrm>
              <a:off x="2059048" y="3791014"/>
              <a:ext cx="852300" cy="0"/>
            </a:xfrm>
            <a:prstGeom prst="straightConnector1">
              <a:avLst/>
            </a:prstGeom>
            <a:noFill/>
            <a:ln w="57150" cap="rnd" cmpd="sng">
              <a:solidFill>
                <a:srgbClr val="008CF2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3" name="Google Shape;463;p13"/>
            <p:cNvCxnSpPr>
              <a:stCxn id="445" idx="3"/>
              <a:endCxn id="447" idx="1"/>
            </p:cNvCxnSpPr>
            <p:nvPr/>
          </p:nvCxnSpPr>
          <p:spPr>
            <a:xfrm>
              <a:off x="3127204" y="3791014"/>
              <a:ext cx="3102600" cy="0"/>
            </a:xfrm>
            <a:prstGeom prst="straightConnector1">
              <a:avLst/>
            </a:prstGeom>
            <a:noFill/>
            <a:ln w="57150" cap="rnd" cmpd="sng">
              <a:solidFill>
                <a:srgbClr val="008CF2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4" name="Google Shape;464;p13"/>
            <p:cNvCxnSpPr>
              <a:stCxn id="447" idx="3"/>
              <a:endCxn id="457" idx="1"/>
            </p:cNvCxnSpPr>
            <p:nvPr/>
          </p:nvCxnSpPr>
          <p:spPr>
            <a:xfrm>
              <a:off x="6445856" y="3791014"/>
              <a:ext cx="892500" cy="300"/>
            </a:xfrm>
            <a:prstGeom prst="straightConnector1">
              <a:avLst/>
            </a:prstGeom>
            <a:noFill/>
            <a:ln w="57150" cap="rnd" cmpd="sng">
              <a:solidFill>
                <a:srgbClr val="008CF2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5" name="Google Shape;465;p13"/>
            <p:cNvCxnSpPr>
              <a:stCxn id="466" idx="1"/>
              <a:endCxn id="457" idx="3"/>
            </p:cNvCxnSpPr>
            <p:nvPr/>
          </p:nvCxnSpPr>
          <p:spPr>
            <a:xfrm rot="10800000">
              <a:off x="7554330" y="3791375"/>
              <a:ext cx="1266900" cy="0"/>
            </a:xfrm>
            <a:prstGeom prst="straightConnector1">
              <a:avLst/>
            </a:prstGeom>
            <a:noFill/>
            <a:ln w="57150" cap="rnd" cmpd="sng">
              <a:solidFill>
                <a:srgbClr val="008CF2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467" name="Google Shape;467;p13"/>
            <p:cNvGrpSpPr/>
            <p:nvPr/>
          </p:nvGrpSpPr>
          <p:grpSpPr>
            <a:xfrm>
              <a:off x="9205221" y="3683374"/>
              <a:ext cx="408179" cy="574761"/>
              <a:chOff x="9477459" y="2252298"/>
              <a:chExt cx="408179" cy="574761"/>
            </a:xfrm>
          </p:grpSpPr>
          <p:sp>
            <p:nvSpPr>
              <p:cNvPr id="468" name="Google Shape;468;p13"/>
              <p:cNvSpPr txBox="1"/>
              <p:nvPr/>
            </p:nvSpPr>
            <p:spPr>
              <a:xfrm>
                <a:off x="9477459" y="2539655"/>
                <a:ext cx="408179" cy="287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현장방문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차량매각</a:t>
                </a:r>
                <a:endParaRPr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69" name="Google Shape;469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573548" y="2252298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0" name="Google Shape;470;p13"/>
            <p:cNvGrpSpPr/>
            <p:nvPr/>
          </p:nvGrpSpPr>
          <p:grpSpPr>
            <a:xfrm>
              <a:off x="8773411" y="3683374"/>
              <a:ext cx="309310" cy="711685"/>
              <a:chOff x="8814397" y="1330028"/>
              <a:chExt cx="309310" cy="711685"/>
            </a:xfrm>
          </p:grpSpPr>
          <p:sp>
            <p:nvSpPr>
              <p:cNvPr id="471" name="Google Shape;471;p13"/>
              <p:cNvSpPr txBox="1"/>
              <p:nvPr/>
            </p:nvSpPr>
            <p:spPr>
              <a:xfrm>
                <a:off x="8814397" y="1606606"/>
                <a:ext cx="309310" cy="435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온라인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계약서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작성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66" name="Google Shape;466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862216" y="1330028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" name="Google Shape;472;p13"/>
            <p:cNvGrpSpPr/>
            <p:nvPr/>
          </p:nvGrpSpPr>
          <p:grpSpPr>
            <a:xfrm>
              <a:off x="8313412" y="3683374"/>
              <a:ext cx="346249" cy="553576"/>
              <a:chOff x="8285345" y="1330028"/>
              <a:chExt cx="346249" cy="553576"/>
            </a:xfrm>
          </p:grpSpPr>
          <p:sp>
            <p:nvSpPr>
              <p:cNvPr id="473" name="Google Shape;473;p13"/>
              <p:cNvSpPr txBox="1"/>
              <p:nvPr/>
            </p:nvSpPr>
            <p:spPr>
              <a:xfrm>
                <a:off x="8285345" y="1606605"/>
                <a:ext cx="34624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로그인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(필수)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74" name="Google Shape;474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50469" y="1330028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5" name="Google Shape;475;p13"/>
            <p:cNvGrpSpPr/>
            <p:nvPr/>
          </p:nvGrpSpPr>
          <p:grpSpPr>
            <a:xfrm>
              <a:off x="9293430" y="3742053"/>
              <a:ext cx="804707" cy="1898220"/>
              <a:chOff x="9450694" y="1179237"/>
              <a:chExt cx="804707" cy="1898220"/>
            </a:xfrm>
          </p:grpSpPr>
          <p:sp>
            <p:nvSpPr>
              <p:cNvPr id="476" name="Google Shape;476;p13"/>
              <p:cNvSpPr/>
              <p:nvPr/>
            </p:nvSpPr>
            <p:spPr>
              <a:xfrm>
                <a:off x="9809848" y="1179237"/>
                <a:ext cx="86628" cy="86626"/>
              </a:xfrm>
              <a:prstGeom prst="ellipse">
                <a:avLst/>
              </a:prstGeom>
              <a:solidFill>
                <a:srgbClr val="F04C3E"/>
              </a:solidFill>
              <a:ln w="9525" cap="flat" cmpd="sng">
                <a:solidFill>
                  <a:srgbClr val="F04C3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None/>
                </a:pPr>
                <a:endParaRPr sz="1200" b="0" i="1" u="none" strike="noStrike" cap="none">
                  <a:solidFill>
                    <a:srgbClr val="17161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77" name="Google Shape;477;p13"/>
              <p:cNvSpPr txBox="1"/>
              <p:nvPr/>
            </p:nvSpPr>
            <p:spPr>
              <a:xfrm>
                <a:off x="9450694" y="2831236"/>
                <a:ext cx="80470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04C3E"/>
                  </a:buClr>
                  <a:buSzPts val="800"/>
                  <a:buFont typeface="Malgun Gothic"/>
                  <a:buNone/>
                </a:pPr>
                <a:r>
                  <a:rPr lang="en-US" sz="800" b="0" i="1" u="none" strike="noStrike" cap="none">
                    <a:solidFill>
                      <a:srgbClr val="F04C3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현장방문에 대한 </a:t>
                </a:r>
                <a:br>
                  <a:rPr lang="en-US" sz="800" b="0" i="1" u="none" strike="noStrike" cap="none">
                    <a:solidFill>
                      <a:srgbClr val="F04C3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800" b="0" i="1" u="none" strike="noStrike" cap="none">
                    <a:solidFill>
                      <a:srgbClr val="F04C3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신속성 外 Benefit</a:t>
                </a:r>
                <a:endParaRPr sz="800" b="0" i="1" u="none" strike="noStrike" cap="none">
                  <a:solidFill>
                    <a:srgbClr val="F04C3E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478" name="Google Shape;478;p13"/>
              <p:cNvCxnSpPr>
                <a:stCxn id="476" idx="4"/>
                <a:endCxn id="477" idx="0"/>
              </p:cNvCxnSpPr>
              <p:nvPr/>
            </p:nvCxnSpPr>
            <p:spPr>
              <a:xfrm>
                <a:off x="9853162" y="1265863"/>
                <a:ext cx="0" cy="1565400"/>
              </a:xfrm>
              <a:prstGeom prst="straightConnector1">
                <a:avLst/>
              </a:prstGeom>
              <a:solidFill>
                <a:srgbClr val="F04C3E"/>
              </a:solidFill>
              <a:ln w="9525" cap="flat" cmpd="sng">
                <a:solidFill>
                  <a:srgbClr val="F04C3E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479" name="Google Shape;479;p13"/>
            <p:cNvCxnSpPr>
              <a:stCxn id="450" idx="1"/>
              <a:endCxn id="466" idx="3"/>
            </p:cNvCxnSpPr>
            <p:nvPr/>
          </p:nvCxnSpPr>
          <p:spPr>
            <a:xfrm rot="10800000">
              <a:off x="9037310" y="3791515"/>
              <a:ext cx="264000" cy="1131600"/>
            </a:xfrm>
            <a:prstGeom prst="straightConnector1">
              <a:avLst/>
            </a:prstGeom>
            <a:noFill/>
            <a:ln w="57150" cap="rnd" cmpd="sng">
              <a:solidFill>
                <a:srgbClr val="008CF2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80" name="Google Shape;480;p13"/>
            <p:cNvCxnSpPr>
              <a:stCxn id="450" idx="3"/>
              <a:endCxn id="481" idx="1"/>
            </p:cNvCxnSpPr>
            <p:nvPr/>
          </p:nvCxnSpPr>
          <p:spPr>
            <a:xfrm rot="10800000" flipH="1">
              <a:off x="9517311" y="3801715"/>
              <a:ext cx="306300" cy="1121400"/>
            </a:xfrm>
            <a:prstGeom prst="straightConnector1">
              <a:avLst/>
            </a:prstGeom>
            <a:noFill/>
            <a:ln w="57150" cap="rnd" cmpd="sng">
              <a:solidFill>
                <a:srgbClr val="008CF2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482" name="Google Shape;482;p13"/>
            <p:cNvGrpSpPr/>
            <p:nvPr/>
          </p:nvGrpSpPr>
          <p:grpSpPr>
            <a:xfrm>
              <a:off x="9688928" y="3693632"/>
              <a:ext cx="461665" cy="553577"/>
              <a:chOff x="9688928" y="1329667"/>
              <a:chExt cx="461665" cy="553577"/>
            </a:xfrm>
          </p:grpSpPr>
          <p:pic>
            <p:nvPicPr>
              <p:cNvPr id="481" name="Google Shape;481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823532" y="1329667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3" name="Google Shape;483;p13"/>
              <p:cNvSpPr txBox="1"/>
              <p:nvPr/>
            </p:nvSpPr>
            <p:spPr>
              <a:xfrm>
                <a:off x="9688928" y="1606245"/>
                <a:ext cx="4616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판매이력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코드확인</a:t>
                </a:r>
                <a:endParaRPr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484" name="Google Shape;484;p13"/>
            <p:cNvCxnSpPr>
              <a:stCxn id="454" idx="1"/>
              <a:endCxn id="481" idx="3"/>
            </p:cNvCxnSpPr>
            <p:nvPr/>
          </p:nvCxnSpPr>
          <p:spPr>
            <a:xfrm flipH="1">
              <a:off x="10039450" y="3798737"/>
              <a:ext cx="322800" cy="3000"/>
            </a:xfrm>
            <a:prstGeom prst="straightConnector1">
              <a:avLst/>
            </a:prstGeom>
            <a:noFill/>
            <a:ln w="57150" cap="rnd" cmpd="sng">
              <a:solidFill>
                <a:srgbClr val="008CF2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485" name="Google Shape;485;p13"/>
            <p:cNvGrpSpPr/>
            <p:nvPr/>
          </p:nvGrpSpPr>
          <p:grpSpPr>
            <a:xfrm>
              <a:off x="7786698" y="3683013"/>
              <a:ext cx="461665" cy="553577"/>
              <a:chOff x="7844131" y="1329667"/>
              <a:chExt cx="461665" cy="553577"/>
            </a:xfrm>
          </p:grpSpPr>
          <p:sp>
            <p:nvSpPr>
              <p:cNvPr id="486" name="Google Shape;486;p13"/>
              <p:cNvSpPr txBox="1"/>
              <p:nvPr/>
            </p:nvSpPr>
            <p:spPr>
              <a:xfrm>
                <a:off x="7844131" y="1606245"/>
                <a:ext cx="4616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선택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정보등록</a:t>
                </a:r>
                <a:endParaRPr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87" name="Google Shape;487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966963" y="1329667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488" name="Google Shape;488;p13"/>
            <p:cNvCxnSpPr>
              <a:stCxn id="441" idx="3"/>
              <a:endCxn id="445" idx="1"/>
            </p:cNvCxnSpPr>
            <p:nvPr/>
          </p:nvCxnSpPr>
          <p:spPr>
            <a:xfrm rot="10800000" flipH="1">
              <a:off x="2058167" y="3790915"/>
              <a:ext cx="852900" cy="113220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89" name="Google Shape;489;p13"/>
            <p:cNvCxnSpPr>
              <a:stCxn id="445" idx="3"/>
              <a:endCxn id="447" idx="1"/>
            </p:cNvCxnSpPr>
            <p:nvPr/>
          </p:nvCxnSpPr>
          <p:spPr>
            <a:xfrm>
              <a:off x="3127204" y="3791014"/>
              <a:ext cx="3102600" cy="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490" name="Google Shape;490;p13"/>
            <p:cNvGrpSpPr/>
            <p:nvPr/>
          </p:nvGrpSpPr>
          <p:grpSpPr>
            <a:xfrm>
              <a:off x="3424051" y="3683013"/>
              <a:ext cx="408179" cy="563982"/>
              <a:chOff x="3424051" y="1329667"/>
              <a:chExt cx="408179" cy="563982"/>
            </a:xfrm>
          </p:grpSpPr>
          <p:sp>
            <p:nvSpPr>
              <p:cNvPr id="491" name="Google Shape;491;p13"/>
              <p:cNvSpPr txBox="1"/>
              <p:nvPr/>
            </p:nvSpPr>
            <p:spPr>
              <a:xfrm>
                <a:off x="3424051" y="1606245"/>
                <a:ext cx="408179" cy="287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차량번호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입력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92" name="Google Shape;492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520140" y="1329667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3" name="Google Shape;493;p13"/>
            <p:cNvGrpSpPr/>
            <p:nvPr/>
          </p:nvGrpSpPr>
          <p:grpSpPr>
            <a:xfrm>
              <a:off x="4079389" y="3683013"/>
              <a:ext cx="570561" cy="711685"/>
              <a:chOff x="4079389" y="1329667"/>
              <a:chExt cx="570561" cy="711685"/>
            </a:xfrm>
          </p:grpSpPr>
          <p:sp>
            <p:nvSpPr>
              <p:cNvPr id="494" name="Google Shape;494;p13"/>
              <p:cNvSpPr txBox="1"/>
              <p:nvPr/>
            </p:nvSpPr>
            <p:spPr>
              <a:xfrm>
                <a:off x="4079389" y="1606245"/>
                <a:ext cx="570561" cy="435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내 차량정보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 견적 범위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확인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95" name="Google Shape;495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256669" y="1329667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6" name="Google Shape;496;p13"/>
            <p:cNvGrpSpPr/>
            <p:nvPr/>
          </p:nvGrpSpPr>
          <p:grpSpPr>
            <a:xfrm>
              <a:off x="4872331" y="3683013"/>
              <a:ext cx="461665" cy="553577"/>
              <a:chOff x="4872331" y="1329667"/>
              <a:chExt cx="461665" cy="553577"/>
            </a:xfrm>
          </p:grpSpPr>
          <p:sp>
            <p:nvSpPr>
              <p:cNvPr id="497" name="Google Shape;497;p13"/>
              <p:cNvSpPr txBox="1"/>
              <p:nvPr/>
            </p:nvSpPr>
            <p:spPr>
              <a:xfrm>
                <a:off x="4872331" y="1606245"/>
                <a:ext cx="4616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필수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정보등록</a:t>
                </a:r>
                <a:endParaRPr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498" name="Google Shape;498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995163" y="1329667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9" name="Google Shape;499;p13"/>
            <p:cNvGrpSpPr/>
            <p:nvPr/>
          </p:nvGrpSpPr>
          <p:grpSpPr>
            <a:xfrm>
              <a:off x="5489632" y="3683013"/>
              <a:ext cx="341065" cy="711685"/>
              <a:chOff x="5489632" y="1329667"/>
              <a:chExt cx="341065" cy="711685"/>
            </a:xfrm>
          </p:grpSpPr>
          <p:sp>
            <p:nvSpPr>
              <p:cNvPr id="500" name="Google Shape;500;p13"/>
              <p:cNvSpPr txBox="1"/>
              <p:nvPr/>
            </p:nvSpPr>
            <p:spPr>
              <a:xfrm>
                <a:off x="5489632" y="1606245"/>
                <a:ext cx="341065" cy="435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최종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매입가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확인</a:t>
                </a:r>
                <a:endParaRPr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501" name="Google Shape;501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552164" y="1329667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502" name="Google Shape;502;p13"/>
            <p:cNvCxnSpPr>
              <a:stCxn id="447" idx="3"/>
              <a:endCxn id="460" idx="1"/>
            </p:cNvCxnSpPr>
            <p:nvPr/>
          </p:nvCxnSpPr>
          <p:spPr>
            <a:xfrm>
              <a:off x="6445856" y="3791014"/>
              <a:ext cx="309000" cy="113220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503" name="Google Shape;503;p13"/>
            <p:cNvGrpSpPr/>
            <p:nvPr/>
          </p:nvGrpSpPr>
          <p:grpSpPr>
            <a:xfrm>
              <a:off x="6620365" y="3683374"/>
              <a:ext cx="461665" cy="692192"/>
              <a:chOff x="6930815" y="2457651"/>
              <a:chExt cx="461665" cy="692192"/>
            </a:xfrm>
          </p:grpSpPr>
          <p:sp>
            <p:nvSpPr>
              <p:cNvPr id="504" name="Google Shape;504;p13"/>
              <p:cNvSpPr txBox="1"/>
              <p:nvPr/>
            </p:nvSpPr>
            <p:spPr>
              <a:xfrm>
                <a:off x="6930815" y="2734345"/>
                <a:ext cx="461665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센터방문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여부 및 </a:t>
                </a:r>
                <a:b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일정선택</a:t>
                </a:r>
                <a:endParaRPr sz="900" b="1" i="0" u="none" strike="noStrike" cap="none">
                  <a:solidFill>
                    <a:srgbClr val="001C3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505" name="Google Shape;505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060790" y="2457651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506" name="Google Shape;506;p13"/>
            <p:cNvCxnSpPr>
              <a:stCxn id="457" idx="1"/>
              <a:endCxn id="460" idx="3"/>
            </p:cNvCxnSpPr>
            <p:nvPr/>
          </p:nvCxnSpPr>
          <p:spPr>
            <a:xfrm flipH="1">
              <a:off x="6970978" y="3791375"/>
              <a:ext cx="367500" cy="113160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7" name="Google Shape;507;p13"/>
            <p:cNvCxnSpPr>
              <a:stCxn id="418" idx="1"/>
              <a:endCxn id="454" idx="3"/>
            </p:cNvCxnSpPr>
            <p:nvPr/>
          </p:nvCxnSpPr>
          <p:spPr>
            <a:xfrm flipH="1">
              <a:off x="10578363" y="3787773"/>
              <a:ext cx="852900" cy="11100"/>
            </a:xfrm>
            <a:prstGeom prst="straightConnector1">
              <a:avLst/>
            </a:prstGeom>
            <a:noFill/>
            <a:ln w="57150" cap="rnd" cmpd="sng">
              <a:solidFill>
                <a:srgbClr val="008CF2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508" name="Google Shape;508;p13"/>
            <p:cNvGrpSpPr/>
            <p:nvPr/>
          </p:nvGrpSpPr>
          <p:grpSpPr>
            <a:xfrm>
              <a:off x="10781674" y="3679772"/>
              <a:ext cx="408179" cy="555979"/>
              <a:chOff x="10735627" y="1326426"/>
              <a:chExt cx="408179" cy="555979"/>
            </a:xfrm>
          </p:grpSpPr>
          <p:sp>
            <p:nvSpPr>
              <p:cNvPr id="509" name="Google Shape;509;p13"/>
              <p:cNvSpPr txBox="1"/>
              <p:nvPr/>
            </p:nvSpPr>
            <p:spPr>
              <a:xfrm>
                <a:off x="10735627" y="1603004"/>
                <a:ext cx="408179" cy="2794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판매경험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1C3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리뷰작성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10" name="Google Shape;510;p13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843488" y="1326426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511" name="Google Shape;511;p13"/>
          <p:cNvSpPr/>
          <p:nvPr/>
        </p:nvSpPr>
        <p:spPr>
          <a:xfrm>
            <a:off x="2779624" y="5411584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내차 </a:t>
            </a: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8618051" y="5409748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</a:t>
            </a: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관리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4785543" y="5411584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</a:t>
            </a: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견적 확인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p13"/>
          <p:cNvCxnSpPr>
            <a:stCxn id="511" idx="3"/>
            <a:endCxn id="513" idx="1"/>
          </p:cNvCxnSpPr>
          <p:nvPr/>
        </p:nvCxnSpPr>
        <p:spPr>
          <a:xfrm>
            <a:off x="3990805" y="5581213"/>
            <a:ext cx="7947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5" name="Google Shape;515;p13"/>
          <p:cNvCxnSpPr>
            <a:stCxn id="513" idx="3"/>
            <a:endCxn id="512" idx="1"/>
          </p:cNvCxnSpPr>
          <p:nvPr/>
        </p:nvCxnSpPr>
        <p:spPr>
          <a:xfrm rot="10800000" flipH="1">
            <a:off x="5996724" y="5579413"/>
            <a:ext cx="2621400" cy="1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6" name="Google Shape;516;p13"/>
          <p:cNvSpPr/>
          <p:nvPr/>
        </p:nvSpPr>
        <p:spPr>
          <a:xfrm>
            <a:off x="10535125" y="5409748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판매</a:t>
            </a: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리뷰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7" name="Google Shape;517;p13"/>
          <p:cNvCxnSpPr>
            <a:stCxn id="512" idx="3"/>
            <a:endCxn id="516" idx="1"/>
          </p:cNvCxnSpPr>
          <p:nvPr/>
        </p:nvCxnSpPr>
        <p:spPr>
          <a:xfrm>
            <a:off x="9829232" y="5579377"/>
            <a:ext cx="7059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4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3" name="Google Shape;523;p14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사용자의 동선을 고려해 원하는 정보를 쉽게 찾을 수 있도록 메뉴를 배치한다.</a:t>
            </a:r>
            <a:endParaRPr/>
          </a:p>
        </p:txBody>
      </p:sp>
      <p:sp>
        <p:nvSpPr>
          <p:cNvPr id="524" name="Google Shape;524;p14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3) 경로이동</a:t>
            </a:r>
            <a:endParaRPr/>
          </a:p>
        </p:txBody>
      </p:sp>
      <p:sp>
        <p:nvSpPr>
          <p:cNvPr id="525" name="Google Shape;525;p14"/>
          <p:cNvSpPr/>
          <p:nvPr/>
        </p:nvSpPr>
        <p:spPr>
          <a:xfrm>
            <a:off x="530942" y="1406662"/>
            <a:ext cx="11085563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Purchase의 동선은 Aware, Discover, Evaluate, Decide, Use, Advocate로 구성되며 Trade-In와 일관성을 유지한다.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기능을 수행하는 단계는 메뉴로 표현하지 않는다.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6213" marR="0" lvl="0" indent="-1762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기능을 수행 시 동일 키워드를 사용하여 서비스 인지를 용이하게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6" name="Google Shape;526;p14"/>
          <p:cNvGrpSpPr/>
          <p:nvPr/>
        </p:nvGrpSpPr>
        <p:grpSpPr>
          <a:xfrm>
            <a:off x="530942" y="2544955"/>
            <a:ext cx="11085563" cy="2731860"/>
            <a:chOff x="407617" y="3314462"/>
            <a:chExt cx="11394647" cy="2808029"/>
          </a:xfrm>
        </p:grpSpPr>
        <p:cxnSp>
          <p:nvCxnSpPr>
            <p:cNvPr id="527" name="Google Shape;527;p14"/>
            <p:cNvCxnSpPr>
              <a:stCxn id="528" idx="3"/>
              <a:endCxn id="529" idx="1"/>
            </p:cNvCxnSpPr>
            <p:nvPr/>
          </p:nvCxnSpPr>
          <p:spPr>
            <a:xfrm>
              <a:off x="2069935" y="3988566"/>
              <a:ext cx="9508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30" name="Google Shape;530;p14"/>
            <p:cNvSpPr/>
            <p:nvPr/>
          </p:nvSpPr>
          <p:spPr>
            <a:xfrm>
              <a:off x="1341119" y="3314462"/>
              <a:ext cx="10429118" cy="27288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endParaRPr sz="1200" b="1" i="1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1" name="Google Shape;531;p14"/>
            <p:cNvSpPr/>
            <p:nvPr/>
          </p:nvSpPr>
          <p:spPr>
            <a:xfrm>
              <a:off x="415285" y="3314462"/>
              <a:ext cx="1106702" cy="272885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endParaRPr sz="1200" b="1" i="1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2" name="Google Shape;532;p14"/>
            <p:cNvSpPr txBox="1"/>
            <p:nvPr/>
          </p:nvSpPr>
          <p:spPr>
            <a:xfrm>
              <a:off x="415285" y="3355997"/>
              <a:ext cx="1005509" cy="189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r>
                <a:rPr lang="en-US" sz="1200" b="1" i="1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Purchase</a:t>
              </a:r>
              <a:endParaRPr sz="1200" b="1" i="1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3" name="Google Shape;533;p14"/>
            <p:cNvSpPr txBox="1"/>
            <p:nvPr/>
          </p:nvSpPr>
          <p:spPr>
            <a:xfrm>
              <a:off x="482622" y="3910642"/>
              <a:ext cx="9530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Basic </a:t>
              </a:r>
              <a:b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Journey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4"/>
            <p:cNvSpPr txBox="1"/>
            <p:nvPr/>
          </p:nvSpPr>
          <p:spPr>
            <a:xfrm>
              <a:off x="482622" y="5286397"/>
              <a:ext cx="9530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Supporting</a:t>
              </a:r>
              <a:b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Task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5" name="Google Shape;535;p14"/>
            <p:cNvGrpSpPr/>
            <p:nvPr/>
          </p:nvGrpSpPr>
          <p:grpSpPr>
            <a:xfrm>
              <a:off x="1563842" y="3880566"/>
              <a:ext cx="772648" cy="692075"/>
              <a:chOff x="1563842" y="1547076"/>
              <a:chExt cx="772648" cy="692075"/>
            </a:xfrm>
          </p:grpSpPr>
          <p:pic>
            <p:nvPicPr>
              <p:cNvPr id="528" name="Google Shape;528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53934" y="1547076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6" name="Google Shape;536;p14"/>
              <p:cNvSpPr txBox="1"/>
              <p:nvPr/>
            </p:nvSpPr>
            <p:spPr>
              <a:xfrm>
                <a:off x="1563842" y="1823653"/>
                <a:ext cx="772648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포털 사이트 내 모델 탐색 중 유입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537" name="Google Shape;537;p14"/>
            <p:cNvGrpSpPr/>
            <p:nvPr/>
          </p:nvGrpSpPr>
          <p:grpSpPr>
            <a:xfrm>
              <a:off x="1563842" y="4774359"/>
              <a:ext cx="772649" cy="524316"/>
              <a:chOff x="1563842" y="2247421"/>
              <a:chExt cx="772649" cy="524316"/>
            </a:xfrm>
          </p:grpSpPr>
          <p:pic>
            <p:nvPicPr>
              <p:cNvPr id="538" name="Google Shape;538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53934" y="2247421"/>
                <a:ext cx="216001" cy="21600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</p:pic>
          <p:sp>
            <p:nvSpPr>
              <p:cNvPr id="539" name="Google Shape;539;p14"/>
              <p:cNvSpPr txBox="1"/>
              <p:nvPr/>
            </p:nvSpPr>
            <p:spPr>
              <a:xfrm>
                <a:off x="1563842" y="2494738"/>
                <a:ext cx="77264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관계사 사이트통한 유입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540" name="Google Shape;540;p14" descr="그림 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89155" y="3880566"/>
              <a:ext cx="216001" cy="21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14"/>
            <p:cNvSpPr txBox="1"/>
            <p:nvPr/>
          </p:nvSpPr>
          <p:spPr>
            <a:xfrm>
              <a:off x="2412262" y="4157143"/>
              <a:ext cx="3462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플랫폼</a:t>
              </a:r>
              <a:br>
                <a:rPr lang="en-US"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en-US"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진입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4"/>
            <p:cNvSpPr txBox="1"/>
            <p:nvPr/>
          </p:nvSpPr>
          <p:spPr>
            <a:xfrm>
              <a:off x="1499649" y="3353881"/>
              <a:ext cx="910318" cy="189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Aware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4"/>
            <p:cNvSpPr txBox="1"/>
            <p:nvPr/>
          </p:nvSpPr>
          <p:spPr>
            <a:xfrm>
              <a:off x="3171628" y="3353881"/>
              <a:ext cx="998183" cy="189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Discover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4"/>
            <p:cNvSpPr txBox="1"/>
            <p:nvPr/>
          </p:nvSpPr>
          <p:spPr>
            <a:xfrm>
              <a:off x="8275936" y="3353881"/>
              <a:ext cx="977045" cy="189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Decide</a:t>
              </a:r>
              <a:endParaRPr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4"/>
            <p:cNvSpPr txBox="1"/>
            <p:nvPr/>
          </p:nvSpPr>
          <p:spPr>
            <a:xfrm>
              <a:off x="9402465" y="3353881"/>
              <a:ext cx="1017513" cy="189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4"/>
            <p:cNvSpPr txBox="1"/>
            <p:nvPr/>
          </p:nvSpPr>
          <p:spPr>
            <a:xfrm>
              <a:off x="10671460" y="3353881"/>
              <a:ext cx="1017513" cy="189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Advocate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4"/>
            <p:cNvSpPr txBox="1"/>
            <p:nvPr/>
          </p:nvSpPr>
          <p:spPr>
            <a:xfrm>
              <a:off x="6193066" y="3353881"/>
              <a:ext cx="977045" cy="189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8" name="Google Shape;548;p14"/>
            <p:cNvGrpSpPr/>
            <p:nvPr/>
          </p:nvGrpSpPr>
          <p:grpSpPr>
            <a:xfrm>
              <a:off x="1504795" y="3316902"/>
              <a:ext cx="9032457" cy="2805589"/>
              <a:chOff x="1504795" y="1106982"/>
              <a:chExt cx="9032457" cy="5326695"/>
            </a:xfrm>
          </p:grpSpPr>
          <p:cxnSp>
            <p:nvCxnSpPr>
              <p:cNvPr id="549" name="Google Shape;549;p14"/>
              <p:cNvCxnSpPr/>
              <p:nvPr/>
            </p:nvCxnSpPr>
            <p:spPr>
              <a:xfrm flipH="1">
                <a:off x="1504795" y="1106982"/>
                <a:ext cx="1" cy="5326695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0" name="Google Shape;550;p14"/>
              <p:cNvCxnSpPr/>
              <p:nvPr/>
            </p:nvCxnSpPr>
            <p:spPr>
              <a:xfrm flipH="1">
                <a:off x="10537251" y="1109620"/>
                <a:ext cx="1" cy="532405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1" name="Google Shape;551;p14"/>
              <p:cNvCxnSpPr/>
              <p:nvPr/>
            </p:nvCxnSpPr>
            <p:spPr>
              <a:xfrm flipH="1">
                <a:off x="9268257" y="1109620"/>
                <a:ext cx="1" cy="532405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2" name="Google Shape;552;p14"/>
              <p:cNvCxnSpPr/>
              <p:nvPr/>
            </p:nvCxnSpPr>
            <p:spPr>
              <a:xfrm flipH="1">
                <a:off x="2367570" y="1109620"/>
                <a:ext cx="1" cy="532405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3" name="Google Shape;553;p14"/>
              <p:cNvCxnSpPr/>
              <p:nvPr/>
            </p:nvCxnSpPr>
            <p:spPr>
              <a:xfrm flipH="1">
                <a:off x="5092869" y="1109620"/>
                <a:ext cx="1" cy="532405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4" name="Google Shape;554;p14"/>
              <p:cNvCxnSpPr/>
              <p:nvPr/>
            </p:nvCxnSpPr>
            <p:spPr>
              <a:xfrm flipH="1">
                <a:off x="8193211" y="1109620"/>
                <a:ext cx="1" cy="532405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ot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555" name="Google Shape;555;p14"/>
            <p:cNvGrpSpPr/>
            <p:nvPr/>
          </p:nvGrpSpPr>
          <p:grpSpPr>
            <a:xfrm>
              <a:off x="4252686" y="5434168"/>
              <a:ext cx="230832" cy="524316"/>
              <a:chOff x="4444703" y="2247421"/>
              <a:chExt cx="230832" cy="524316"/>
            </a:xfrm>
          </p:grpSpPr>
          <p:pic>
            <p:nvPicPr>
              <p:cNvPr id="556" name="Google Shape;556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452118" y="2247421"/>
                <a:ext cx="216002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7" name="Google Shape;557;p14"/>
              <p:cNvSpPr txBox="1"/>
              <p:nvPr/>
            </p:nvSpPr>
            <p:spPr>
              <a:xfrm>
                <a:off x="4444703" y="2494738"/>
                <a:ext cx="23083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조건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검색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558" name="Google Shape;558;p14"/>
            <p:cNvGrpSpPr/>
            <p:nvPr/>
          </p:nvGrpSpPr>
          <p:grpSpPr>
            <a:xfrm>
              <a:off x="5042188" y="3880566"/>
              <a:ext cx="461666" cy="553576"/>
              <a:chOff x="5396065" y="1547076"/>
              <a:chExt cx="461666" cy="553576"/>
            </a:xfrm>
          </p:grpSpPr>
          <p:pic>
            <p:nvPicPr>
              <p:cNvPr id="559" name="Google Shape;559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518898" y="1547076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0" name="Google Shape;560;p14"/>
              <p:cNvSpPr txBox="1"/>
              <p:nvPr/>
            </p:nvSpPr>
            <p:spPr>
              <a:xfrm>
                <a:off x="5396065" y="1823653"/>
                <a:ext cx="46166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매물상세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정보확인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561" name="Google Shape;561;p14"/>
            <p:cNvGrpSpPr/>
            <p:nvPr/>
          </p:nvGrpSpPr>
          <p:grpSpPr>
            <a:xfrm>
              <a:off x="5501923" y="5425944"/>
              <a:ext cx="577081" cy="534511"/>
              <a:chOff x="6427537" y="2899866"/>
              <a:chExt cx="577081" cy="534511"/>
            </a:xfrm>
          </p:grpSpPr>
          <p:pic>
            <p:nvPicPr>
              <p:cNvPr id="562" name="Google Shape;562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619850" y="2899866"/>
                <a:ext cx="216002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3" name="Google Shape;563;p14"/>
              <p:cNvSpPr txBox="1"/>
              <p:nvPr/>
            </p:nvSpPr>
            <p:spPr>
              <a:xfrm>
                <a:off x="6427537" y="3157378"/>
                <a:ext cx="57708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지인공유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포인트습득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564" name="Google Shape;564;p14"/>
            <p:cNvGrpSpPr/>
            <p:nvPr/>
          </p:nvGrpSpPr>
          <p:grpSpPr>
            <a:xfrm>
              <a:off x="4133160" y="4774359"/>
              <a:ext cx="461666" cy="534723"/>
              <a:chOff x="4349802" y="2440869"/>
              <a:chExt cx="461666" cy="534723"/>
            </a:xfrm>
          </p:grpSpPr>
          <p:pic>
            <p:nvPicPr>
              <p:cNvPr id="565" name="Google Shape;565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472634" y="2440869"/>
                <a:ext cx="216002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6" name="Google Shape;566;p14"/>
              <p:cNvSpPr txBox="1"/>
              <p:nvPr/>
            </p:nvSpPr>
            <p:spPr>
              <a:xfrm>
                <a:off x="4349802" y="2698592"/>
                <a:ext cx="461666" cy="27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챗봇기반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매물탐색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567" name="Google Shape;567;p14"/>
            <p:cNvGrpSpPr/>
            <p:nvPr/>
          </p:nvGrpSpPr>
          <p:grpSpPr>
            <a:xfrm>
              <a:off x="10192328" y="5428163"/>
              <a:ext cx="282129" cy="494200"/>
              <a:chOff x="10258243" y="2277537"/>
              <a:chExt cx="282129" cy="494200"/>
            </a:xfrm>
          </p:grpSpPr>
          <p:sp>
            <p:nvSpPr>
              <p:cNvPr id="568" name="Google Shape;568;p14"/>
              <p:cNvSpPr txBox="1"/>
              <p:nvPr/>
            </p:nvSpPr>
            <p:spPr>
              <a:xfrm>
                <a:off x="10258243" y="2494738"/>
                <a:ext cx="28212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환불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/취소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69" name="Google Shape;569;p14"/>
              <p:cNvSpPr/>
              <p:nvPr/>
            </p:nvSpPr>
            <p:spPr>
              <a:xfrm>
                <a:off x="10326400" y="2277537"/>
                <a:ext cx="145815" cy="145816"/>
              </a:xfrm>
              <a:prstGeom prst="ellipse">
                <a:avLst/>
              </a:prstGeom>
              <a:solidFill>
                <a:srgbClr val="FFFFFF"/>
              </a:solidFill>
              <a:ln w="38100" cap="rnd" cmpd="sng">
                <a:solidFill>
                  <a:srgbClr val="000000"/>
                </a:solidFill>
                <a:prstDash val="dot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1200"/>
                  <a:buFont typeface="Malgun Gothic"/>
                  <a:buNone/>
                </a:pPr>
                <a:endParaRPr sz="1200" b="0" i="1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570" name="Google Shape;570;p14"/>
            <p:cNvGrpSpPr/>
            <p:nvPr/>
          </p:nvGrpSpPr>
          <p:grpSpPr>
            <a:xfrm>
              <a:off x="3639257" y="4774359"/>
              <a:ext cx="448842" cy="524316"/>
              <a:chOff x="3830155" y="2247421"/>
              <a:chExt cx="448842" cy="524316"/>
            </a:xfrm>
          </p:grpSpPr>
          <p:pic>
            <p:nvPicPr>
              <p:cNvPr id="571" name="Google Shape;571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946576" y="2247421"/>
                <a:ext cx="216001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2" name="Google Shape;572;p14"/>
              <p:cNvSpPr txBox="1"/>
              <p:nvPr/>
            </p:nvSpPr>
            <p:spPr>
              <a:xfrm>
                <a:off x="3830155" y="2494738"/>
                <a:ext cx="44884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Live판매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참여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573" name="Google Shape;573;p14"/>
            <p:cNvGrpSpPr/>
            <p:nvPr/>
          </p:nvGrpSpPr>
          <p:grpSpPr>
            <a:xfrm>
              <a:off x="9386321" y="4781926"/>
              <a:ext cx="346249" cy="532057"/>
              <a:chOff x="9352737" y="2902320"/>
              <a:chExt cx="346249" cy="532057"/>
            </a:xfrm>
          </p:grpSpPr>
          <p:pic>
            <p:nvPicPr>
              <p:cNvPr id="574" name="Google Shape;574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417860" y="2902320"/>
                <a:ext cx="216002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5" name="Google Shape;575;p14"/>
              <p:cNvSpPr txBox="1"/>
              <p:nvPr/>
            </p:nvSpPr>
            <p:spPr>
              <a:xfrm>
                <a:off x="9352737" y="3157378"/>
                <a:ext cx="34624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홈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서비스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576" name="Google Shape;576;p14"/>
            <p:cNvCxnSpPr/>
            <p:nvPr/>
          </p:nvCxnSpPr>
          <p:spPr>
            <a:xfrm>
              <a:off x="407617" y="4677679"/>
              <a:ext cx="11368985" cy="1"/>
            </a:xfrm>
            <a:prstGeom prst="straightConnector1">
              <a:avLst/>
            </a:prstGeom>
            <a:noFill/>
            <a:ln w="9525" cap="flat" cmpd="sng">
              <a:solidFill>
                <a:srgbClr val="606060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77" name="Google Shape;577;p14"/>
            <p:cNvCxnSpPr/>
            <p:nvPr/>
          </p:nvCxnSpPr>
          <p:spPr>
            <a:xfrm>
              <a:off x="407617" y="6114917"/>
              <a:ext cx="11368985" cy="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578" name="Google Shape;578;p14"/>
            <p:cNvGrpSpPr/>
            <p:nvPr/>
          </p:nvGrpSpPr>
          <p:grpSpPr>
            <a:xfrm>
              <a:off x="9352247" y="5428163"/>
              <a:ext cx="461666" cy="534396"/>
              <a:chOff x="9709888" y="2433196"/>
              <a:chExt cx="461666" cy="534396"/>
            </a:xfrm>
          </p:grpSpPr>
          <p:pic>
            <p:nvPicPr>
              <p:cNvPr id="579" name="Google Shape;579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844497" y="2433196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0" name="Google Shape;580;p14"/>
              <p:cNvSpPr txBox="1"/>
              <p:nvPr/>
            </p:nvSpPr>
            <p:spPr>
              <a:xfrm>
                <a:off x="9709888" y="2690593"/>
                <a:ext cx="46166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Hub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차량인도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581" name="Google Shape;581;p14"/>
            <p:cNvCxnSpPr>
              <a:stCxn id="582" idx="3"/>
              <a:endCxn id="540" idx="1"/>
            </p:cNvCxnSpPr>
            <p:nvPr/>
          </p:nvCxnSpPr>
          <p:spPr>
            <a:xfrm rot="10800000" flipH="1">
              <a:off x="2068001" y="3988623"/>
              <a:ext cx="421200" cy="153600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583" name="Google Shape;583;p14"/>
            <p:cNvGrpSpPr/>
            <p:nvPr/>
          </p:nvGrpSpPr>
          <p:grpSpPr>
            <a:xfrm>
              <a:off x="3632846" y="3880566"/>
              <a:ext cx="461665" cy="553576"/>
              <a:chOff x="3823746" y="1547076"/>
              <a:chExt cx="461665" cy="553576"/>
            </a:xfrm>
          </p:grpSpPr>
          <p:sp>
            <p:nvSpPr>
              <p:cNvPr id="584" name="Google Shape;584;p14"/>
              <p:cNvSpPr txBox="1"/>
              <p:nvPr/>
            </p:nvSpPr>
            <p:spPr>
              <a:xfrm>
                <a:off x="3823746" y="1823653"/>
                <a:ext cx="4616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메인화면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매물확인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585" name="Google Shape;585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946578" y="1547076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586" name="Google Shape;586;p14"/>
            <p:cNvCxnSpPr>
              <a:stCxn id="540" idx="3"/>
              <a:endCxn id="585" idx="1"/>
            </p:cNvCxnSpPr>
            <p:nvPr/>
          </p:nvCxnSpPr>
          <p:spPr>
            <a:xfrm>
              <a:off x="2705156" y="3988566"/>
              <a:ext cx="1050600" cy="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87" name="Google Shape;587;p14"/>
            <p:cNvCxnSpPr>
              <a:stCxn id="585" idx="3"/>
              <a:endCxn id="565" idx="1"/>
            </p:cNvCxnSpPr>
            <p:nvPr/>
          </p:nvCxnSpPr>
          <p:spPr>
            <a:xfrm>
              <a:off x="3971679" y="3988566"/>
              <a:ext cx="284400" cy="89370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88" name="Google Shape;588;p14"/>
            <p:cNvCxnSpPr>
              <a:stCxn id="565" idx="3"/>
              <a:endCxn id="559" idx="1"/>
            </p:cNvCxnSpPr>
            <p:nvPr/>
          </p:nvCxnSpPr>
          <p:spPr>
            <a:xfrm rot="10800000" flipH="1">
              <a:off x="4471994" y="3988659"/>
              <a:ext cx="693000" cy="89370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89" name="Google Shape;589;p14"/>
            <p:cNvCxnSpPr>
              <a:stCxn id="559" idx="3"/>
              <a:endCxn id="590" idx="1"/>
            </p:cNvCxnSpPr>
            <p:nvPr/>
          </p:nvCxnSpPr>
          <p:spPr>
            <a:xfrm>
              <a:off x="5381022" y="3988566"/>
              <a:ext cx="301500" cy="90000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1" name="Google Shape;591;p14"/>
            <p:cNvCxnSpPr>
              <a:stCxn id="592" idx="6"/>
              <a:endCxn id="593" idx="1"/>
            </p:cNvCxnSpPr>
            <p:nvPr/>
          </p:nvCxnSpPr>
          <p:spPr>
            <a:xfrm rot="10800000" flipH="1">
              <a:off x="7603799" y="3996067"/>
              <a:ext cx="308400" cy="150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4" name="Google Shape;594;p14"/>
            <p:cNvCxnSpPr>
              <a:stCxn id="593" idx="3"/>
              <a:endCxn id="595" idx="1"/>
            </p:cNvCxnSpPr>
            <p:nvPr/>
          </p:nvCxnSpPr>
          <p:spPr>
            <a:xfrm>
              <a:off x="8128153" y="3996186"/>
              <a:ext cx="251400" cy="89370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6" name="Google Shape;596;p14"/>
            <p:cNvCxnSpPr>
              <a:stCxn id="597" idx="1"/>
              <a:endCxn id="598" idx="3"/>
            </p:cNvCxnSpPr>
            <p:nvPr/>
          </p:nvCxnSpPr>
          <p:spPr>
            <a:xfrm flipH="1">
              <a:off x="10048541" y="3988566"/>
              <a:ext cx="202500" cy="90150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9" name="Google Shape;599;p14"/>
            <p:cNvCxnSpPr>
              <a:stCxn id="598" idx="1"/>
              <a:endCxn id="574" idx="3"/>
            </p:cNvCxnSpPr>
            <p:nvPr/>
          </p:nvCxnSpPr>
          <p:spPr>
            <a:xfrm rot="10800000">
              <a:off x="9667426" y="4889926"/>
              <a:ext cx="165000" cy="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600" name="Google Shape;600;p14"/>
            <p:cNvGrpSpPr/>
            <p:nvPr/>
          </p:nvGrpSpPr>
          <p:grpSpPr>
            <a:xfrm>
              <a:off x="1467589" y="5416623"/>
              <a:ext cx="961286" cy="692075"/>
              <a:chOff x="1469523" y="1547076"/>
              <a:chExt cx="961286" cy="692075"/>
            </a:xfrm>
          </p:grpSpPr>
          <p:pic>
            <p:nvPicPr>
              <p:cNvPr id="582" name="Google Shape;582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53934" y="1547076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1" name="Google Shape;601;p14"/>
              <p:cNvSpPr txBox="1"/>
              <p:nvPr/>
            </p:nvSpPr>
            <p:spPr>
              <a:xfrm>
                <a:off x="1469523" y="1823653"/>
                <a:ext cx="961286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오프라인매장 내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QR코드통한 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온라인전시장 유입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602" name="Google Shape;602;p14"/>
            <p:cNvCxnSpPr>
              <a:stCxn id="528" idx="3"/>
              <a:endCxn id="540" idx="1"/>
            </p:cNvCxnSpPr>
            <p:nvPr/>
          </p:nvCxnSpPr>
          <p:spPr>
            <a:xfrm>
              <a:off x="2069935" y="3988566"/>
              <a:ext cx="419100" cy="0"/>
            </a:xfrm>
            <a:prstGeom prst="straightConnector1">
              <a:avLst/>
            </a:prstGeom>
            <a:noFill/>
            <a:ln w="57150" cap="rnd" cmpd="sng">
              <a:solidFill>
                <a:srgbClr val="BFBFBF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3" name="Google Shape;603;p14"/>
            <p:cNvCxnSpPr>
              <a:stCxn id="540" idx="3"/>
              <a:endCxn id="585" idx="1"/>
            </p:cNvCxnSpPr>
            <p:nvPr/>
          </p:nvCxnSpPr>
          <p:spPr>
            <a:xfrm>
              <a:off x="2705156" y="3988566"/>
              <a:ext cx="1050600" cy="600"/>
            </a:xfrm>
            <a:prstGeom prst="curvedConnector3">
              <a:avLst>
                <a:gd name="adj1" fmla="val 40723"/>
              </a:avLst>
            </a:prstGeom>
            <a:noFill/>
            <a:ln w="57150" cap="rnd" cmpd="sng">
              <a:solidFill>
                <a:srgbClr val="BFBFBF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4" name="Google Shape;604;p14"/>
            <p:cNvCxnSpPr>
              <a:stCxn id="585" idx="2"/>
              <a:endCxn id="571" idx="0"/>
            </p:cNvCxnSpPr>
            <p:nvPr/>
          </p:nvCxnSpPr>
          <p:spPr>
            <a:xfrm rot="-5400000" flipH="1">
              <a:off x="3525129" y="4435116"/>
              <a:ext cx="677700" cy="600"/>
            </a:xfrm>
            <a:prstGeom prst="curvedConnector3">
              <a:avLst>
                <a:gd name="adj1" fmla="val 296042"/>
              </a:avLst>
            </a:prstGeom>
            <a:noFill/>
            <a:ln w="57150" cap="rnd" cmpd="sng">
              <a:solidFill>
                <a:srgbClr val="BFBFBF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5" name="Google Shape;605;p14"/>
            <p:cNvCxnSpPr>
              <a:stCxn id="571" idx="3"/>
              <a:endCxn id="559" idx="1"/>
            </p:cNvCxnSpPr>
            <p:nvPr/>
          </p:nvCxnSpPr>
          <p:spPr>
            <a:xfrm rot="10800000" flipH="1">
              <a:off x="3971679" y="3988660"/>
              <a:ext cx="1193400" cy="893700"/>
            </a:xfrm>
            <a:prstGeom prst="straightConnector1">
              <a:avLst/>
            </a:prstGeom>
            <a:noFill/>
            <a:ln w="57150" cap="rnd" cmpd="sng">
              <a:solidFill>
                <a:srgbClr val="BFBFBF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606" name="Google Shape;606;p14"/>
            <p:cNvGrpSpPr/>
            <p:nvPr/>
          </p:nvGrpSpPr>
          <p:grpSpPr>
            <a:xfrm>
              <a:off x="4170353" y="3907492"/>
              <a:ext cx="346250" cy="526650"/>
              <a:chOff x="4386995" y="1574002"/>
              <a:chExt cx="346250" cy="526650"/>
            </a:xfrm>
          </p:grpSpPr>
          <p:sp>
            <p:nvSpPr>
              <p:cNvPr id="607" name="Google Shape;607;p14"/>
              <p:cNvSpPr txBox="1"/>
              <p:nvPr/>
            </p:nvSpPr>
            <p:spPr>
              <a:xfrm>
                <a:off x="4386995" y="1823653"/>
                <a:ext cx="34625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키워드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검색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08" name="Google Shape;608;p14"/>
              <p:cNvSpPr/>
              <p:nvPr/>
            </p:nvSpPr>
            <p:spPr>
              <a:xfrm>
                <a:off x="4487212" y="1574002"/>
                <a:ext cx="145815" cy="145815"/>
              </a:xfrm>
              <a:prstGeom prst="ellipse">
                <a:avLst/>
              </a:prstGeom>
              <a:solidFill>
                <a:srgbClr val="FFFFFF"/>
              </a:solidFill>
              <a:ln w="38100" cap="rnd" cmpd="sng">
                <a:solidFill>
                  <a:srgbClr val="000000"/>
                </a:solidFill>
                <a:prstDash val="dot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1200"/>
                  <a:buFont typeface="Malgun Gothic"/>
                  <a:buNone/>
                </a:pPr>
                <a:endParaRPr sz="1200" b="0" i="1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09" name="Google Shape;609;p14"/>
            <p:cNvGrpSpPr/>
            <p:nvPr/>
          </p:nvGrpSpPr>
          <p:grpSpPr>
            <a:xfrm>
              <a:off x="4564005" y="3905732"/>
              <a:ext cx="461666" cy="537119"/>
              <a:chOff x="4780598" y="1563533"/>
              <a:chExt cx="461666" cy="537119"/>
            </a:xfrm>
          </p:grpSpPr>
          <p:sp>
            <p:nvSpPr>
              <p:cNvPr id="610" name="Google Shape;610;p14"/>
              <p:cNvSpPr txBox="1"/>
              <p:nvPr/>
            </p:nvSpPr>
            <p:spPr>
              <a:xfrm>
                <a:off x="4780598" y="1823653"/>
                <a:ext cx="46166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검색결과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확인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11" name="Google Shape;611;p14"/>
              <p:cNvSpPr/>
              <p:nvPr/>
            </p:nvSpPr>
            <p:spPr>
              <a:xfrm>
                <a:off x="4938523" y="1563533"/>
                <a:ext cx="145815" cy="145815"/>
              </a:xfrm>
              <a:prstGeom prst="ellipse">
                <a:avLst/>
              </a:prstGeom>
              <a:solidFill>
                <a:srgbClr val="FFFFFF"/>
              </a:solidFill>
              <a:ln w="38100" cap="rnd" cmpd="sng">
                <a:solidFill>
                  <a:srgbClr val="000000"/>
                </a:solidFill>
                <a:prstDash val="dot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1200"/>
                  <a:buFont typeface="Malgun Gothic"/>
                  <a:buNone/>
                </a:pPr>
                <a:endParaRPr sz="1200" b="0" i="1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612" name="Google Shape;612;p14"/>
            <p:cNvCxnSpPr>
              <a:stCxn id="559" idx="3"/>
              <a:endCxn id="613" idx="1"/>
            </p:cNvCxnSpPr>
            <p:nvPr/>
          </p:nvCxnSpPr>
          <p:spPr>
            <a:xfrm>
              <a:off x="5381022" y="3988566"/>
              <a:ext cx="2998500" cy="0"/>
            </a:xfrm>
            <a:prstGeom prst="straightConnector1">
              <a:avLst/>
            </a:prstGeom>
            <a:noFill/>
            <a:ln w="57150" cap="rnd" cmpd="sng">
              <a:solidFill>
                <a:srgbClr val="BFBFBF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614" name="Google Shape;614;p14"/>
            <p:cNvGrpSpPr/>
            <p:nvPr/>
          </p:nvGrpSpPr>
          <p:grpSpPr>
            <a:xfrm>
              <a:off x="5533983" y="4780709"/>
              <a:ext cx="512961" cy="673010"/>
              <a:chOff x="5865359" y="2447219"/>
              <a:chExt cx="512961" cy="673010"/>
            </a:xfrm>
          </p:grpSpPr>
          <p:pic>
            <p:nvPicPr>
              <p:cNvPr id="590" name="Google Shape;590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013838" y="2447219"/>
                <a:ext cx="216002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5" name="Google Shape;615;p14"/>
              <p:cNvSpPr txBox="1"/>
              <p:nvPr/>
            </p:nvSpPr>
            <p:spPr>
              <a:xfrm>
                <a:off x="5865359" y="2704731"/>
                <a:ext cx="512961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실시간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채팅/전화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구매상담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16" name="Google Shape;616;p14"/>
            <p:cNvGrpSpPr/>
            <p:nvPr/>
          </p:nvGrpSpPr>
          <p:grpSpPr>
            <a:xfrm>
              <a:off x="4556742" y="5426036"/>
              <a:ext cx="482503" cy="524316"/>
              <a:chOff x="6474824" y="2247421"/>
              <a:chExt cx="482503" cy="524316"/>
            </a:xfrm>
          </p:grpSpPr>
          <p:pic>
            <p:nvPicPr>
              <p:cNvPr id="617" name="Google Shape;617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619849" y="2247421"/>
                <a:ext cx="216002" cy="2160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8" name="Google Shape;618;p14"/>
              <p:cNvSpPr txBox="1"/>
              <p:nvPr/>
            </p:nvSpPr>
            <p:spPr>
              <a:xfrm>
                <a:off x="6474824" y="2494738"/>
                <a:ext cx="48250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My Page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관심등록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619" name="Google Shape;619;p14"/>
            <p:cNvCxnSpPr>
              <a:stCxn id="620" idx="1"/>
              <a:endCxn id="590" idx="3"/>
            </p:cNvCxnSpPr>
            <p:nvPr/>
          </p:nvCxnSpPr>
          <p:spPr>
            <a:xfrm rot="10800000">
              <a:off x="5898480" y="4888726"/>
              <a:ext cx="996300" cy="120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1" name="Google Shape;621;p14"/>
            <p:cNvCxnSpPr>
              <a:stCxn id="592" idx="2"/>
              <a:endCxn id="620" idx="3"/>
            </p:cNvCxnSpPr>
            <p:nvPr/>
          </p:nvCxnSpPr>
          <p:spPr>
            <a:xfrm flipH="1">
              <a:off x="7110884" y="3997567"/>
              <a:ext cx="347100" cy="89250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622" name="Google Shape;622;p14"/>
            <p:cNvGrpSpPr/>
            <p:nvPr/>
          </p:nvGrpSpPr>
          <p:grpSpPr>
            <a:xfrm>
              <a:off x="5559631" y="3906078"/>
              <a:ext cx="461665" cy="532064"/>
              <a:chOff x="5890027" y="1572588"/>
              <a:chExt cx="461665" cy="532064"/>
            </a:xfrm>
          </p:grpSpPr>
          <p:sp>
            <p:nvSpPr>
              <p:cNvPr id="623" name="Google Shape;623;p14"/>
              <p:cNvSpPr txBox="1"/>
              <p:nvPr/>
            </p:nvSpPr>
            <p:spPr>
              <a:xfrm>
                <a:off x="5890027" y="1827653"/>
                <a:ext cx="4616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추가옵션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선택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4" name="Google Shape;624;p14"/>
              <p:cNvSpPr/>
              <p:nvPr/>
            </p:nvSpPr>
            <p:spPr>
              <a:xfrm>
                <a:off x="6047952" y="1572588"/>
                <a:ext cx="145815" cy="145815"/>
              </a:xfrm>
              <a:prstGeom prst="ellipse">
                <a:avLst/>
              </a:prstGeom>
              <a:solidFill>
                <a:srgbClr val="FFFFFF"/>
              </a:solidFill>
              <a:ln w="38100" cap="rnd" cmpd="sng">
                <a:solidFill>
                  <a:srgbClr val="000000"/>
                </a:solidFill>
                <a:prstDash val="dot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1200"/>
                  <a:buFont typeface="Malgun Gothic"/>
                  <a:buNone/>
                </a:pPr>
                <a:endParaRPr sz="1200" b="0" i="1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25" name="Google Shape;625;p14"/>
            <p:cNvGrpSpPr/>
            <p:nvPr/>
          </p:nvGrpSpPr>
          <p:grpSpPr>
            <a:xfrm>
              <a:off x="6089017" y="3906078"/>
              <a:ext cx="230832" cy="528064"/>
              <a:chOff x="6385942" y="1572588"/>
              <a:chExt cx="230832" cy="528064"/>
            </a:xfrm>
          </p:grpSpPr>
          <p:sp>
            <p:nvSpPr>
              <p:cNvPr id="626" name="Google Shape;626;p14"/>
              <p:cNvSpPr txBox="1"/>
              <p:nvPr/>
            </p:nvSpPr>
            <p:spPr>
              <a:xfrm>
                <a:off x="6385942" y="1823653"/>
                <a:ext cx="23083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금융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연계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7" name="Google Shape;627;p14"/>
              <p:cNvSpPr/>
              <p:nvPr/>
            </p:nvSpPr>
            <p:spPr>
              <a:xfrm>
                <a:off x="6428451" y="1572588"/>
                <a:ext cx="145815" cy="145815"/>
              </a:xfrm>
              <a:prstGeom prst="ellipse">
                <a:avLst/>
              </a:prstGeom>
              <a:solidFill>
                <a:srgbClr val="FFFFFF"/>
              </a:solidFill>
              <a:ln w="38100" cap="rnd" cmpd="sng">
                <a:solidFill>
                  <a:srgbClr val="000000"/>
                </a:solidFill>
                <a:prstDash val="dot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1200"/>
                  <a:buFont typeface="Malgun Gothic"/>
                  <a:buNone/>
                </a:pPr>
                <a:endParaRPr sz="1200" b="0" i="1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28" name="Google Shape;628;p14"/>
            <p:cNvGrpSpPr/>
            <p:nvPr/>
          </p:nvGrpSpPr>
          <p:grpSpPr>
            <a:xfrm>
              <a:off x="6372986" y="3906078"/>
              <a:ext cx="346250" cy="528064"/>
              <a:chOff x="6178159" y="1179874"/>
              <a:chExt cx="346250" cy="528064"/>
            </a:xfrm>
          </p:grpSpPr>
          <p:sp>
            <p:nvSpPr>
              <p:cNvPr id="629" name="Google Shape;629;p14"/>
              <p:cNvSpPr txBox="1"/>
              <p:nvPr/>
            </p:nvSpPr>
            <p:spPr>
              <a:xfrm>
                <a:off x="6178159" y="1430939"/>
                <a:ext cx="34625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로그인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(선택)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14"/>
              <p:cNvSpPr/>
              <p:nvPr/>
            </p:nvSpPr>
            <p:spPr>
              <a:xfrm>
                <a:off x="6278376" y="1179874"/>
                <a:ext cx="145815" cy="145815"/>
              </a:xfrm>
              <a:prstGeom prst="ellipse">
                <a:avLst/>
              </a:prstGeom>
              <a:solidFill>
                <a:srgbClr val="FFFFFF"/>
              </a:solidFill>
              <a:ln w="38100" cap="rnd" cmpd="sng">
                <a:solidFill>
                  <a:srgbClr val="000000"/>
                </a:solidFill>
                <a:prstDash val="dot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1200"/>
                  <a:buFont typeface="Malgun Gothic"/>
                  <a:buNone/>
                </a:pPr>
                <a:endParaRPr sz="1200" b="0" i="1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31" name="Google Shape;631;p14"/>
            <p:cNvGrpSpPr/>
            <p:nvPr/>
          </p:nvGrpSpPr>
          <p:grpSpPr>
            <a:xfrm>
              <a:off x="3149147" y="3913413"/>
              <a:ext cx="461666" cy="520730"/>
              <a:chOff x="3268115" y="1579923"/>
              <a:chExt cx="461666" cy="520730"/>
            </a:xfrm>
          </p:grpSpPr>
          <p:sp>
            <p:nvSpPr>
              <p:cNvPr id="632" name="Google Shape;632;p14"/>
              <p:cNvSpPr txBox="1"/>
              <p:nvPr/>
            </p:nvSpPr>
            <p:spPr>
              <a:xfrm>
                <a:off x="3268115" y="1823654"/>
                <a:ext cx="46166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선호정보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입력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33" name="Google Shape;633;p14"/>
              <p:cNvSpPr/>
              <p:nvPr/>
            </p:nvSpPr>
            <p:spPr>
              <a:xfrm>
                <a:off x="3426041" y="1579923"/>
                <a:ext cx="145815" cy="145815"/>
              </a:xfrm>
              <a:prstGeom prst="ellipse">
                <a:avLst/>
              </a:prstGeom>
              <a:solidFill>
                <a:schemeClr val="dk2"/>
              </a:solidFill>
              <a:ln w="38100" cap="rnd" cmpd="sng">
                <a:solidFill>
                  <a:srgbClr val="000000"/>
                </a:solidFill>
                <a:prstDash val="dot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1200"/>
                  <a:buFont typeface="Malgun Gothic"/>
                  <a:buNone/>
                </a:pPr>
                <a:endParaRPr sz="1200" b="0" i="1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34" name="Google Shape;634;p14"/>
            <p:cNvGrpSpPr/>
            <p:nvPr/>
          </p:nvGrpSpPr>
          <p:grpSpPr>
            <a:xfrm>
              <a:off x="2777525" y="3913413"/>
              <a:ext cx="346250" cy="520730"/>
              <a:chOff x="2849572" y="1579923"/>
              <a:chExt cx="346250" cy="520730"/>
            </a:xfrm>
          </p:grpSpPr>
          <p:sp>
            <p:nvSpPr>
              <p:cNvPr id="635" name="Google Shape;635;p14"/>
              <p:cNvSpPr txBox="1"/>
              <p:nvPr/>
            </p:nvSpPr>
            <p:spPr>
              <a:xfrm>
                <a:off x="2849572" y="1823654"/>
                <a:ext cx="34625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로그인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(선택)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14"/>
              <p:cNvSpPr/>
              <p:nvPr/>
            </p:nvSpPr>
            <p:spPr>
              <a:xfrm>
                <a:off x="2949790" y="1579923"/>
                <a:ext cx="145815" cy="145815"/>
              </a:xfrm>
              <a:prstGeom prst="ellipse">
                <a:avLst/>
              </a:prstGeom>
              <a:solidFill>
                <a:schemeClr val="dk2"/>
              </a:solidFill>
              <a:ln w="38100" cap="rnd" cmpd="sng">
                <a:solidFill>
                  <a:srgbClr val="000000"/>
                </a:solidFill>
                <a:prstDash val="dot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1200"/>
                  <a:buFont typeface="Malgun Gothic"/>
                  <a:buNone/>
                </a:pPr>
                <a:endParaRPr sz="1200" b="0" i="1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637" name="Google Shape;637;p14"/>
            <p:cNvCxnSpPr>
              <a:stCxn id="613" idx="3"/>
              <a:endCxn id="529" idx="1"/>
            </p:cNvCxnSpPr>
            <p:nvPr/>
          </p:nvCxnSpPr>
          <p:spPr>
            <a:xfrm>
              <a:off x="8595446" y="3988566"/>
              <a:ext cx="2983500" cy="0"/>
            </a:xfrm>
            <a:prstGeom prst="straightConnector1">
              <a:avLst/>
            </a:prstGeom>
            <a:noFill/>
            <a:ln w="57150" cap="rnd" cmpd="sng">
              <a:solidFill>
                <a:srgbClr val="BFBFBF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638" name="Google Shape;638;p14"/>
            <p:cNvGrpSpPr/>
            <p:nvPr/>
          </p:nvGrpSpPr>
          <p:grpSpPr>
            <a:xfrm>
              <a:off x="7777544" y="3888186"/>
              <a:ext cx="461666" cy="572626"/>
              <a:chOff x="8800593" y="1547076"/>
              <a:chExt cx="461666" cy="572626"/>
            </a:xfrm>
          </p:grpSpPr>
          <p:sp>
            <p:nvSpPr>
              <p:cNvPr id="639" name="Google Shape;639;p14"/>
              <p:cNvSpPr txBox="1"/>
              <p:nvPr/>
            </p:nvSpPr>
            <p:spPr>
              <a:xfrm>
                <a:off x="8800593" y="1842703"/>
                <a:ext cx="46166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결제정보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입력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593" name="Google Shape;593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935201" y="1547076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40" name="Google Shape;640;p14"/>
            <p:cNvGrpSpPr/>
            <p:nvPr/>
          </p:nvGrpSpPr>
          <p:grpSpPr>
            <a:xfrm>
              <a:off x="10589597" y="3880566"/>
              <a:ext cx="461666" cy="568816"/>
              <a:chOff x="10640193" y="1154362"/>
              <a:chExt cx="461666" cy="568816"/>
            </a:xfrm>
          </p:grpSpPr>
          <p:pic>
            <p:nvPicPr>
              <p:cNvPr id="641" name="Google Shape;641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774797" y="1154362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2" name="Google Shape;642;p14"/>
              <p:cNvSpPr txBox="1"/>
              <p:nvPr/>
            </p:nvSpPr>
            <p:spPr>
              <a:xfrm>
                <a:off x="10640193" y="1446179"/>
                <a:ext cx="46166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구매경험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리뷰작성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43" name="Google Shape;643;p14"/>
            <p:cNvGrpSpPr/>
            <p:nvPr/>
          </p:nvGrpSpPr>
          <p:grpSpPr>
            <a:xfrm>
              <a:off x="9328613" y="3880566"/>
              <a:ext cx="461665" cy="565006"/>
              <a:chOff x="9823156" y="1154362"/>
              <a:chExt cx="461665" cy="565006"/>
            </a:xfrm>
          </p:grpSpPr>
          <p:pic>
            <p:nvPicPr>
              <p:cNvPr id="644" name="Google Shape;644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957765" y="1154362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5" name="Google Shape;645;p14"/>
              <p:cNvSpPr txBox="1"/>
              <p:nvPr/>
            </p:nvSpPr>
            <p:spPr>
              <a:xfrm>
                <a:off x="9823156" y="1442369"/>
                <a:ext cx="4616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Spoke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무인픽업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46" name="Google Shape;646;p14"/>
            <p:cNvGrpSpPr/>
            <p:nvPr/>
          </p:nvGrpSpPr>
          <p:grpSpPr>
            <a:xfrm>
              <a:off x="10243625" y="3880566"/>
              <a:ext cx="230832" cy="572626"/>
              <a:chOff x="10216198" y="1547076"/>
              <a:chExt cx="230832" cy="572626"/>
            </a:xfrm>
          </p:grpSpPr>
          <p:pic>
            <p:nvPicPr>
              <p:cNvPr id="597" name="Google Shape;597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223614" y="1547076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7" name="Google Shape;647;p14"/>
              <p:cNvSpPr txBox="1"/>
              <p:nvPr/>
            </p:nvSpPr>
            <p:spPr>
              <a:xfrm>
                <a:off x="10216198" y="1842703"/>
                <a:ext cx="23083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자동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결제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48" name="Google Shape;648;p14"/>
            <p:cNvGrpSpPr/>
            <p:nvPr/>
          </p:nvGrpSpPr>
          <p:grpSpPr>
            <a:xfrm>
              <a:off x="6765337" y="5428163"/>
              <a:ext cx="482504" cy="553576"/>
              <a:chOff x="7079465" y="1547076"/>
              <a:chExt cx="482504" cy="553576"/>
            </a:xfrm>
          </p:grpSpPr>
          <p:sp>
            <p:nvSpPr>
              <p:cNvPr id="649" name="Google Shape;649;p14"/>
              <p:cNvSpPr txBox="1"/>
              <p:nvPr/>
            </p:nvSpPr>
            <p:spPr>
              <a:xfrm>
                <a:off x="7079465" y="1823653"/>
                <a:ext cx="48250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My Page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카트등록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650" name="Google Shape;650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212716" y="1547076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51" name="Google Shape;651;p14"/>
            <p:cNvGrpSpPr/>
            <p:nvPr/>
          </p:nvGrpSpPr>
          <p:grpSpPr>
            <a:xfrm>
              <a:off x="8256613" y="3880566"/>
              <a:ext cx="461666" cy="572626"/>
              <a:chOff x="7510232" y="1547076"/>
              <a:chExt cx="461666" cy="572626"/>
            </a:xfrm>
          </p:grpSpPr>
          <p:sp>
            <p:nvSpPr>
              <p:cNvPr id="652" name="Google Shape;652;p14"/>
              <p:cNvSpPr txBox="1"/>
              <p:nvPr/>
            </p:nvSpPr>
            <p:spPr>
              <a:xfrm>
                <a:off x="7510232" y="1842703"/>
                <a:ext cx="46166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Spoke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무인체험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613" name="Google Shape;613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633064" y="1547076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53" name="Google Shape;653;p14"/>
            <p:cNvGrpSpPr/>
            <p:nvPr/>
          </p:nvGrpSpPr>
          <p:grpSpPr>
            <a:xfrm>
              <a:off x="7258381" y="3924659"/>
              <a:ext cx="545022" cy="521796"/>
              <a:chOff x="8267836" y="1198455"/>
              <a:chExt cx="545022" cy="521796"/>
            </a:xfrm>
          </p:grpSpPr>
          <p:sp>
            <p:nvSpPr>
              <p:cNvPr id="654" name="Google Shape;654;p14"/>
              <p:cNvSpPr txBox="1"/>
              <p:nvPr/>
            </p:nvSpPr>
            <p:spPr>
              <a:xfrm>
                <a:off x="8267836" y="1443252"/>
                <a:ext cx="54502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로그인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(필수시점)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4"/>
              <p:cNvSpPr/>
              <p:nvPr/>
            </p:nvSpPr>
            <p:spPr>
              <a:xfrm>
                <a:off x="8467439" y="1198455"/>
                <a:ext cx="145815" cy="145815"/>
              </a:xfrm>
              <a:prstGeom prst="ellipse">
                <a:avLst/>
              </a:prstGeom>
              <a:solidFill>
                <a:schemeClr val="dk2"/>
              </a:solidFill>
              <a:ln w="38100" cap="rnd" cmpd="sng">
                <a:solidFill>
                  <a:srgbClr val="000000"/>
                </a:solidFill>
                <a:prstDash val="dot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C30"/>
                  </a:buClr>
                  <a:buSzPts val="1200"/>
                  <a:buFont typeface="Malgun Gothic"/>
                  <a:buNone/>
                </a:pPr>
                <a:endParaRPr sz="1200" b="0" i="1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55" name="Google Shape;655;p14"/>
            <p:cNvGrpSpPr/>
            <p:nvPr/>
          </p:nvGrpSpPr>
          <p:grpSpPr>
            <a:xfrm>
              <a:off x="9825011" y="4781926"/>
              <a:ext cx="230832" cy="673010"/>
              <a:chOff x="9864461" y="3098010"/>
              <a:chExt cx="230832" cy="673010"/>
            </a:xfrm>
          </p:grpSpPr>
          <p:pic>
            <p:nvPicPr>
              <p:cNvPr id="598" name="Google Shape;598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871876" y="3098010"/>
                <a:ext cx="216002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6" name="Google Shape;656;p14"/>
              <p:cNvSpPr txBox="1"/>
              <p:nvPr/>
            </p:nvSpPr>
            <p:spPr>
              <a:xfrm>
                <a:off x="9864461" y="3355522"/>
                <a:ext cx="230832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진행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현황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확인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57" name="Google Shape;657;p14"/>
            <p:cNvGrpSpPr/>
            <p:nvPr/>
          </p:nvGrpSpPr>
          <p:grpSpPr>
            <a:xfrm>
              <a:off x="11571432" y="3880566"/>
              <a:ext cx="230832" cy="561196"/>
              <a:chOff x="11321812" y="1154362"/>
              <a:chExt cx="230832" cy="561196"/>
            </a:xfrm>
          </p:grpSpPr>
          <p:pic>
            <p:nvPicPr>
              <p:cNvPr id="529" name="Google Shape;529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329228" y="1154362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8" name="Google Shape;658;p14"/>
              <p:cNvSpPr txBox="1"/>
              <p:nvPr/>
            </p:nvSpPr>
            <p:spPr>
              <a:xfrm>
                <a:off x="11321812" y="1438559"/>
                <a:ext cx="23083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신차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구매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59" name="Google Shape;659;p14"/>
            <p:cNvGrpSpPr/>
            <p:nvPr/>
          </p:nvGrpSpPr>
          <p:grpSpPr>
            <a:xfrm>
              <a:off x="11080266" y="3880566"/>
              <a:ext cx="461665" cy="561196"/>
              <a:chOff x="11206396" y="1154362"/>
              <a:chExt cx="461665" cy="561196"/>
            </a:xfrm>
          </p:grpSpPr>
          <p:pic>
            <p:nvPicPr>
              <p:cNvPr id="660" name="Google Shape;660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329228" y="1154362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1" name="Google Shape;661;p14"/>
              <p:cNvSpPr txBox="1"/>
              <p:nvPr/>
            </p:nvSpPr>
            <p:spPr>
              <a:xfrm>
                <a:off x="11206396" y="1438559"/>
                <a:ext cx="4616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SNS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지인공유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62" name="Google Shape;662;p14"/>
            <p:cNvGrpSpPr/>
            <p:nvPr/>
          </p:nvGrpSpPr>
          <p:grpSpPr>
            <a:xfrm>
              <a:off x="8372030" y="4781926"/>
              <a:ext cx="230832" cy="523675"/>
              <a:chOff x="9410444" y="2433196"/>
              <a:chExt cx="230832" cy="523675"/>
            </a:xfrm>
          </p:grpSpPr>
          <p:pic>
            <p:nvPicPr>
              <p:cNvPr id="595" name="Google Shape;595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417861" y="2433196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3" name="Google Shape;663;p14"/>
              <p:cNvSpPr txBox="1"/>
              <p:nvPr/>
            </p:nvSpPr>
            <p:spPr>
              <a:xfrm>
                <a:off x="9410444" y="2679872"/>
                <a:ext cx="23083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Hub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방문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64" name="Google Shape;664;p14"/>
            <p:cNvGrpSpPr/>
            <p:nvPr/>
          </p:nvGrpSpPr>
          <p:grpSpPr>
            <a:xfrm>
              <a:off x="6887364" y="4781926"/>
              <a:ext cx="230832" cy="523675"/>
              <a:chOff x="9410445" y="2248062"/>
              <a:chExt cx="230832" cy="523675"/>
            </a:xfrm>
          </p:grpSpPr>
          <p:pic>
            <p:nvPicPr>
              <p:cNvPr id="620" name="Google Shape;620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417861" y="2248062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5" name="Google Shape;665;p14"/>
              <p:cNvSpPr txBox="1"/>
              <p:nvPr/>
            </p:nvSpPr>
            <p:spPr>
              <a:xfrm>
                <a:off x="9410445" y="2494738"/>
                <a:ext cx="23083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시승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신청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66" name="Google Shape;666;p14"/>
            <p:cNvGrpSpPr/>
            <p:nvPr/>
          </p:nvGrpSpPr>
          <p:grpSpPr>
            <a:xfrm>
              <a:off x="8701855" y="4781926"/>
              <a:ext cx="230832" cy="434126"/>
              <a:chOff x="7625649" y="1547076"/>
              <a:chExt cx="230832" cy="434126"/>
            </a:xfrm>
          </p:grpSpPr>
          <p:sp>
            <p:nvSpPr>
              <p:cNvPr id="667" name="Google Shape;667;p14"/>
              <p:cNvSpPr txBox="1"/>
              <p:nvPr/>
            </p:nvSpPr>
            <p:spPr>
              <a:xfrm>
                <a:off x="7625649" y="1842703"/>
                <a:ext cx="230832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시승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668" name="Google Shape;668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633064" y="1547076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69" name="Google Shape;669;p14"/>
            <p:cNvGrpSpPr/>
            <p:nvPr/>
          </p:nvGrpSpPr>
          <p:grpSpPr>
            <a:xfrm>
              <a:off x="6771947" y="3880566"/>
              <a:ext cx="461666" cy="572626"/>
              <a:chOff x="7510232" y="1547076"/>
              <a:chExt cx="461666" cy="572626"/>
            </a:xfrm>
          </p:grpSpPr>
          <p:sp>
            <p:nvSpPr>
              <p:cNvPr id="670" name="Google Shape;670;p14"/>
              <p:cNvSpPr txBox="1"/>
              <p:nvPr/>
            </p:nvSpPr>
            <p:spPr>
              <a:xfrm>
                <a:off x="7510232" y="1842703"/>
                <a:ext cx="46166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Spoke</a:t>
                </a:r>
                <a:b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sz="9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체험예약</a:t>
                </a:r>
                <a:endParaRPr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pic>
            <p:nvPicPr>
              <p:cNvPr id="671" name="Google Shape;671;p14" descr="그림 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633064" y="1547076"/>
                <a:ext cx="216001" cy="21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672" name="Google Shape;672;p14"/>
            <p:cNvCxnSpPr>
              <a:stCxn id="668" idx="1"/>
              <a:endCxn id="595" idx="3"/>
            </p:cNvCxnSpPr>
            <p:nvPr/>
          </p:nvCxnSpPr>
          <p:spPr>
            <a:xfrm rot="10800000">
              <a:off x="8595570" y="4889926"/>
              <a:ext cx="113700" cy="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73" name="Google Shape;673;p14"/>
            <p:cNvCxnSpPr>
              <a:stCxn id="574" idx="1"/>
              <a:endCxn id="668" idx="3"/>
            </p:cNvCxnSpPr>
            <p:nvPr/>
          </p:nvCxnSpPr>
          <p:spPr>
            <a:xfrm rot="10800000">
              <a:off x="8925244" y="4889927"/>
              <a:ext cx="526200" cy="0"/>
            </a:xfrm>
            <a:prstGeom prst="straightConnector1">
              <a:avLst/>
            </a:prstGeom>
            <a:noFill/>
            <a:ln w="57150" cap="rnd" cmpd="sng">
              <a:solidFill>
                <a:srgbClr val="000000">
                  <a:alpha val="4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74" name="Google Shape;674;p14"/>
          <p:cNvSpPr/>
          <p:nvPr/>
        </p:nvSpPr>
        <p:spPr>
          <a:xfrm>
            <a:off x="2437731" y="5411584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내차 </a:t>
            </a: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4"/>
          <p:cNvSpPr/>
          <p:nvPr/>
        </p:nvSpPr>
        <p:spPr>
          <a:xfrm>
            <a:off x="5093821" y="5411584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</a:t>
            </a: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정보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4"/>
          <p:cNvSpPr/>
          <p:nvPr/>
        </p:nvSpPr>
        <p:spPr>
          <a:xfrm>
            <a:off x="6897692" y="5411584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</a:t>
            </a: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 입력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4"/>
          <p:cNvSpPr/>
          <p:nvPr/>
        </p:nvSpPr>
        <p:spPr>
          <a:xfrm>
            <a:off x="9014256" y="5411584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</a:t>
            </a: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4"/>
          <p:cNvSpPr/>
          <p:nvPr/>
        </p:nvSpPr>
        <p:spPr>
          <a:xfrm>
            <a:off x="10374165" y="5411584"/>
            <a:ext cx="1211181" cy="3392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</a:t>
            </a: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9" name="Google Shape;679;p14"/>
          <p:cNvCxnSpPr>
            <a:stCxn id="674" idx="3"/>
            <a:endCxn id="675" idx="1"/>
          </p:cNvCxnSpPr>
          <p:nvPr/>
        </p:nvCxnSpPr>
        <p:spPr>
          <a:xfrm>
            <a:off x="3648912" y="5581213"/>
            <a:ext cx="14448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80" name="Google Shape;680;p14"/>
          <p:cNvCxnSpPr>
            <a:stCxn id="675" idx="3"/>
            <a:endCxn id="676" idx="1"/>
          </p:cNvCxnSpPr>
          <p:nvPr/>
        </p:nvCxnSpPr>
        <p:spPr>
          <a:xfrm>
            <a:off x="6305002" y="5581213"/>
            <a:ext cx="5928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81" name="Google Shape;681;p14"/>
          <p:cNvCxnSpPr>
            <a:stCxn id="676" idx="3"/>
            <a:endCxn id="677" idx="1"/>
          </p:cNvCxnSpPr>
          <p:nvPr/>
        </p:nvCxnSpPr>
        <p:spPr>
          <a:xfrm>
            <a:off x="8108873" y="5581213"/>
            <a:ext cx="9054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82" name="Google Shape;682;p14"/>
          <p:cNvCxnSpPr>
            <a:stCxn id="677" idx="3"/>
            <a:endCxn id="678" idx="1"/>
          </p:cNvCxnSpPr>
          <p:nvPr/>
        </p:nvCxnSpPr>
        <p:spPr>
          <a:xfrm>
            <a:off x="10225437" y="5581213"/>
            <a:ext cx="1488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5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8" name="Google Shape;688;p15"/>
          <p:cNvSpPr txBox="1">
            <a:spLocks noGrp="1"/>
          </p:cNvSpPr>
          <p:nvPr>
            <p:ph type="ctrTitle"/>
          </p:nvPr>
        </p:nvSpPr>
        <p:spPr>
          <a:xfrm>
            <a:off x="717391" y="2344464"/>
            <a:ext cx="10671969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rPr lang="en-US"/>
              <a:t>레이아웃</a:t>
            </a:r>
            <a:endParaRPr/>
          </a:p>
        </p:txBody>
      </p:sp>
      <p:sp>
        <p:nvSpPr>
          <p:cNvPr id="689" name="Google Shape;689;p15"/>
          <p:cNvSpPr txBox="1"/>
          <p:nvPr/>
        </p:nvSpPr>
        <p:spPr>
          <a:xfrm>
            <a:off x="691264" y="1602382"/>
            <a:ext cx="93723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8A"/>
              </a:buClr>
              <a:buSzPts val="4000"/>
              <a:buFont typeface="Malgun Gothic"/>
              <a:buNone/>
            </a:pPr>
            <a:r>
              <a:rPr lang="en-US" sz="4000" b="1" i="0" u="none" strike="noStrike" cap="none">
                <a:solidFill>
                  <a:srgbClr val="00458A"/>
                </a:solidFill>
                <a:latin typeface="Malgun Gothic"/>
                <a:ea typeface="Malgun Gothic"/>
                <a:cs typeface="Malgun Gothic"/>
                <a:sym typeface="Malgun Gothic"/>
              </a:rPr>
              <a:t>03.</a:t>
            </a:r>
            <a:endParaRPr sz="4000" b="1" i="0" u="none" strike="noStrike" cap="none">
              <a:solidFill>
                <a:srgbClr val="0045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0" name="Google Shape;690;p15"/>
          <p:cNvSpPr txBox="1"/>
          <p:nvPr/>
        </p:nvSpPr>
        <p:spPr>
          <a:xfrm>
            <a:off x="801186" y="2995755"/>
            <a:ext cx="768096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Tab Bar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GNB Area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 Area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Layer Pop-up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 Unit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6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6" name="Google Shape;696;p16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Header는 탐색 과정 중 각 화면의 특성에 맞춰 제공한다.</a:t>
            </a:r>
            <a:endParaRPr/>
          </a:p>
        </p:txBody>
      </p:sp>
      <p:sp>
        <p:nvSpPr>
          <p:cNvPr id="697" name="Google Shape;697;p16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1) Header</a:t>
            </a:r>
            <a:endParaRPr/>
          </a:p>
        </p:txBody>
      </p:sp>
      <p:grpSp>
        <p:nvGrpSpPr>
          <p:cNvPr id="698" name="Google Shape;698;p16"/>
          <p:cNvGrpSpPr/>
          <p:nvPr/>
        </p:nvGrpSpPr>
        <p:grpSpPr>
          <a:xfrm>
            <a:off x="1555181" y="1375954"/>
            <a:ext cx="2690948" cy="761322"/>
            <a:chOff x="1555181" y="1375954"/>
            <a:chExt cx="2690948" cy="761322"/>
          </a:xfrm>
        </p:grpSpPr>
        <p:sp>
          <p:nvSpPr>
            <p:cNvPr id="699" name="Google Shape;699;p16"/>
            <p:cNvSpPr/>
            <p:nvPr/>
          </p:nvSpPr>
          <p:spPr>
            <a:xfrm>
              <a:off x="1555181" y="1375955"/>
              <a:ext cx="2690948" cy="761321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700" name="Google Shape;700;p16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701" name="Google Shape;701;p16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2" name="Google Shape;702;p16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703" name="Google Shape;703;p16"/>
          <p:cNvGraphicFramePr/>
          <p:nvPr/>
        </p:nvGraphicFramePr>
        <p:xfrm>
          <a:off x="5277395" y="2412052"/>
          <a:ext cx="5425450" cy="20322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메인화면에서는 로고와 검색/ 차고 링크를 제공한다.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공통 헤더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서브 화면 공통 헤더는 뒤로 버튼과 타이틀 차고 링크를 제공한다.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 상세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 상세는 타이틀 영역을 생략한 채 노출된다.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뒤로 버튼과 검색/ 홈/ 차고 링크를 제공한다.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장바구니, 주문서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장바구니 및 주문서는 주문에 집중할 수 있도록 뒤로 버튼만 제공한다.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검색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검색은 검색바를 헤더 영역에 노출한다.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뒤로 버튼과 취소(닫기)버튼을 제공한다. 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04" name="Google Shape;704;p16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 영역은 디자인 적으로 생략될 수 있으나 이전/다음 페이지와의 연속성을 위해 영역을 확보하도록 한다.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5" name="Google Shape;705;p16"/>
          <p:cNvSpPr/>
          <p:nvPr/>
        </p:nvSpPr>
        <p:spPr>
          <a:xfrm>
            <a:off x="1320116" y="1699973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06" name="Google Shape;706;p16"/>
          <p:cNvGrpSpPr/>
          <p:nvPr/>
        </p:nvGrpSpPr>
        <p:grpSpPr>
          <a:xfrm>
            <a:off x="1555181" y="2349863"/>
            <a:ext cx="2690948" cy="774327"/>
            <a:chOff x="1555181" y="1375954"/>
            <a:chExt cx="2690948" cy="774327"/>
          </a:xfrm>
        </p:grpSpPr>
        <p:sp>
          <p:nvSpPr>
            <p:cNvPr id="707" name="Google Shape;707;p16"/>
            <p:cNvSpPr/>
            <p:nvPr/>
          </p:nvSpPr>
          <p:spPr>
            <a:xfrm>
              <a:off x="1555181" y="1375955"/>
              <a:ext cx="2690948" cy="774326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708" name="Google Shape;708;p16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709" name="Google Shape;709;p16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10" name="Google Shape;710;p16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711" name="Google Shape;711;p16"/>
          <p:cNvSpPr/>
          <p:nvPr/>
        </p:nvSpPr>
        <p:spPr>
          <a:xfrm>
            <a:off x="1320116" y="267388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12" name="Google Shape;712;p16"/>
          <p:cNvGrpSpPr/>
          <p:nvPr/>
        </p:nvGrpSpPr>
        <p:grpSpPr>
          <a:xfrm>
            <a:off x="1555181" y="3362022"/>
            <a:ext cx="2690948" cy="765654"/>
            <a:chOff x="1555181" y="1375954"/>
            <a:chExt cx="2690948" cy="765654"/>
          </a:xfrm>
        </p:grpSpPr>
        <p:sp>
          <p:nvSpPr>
            <p:cNvPr id="713" name="Google Shape;713;p16"/>
            <p:cNvSpPr/>
            <p:nvPr/>
          </p:nvSpPr>
          <p:spPr>
            <a:xfrm>
              <a:off x="1555181" y="1375955"/>
              <a:ext cx="2690948" cy="765653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714" name="Google Shape;714;p16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715" name="Google Shape;715;p16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16" name="Google Shape;716;p16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717" name="Google Shape;717;p16"/>
          <p:cNvSpPr/>
          <p:nvPr/>
        </p:nvSpPr>
        <p:spPr>
          <a:xfrm>
            <a:off x="1320116" y="3686041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18" name="Google Shape;718;p16"/>
          <p:cNvGrpSpPr/>
          <p:nvPr/>
        </p:nvGrpSpPr>
        <p:grpSpPr>
          <a:xfrm>
            <a:off x="1555181" y="4366245"/>
            <a:ext cx="2690948" cy="755099"/>
            <a:chOff x="1555181" y="1375954"/>
            <a:chExt cx="2690948" cy="755099"/>
          </a:xfrm>
        </p:grpSpPr>
        <p:sp>
          <p:nvSpPr>
            <p:cNvPr id="719" name="Google Shape;719;p16"/>
            <p:cNvSpPr/>
            <p:nvPr/>
          </p:nvSpPr>
          <p:spPr>
            <a:xfrm>
              <a:off x="1555181" y="1375955"/>
              <a:ext cx="2690948" cy="75509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720" name="Google Shape;720;p16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721" name="Google Shape;721;p16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22" name="Google Shape;722;p16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723" name="Google Shape;723;p16"/>
          <p:cNvSpPr/>
          <p:nvPr/>
        </p:nvSpPr>
        <p:spPr>
          <a:xfrm>
            <a:off x="1320116" y="4690264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24" name="Google Shape;724;p16"/>
          <p:cNvGrpSpPr/>
          <p:nvPr/>
        </p:nvGrpSpPr>
        <p:grpSpPr>
          <a:xfrm>
            <a:off x="1555808" y="1578614"/>
            <a:ext cx="2690948" cy="360000"/>
            <a:chOff x="1555808" y="1578614"/>
            <a:chExt cx="2690948" cy="360000"/>
          </a:xfrm>
        </p:grpSpPr>
        <p:sp>
          <p:nvSpPr>
            <p:cNvPr id="725" name="Google Shape;725;p16"/>
            <p:cNvSpPr/>
            <p:nvPr/>
          </p:nvSpPr>
          <p:spPr>
            <a:xfrm>
              <a:off x="1555808" y="1578614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1617478" y="1625193"/>
              <a:ext cx="481832" cy="260695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3916174" y="1634476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3612104" y="1631339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9" name="Google Shape;729;p16"/>
          <p:cNvGrpSpPr/>
          <p:nvPr/>
        </p:nvGrpSpPr>
        <p:grpSpPr>
          <a:xfrm>
            <a:off x="1555808" y="2552523"/>
            <a:ext cx="2690948" cy="363954"/>
            <a:chOff x="1555808" y="2552523"/>
            <a:chExt cx="2690948" cy="363954"/>
          </a:xfrm>
        </p:grpSpPr>
        <p:sp>
          <p:nvSpPr>
            <p:cNvPr id="730" name="Google Shape;730;p16"/>
            <p:cNvSpPr/>
            <p:nvPr/>
          </p:nvSpPr>
          <p:spPr>
            <a:xfrm>
              <a:off x="1555808" y="2552523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1" name="Google Shape;731;p16"/>
            <p:cNvSpPr/>
            <p:nvPr/>
          </p:nvSpPr>
          <p:spPr>
            <a:xfrm flipH="1">
              <a:off x="1645444" y="2676741"/>
              <a:ext cx="57524" cy="117201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2" name="Google Shape;732;p16"/>
            <p:cNvSpPr txBox="1"/>
            <p:nvPr/>
          </p:nvSpPr>
          <p:spPr>
            <a:xfrm>
              <a:off x="1794681" y="2552523"/>
              <a:ext cx="2224585" cy="363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TITLE</a:t>
              </a:r>
              <a:endParaRPr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3916174" y="2617513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4" name="Google Shape;734;p16"/>
          <p:cNvGrpSpPr/>
          <p:nvPr/>
        </p:nvGrpSpPr>
        <p:grpSpPr>
          <a:xfrm>
            <a:off x="1645444" y="3641258"/>
            <a:ext cx="2530820" cy="255349"/>
            <a:chOff x="1645444" y="3641258"/>
            <a:chExt cx="2530820" cy="255349"/>
          </a:xfrm>
        </p:grpSpPr>
        <p:sp>
          <p:nvSpPr>
            <p:cNvPr id="735" name="Google Shape;735;p16"/>
            <p:cNvSpPr/>
            <p:nvPr/>
          </p:nvSpPr>
          <p:spPr>
            <a:xfrm flipH="1">
              <a:off x="1645444" y="3700486"/>
              <a:ext cx="57524" cy="117201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3916174" y="364125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3273195" y="364231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3596869" y="364231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9" name="Google Shape;739;p16"/>
          <p:cNvGrpSpPr/>
          <p:nvPr/>
        </p:nvGrpSpPr>
        <p:grpSpPr>
          <a:xfrm>
            <a:off x="1555808" y="4567455"/>
            <a:ext cx="2690948" cy="363954"/>
            <a:chOff x="1555808" y="4567455"/>
            <a:chExt cx="2690948" cy="363954"/>
          </a:xfrm>
        </p:grpSpPr>
        <p:sp>
          <p:nvSpPr>
            <p:cNvPr id="740" name="Google Shape;740;p16"/>
            <p:cNvSpPr/>
            <p:nvPr/>
          </p:nvSpPr>
          <p:spPr>
            <a:xfrm>
              <a:off x="1555808" y="4568905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1" name="Google Shape;741;p16"/>
            <p:cNvSpPr/>
            <p:nvPr/>
          </p:nvSpPr>
          <p:spPr>
            <a:xfrm flipH="1">
              <a:off x="1645444" y="4691673"/>
              <a:ext cx="57524" cy="117201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2" name="Google Shape;742;p16"/>
            <p:cNvSpPr txBox="1"/>
            <p:nvPr/>
          </p:nvSpPr>
          <p:spPr>
            <a:xfrm>
              <a:off x="1794681" y="4567455"/>
              <a:ext cx="2224585" cy="363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CART</a:t>
              </a:r>
              <a:endParaRPr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43" name="Google Shape;743;p16"/>
          <p:cNvGrpSpPr/>
          <p:nvPr/>
        </p:nvGrpSpPr>
        <p:grpSpPr>
          <a:xfrm>
            <a:off x="1555181" y="5373995"/>
            <a:ext cx="2690948" cy="755099"/>
            <a:chOff x="1555181" y="1375954"/>
            <a:chExt cx="2690948" cy="755099"/>
          </a:xfrm>
        </p:grpSpPr>
        <p:sp>
          <p:nvSpPr>
            <p:cNvPr id="744" name="Google Shape;744;p16"/>
            <p:cNvSpPr/>
            <p:nvPr/>
          </p:nvSpPr>
          <p:spPr>
            <a:xfrm>
              <a:off x="1555181" y="1375955"/>
              <a:ext cx="2690948" cy="75509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745" name="Google Shape;745;p16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746" name="Google Shape;746;p16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7" name="Google Shape;747;p16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748" name="Google Shape;748;p16"/>
          <p:cNvSpPr/>
          <p:nvPr/>
        </p:nvSpPr>
        <p:spPr>
          <a:xfrm>
            <a:off x="1320116" y="5698014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49" name="Google Shape;749;p16"/>
          <p:cNvGrpSpPr/>
          <p:nvPr/>
        </p:nvGrpSpPr>
        <p:grpSpPr>
          <a:xfrm>
            <a:off x="1555808" y="5576655"/>
            <a:ext cx="2690948" cy="360000"/>
            <a:chOff x="1555808" y="5576655"/>
            <a:chExt cx="2690948" cy="360000"/>
          </a:xfrm>
        </p:grpSpPr>
        <p:sp>
          <p:nvSpPr>
            <p:cNvPr id="750" name="Google Shape;750;p16"/>
            <p:cNvSpPr/>
            <p:nvPr/>
          </p:nvSpPr>
          <p:spPr>
            <a:xfrm>
              <a:off x="1555808" y="5576655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1" name="Google Shape;751;p16"/>
            <p:cNvSpPr/>
            <p:nvPr/>
          </p:nvSpPr>
          <p:spPr>
            <a:xfrm flipH="1">
              <a:off x="1645444" y="5699423"/>
              <a:ext cx="57524" cy="117201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1901189" y="5646658"/>
              <a:ext cx="1955769" cy="230499"/>
            </a:xfrm>
            <a:prstGeom prst="roundRect">
              <a:avLst>
                <a:gd name="adj" fmla="val 8265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차량 모델명을 입력하세요.</a:t>
              </a:r>
              <a:endParaRPr sz="8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3" name="Google Shape;753;p16"/>
            <p:cNvSpPr/>
            <p:nvPr/>
          </p:nvSpPr>
          <p:spPr>
            <a:xfrm rot="2646491">
              <a:off x="4019982" y="5698283"/>
              <a:ext cx="118612" cy="117796"/>
            </a:xfrm>
            <a:prstGeom prst="plus">
              <a:avLst>
                <a:gd name="adj" fmla="val 457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3642360" y="5708198"/>
              <a:ext cx="102870" cy="102870"/>
            </a:xfrm>
            <a:prstGeom prst="donut">
              <a:avLst>
                <a:gd name="adj" fmla="val 972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755" name="Google Shape;755;p16"/>
            <p:cNvCxnSpPr/>
            <p:nvPr/>
          </p:nvCxnSpPr>
          <p:spPr>
            <a:xfrm>
              <a:off x="3725479" y="5785388"/>
              <a:ext cx="29540" cy="29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56" name="Google Shape;756;p16"/>
          <p:cNvSpPr/>
          <p:nvPr/>
        </p:nvSpPr>
        <p:spPr>
          <a:xfrm>
            <a:off x="4027217" y="1620528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7" name="Google Shape;757;p16"/>
          <p:cNvSpPr/>
          <p:nvPr/>
        </p:nvSpPr>
        <p:spPr>
          <a:xfrm>
            <a:off x="4027217" y="2607751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8" name="Google Shape;758;p16"/>
          <p:cNvSpPr/>
          <p:nvPr/>
        </p:nvSpPr>
        <p:spPr>
          <a:xfrm>
            <a:off x="4027217" y="3633212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7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4" name="Google Shape;764;p17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Tab Bar는 탐색 과정 중 각 화면의 특성에 맞춰 제공한다.</a:t>
            </a:r>
            <a:endParaRPr/>
          </a:p>
        </p:txBody>
      </p:sp>
      <p:sp>
        <p:nvSpPr>
          <p:cNvPr id="765" name="Google Shape;765;p17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2) Tab Bar</a:t>
            </a:r>
            <a:endParaRPr/>
          </a:p>
        </p:txBody>
      </p:sp>
      <p:grpSp>
        <p:nvGrpSpPr>
          <p:cNvPr id="766" name="Google Shape;766;p17"/>
          <p:cNvGrpSpPr/>
          <p:nvPr/>
        </p:nvGrpSpPr>
        <p:grpSpPr>
          <a:xfrm>
            <a:off x="1555181" y="1375954"/>
            <a:ext cx="2690948" cy="943352"/>
            <a:chOff x="1555181" y="1375954"/>
            <a:chExt cx="2690948" cy="943352"/>
          </a:xfrm>
        </p:grpSpPr>
        <p:sp>
          <p:nvSpPr>
            <p:cNvPr id="767" name="Google Shape;767;p17"/>
            <p:cNvSpPr/>
            <p:nvPr/>
          </p:nvSpPr>
          <p:spPr>
            <a:xfrm>
              <a:off x="1555181" y="1375955"/>
              <a:ext cx="2690948" cy="94335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768" name="Google Shape;768;p17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769" name="Google Shape;769;p17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0" name="Google Shape;770;p17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771" name="Google Shape;771;p17"/>
          <p:cNvGraphicFramePr/>
          <p:nvPr/>
        </p:nvGraphicFramePr>
        <p:xfrm>
          <a:off x="5277395" y="2412052"/>
          <a:ext cx="5425450" cy="232596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공통 탭바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홈 : 홈 화면으로 이동되며, 아이콘이 활성화된다. 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메뉴 : 메뉴 화면으로 이동되며, 아이콘이 활성화된다.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검색 : 검색 화면으로 이동되며, 아이콘이 활성화된다.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마이 : 마이페이지로 이동되며, 아이콘이 활성화된다.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찜 : 찜+최근본 페이지로 이동되며, 아이콘이 활성화된다.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상품상세</a:t>
                      </a: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바로구매 : 주문서로 이동되어 주문 프로세스를 시작한다.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장바구니 : 장바구니에 담긴다.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찜 : 해당 차량이 찜에 담긴다.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장바구니</a:t>
                      </a: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선택된 1건의 차량을 주문서로 주문할 수 있다. 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주문서 작성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주문서 작성 후 ‘결제하기’ 버튼으로 결제페이지로 이동한다.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결제하기 페이지에서는 ‘결제완료’로 노출된다.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2" name="Google Shape;772;p17"/>
          <p:cNvSpPr/>
          <p:nvPr/>
        </p:nvSpPr>
        <p:spPr>
          <a:xfrm>
            <a:off x="1555248" y="1961465"/>
            <a:ext cx="2690948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9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3" name="Google Shape;773;p17"/>
          <p:cNvSpPr/>
          <p:nvPr/>
        </p:nvSpPr>
        <p:spPr>
          <a:xfrm>
            <a:off x="1327736" y="2019585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4" name="Google Shape;774;p17"/>
          <p:cNvSpPr/>
          <p:nvPr/>
        </p:nvSpPr>
        <p:spPr>
          <a:xfrm>
            <a:off x="1684534" y="2021978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7"/>
          <p:cNvSpPr/>
          <p:nvPr/>
        </p:nvSpPr>
        <p:spPr>
          <a:xfrm>
            <a:off x="2769646" y="2021978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7"/>
          <p:cNvSpPr/>
          <p:nvPr/>
        </p:nvSpPr>
        <p:spPr>
          <a:xfrm>
            <a:off x="2227090" y="2021978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17"/>
          <p:cNvSpPr/>
          <p:nvPr/>
        </p:nvSpPr>
        <p:spPr>
          <a:xfrm>
            <a:off x="3312202" y="2021978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7"/>
          <p:cNvSpPr/>
          <p:nvPr/>
        </p:nvSpPr>
        <p:spPr>
          <a:xfrm>
            <a:off x="1555181" y="1375954"/>
            <a:ext cx="2690948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9" name="Google Shape;779;p17"/>
          <p:cNvGrpSpPr/>
          <p:nvPr/>
        </p:nvGrpSpPr>
        <p:grpSpPr>
          <a:xfrm>
            <a:off x="1555181" y="2545317"/>
            <a:ext cx="2690948" cy="943352"/>
            <a:chOff x="1555181" y="1375954"/>
            <a:chExt cx="2690948" cy="943352"/>
          </a:xfrm>
        </p:grpSpPr>
        <p:sp>
          <p:nvSpPr>
            <p:cNvPr id="780" name="Google Shape;780;p17"/>
            <p:cNvSpPr/>
            <p:nvPr/>
          </p:nvSpPr>
          <p:spPr>
            <a:xfrm>
              <a:off x="1555181" y="1375955"/>
              <a:ext cx="2690948" cy="94335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781" name="Google Shape;781;p17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782" name="Google Shape;782;p17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3" name="Google Shape;783;p17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784" name="Google Shape;784;p17"/>
          <p:cNvSpPr/>
          <p:nvPr/>
        </p:nvSpPr>
        <p:spPr>
          <a:xfrm>
            <a:off x="1327736" y="3188948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5" name="Google Shape;785;p17"/>
          <p:cNvSpPr/>
          <p:nvPr/>
        </p:nvSpPr>
        <p:spPr>
          <a:xfrm>
            <a:off x="1555181" y="2545317"/>
            <a:ext cx="2690948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6" name="Google Shape;786;p17"/>
          <p:cNvGrpSpPr/>
          <p:nvPr/>
        </p:nvGrpSpPr>
        <p:grpSpPr>
          <a:xfrm>
            <a:off x="1555181" y="3714680"/>
            <a:ext cx="2690948" cy="943352"/>
            <a:chOff x="1555181" y="1375954"/>
            <a:chExt cx="2690948" cy="943352"/>
          </a:xfrm>
        </p:grpSpPr>
        <p:sp>
          <p:nvSpPr>
            <p:cNvPr id="787" name="Google Shape;787;p17"/>
            <p:cNvSpPr/>
            <p:nvPr/>
          </p:nvSpPr>
          <p:spPr>
            <a:xfrm>
              <a:off x="1555181" y="1375955"/>
              <a:ext cx="2690948" cy="94335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788" name="Google Shape;788;p17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789" name="Google Shape;789;p17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0" name="Google Shape;790;p17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791" name="Google Shape;791;p17"/>
          <p:cNvSpPr/>
          <p:nvPr/>
        </p:nvSpPr>
        <p:spPr>
          <a:xfrm>
            <a:off x="1327736" y="4358311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2" name="Google Shape;792;p17"/>
          <p:cNvSpPr/>
          <p:nvPr/>
        </p:nvSpPr>
        <p:spPr>
          <a:xfrm>
            <a:off x="1555181" y="3714680"/>
            <a:ext cx="2690948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3" name="Google Shape;793;p17"/>
          <p:cNvGrpSpPr/>
          <p:nvPr/>
        </p:nvGrpSpPr>
        <p:grpSpPr>
          <a:xfrm>
            <a:off x="1555181" y="4899433"/>
            <a:ext cx="2690948" cy="943352"/>
            <a:chOff x="1555181" y="1375954"/>
            <a:chExt cx="2690948" cy="943352"/>
          </a:xfrm>
        </p:grpSpPr>
        <p:sp>
          <p:nvSpPr>
            <p:cNvPr id="794" name="Google Shape;794;p17"/>
            <p:cNvSpPr/>
            <p:nvPr/>
          </p:nvSpPr>
          <p:spPr>
            <a:xfrm>
              <a:off x="1555181" y="1375955"/>
              <a:ext cx="2690948" cy="94335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795" name="Google Shape;795;p17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796" name="Google Shape;796;p17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7" name="Google Shape;797;p17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798" name="Google Shape;798;p17"/>
          <p:cNvSpPr/>
          <p:nvPr/>
        </p:nvSpPr>
        <p:spPr>
          <a:xfrm>
            <a:off x="1327736" y="5543064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9" name="Google Shape;799;p17"/>
          <p:cNvSpPr/>
          <p:nvPr/>
        </p:nvSpPr>
        <p:spPr>
          <a:xfrm>
            <a:off x="1555181" y="4899433"/>
            <a:ext cx="2690948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7"/>
          <p:cNvSpPr/>
          <p:nvPr/>
        </p:nvSpPr>
        <p:spPr>
          <a:xfrm>
            <a:off x="3854758" y="2021978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endParaRPr sz="7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1" name="Google Shape;801;p17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Tab Bar는 첫 진입 시 비노출 되고 스크롤 시 노출된다.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Tab Bar는 정방향 스크롤일때 비노출, 역방향 스크롤 시 노출된다.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상품상세 기능버튼 Sticky Button은 첫 진입 시 비노출되고, 스크롤 방향과 관계없이 스크롤 시 계속 노출된다.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장바구니, 주문서 Sticky Button은 첫 진입 시부터 계속 노출된다.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285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02" name="Google Shape;802;p17"/>
          <p:cNvGrpSpPr/>
          <p:nvPr/>
        </p:nvGrpSpPr>
        <p:grpSpPr>
          <a:xfrm>
            <a:off x="1555248" y="4298033"/>
            <a:ext cx="2690948" cy="361760"/>
            <a:chOff x="1555248" y="4298033"/>
            <a:chExt cx="2690948" cy="361760"/>
          </a:xfrm>
        </p:grpSpPr>
        <p:sp>
          <p:nvSpPr>
            <p:cNvPr id="803" name="Google Shape;803;p17"/>
            <p:cNvSpPr/>
            <p:nvPr/>
          </p:nvSpPr>
          <p:spPr>
            <a:xfrm>
              <a:off x="1555248" y="4298033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2901868" y="4299793"/>
              <a:ext cx="1344327" cy="360000"/>
            </a:xfrm>
            <a:prstGeom prst="rect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주문하기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7"/>
            <p:cNvSpPr txBox="1"/>
            <p:nvPr/>
          </p:nvSpPr>
          <p:spPr>
            <a:xfrm>
              <a:off x="1569931" y="4323141"/>
              <a:ext cx="1191900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algun Gothic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차량 모델명</a:t>
              </a:r>
              <a:endParaRPr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00,000,000</a:t>
              </a: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원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6" name="Google Shape;806;p17"/>
          <p:cNvGrpSpPr/>
          <p:nvPr/>
        </p:nvGrpSpPr>
        <p:grpSpPr>
          <a:xfrm>
            <a:off x="1555248" y="5481423"/>
            <a:ext cx="2690948" cy="361760"/>
            <a:chOff x="1555248" y="5481423"/>
            <a:chExt cx="2690948" cy="361760"/>
          </a:xfrm>
        </p:grpSpPr>
        <p:sp>
          <p:nvSpPr>
            <p:cNvPr id="807" name="Google Shape;807;p17"/>
            <p:cNvSpPr/>
            <p:nvPr/>
          </p:nvSpPr>
          <p:spPr>
            <a:xfrm>
              <a:off x="1555248" y="5481423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08" name="Google Shape;808;p17"/>
            <p:cNvSpPr/>
            <p:nvPr/>
          </p:nvSpPr>
          <p:spPr>
            <a:xfrm>
              <a:off x="2901868" y="5483183"/>
              <a:ext cx="1344327" cy="360000"/>
            </a:xfrm>
            <a:prstGeom prst="rect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결제하기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17"/>
            <p:cNvSpPr txBox="1"/>
            <p:nvPr/>
          </p:nvSpPr>
          <p:spPr>
            <a:xfrm>
              <a:off x="1569931" y="5506531"/>
              <a:ext cx="1191900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algun Gothic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차량 모델명</a:t>
              </a:r>
              <a:endParaRPr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00,000,000</a:t>
              </a: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원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0" name="Google Shape;810;p17"/>
          <p:cNvGrpSpPr/>
          <p:nvPr/>
        </p:nvGrpSpPr>
        <p:grpSpPr>
          <a:xfrm>
            <a:off x="1555248" y="3130252"/>
            <a:ext cx="2690948" cy="360544"/>
            <a:chOff x="1555248" y="3130252"/>
            <a:chExt cx="2690948" cy="360544"/>
          </a:xfrm>
        </p:grpSpPr>
        <p:sp>
          <p:nvSpPr>
            <p:cNvPr id="811" name="Google Shape;811;p17"/>
            <p:cNvSpPr/>
            <p:nvPr/>
          </p:nvSpPr>
          <p:spPr>
            <a:xfrm>
              <a:off x="1555248" y="3130252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2901868" y="3130796"/>
              <a:ext cx="1344327" cy="360000"/>
            </a:xfrm>
            <a:prstGeom prst="rect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바로구매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1944624" y="3130796"/>
              <a:ext cx="961819" cy="360000"/>
            </a:xfrm>
            <a:prstGeom prst="rect">
              <a:avLst/>
            </a:prstGeom>
            <a:solidFill>
              <a:srgbClr val="7F7F7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장바구니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1615737" y="318364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8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0" name="Google Shape;820;p18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모바일 Tab Bar의 메뉴 버튼을 통해 진입하며 서비스에서 제공하는 전체 정보를 확인할 수 있다.</a:t>
            </a:r>
            <a:endParaRPr/>
          </a:p>
        </p:txBody>
      </p:sp>
      <p:sp>
        <p:nvSpPr>
          <p:cNvPr id="821" name="Google Shape;821;p18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3) GNB Area</a:t>
            </a:r>
            <a:endParaRPr/>
          </a:p>
        </p:txBody>
      </p:sp>
      <p:grpSp>
        <p:nvGrpSpPr>
          <p:cNvPr id="822" name="Google Shape;822;p18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823" name="Google Shape;823;p18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24" name="Google Shape;824;p18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825" name="Google Shape;825;p18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6" name="Google Shape;826;p18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827" name="Google Shape;827;p18"/>
          <p:cNvGraphicFramePr/>
          <p:nvPr/>
        </p:nvGraphicFramePr>
        <p:xfrm>
          <a:off x="5277395" y="2412052"/>
          <a:ext cx="5425450" cy="5250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메뉴 경로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서비스에서 제공하는 우선순위에 따라 모든 서비스에 접근 가능한 경로를 제공한다.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8" name="Google Shape;828;p18"/>
          <p:cNvSpPr/>
          <p:nvPr/>
        </p:nvSpPr>
        <p:spPr>
          <a:xfrm rot="2646491">
            <a:off x="4019982" y="1695153"/>
            <a:ext cx="118612" cy="117796"/>
          </a:xfrm>
          <a:prstGeom prst="plus">
            <a:avLst>
              <a:gd name="adj" fmla="val 4579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1583921" y="1651076"/>
            <a:ext cx="266220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김현대</a:t>
            </a: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님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30" name="Google Shape;830;p18"/>
          <p:cNvGrpSpPr/>
          <p:nvPr/>
        </p:nvGrpSpPr>
        <p:grpSpPr>
          <a:xfrm>
            <a:off x="1553362" y="1977674"/>
            <a:ext cx="2690948" cy="1283686"/>
            <a:chOff x="-1348756" y="4210307"/>
            <a:chExt cx="2690948" cy="1349094"/>
          </a:xfrm>
        </p:grpSpPr>
        <p:sp>
          <p:nvSpPr>
            <p:cNvPr id="831" name="Google Shape;831;p18"/>
            <p:cNvSpPr/>
            <p:nvPr/>
          </p:nvSpPr>
          <p:spPr>
            <a:xfrm>
              <a:off x="-1348756" y="4210307"/>
              <a:ext cx="674796" cy="67479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2" name="Google Shape;832;p18"/>
            <p:cNvSpPr/>
            <p:nvPr/>
          </p:nvSpPr>
          <p:spPr>
            <a:xfrm>
              <a:off x="-1212" y="4210307"/>
              <a:ext cx="674796" cy="67479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3" name="Google Shape;833;p18"/>
            <p:cNvSpPr/>
            <p:nvPr/>
          </p:nvSpPr>
          <p:spPr>
            <a:xfrm>
              <a:off x="667396" y="4210307"/>
              <a:ext cx="674796" cy="67479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4" name="Google Shape;834;p18"/>
            <p:cNvSpPr/>
            <p:nvPr/>
          </p:nvSpPr>
          <p:spPr>
            <a:xfrm>
              <a:off x="-1348756" y="4884605"/>
              <a:ext cx="674796" cy="67479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5" name="Google Shape;835;p18"/>
            <p:cNvSpPr/>
            <p:nvPr/>
          </p:nvSpPr>
          <p:spPr>
            <a:xfrm>
              <a:off x="-676101" y="4884596"/>
              <a:ext cx="674796" cy="67479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-1212" y="4884605"/>
              <a:ext cx="674796" cy="67479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667396" y="4884605"/>
              <a:ext cx="674796" cy="67479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8" name="Google Shape;838;p18"/>
            <p:cNvSpPr/>
            <p:nvPr/>
          </p:nvSpPr>
          <p:spPr>
            <a:xfrm>
              <a:off x="-674796" y="4210307"/>
              <a:ext cx="674796" cy="67479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839" name="Google Shape;839;p18"/>
          <p:cNvSpPr/>
          <p:nvPr/>
        </p:nvSpPr>
        <p:spPr>
          <a:xfrm>
            <a:off x="2245965" y="1728244"/>
            <a:ext cx="45719" cy="87209"/>
          </a:xfrm>
          <a:prstGeom prst="chevron">
            <a:avLst>
              <a:gd name="adj" fmla="val 8515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0" name="Google Shape;840;p18"/>
          <p:cNvSpPr/>
          <p:nvPr/>
        </p:nvSpPr>
        <p:spPr>
          <a:xfrm>
            <a:off x="1554661" y="3259704"/>
            <a:ext cx="2690948" cy="9051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1" name="Google Shape;841;p18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GNB Area 내에는 모든 서비스로 이동할 수 있는 경로가 제공되어야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285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2" name="Google Shape;842;p18"/>
          <p:cNvSpPr/>
          <p:nvPr/>
        </p:nvSpPr>
        <p:spPr>
          <a:xfrm>
            <a:off x="1242282" y="1881369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3" name="Google Shape;843;p18"/>
          <p:cNvSpPr/>
          <p:nvPr/>
        </p:nvSpPr>
        <p:spPr>
          <a:xfrm>
            <a:off x="1555181" y="3343825"/>
            <a:ext cx="2690947" cy="28981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중고차 구매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4" name="Google Shape;844;p18"/>
          <p:cNvGrpSpPr/>
          <p:nvPr/>
        </p:nvGrpSpPr>
        <p:grpSpPr>
          <a:xfrm>
            <a:off x="1555180" y="3632690"/>
            <a:ext cx="2690947" cy="289819"/>
            <a:chOff x="1555181" y="3225916"/>
            <a:chExt cx="2610930" cy="289819"/>
          </a:xfrm>
        </p:grpSpPr>
        <p:sp>
          <p:nvSpPr>
            <p:cNvPr id="845" name="Google Shape;845;p18"/>
            <p:cNvSpPr/>
            <p:nvPr/>
          </p:nvSpPr>
          <p:spPr>
            <a:xfrm>
              <a:off x="1555181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BEST</a:t>
              </a: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6" name="Google Shape;846;p18"/>
            <p:cNvSpPr/>
            <p:nvPr/>
          </p:nvSpPr>
          <p:spPr>
            <a:xfrm>
              <a:off x="2860646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HOT DEAL</a:t>
              </a: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47" name="Google Shape;847;p18"/>
          <p:cNvGrpSpPr/>
          <p:nvPr/>
        </p:nvGrpSpPr>
        <p:grpSpPr>
          <a:xfrm>
            <a:off x="1555180" y="3922630"/>
            <a:ext cx="2690947" cy="289819"/>
            <a:chOff x="1555181" y="3225916"/>
            <a:chExt cx="2610930" cy="289819"/>
          </a:xfrm>
        </p:grpSpPr>
        <p:sp>
          <p:nvSpPr>
            <p:cNvPr id="848" name="Google Shape;848;p18"/>
            <p:cNvSpPr/>
            <p:nvPr/>
          </p:nvSpPr>
          <p:spPr>
            <a:xfrm>
              <a:off x="1555181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LIVE</a:t>
              </a: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2860646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온라인 전시장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0" name="Google Shape;850;p18"/>
          <p:cNvGrpSpPr/>
          <p:nvPr/>
        </p:nvGrpSpPr>
        <p:grpSpPr>
          <a:xfrm>
            <a:off x="1555180" y="4211615"/>
            <a:ext cx="2690947" cy="289819"/>
            <a:chOff x="1555181" y="3225916"/>
            <a:chExt cx="2610930" cy="289819"/>
          </a:xfrm>
        </p:grpSpPr>
        <p:sp>
          <p:nvSpPr>
            <p:cNvPr id="851" name="Google Shape;851;p18"/>
            <p:cNvSpPr/>
            <p:nvPr/>
          </p:nvSpPr>
          <p:spPr>
            <a:xfrm>
              <a:off x="1555181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기획전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18"/>
            <p:cNvSpPr/>
            <p:nvPr/>
          </p:nvSpPr>
          <p:spPr>
            <a:xfrm>
              <a:off x="2860646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할부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3" name="Google Shape;853;p18"/>
          <p:cNvSpPr/>
          <p:nvPr/>
        </p:nvSpPr>
        <p:spPr>
          <a:xfrm>
            <a:off x="1555181" y="4486965"/>
            <a:ext cx="2690947" cy="28981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중고차 판매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4" name="Google Shape;854;p18"/>
          <p:cNvGrpSpPr/>
          <p:nvPr/>
        </p:nvGrpSpPr>
        <p:grpSpPr>
          <a:xfrm>
            <a:off x="1555180" y="4775830"/>
            <a:ext cx="2690947" cy="289819"/>
            <a:chOff x="1555181" y="3225916"/>
            <a:chExt cx="2610930" cy="289819"/>
          </a:xfrm>
        </p:grpSpPr>
        <p:sp>
          <p:nvSpPr>
            <p:cNvPr id="855" name="Google Shape;855;p18"/>
            <p:cNvSpPr/>
            <p:nvPr/>
          </p:nvSpPr>
          <p:spPr>
            <a:xfrm>
              <a:off x="1555181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내차팔기</a:t>
              </a: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6" name="Google Shape;856;p18"/>
            <p:cNvSpPr/>
            <p:nvPr/>
          </p:nvSpPr>
          <p:spPr>
            <a:xfrm>
              <a:off x="2860646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신차교환</a:t>
              </a: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57" name="Google Shape;857;p18"/>
          <p:cNvGrpSpPr/>
          <p:nvPr/>
        </p:nvGrpSpPr>
        <p:grpSpPr>
          <a:xfrm>
            <a:off x="1555180" y="5065770"/>
            <a:ext cx="2690947" cy="289819"/>
            <a:chOff x="1555181" y="3225916"/>
            <a:chExt cx="2610930" cy="289819"/>
          </a:xfrm>
        </p:grpSpPr>
        <p:sp>
          <p:nvSpPr>
            <p:cNvPr id="858" name="Google Shape;858;p18"/>
            <p:cNvSpPr/>
            <p:nvPr/>
          </p:nvSpPr>
          <p:spPr>
            <a:xfrm>
              <a:off x="1555181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법인판매</a:t>
              </a: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9" name="Google Shape;859;p18"/>
            <p:cNvSpPr/>
            <p:nvPr/>
          </p:nvSpPr>
          <p:spPr>
            <a:xfrm>
              <a:off x="2860646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중고차시세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0" name="Google Shape;860;p18"/>
          <p:cNvSpPr/>
          <p:nvPr/>
        </p:nvSpPr>
        <p:spPr>
          <a:xfrm>
            <a:off x="1555181" y="5354800"/>
            <a:ext cx="2690947" cy="28981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중고차 공부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1" name="Google Shape;861;p18"/>
          <p:cNvGrpSpPr/>
          <p:nvPr/>
        </p:nvGrpSpPr>
        <p:grpSpPr>
          <a:xfrm>
            <a:off x="1555180" y="5643665"/>
            <a:ext cx="2690947" cy="289819"/>
            <a:chOff x="1555181" y="3225916"/>
            <a:chExt cx="2610930" cy="289819"/>
          </a:xfrm>
        </p:grpSpPr>
        <p:sp>
          <p:nvSpPr>
            <p:cNvPr id="862" name="Google Shape;862;p18"/>
            <p:cNvSpPr/>
            <p:nvPr/>
          </p:nvSpPr>
          <p:spPr>
            <a:xfrm>
              <a:off x="1555181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중고차 지식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8"/>
            <p:cNvSpPr/>
            <p:nvPr/>
          </p:nvSpPr>
          <p:spPr>
            <a:xfrm>
              <a:off x="2860646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트렌드 리포트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4" name="Google Shape;864;p18"/>
          <p:cNvGrpSpPr/>
          <p:nvPr/>
        </p:nvGrpSpPr>
        <p:grpSpPr>
          <a:xfrm>
            <a:off x="1555180" y="5933605"/>
            <a:ext cx="2690947" cy="289819"/>
            <a:chOff x="1555181" y="3225916"/>
            <a:chExt cx="2610930" cy="289819"/>
          </a:xfrm>
        </p:grpSpPr>
        <p:sp>
          <p:nvSpPr>
            <p:cNvPr id="865" name="Google Shape;865;p18"/>
            <p:cNvSpPr/>
            <p:nvPr/>
          </p:nvSpPr>
          <p:spPr>
            <a:xfrm>
              <a:off x="1555181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플랫폼 리뷰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2860646" y="3225916"/>
              <a:ext cx="1305465" cy="28981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 dirty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ABOUT </a:t>
              </a:r>
              <a:r>
                <a:rPr lang="en-US" sz="900" b="0" i="0" u="none" strike="noStrike" cap="none" dirty="0" smtClean="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000</a:t>
              </a:r>
              <a:endParaRPr sz="9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67" name="Google Shape;867;p18"/>
          <p:cNvGrpSpPr/>
          <p:nvPr/>
        </p:nvGrpSpPr>
        <p:grpSpPr>
          <a:xfrm>
            <a:off x="1553569" y="2042739"/>
            <a:ext cx="693888" cy="578640"/>
            <a:chOff x="249492" y="3012706"/>
            <a:chExt cx="693888" cy="578640"/>
          </a:xfrm>
        </p:grpSpPr>
        <p:sp>
          <p:nvSpPr>
            <p:cNvPr id="868" name="Google Shape;868;p18"/>
            <p:cNvSpPr/>
            <p:nvPr/>
          </p:nvSpPr>
          <p:spPr>
            <a:xfrm>
              <a:off x="414982" y="3012706"/>
              <a:ext cx="380372" cy="371898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icon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9" name="Google Shape;869;p18"/>
            <p:cNvSpPr txBox="1"/>
            <p:nvPr/>
          </p:nvSpPr>
          <p:spPr>
            <a:xfrm>
              <a:off x="249492" y="3375902"/>
              <a:ext cx="69388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구매관리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0" name="Google Shape;870;p18"/>
          <p:cNvSpPr/>
          <p:nvPr/>
        </p:nvSpPr>
        <p:spPr>
          <a:xfrm>
            <a:off x="1554661" y="6221034"/>
            <a:ext cx="2690948" cy="30168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로그아웃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1" name="Google Shape;871;p18"/>
          <p:cNvGrpSpPr/>
          <p:nvPr/>
        </p:nvGrpSpPr>
        <p:grpSpPr>
          <a:xfrm>
            <a:off x="2251975" y="2042739"/>
            <a:ext cx="630807" cy="578640"/>
            <a:chOff x="281033" y="3012706"/>
            <a:chExt cx="630807" cy="578640"/>
          </a:xfrm>
        </p:grpSpPr>
        <p:sp>
          <p:nvSpPr>
            <p:cNvPr id="872" name="Google Shape;872;p18"/>
            <p:cNvSpPr/>
            <p:nvPr/>
          </p:nvSpPr>
          <p:spPr>
            <a:xfrm>
              <a:off x="414982" y="3012706"/>
              <a:ext cx="380372" cy="371898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icon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3" name="Google Shape;873;p18"/>
            <p:cNvSpPr txBox="1"/>
            <p:nvPr/>
          </p:nvSpPr>
          <p:spPr>
            <a:xfrm>
              <a:off x="281033" y="3375902"/>
              <a:ext cx="630807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판매관리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4" name="Google Shape;874;p18"/>
          <p:cNvGrpSpPr/>
          <p:nvPr/>
        </p:nvGrpSpPr>
        <p:grpSpPr>
          <a:xfrm>
            <a:off x="2918158" y="2042739"/>
            <a:ext cx="630807" cy="578640"/>
            <a:chOff x="281033" y="3012706"/>
            <a:chExt cx="630807" cy="578640"/>
          </a:xfrm>
        </p:grpSpPr>
        <p:sp>
          <p:nvSpPr>
            <p:cNvPr id="875" name="Google Shape;875;p18"/>
            <p:cNvSpPr/>
            <p:nvPr/>
          </p:nvSpPr>
          <p:spPr>
            <a:xfrm>
              <a:off x="414982" y="3012706"/>
              <a:ext cx="380372" cy="371898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icon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6" name="Google Shape;876;p18"/>
            <p:cNvSpPr txBox="1"/>
            <p:nvPr/>
          </p:nvSpPr>
          <p:spPr>
            <a:xfrm>
              <a:off x="281033" y="3375902"/>
              <a:ext cx="630807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예약관리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7" name="Google Shape;877;p18"/>
          <p:cNvGrpSpPr/>
          <p:nvPr/>
        </p:nvGrpSpPr>
        <p:grpSpPr>
          <a:xfrm>
            <a:off x="3559967" y="2042739"/>
            <a:ext cx="693888" cy="578640"/>
            <a:chOff x="249492" y="3012706"/>
            <a:chExt cx="693888" cy="578640"/>
          </a:xfrm>
        </p:grpSpPr>
        <p:sp>
          <p:nvSpPr>
            <p:cNvPr id="878" name="Google Shape;878;p18"/>
            <p:cNvSpPr/>
            <p:nvPr/>
          </p:nvSpPr>
          <p:spPr>
            <a:xfrm>
              <a:off x="414982" y="3012706"/>
              <a:ext cx="380372" cy="371898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icon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9" name="Google Shape;879;p18"/>
            <p:cNvSpPr txBox="1"/>
            <p:nvPr/>
          </p:nvSpPr>
          <p:spPr>
            <a:xfrm>
              <a:off x="249492" y="3375902"/>
              <a:ext cx="69388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비교함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0" name="Google Shape;880;p18"/>
          <p:cNvGrpSpPr/>
          <p:nvPr/>
        </p:nvGrpSpPr>
        <p:grpSpPr>
          <a:xfrm>
            <a:off x="1553569" y="2689277"/>
            <a:ext cx="693888" cy="578640"/>
            <a:chOff x="249492" y="3012706"/>
            <a:chExt cx="693888" cy="578640"/>
          </a:xfrm>
        </p:grpSpPr>
        <p:sp>
          <p:nvSpPr>
            <p:cNvPr id="881" name="Google Shape;881;p18"/>
            <p:cNvSpPr/>
            <p:nvPr/>
          </p:nvSpPr>
          <p:spPr>
            <a:xfrm>
              <a:off x="414982" y="3012706"/>
              <a:ext cx="380372" cy="371898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icon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2" name="Google Shape;882;p18"/>
            <p:cNvSpPr txBox="1"/>
            <p:nvPr/>
          </p:nvSpPr>
          <p:spPr>
            <a:xfrm>
              <a:off x="249492" y="3375902"/>
              <a:ext cx="69388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관심차량</a:t>
              </a:r>
              <a:endParaRPr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83" name="Google Shape;883;p18"/>
          <p:cNvGrpSpPr/>
          <p:nvPr/>
        </p:nvGrpSpPr>
        <p:grpSpPr>
          <a:xfrm>
            <a:off x="2251975" y="2689277"/>
            <a:ext cx="630807" cy="578640"/>
            <a:chOff x="281033" y="3012706"/>
            <a:chExt cx="630807" cy="578640"/>
          </a:xfrm>
        </p:grpSpPr>
        <p:sp>
          <p:nvSpPr>
            <p:cNvPr id="884" name="Google Shape;884;p18"/>
            <p:cNvSpPr/>
            <p:nvPr/>
          </p:nvSpPr>
          <p:spPr>
            <a:xfrm>
              <a:off x="414982" y="3012706"/>
              <a:ext cx="380372" cy="371898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icon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5" name="Google Shape;885;p18"/>
            <p:cNvSpPr txBox="1"/>
            <p:nvPr/>
          </p:nvSpPr>
          <p:spPr>
            <a:xfrm>
              <a:off x="281033" y="3375902"/>
              <a:ext cx="630807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고객센터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6" name="Google Shape;886;p18"/>
          <p:cNvGrpSpPr/>
          <p:nvPr/>
        </p:nvGrpSpPr>
        <p:grpSpPr>
          <a:xfrm>
            <a:off x="2918158" y="2689277"/>
            <a:ext cx="630807" cy="578640"/>
            <a:chOff x="281033" y="3012706"/>
            <a:chExt cx="630807" cy="578640"/>
          </a:xfrm>
        </p:grpSpPr>
        <p:sp>
          <p:nvSpPr>
            <p:cNvPr id="887" name="Google Shape;887;p18"/>
            <p:cNvSpPr/>
            <p:nvPr/>
          </p:nvSpPr>
          <p:spPr>
            <a:xfrm>
              <a:off x="414982" y="3012706"/>
              <a:ext cx="380372" cy="371898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icon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8" name="Google Shape;888;p18"/>
            <p:cNvSpPr txBox="1"/>
            <p:nvPr/>
          </p:nvSpPr>
          <p:spPr>
            <a:xfrm>
              <a:off x="281033" y="3375902"/>
              <a:ext cx="630807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알림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9" name="Google Shape;889;p18"/>
          <p:cNvGrpSpPr/>
          <p:nvPr/>
        </p:nvGrpSpPr>
        <p:grpSpPr>
          <a:xfrm>
            <a:off x="3591508" y="2689277"/>
            <a:ext cx="630807" cy="578640"/>
            <a:chOff x="281033" y="3012706"/>
            <a:chExt cx="630807" cy="578640"/>
          </a:xfrm>
        </p:grpSpPr>
        <p:sp>
          <p:nvSpPr>
            <p:cNvPr id="890" name="Google Shape;890;p18"/>
            <p:cNvSpPr/>
            <p:nvPr/>
          </p:nvSpPr>
          <p:spPr>
            <a:xfrm>
              <a:off x="414982" y="3012706"/>
              <a:ext cx="380372" cy="371898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icon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1" name="Google Shape;891;p18"/>
            <p:cNvSpPr txBox="1"/>
            <p:nvPr/>
          </p:nvSpPr>
          <p:spPr>
            <a:xfrm>
              <a:off x="281033" y="3375902"/>
              <a:ext cx="630807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설정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2" name="Google Shape;892;p18"/>
          <p:cNvSpPr/>
          <p:nvPr/>
        </p:nvSpPr>
        <p:spPr>
          <a:xfrm>
            <a:off x="1939922" y="2066973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3" name="Google Shape;893;p18"/>
          <p:cNvSpPr/>
          <p:nvPr/>
        </p:nvSpPr>
        <p:spPr>
          <a:xfrm>
            <a:off x="2598330" y="2066973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4" name="Google Shape;894;p18"/>
          <p:cNvSpPr/>
          <p:nvPr/>
        </p:nvSpPr>
        <p:spPr>
          <a:xfrm>
            <a:off x="3271078" y="2066973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5" name="Google Shape;895;p18"/>
          <p:cNvSpPr/>
          <p:nvPr/>
        </p:nvSpPr>
        <p:spPr>
          <a:xfrm>
            <a:off x="3957515" y="2066973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6" name="Google Shape;896;p18"/>
          <p:cNvSpPr/>
          <p:nvPr/>
        </p:nvSpPr>
        <p:spPr>
          <a:xfrm>
            <a:off x="3325988" y="2716461"/>
            <a:ext cx="105153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2" name="Google Shape;902;p19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모든 본 창(Parents Window) 화면 또는 부속 창(Child Window) 의 본문 내용 영역을 말한다. </a:t>
            </a:r>
            <a:endParaRPr/>
          </a:p>
        </p:txBody>
      </p:sp>
      <p:sp>
        <p:nvSpPr>
          <p:cNvPr id="903" name="Google Shape;903;p19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4) Contents Area</a:t>
            </a:r>
            <a:endParaRPr/>
          </a:p>
        </p:txBody>
      </p:sp>
      <p:grpSp>
        <p:nvGrpSpPr>
          <p:cNvPr id="904" name="Google Shape;904;p19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905" name="Google Shape;905;p19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906" name="Google Shape;906;p19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907" name="Google Shape;907;p19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8" name="Google Shape;908;p19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909" name="Google Shape;909;p19"/>
          <p:cNvGraphicFramePr/>
          <p:nvPr/>
        </p:nvGraphicFramePr>
        <p:xfrm>
          <a:off x="5277395" y="2412052"/>
          <a:ext cx="5425450" cy="5250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영역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화면설계 시 콘텐츠 영역은 탐색에 필요한 정보, 구성요소로 자유롭게 구성할 수 있다.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10" name="Google Shape;910;p19"/>
          <p:cNvGrpSpPr/>
          <p:nvPr/>
        </p:nvGrpSpPr>
        <p:grpSpPr>
          <a:xfrm>
            <a:off x="1555181" y="1578614"/>
            <a:ext cx="2691575" cy="360000"/>
            <a:chOff x="1555181" y="1578614"/>
            <a:chExt cx="2691575" cy="360000"/>
          </a:xfrm>
        </p:grpSpPr>
        <p:sp>
          <p:nvSpPr>
            <p:cNvPr id="911" name="Google Shape;911;p19"/>
            <p:cNvSpPr/>
            <p:nvPr/>
          </p:nvSpPr>
          <p:spPr>
            <a:xfrm>
              <a:off x="1555181" y="1578614"/>
              <a:ext cx="2691575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2" name="Google Shape;912;p19"/>
            <p:cNvSpPr/>
            <p:nvPr/>
          </p:nvSpPr>
          <p:spPr>
            <a:xfrm>
              <a:off x="1617478" y="1625193"/>
              <a:ext cx="481832" cy="260695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9"/>
            <p:cNvSpPr/>
            <p:nvPr/>
          </p:nvSpPr>
          <p:spPr>
            <a:xfrm>
              <a:off x="3916174" y="1634476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9"/>
            <p:cNvSpPr/>
            <p:nvPr/>
          </p:nvSpPr>
          <p:spPr>
            <a:xfrm>
              <a:off x="3612104" y="1631339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5" name="Google Shape;915;p19"/>
          <p:cNvSpPr/>
          <p:nvPr/>
        </p:nvSpPr>
        <p:spPr>
          <a:xfrm>
            <a:off x="1555181" y="1938614"/>
            <a:ext cx="2690948" cy="4057029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sz="105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6" name="Google Shape;916;p19"/>
          <p:cNvSpPr/>
          <p:nvPr/>
        </p:nvSpPr>
        <p:spPr>
          <a:xfrm>
            <a:off x="1555248" y="5996169"/>
            <a:ext cx="2690948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9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7" name="Google Shape;917;p19"/>
          <p:cNvSpPr/>
          <p:nvPr/>
        </p:nvSpPr>
        <p:spPr>
          <a:xfrm>
            <a:off x="1684534" y="6056682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9"/>
          <p:cNvSpPr/>
          <p:nvPr/>
        </p:nvSpPr>
        <p:spPr>
          <a:xfrm>
            <a:off x="2769646" y="6056682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19"/>
          <p:cNvSpPr/>
          <p:nvPr/>
        </p:nvSpPr>
        <p:spPr>
          <a:xfrm>
            <a:off x="2227090" y="6056682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19"/>
          <p:cNvSpPr/>
          <p:nvPr/>
        </p:nvSpPr>
        <p:spPr>
          <a:xfrm>
            <a:off x="3312202" y="6056682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마이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19"/>
          <p:cNvSpPr/>
          <p:nvPr/>
        </p:nvSpPr>
        <p:spPr>
          <a:xfrm>
            <a:off x="3854758" y="6056682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9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화면으로 구성하거나 화면 내에 탭을 추가하여 화면을 분리 구성할 수 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내용은 테이블, 이미지, 동영상 등으로 자유롭게 구성할 수 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단, 내용에 구성되는 각 요소는 해당 요소의 노출 가이드/디자인 가이드에 따라 적용되어야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19"/>
          <p:cNvSpPr/>
          <p:nvPr/>
        </p:nvSpPr>
        <p:spPr>
          <a:xfrm>
            <a:off x="1327736" y="2019585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4" name="Google Shape;924;p19"/>
          <p:cNvSpPr/>
          <p:nvPr/>
        </p:nvSpPr>
        <p:spPr>
          <a:xfrm>
            <a:off x="1554554" y="2302879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영역에 문장은 이렇게 작성합니다. 8pt 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5" name="Google Shape;925;p19"/>
          <p:cNvSpPr/>
          <p:nvPr/>
        </p:nvSpPr>
        <p:spPr>
          <a:xfrm>
            <a:off x="1554554" y="2662869"/>
            <a:ext cx="2692202" cy="68485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영역 명칭 8pt Bold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영역 명칭 8pt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영역 명칭 7pt</a:t>
            </a: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6" name="Google Shape;926;p19"/>
          <p:cNvSpPr/>
          <p:nvPr/>
        </p:nvSpPr>
        <p:spPr>
          <a:xfrm>
            <a:off x="4027217" y="1620528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2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2" name="Google Shape;932;p20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모든 본 창(Parents Window) 화면의 최하단에 제공한다.</a:t>
            </a:r>
            <a:endParaRPr/>
          </a:p>
        </p:txBody>
      </p:sp>
      <p:sp>
        <p:nvSpPr>
          <p:cNvPr id="933" name="Google Shape;933;p20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5) Footer</a:t>
            </a:r>
            <a:endParaRPr/>
          </a:p>
        </p:txBody>
      </p:sp>
      <p:graphicFrame>
        <p:nvGraphicFramePr>
          <p:cNvPr id="934" name="Google Shape;934;p20"/>
          <p:cNvGraphicFramePr/>
          <p:nvPr/>
        </p:nvGraphicFramePr>
        <p:xfrm>
          <a:off x="5277395" y="2412052"/>
          <a:ext cx="5425450" cy="132852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푸터(전체 펼침)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로그아웃 : 비로그인 시 로그인, 로그인 시 로그아웃으로 노출되며, 클릭 시 로그인/아웃 처리를 수행한다.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회사소개 : 회사소개 페이지로 이동한다.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이용약관 : 이용약관 페이지로 이동한다.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개인정보처리방침 : 개인정보처리방침 페이지로 이동한다.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푸터는 사업자정보를 펼쳐서 볼 수 있도록 아코디언 형식으로 노출한다.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푸터(전체 접힘)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디폴트 접힌 상태로 노출된다.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35" name="Google Shape;935;p20"/>
          <p:cNvSpPr/>
          <p:nvPr/>
        </p:nvSpPr>
        <p:spPr>
          <a:xfrm>
            <a:off x="1555181" y="1591980"/>
            <a:ext cx="2690948" cy="133544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6" name="Google Shape;936;p20"/>
          <p:cNvSpPr/>
          <p:nvPr/>
        </p:nvSpPr>
        <p:spPr>
          <a:xfrm>
            <a:off x="1555181" y="1388267"/>
            <a:ext cx="2690948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20"/>
          <p:cNvSpPr/>
          <p:nvPr/>
        </p:nvSpPr>
        <p:spPr>
          <a:xfrm>
            <a:off x="1555181" y="2041242"/>
            <a:ext cx="2690948" cy="133806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COPYRIGHT ⓒ HYUNDAI MOTOR COMPANY.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ALL RIGHTS RESERVED. </a:t>
            </a: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algun Gothic"/>
              <a:buNone/>
            </a:pP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현대자동차㈜ 사업자 정보 △</a:t>
            </a: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algun Gothic"/>
              <a:buNone/>
            </a:pP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대표이사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주소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사업자등록번호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통신판매업신고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고객센터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이메일 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20"/>
          <p:cNvSpPr/>
          <p:nvPr/>
        </p:nvSpPr>
        <p:spPr>
          <a:xfrm>
            <a:off x="1555181" y="1791851"/>
            <a:ext cx="2690948" cy="24939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로그아웃 ㅣ 회사소개 ㅣ 이용약관 ㅣ 개인정보처리방침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20"/>
          <p:cNvSpPr/>
          <p:nvPr/>
        </p:nvSpPr>
        <p:spPr>
          <a:xfrm>
            <a:off x="1327736" y="2019585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0" name="Google Shape;940;p20"/>
          <p:cNvSpPr/>
          <p:nvPr/>
        </p:nvSpPr>
        <p:spPr>
          <a:xfrm>
            <a:off x="1555181" y="3738832"/>
            <a:ext cx="2690948" cy="9739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1" name="Google Shape;941;p20"/>
          <p:cNvSpPr/>
          <p:nvPr/>
        </p:nvSpPr>
        <p:spPr>
          <a:xfrm>
            <a:off x="1555181" y="3535119"/>
            <a:ext cx="2690948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20"/>
          <p:cNvSpPr/>
          <p:nvPr/>
        </p:nvSpPr>
        <p:spPr>
          <a:xfrm>
            <a:off x="1555181" y="4188094"/>
            <a:ext cx="2690948" cy="524718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COPYRIGHT ⓒ HYUNDAI MOTOR COMPANY.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ALL RIGHTS RESERVED. </a:t>
            </a: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algun Gothic"/>
              <a:buNone/>
            </a:pP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현대자동차㈜ 사업자 정보 ▽</a:t>
            </a: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3" name="Google Shape;943;p20"/>
          <p:cNvSpPr/>
          <p:nvPr/>
        </p:nvSpPr>
        <p:spPr>
          <a:xfrm>
            <a:off x="1555181" y="3938703"/>
            <a:ext cx="2690948" cy="24939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로그아웃 ㅣ 회사소개 ㅣ 이용약관 ㅣ 개인정보처리방침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0"/>
          <p:cNvSpPr/>
          <p:nvPr/>
        </p:nvSpPr>
        <p:spPr>
          <a:xfrm>
            <a:off x="1327736" y="4143090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5" name="Google Shape;945;p20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푸터는 기본적으로 모든 페이지에서 제공되나, 홈을 제외한 탭바를 통한 바로접속 페이지(메뉴, 검색, 마이페이지, 찜 등)는 생략된다.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2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1" name="Google Shape;951;p21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Layer Pop-up은 운영 필요에 의해 여러가지 유형으로 제공한다.</a:t>
            </a:r>
            <a:endParaRPr/>
          </a:p>
        </p:txBody>
      </p:sp>
      <p:sp>
        <p:nvSpPr>
          <p:cNvPr id="952" name="Google Shape;952;p21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6) Layer Pop-up(1/4)</a:t>
            </a:r>
            <a:endParaRPr/>
          </a:p>
        </p:txBody>
      </p:sp>
      <p:graphicFrame>
        <p:nvGraphicFramePr>
          <p:cNvPr id="953" name="Google Shape;953;p21"/>
          <p:cNvGraphicFramePr/>
          <p:nvPr/>
        </p:nvGraphicFramePr>
        <p:xfrm>
          <a:off x="5277395" y="2412052"/>
          <a:ext cx="5425450" cy="76884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마케팅 배너용 Layer Pop-up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APP, WEB 모두 적용된다.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하단에서 올라오면서 노출되는 팝업이다.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BO에서 등록한 이미지 형 배너가 노출된다.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54" name="Google Shape;954;p21"/>
          <p:cNvGrpSpPr/>
          <p:nvPr/>
        </p:nvGrpSpPr>
        <p:grpSpPr>
          <a:xfrm>
            <a:off x="1555181" y="1375954"/>
            <a:ext cx="2691575" cy="4980741"/>
            <a:chOff x="1555181" y="1375954"/>
            <a:chExt cx="2691575" cy="4980741"/>
          </a:xfrm>
        </p:grpSpPr>
        <p:grpSp>
          <p:nvGrpSpPr>
            <p:cNvPr id="955" name="Google Shape;955;p21"/>
            <p:cNvGrpSpPr/>
            <p:nvPr/>
          </p:nvGrpSpPr>
          <p:grpSpPr>
            <a:xfrm>
              <a:off x="1555181" y="1375954"/>
              <a:ext cx="2690948" cy="4980741"/>
              <a:chOff x="1555181" y="1375954"/>
              <a:chExt cx="2690948" cy="4980741"/>
            </a:xfrm>
          </p:grpSpPr>
          <p:sp>
            <p:nvSpPr>
              <p:cNvPr id="956" name="Google Shape;956;p21"/>
              <p:cNvSpPr/>
              <p:nvPr/>
            </p:nvSpPr>
            <p:spPr>
              <a:xfrm>
                <a:off x="1555181" y="1375954"/>
                <a:ext cx="2690948" cy="4980741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957" name="Google Shape;957;p21"/>
              <p:cNvGrpSpPr/>
              <p:nvPr/>
            </p:nvGrpSpPr>
            <p:grpSpPr>
              <a:xfrm>
                <a:off x="1555181" y="1375954"/>
                <a:ext cx="2690948" cy="203713"/>
                <a:chOff x="1555181" y="704832"/>
                <a:chExt cx="2690948" cy="203713"/>
              </a:xfrm>
            </p:grpSpPr>
            <p:pic>
              <p:nvPicPr>
                <p:cNvPr id="958" name="Google Shape;958;p2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26197" b="19146"/>
                <a:stretch/>
              </p:blipFill>
              <p:spPr>
                <a:xfrm>
                  <a:off x="1577746" y="717144"/>
                  <a:ext cx="2628000" cy="1685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59" name="Google Shape;959;p21"/>
                <p:cNvSpPr/>
                <p:nvPr/>
              </p:nvSpPr>
              <p:spPr>
                <a:xfrm>
                  <a:off x="1555181" y="704832"/>
                  <a:ext cx="2690948" cy="203713"/>
                </a:xfrm>
                <a:prstGeom prst="rect">
                  <a:avLst/>
                </a:prstGeom>
                <a:solidFill>
                  <a:srgbClr val="0D0D0D">
                    <a:alpha val="20000"/>
                  </a:srgbClr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960" name="Google Shape;960;p21"/>
            <p:cNvGrpSpPr/>
            <p:nvPr/>
          </p:nvGrpSpPr>
          <p:grpSpPr>
            <a:xfrm>
              <a:off x="1555808" y="1578614"/>
              <a:ext cx="2690948" cy="360000"/>
              <a:chOff x="1555808" y="1578614"/>
              <a:chExt cx="2690948" cy="360000"/>
            </a:xfrm>
          </p:grpSpPr>
          <p:sp>
            <p:nvSpPr>
              <p:cNvPr id="961" name="Google Shape;961;p21"/>
              <p:cNvSpPr/>
              <p:nvPr/>
            </p:nvSpPr>
            <p:spPr>
              <a:xfrm>
                <a:off x="1555808" y="1578614"/>
                <a:ext cx="2690948" cy="36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62" name="Google Shape;962;p21"/>
              <p:cNvSpPr/>
              <p:nvPr/>
            </p:nvSpPr>
            <p:spPr>
              <a:xfrm>
                <a:off x="1617478" y="1625193"/>
                <a:ext cx="481832" cy="26069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900"/>
                  <a:buFont typeface="Malgun Gothic"/>
                  <a:buNone/>
                </a:pPr>
                <a:r>
                  <a:rPr lang="en-US" sz="9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21"/>
              <p:cNvSpPr/>
              <p:nvPr/>
            </p:nvSpPr>
            <p:spPr>
              <a:xfrm>
                <a:off x="3916174" y="1634476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21"/>
              <p:cNvSpPr/>
              <p:nvPr/>
            </p:nvSpPr>
            <p:spPr>
              <a:xfrm>
                <a:off x="3612104" y="1631339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검색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5" name="Google Shape;965;p21"/>
            <p:cNvSpPr/>
            <p:nvPr/>
          </p:nvSpPr>
          <p:spPr>
            <a:xfrm>
              <a:off x="1555181" y="1938614"/>
              <a:ext cx="2690948" cy="4057029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Malgun Gothic"/>
                <a:buNone/>
              </a:pPr>
              <a:r>
                <a:rPr lang="en-US" sz="105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Contents</a:t>
              </a:r>
              <a:endParaRPr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66" name="Google Shape;966;p21"/>
            <p:cNvSpPr/>
            <p:nvPr/>
          </p:nvSpPr>
          <p:spPr>
            <a:xfrm>
              <a:off x="1555248" y="5996169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67" name="Google Shape;967;p21"/>
            <p:cNvSpPr/>
            <p:nvPr/>
          </p:nvSpPr>
          <p:spPr>
            <a:xfrm>
              <a:off x="1684534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21"/>
            <p:cNvSpPr/>
            <p:nvPr/>
          </p:nvSpPr>
          <p:spPr>
            <a:xfrm>
              <a:off x="2769646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1"/>
            <p:cNvSpPr/>
            <p:nvPr/>
          </p:nvSpPr>
          <p:spPr>
            <a:xfrm>
              <a:off x="2227090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1"/>
            <p:cNvSpPr/>
            <p:nvPr/>
          </p:nvSpPr>
          <p:spPr>
            <a:xfrm>
              <a:off x="3312202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1"/>
            <p:cNvSpPr/>
            <p:nvPr/>
          </p:nvSpPr>
          <p:spPr>
            <a:xfrm>
              <a:off x="3854758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72" name="Google Shape;972;p21"/>
          <p:cNvGrpSpPr/>
          <p:nvPr/>
        </p:nvGrpSpPr>
        <p:grpSpPr>
          <a:xfrm>
            <a:off x="1555182" y="4187104"/>
            <a:ext cx="2691013" cy="2175640"/>
            <a:chOff x="1555182" y="4187104"/>
            <a:chExt cx="2691013" cy="2175640"/>
          </a:xfrm>
        </p:grpSpPr>
        <p:sp>
          <p:nvSpPr>
            <p:cNvPr id="973" name="Google Shape;973;p21"/>
            <p:cNvSpPr/>
            <p:nvPr/>
          </p:nvSpPr>
          <p:spPr>
            <a:xfrm>
              <a:off x="1555182" y="4187104"/>
              <a:ext cx="2690948" cy="1809066"/>
            </a:xfrm>
            <a:prstGeom prst="round2SameRect">
              <a:avLst>
                <a:gd name="adj1" fmla="val 10040"/>
                <a:gd name="adj2" fmla="val 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Banner</a:t>
              </a: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2901868" y="6002744"/>
              <a:ext cx="1344327" cy="360000"/>
            </a:xfrm>
            <a:prstGeom prst="rect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닫기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21"/>
            <p:cNvSpPr/>
            <p:nvPr/>
          </p:nvSpPr>
          <p:spPr>
            <a:xfrm>
              <a:off x="1562248" y="6002744"/>
              <a:ext cx="1344327" cy="360000"/>
            </a:xfrm>
            <a:prstGeom prst="rect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오늘 보지 않기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6" name="Google Shape;976;p21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 배너는 메인화면에서만 제공된다.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마케팅 배너는 딤드 처리없이 노출된다.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‘닫기’ 버튼을 탭한 경우 일회성 닫기로, 재 방문 시 노출된다.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‘오늘 보지 않기’ 버튼을 탭한 경우 당일 24시까지 비노출된다.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배너 클릭 없이 바닥페이지의 콘텐츠를 탭하여 이탈한 경우 ‘닫기’ 버튼과 동일하게 간주한다. 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7" name="Google Shape;977;p21"/>
          <p:cNvSpPr/>
          <p:nvPr/>
        </p:nvSpPr>
        <p:spPr>
          <a:xfrm>
            <a:off x="1327736" y="4483815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8" name="Google Shape;978;p21"/>
          <p:cNvSpPr/>
          <p:nvPr/>
        </p:nvSpPr>
        <p:spPr>
          <a:xfrm>
            <a:off x="4027217" y="1620528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2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4" name="Google Shape;984;p22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Layer Pop-up은 운영 필요에 의해 여러가지 유형으로 제공한다.</a:t>
            </a:r>
            <a:endParaRPr/>
          </a:p>
        </p:txBody>
      </p:sp>
      <p:sp>
        <p:nvSpPr>
          <p:cNvPr id="985" name="Google Shape;985;p2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6) Layer Pop-up(2/4)</a:t>
            </a:r>
            <a:endParaRPr/>
          </a:p>
        </p:txBody>
      </p:sp>
      <p:graphicFrame>
        <p:nvGraphicFramePr>
          <p:cNvPr id="986" name="Google Shape;986;p22"/>
          <p:cNvGraphicFramePr/>
          <p:nvPr/>
        </p:nvGraphicFramePr>
        <p:xfrm>
          <a:off x="5277395" y="2412052"/>
          <a:ext cx="5425450" cy="64692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강제 업데이트 팝업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APP에서만 적용된다.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‘확인’ 시 업데이트를 수행하기 위해 앱스토어, 플레이스토어로 이동된다.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87" name="Google Shape;987;p22"/>
          <p:cNvGrpSpPr/>
          <p:nvPr/>
        </p:nvGrpSpPr>
        <p:grpSpPr>
          <a:xfrm>
            <a:off x="1554383" y="1375954"/>
            <a:ext cx="2692373" cy="4990369"/>
            <a:chOff x="1554383" y="1375954"/>
            <a:chExt cx="2692373" cy="4990369"/>
          </a:xfrm>
        </p:grpSpPr>
        <p:grpSp>
          <p:nvGrpSpPr>
            <p:cNvPr id="988" name="Google Shape;988;p22"/>
            <p:cNvGrpSpPr/>
            <p:nvPr/>
          </p:nvGrpSpPr>
          <p:grpSpPr>
            <a:xfrm>
              <a:off x="1555181" y="1375954"/>
              <a:ext cx="2690948" cy="4980741"/>
              <a:chOff x="1555181" y="1375954"/>
              <a:chExt cx="2690948" cy="4980741"/>
            </a:xfrm>
          </p:grpSpPr>
          <p:sp>
            <p:nvSpPr>
              <p:cNvPr id="989" name="Google Shape;989;p22"/>
              <p:cNvSpPr/>
              <p:nvPr/>
            </p:nvSpPr>
            <p:spPr>
              <a:xfrm>
                <a:off x="1555181" y="1375954"/>
                <a:ext cx="2690948" cy="4980741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990" name="Google Shape;990;p22"/>
              <p:cNvGrpSpPr/>
              <p:nvPr/>
            </p:nvGrpSpPr>
            <p:grpSpPr>
              <a:xfrm>
                <a:off x="1555181" y="1375954"/>
                <a:ext cx="2690948" cy="203713"/>
                <a:chOff x="1555181" y="704832"/>
                <a:chExt cx="2690948" cy="203713"/>
              </a:xfrm>
            </p:grpSpPr>
            <p:pic>
              <p:nvPicPr>
                <p:cNvPr id="991" name="Google Shape;991;p2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26197" b="19146"/>
                <a:stretch/>
              </p:blipFill>
              <p:spPr>
                <a:xfrm>
                  <a:off x="1577746" y="717144"/>
                  <a:ext cx="2628000" cy="1685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92" name="Google Shape;992;p22"/>
                <p:cNvSpPr/>
                <p:nvPr/>
              </p:nvSpPr>
              <p:spPr>
                <a:xfrm>
                  <a:off x="1555181" y="704832"/>
                  <a:ext cx="2690948" cy="203713"/>
                </a:xfrm>
                <a:prstGeom prst="rect">
                  <a:avLst/>
                </a:prstGeom>
                <a:solidFill>
                  <a:srgbClr val="0D0D0D">
                    <a:alpha val="20000"/>
                  </a:srgbClr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993" name="Google Shape;993;p22"/>
            <p:cNvGrpSpPr/>
            <p:nvPr/>
          </p:nvGrpSpPr>
          <p:grpSpPr>
            <a:xfrm>
              <a:off x="1555808" y="1578614"/>
              <a:ext cx="2690948" cy="360000"/>
              <a:chOff x="1555808" y="1578614"/>
              <a:chExt cx="2690948" cy="360000"/>
            </a:xfrm>
          </p:grpSpPr>
          <p:sp>
            <p:nvSpPr>
              <p:cNvPr id="994" name="Google Shape;994;p22"/>
              <p:cNvSpPr/>
              <p:nvPr/>
            </p:nvSpPr>
            <p:spPr>
              <a:xfrm>
                <a:off x="1555808" y="1578614"/>
                <a:ext cx="2690948" cy="36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95" name="Google Shape;995;p22"/>
              <p:cNvSpPr/>
              <p:nvPr/>
            </p:nvSpPr>
            <p:spPr>
              <a:xfrm>
                <a:off x="1617478" y="1625193"/>
                <a:ext cx="481832" cy="26069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900"/>
                  <a:buFont typeface="Malgun Gothic"/>
                  <a:buNone/>
                </a:pPr>
                <a:r>
                  <a:rPr lang="en-US" sz="9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22"/>
              <p:cNvSpPr/>
              <p:nvPr/>
            </p:nvSpPr>
            <p:spPr>
              <a:xfrm>
                <a:off x="3916174" y="1634476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" name="Google Shape;997;p22"/>
              <p:cNvSpPr/>
              <p:nvPr/>
            </p:nvSpPr>
            <p:spPr>
              <a:xfrm>
                <a:off x="3612104" y="1631339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검색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8" name="Google Shape;998;p22"/>
            <p:cNvSpPr/>
            <p:nvPr/>
          </p:nvSpPr>
          <p:spPr>
            <a:xfrm>
              <a:off x="1555181" y="1938614"/>
              <a:ext cx="2690948" cy="4057029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Malgun Gothic"/>
                <a:buNone/>
              </a:pPr>
              <a:r>
                <a:rPr lang="en-US" sz="105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Contents</a:t>
              </a:r>
              <a:endParaRPr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99" name="Google Shape;999;p22"/>
            <p:cNvSpPr/>
            <p:nvPr/>
          </p:nvSpPr>
          <p:spPr>
            <a:xfrm>
              <a:off x="1555248" y="5996169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0" name="Google Shape;1000;p22"/>
            <p:cNvSpPr/>
            <p:nvPr/>
          </p:nvSpPr>
          <p:spPr>
            <a:xfrm>
              <a:off x="1684534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22"/>
            <p:cNvSpPr/>
            <p:nvPr/>
          </p:nvSpPr>
          <p:spPr>
            <a:xfrm>
              <a:off x="2769646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2"/>
            <p:cNvSpPr/>
            <p:nvPr/>
          </p:nvSpPr>
          <p:spPr>
            <a:xfrm>
              <a:off x="2227090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22"/>
            <p:cNvSpPr/>
            <p:nvPr/>
          </p:nvSpPr>
          <p:spPr>
            <a:xfrm>
              <a:off x="3312202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2"/>
            <p:cNvSpPr/>
            <p:nvPr/>
          </p:nvSpPr>
          <p:spPr>
            <a:xfrm>
              <a:off x="3854758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5" name="Google Shape;1005;p22"/>
            <p:cNvSpPr/>
            <p:nvPr/>
          </p:nvSpPr>
          <p:spPr>
            <a:xfrm>
              <a:off x="1554383" y="1375954"/>
              <a:ext cx="2690948" cy="4990369"/>
            </a:xfrm>
            <a:prstGeom prst="rect">
              <a:avLst/>
            </a:prstGeom>
            <a:solidFill>
              <a:srgbClr val="000000">
                <a:alpha val="2941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006" name="Google Shape;1006;p22"/>
          <p:cNvGrpSpPr/>
          <p:nvPr/>
        </p:nvGrpSpPr>
        <p:grpSpPr>
          <a:xfrm>
            <a:off x="1692283" y="2090006"/>
            <a:ext cx="2406441" cy="3365397"/>
            <a:chOff x="1692283" y="2090006"/>
            <a:chExt cx="2406441" cy="3365397"/>
          </a:xfrm>
        </p:grpSpPr>
        <p:sp>
          <p:nvSpPr>
            <p:cNvPr id="1007" name="Google Shape;1007;p22"/>
            <p:cNvSpPr/>
            <p:nvPr/>
          </p:nvSpPr>
          <p:spPr>
            <a:xfrm>
              <a:off x="1692283" y="2090006"/>
              <a:ext cx="2406441" cy="3365397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Banner</a:t>
              </a: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8" name="Google Shape;1008;p22"/>
            <p:cNvSpPr/>
            <p:nvPr/>
          </p:nvSpPr>
          <p:spPr>
            <a:xfrm>
              <a:off x="2235276" y="4907917"/>
              <a:ext cx="1344327" cy="360000"/>
            </a:xfrm>
            <a:prstGeom prst="rect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확인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9" name="Google Shape;1009;p22"/>
          <p:cNvSpPr/>
          <p:nvPr/>
        </p:nvSpPr>
        <p:spPr>
          <a:xfrm>
            <a:off x="1327736" y="241205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0" name="Google Shape;1010;p22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강제 업데이트를 위한 팝업은 반드시 APP에서만 노출되어야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강제 업데이트 시 업데이트 이전 버전에서는 해당 배너가 노출되고 콘텐츠 진입을 할 수 없다.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강제 업데이트 시 업데이트 완료 버전에서는 해당 배너가 노출되지 않아야 한다. 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1" name="Google Shape;1011;p22"/>
          <p:cNvSpPr/>
          <p:nvPr/>
        </p:nvSpPr>
        <p:spPr>
          <a:xfrm>
            <a:off x="4027217" y="1620528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23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7" name="Google Shape;1017;p23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Layer Pop-up은 운영 필요에 의해 여러가지 유형으로 제공한다.</a:t>
            </a:r>
            <a:endParaRPr/>
          </a:p>
        </p:txBody>
      </p:sp>
      <p:sp>
        <p:nvSpPr>
          <p:cNvPr id="1018" name="Google Shape;1018;p23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6) Layer Pop-up(3/4)</a:t>
            </a:r>
            <a:endParaRPr/>
          </a:p>
        </p:txBody>
      </p:sp>
      <p:graphicFrame>
        <p:nvGraphicFramePr>
          <p:cNvPr id="1019" name="Google Shape;1019;p23"/>
          <p:cNvGraphicFramePr/>
          <p:nvPr/>
        </p:nvGraphicFramePr>
        <p:xfrm>
          <a:off x="5277395" y="2412052"/>
          <a:ext cx="5425450" cy="169428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메인화면 동영상 팝업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APP, WEB 모두 적용된다.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메인화면은 BO&gt;팝업관리에서 운영자가 등록하여 노출한다.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동영상 팝업은 고객에게 동일하게 노출되는 콘텐츠이다.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상품상세 동영상 팝업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APP, WEB 모두 적용된다.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상품상세 동영상 팝업은 BO&gt;상품관리에서 동영상 팝업여부에 Y처리된 상품상세에서 노출된다.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해당 팝업은 개별 상품상세에 등록된 N개의 동영상을 우선순위에 따라 노출한다.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동영상 팝업여부 Y이나 동영상 콘텐츠가 등록되지 않은 경우 노출되지 않는다.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[우선순위]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자동차 라이트 온 &gt; 이전 차주 소개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20" name="Google Shape;1020;p23"/>
          <p:cNvGrpSpPr/>
          <p:nvPr/>
        </p:nvGrpSpPr>
        <p:grpSpPr>
          <a:xfrm>
            <a:off x="1555181" y="1375954"/>
            <a:ext cx="2691575" cy="4980741"/>
            <a:chOff x="1555181" y="1375954"/>
            <a:chExt cx="2691575" cy="4980741"/>
          </a:xfrm>
        </p:grpSpPr>
        <p:grpSp>
          <p:nvGrpSpPr>
            <p:cNvPr id="1021" name="Google Shape;1021;p23"/>
            <p:cNvGrpSpPr/>
            <p:nvPr/>
          </p:nvGrpSpPr>
          <p:grpSpPr>
            <a:xfrm>
              <a:off x="1555181" y="1375954"/>
              <a:ext cx="2690948" cy="4980741"/>
              <a:chOff x="1555181" y="1375954"/>
              <a:chExt cx="2690948" cy="4980741"/>
            </a:xfrm>
          </p:grpSpPr>
          <p:sp>
            <p:nvSpPr>
              <p:cNvPr id="1022" name="Google Shape;1022;p23"/>
              <p:cNvSpPr/>
              <p:nvPr/>
            </p:nvSpPr>
            <p:spPr>
              <a:xfrm>
                <a:off x="1555181" y="1375954"/>
                <a:ext cx="2690948" cy="4980741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023" name="Google Shape;1023;p23"/>
              <p:cNvGrpSpPr/>
              <p:nvPr/>
            </p:nvGrpSpPr>
            <p:grpSpPr>
              <a:xfrm>
                <a:off x="1555181" y="1375954"/>
                <a:ext cx="2690948" cy="203713"/>
                <a:chOff x="1555181" y="704832"/>
                <a:chExt cx="2690948" cy="203713"/>
              </a:xfrm>
            </p:grpSpPr>
            <p:pic>
              <p:nvPicPr>
                <p:cNvPr id="1024" name="Google Shape;1024;p2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26197" b="19146"/>
                <a:stretch/>
              </p:blipFill>
              <p:spPr>
                <a:xfrm>
                  <a:off x="1577746" y="717144"/>
                  <a:ext cx="2628000" cy="1685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25" name="Google Shape;1025;p23"/>
                <p:cNvSpPr/>
                <p:nvPr/>
              </p:nvSpPr>
              <p:spPr>
                <a:xfrm>
                  <a:off x="1555181" y="704832"/>
                  <a:ext cx="2690948" cy="203713"/>
                </a:xfrm>
                <a:prstGeom prst="rect">
                  <a:avLst/>
                </a:prstGeom>
                <a:solidFill>
                  <a:srgbClr val="0D0D0D">
                    <a:alpha val="20000"/>
                  </a:srgbClr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1026" name="Google Shape;1026;p23"/>
            <p:cNvGrpSpPr/>
            <p:nvPr/>
          </p:nvGrpSpPr>
          <p:grpSpPr>
            <a:xfrm>
              <a:off x="1555808" y="1578614"/>
              <a:ext cx="2690948" cy="360000"/>
              <a:chOff x="1555808" y="1578614"/>
              <a:chExt cx="2690948" cy="360000"/>
            </a:xfrm>
          </p:grpSpPr>
          <p:sp>
            <p:nvSpPr>
              <p:cNvPr id="1027" name="Google Shape;1027;p23"/>
              <p:cNvSpPr/>
              <p:nvPr/>
            </p:nvSpPr>
            <p:spPr>
              <a:xfrm>
                <a:off x="1555808" y="1578614"/>
                <a:ext cx="2690948" cy="36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28" name="Google Shape;1028;p23"/>
              <p:cNvSpPr/>
              <p:nvPr/>
            </p:nvSpPr>
            <p:spPr>
              <a:xfrm>
                <a:off x="1617478" y="1625193"/>
                <a:ext cx="481832" cy="26069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900"/>
                  <a:buFont typeface="Malgun Gothic"/>
                  <a:buNone/>
                </a:pPr>
                <a:r>
                  <a:rPr lang="en-US" sz="9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23"/>
              <p:cNvSpPr/>
              <p:nvPr/>
            </p:nvSpPr>
            <p:spPr>
              <a:xfrm>
                <a:off x="3916174" y="1634476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23"/>
              <p:cNvSpPr/>
              <p:nvPr/>
            </p:nvSpPr>
            <p:spPr>
              <a:xfrm>
                <a:off x="4090975" y="1630403"/>
                <a:ext cx="111588" cy="111588"/>
              </a:xfrm>
              <a:prstGeom prst="ellipse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00"/>
                  <a:buFont typeface="Malgun Gothic"/>
                  <a:buNone/>
                </a:pPr>
                <a:r>
                  <a:rPr lang="en-US" sz="6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 sz="6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31" name="Google Shape;1031;p23"/>
              <p:cNvSpPr/>
              <p:nvPr/>
            </p:nvSpPr>
            <p:spPr>
              <a:xfrm>
                <a:off x="3612104" y="1631339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검색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2" name="Google Shape;1032;p23"/>
            <p:cNvSpPr/>
            <p:nvPr/>
          </p:nvSpPr>
          <p:spPr>
            <a:xfrm>
              <a:off x="1555181" y="1938614"/>
              <a:ext cx="2690948" cy="4057029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Malgun Gothic"/>
                <a:buNone/>
              </a:pPr>
              <a:r>
                <a:rPr lang="en-US" sz="105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Contents</a:t>
              </a:r>
              <a:endParaRPr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33" name="Google Shape;1033;p23"/>
            <p:cNvSpPr/>
            <p:nvPr/>
          </p:nvSpPr>
          <p:spPr>
            <a:xfrm>
              <a:off x="1555248" y="5996169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34" name="Google Shape;1034;p23"/>
            <p:cNvSpPr/>
            <p:nvPr/>
          </p:nvSpPr>
          <p:spPr>
            <a:xfrm>
              <a:off x="1684534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23"/>
            <p:cNvSpPr/>
            <p:nvPr/>
          </p:nvSpPr>
          <p:spPr>
            <a:xfrm>
              <a:off x="2769646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23"/>
            <p:cNvSpPr/>
            <p:nvPr/>
          </p:nvSpPr>
          <p:spPr>
            <a:xfrm>
              <a:off x="2227090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23"/>
            <p:cNvSpPr/>
            <p:nvPr/>
          </p:nvSpPr>
          <p:spPr>
            <a:xfrm>
              <a:off x="3312202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23"/>
            <p:cNvSpPr/>
            <p:nvPr/>
          </p:nvSpPr>
          <p:spPr>
            <a:xfrm>
              <a:off x="3854758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039" name="Google Shape;1039;p23"/>
          <p:cNvGrpSpPr/>
          <p:nvPr/>
        </p:nvGrpSpPr>
        <p:grpSpPr>
          <a:xfrm>
            <a:off x="1556374" y="1578227"/>
            <a:ext cx="2689821" cy="4784517"/>
            <a:chOff x="1556374" y="1578227"/>
            <a:chExt cx="2689821" cy="4784517"/>
          </a:xfrm>
        </p:grpSpPr>
        <p:sp>
          <p:nvSpPr>
            <p:cNvPr id="1040" name="Google Shape;1040;p23"/>
            <p:cNvSpPr/>
            <p:nvPr/>
          </p:nvSpPr>
          <p:spPr>
            <a:xfrm>
              <a:off x="1556374" y="1578227"/>
              <a:ext cx="2689755" cy="477794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Movie</a:t>
              </a: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41" name="Google Shape;1041;p23"/>
            <p:cNvSpPr/>
            <p:nvPr/>
          </p:nvSpPr>
          <p:spPr>
            <a:xfrm>
              <a:off x="2901868" y="6002744"/>
              <a:ext cx="1344327" cy="360000"/>
            </a:xfrm>
            <a:prstGeom prst="rect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닫기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23"/>
            <p:cNvSpPr/>
            <p:nvPr/>
          </p:nvSpPr>
          <p:spPr>
            <a:xfrm>
              <a:off x="1562248" y="6002744"/>
              <a:ext cx="1344327" cy="360000"/>
            </a:xfrm>
            <a:prstGeom prst="rect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오늘 보지 않기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3" name="Google Shape;1043;p23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동영상 팝업은 메인화면과 상품상세에서 제공된다.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동영상 팝업은 Full-Screen으로 제공되며 Play가 완료된 경우 자동적으로 ‘닫기’ 처리된다.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‘닫기’ 버튼을 탭한 경우 일회성 닫기로, 재 방문 시 노출된다.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‘오늘 보지 않기’ 버튼을 탭한 경우 당일 24시까지 비노출된다.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23"/>
          <p:cNvSpPr/>
          <p:nvPr/>
        </p:nvSpPr>
        <p:spPr>
          <a:xfrm>
            <a:off x="1327736" y="3866324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24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0" name="Google Shape;1050;p24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Layer Pop-up은 운영 필요에 의해 여러가지 유형으로 제공한다.</a:t>
            </a:r>
            <a:endParaRPr/>
          </a:p>
        </p:txBody>
      </p:sp>
      <p:sp>
        <p:nvSpPr>
          <p:cNvPr id="1051" name="Google Shape;1051;p24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6) Layer Pop-up(3/4)</a:t>
            </a:r>
            <a:endParaRPr/>
          </a:p>
        </p:txBody>
      </p:sp>
      <p:graphicFrame>
        <p:nvGraphicFramePr>
          <p:cNvPr id="1052" name="Google Shape;1052;p24"/>
          <p:cNvGraphicFramePr/>
          <p:nvPr/>
        </p:nvGraphicFramePr>
        <p:xfrm>
          <a:off x="5277395" y="2412052"/>
          <a:ext cx="5425450" cy="89076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Full Page Layer Pop-up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APP, WEB 모두 적용된다.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부모창에서 전달되는 정보보다 상세한 정보를 전달하고자 하는 경우, 부모창에서 정보를 처리할때 반드시 필요한 경우에 제공한다.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Hybrid APP으로 적용하기 위해서는 레이어가 별도의 URL을 가질 수 있어야 APP내 호출이 가능하다.</a:t>
                      </a: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53" name="Google Shape;1053;p24"/>
          <p:cNvGrpSpPr/>
          <p:nvPr/>
        </p:nvGrpSpPr>
        <p:grpSpPr>
          <a:xfrm>
            <a:off x="1555181" y="1375954"/>
            <a:ext cx="2691575" cy="4980741"/>
            <a:chOff x="1555181" y="1375954"/>
            <a:chExt cx="2691575" cy="4980741"/>
          </a:xfrm>
        </p:grpSpPr>
        <p:grpSp>
          <p:nvGrpSpPr>
            <p:cNvPr id="1054" name="Google Shape;1054;p24"/>
            <p:cNvGrpSpPr/>
            <p:nvPr/>
          </p:nvGrpSpPr>
          <p:grpSpPr>
            <a:xfrm>
              <a:off x="1555181" y="1375954"/>
              <a:ext cx="2690948" cy="4980741"/>
              <a:chOff x="1555181" y="1375954"/>
              <a:chExt cx="2690948" cy="4980741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1555181" y="1375954"/>
                <a:ext cx="2690948" cy="4980741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056" name="Google Shape;1056;p24"/>
              <p:cNvGrpSpPr/>
              <p:nvPr/>
            </p:nvGrpSpPr>
            <p:grpSpPr>
              <a:xfrm>
                <a:off x="1555181" y="1375954"/>
                <a:ext cx="2690948" cy="203713"/>
                <a:chOff x="1555181" y="704832"/>
                <a:chExt cx="2690948" cy="203713"/>
              </a:xfrm>
            </p:grpSpPr>
            <p:pic>
              <p:nvPicPr>
                <p:cNvPr id="1057" name="Google Shape;1057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26197" b="19146"/>
                <a:stretch/>
              </p:blipFill>
              <p:spPr>
                <a:xfrm>
                  <a:off x="1577746" y="717144"/>
                  <a:ext cx="2628000" cy="1685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58" name="Google Shape;1058;p24"/>
                <p:cNvSpPr/>
                <p:nvPr/>
              </p:nvSpPr>
              <p:spPr>
                <a:xfrm>
                  <a:off x="1555181" y="704832"/>
                  <a:ext cx="2690948" cy="203713"/>
                </a:xfrm>
                <a:prstGeom prst="rect">
                  <a:avLst/>
                </a:prstGeom>
                <a:solidFill>
                  <a:srgbClr val="0D0D0D">
                    <a:alpha val="20000"/>
                  </a:srgbClr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1059" name="Google Shape;1059;p24"/>
            <p:cNvGrpSpPr/>
            <p:nvPr/>
          </p:nvGrpSpPr>
          <p:grpSpPr>
            <a:xfrm>
              <a:off x="1555808" y="1578614"/>
              <a:ext cx="2690948" cy="360000"/>
              <a:chOff x="1555808" y="1578614"/>
              <a:chExt cx="2690948" cy="360000"/>
            </a:xfrm>
          </p:grpSpPr>
          <p:sp>
            <p:nvSpPr>
              <p:cNvPr id="1060" name="Google Shape;1060;p24"/>
              <p:cNvSpPr/>
              <p:nvPr/>
            </p:nvSpPr>
            <p:spPr>
              <a:xfrm>
                <a:off x="1555808" y="1578614"/>
                <a:ext cx="2690948" cy="36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1617478" y="1625193"/>
                <a:ext cx="481832" cy="26069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900"/>
                  <a:buFont typeface="Malgun Gothic"/>
                  <a:buNone/>
                </a:pPr>
                <a:r>
                  <a:rPr lang="en-US" sz="9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3916174" y="1634476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4090975" y="1630403"/>
                <a:ext cx="111588" cy="111588"/>
              </a:xfrm>
              <a:prstGeom prst="ellipse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00"/>
                  <a:buFont typeface="Malgun Gothic"/>
                  <a:buNone/>
                </a:pPr>
                <a:r>
                  <a:rPr lang="en-US" sz="6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 sz="6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3612104" y="1631339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검색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5" name="Google Shape;1065;p24"/>
            <p:cNvSpPr/>
            <p:nvPr/>
          </p:nvSpPr>
          <p:spPr>
            <a:xfrm>
              <a:off x="1555181" y="1938614"/>
              <a:ext cx="2690948" cy="4057029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Malgun Gothic"/>
                <a:buNone/>
              </a:pPr>
              <a:r>
                <a:rPr lang="en-US" sz="105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Contents</a:t>
              </a:r>
              <a:endParaRPr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6" name="Google Shape;1066;p24"/>
            <p:cNvSpPr/>
            <p:nvPr/>
          </p:nvSpPr>
          <p:spPr>
            <a:xfrm>
              <a:off x="1555248" y="5996169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1684534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24"/>
            <p:cNvSpPr/>
            <p:nvPr/>
          </p:nvSpPr>
          <p:spPr>
            <a:xfrm>
              <a:off x="2769646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24"/>
            <p:cNvSpPr/>
            <p:nvPr/>
          </p:nvSpPr>
          <p:spPr>
            <a:xfrm>
              <a:off x="2227090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24"/>
            <p:cNvSpPr/>
            <p:nvPr/>
          </p:nvSpPr>
          <p:spPr>
            <a:xfrm>
              <a:off x="3312202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24"/>
            <p:cNvSpPr/>
            <p:nvPr/>
          </p:nvSpPr>
          <p:spPr>
            <a:xfrm>
              <a:off x="3854758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72" name="Google Shape;1072;p24"/>
          <p:cNvSpPr/>
          <p:nvPr/>
        </p:nvSpPr>
        <p:spPr>
          <a:xfrm>
            <a:off x="1556374" y="1578227"/>
            <a:ext cx="2689755" cy="477794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3" name="Google Shape;1073;p24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Full page Layer Pop-up은 레이어 형식이나, 페이지와 같이 모든 기능을 제공할 수 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24"/>
          <p:cNvSpPr/>
          <p:nvPr/>
        </p:nvSpPr>
        <p:spPr>
          <a:xfrm>
            <a:off x="1327736" y="3866324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5" name="Google Shape;1075;p24"/>
          <p:cNvSpPr/>
          <p:nvPr/>
        </p:nvSpPr>
        <p:spPr>
          <a:xfrm>
            <a:off x="1555181" y="1569119"/>
            <a:ext cx="2690948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성능점검 상세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4"/>
          <p:cNvSpPr/>
          <p:nvPr/>
        </p:nvSpPr>
        <p:spPr>
          <a:xfrm rot="2646491">
            <a:off x="4019982" y="1695153"/>
            <a:ext cx="118612" cy="117796"/>
          </a:xfrm>
          <a:prstGeom prst="plus">
            <a:avLst>
              <a:gd name="adj" fmla="val 4579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25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2" name="Google Shape;1082;p25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리스트형, 썸네일형 목록에서 상품유닛을 정의한다.</a:t>
            </a:r>
            <a:endParaRPr/>
          </a:p>
        </p:txBody>
      </p:sp>
      <p:sp>
        <p:nvSpPr>
          <p:cNvPr id="1083" name="Google Shape;1083;p25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7) Product Unit(1/3)</a:t>
            </a:r>
            <a:endParaRPr/>
          </a:p>
        </p:txBody>
      </p:sp>
      <p:graphicFrame>
        <p:nvGraphicFramePr>
          <p:cNvPr id="1084" name="Google Shape;1084;p25"/>
          <p:cNvGraphicFramePr/>
          <p:nvPr/>
        </p:nvGraphicFramePr>
        <p:xfrm>
          <a:off x="5277395" y="1388266"/>
          <a:ext cx="5425450" cy="327348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대표이미지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상품의 대표이미지를 노출한다.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(1080x720px : K car 벤치마킹)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플래그</a:t>
                      </a:r>
                      <a:endParaRPr sz="8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상단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플래그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베스트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순위를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노출하거나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딜의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경우로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최대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1건을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넘지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않는다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상품명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상단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플래그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b="0" u="none" strike="noStrike" cap="none" dirty="0" smtClean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000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미각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촉각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후각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U타워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예약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가능의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경우로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최대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3건을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넘지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않는다</a:t>
                      </a:r>
                      <a:r>
                        <a:rPr lang="en-US" sz="800" b="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endParaRPr sz="1400" u="none" strike="noStrike" cap="none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상품명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모델명 : 모델명을 BOLD로 노출한다.</a:t>
                      </a:r>
                      <a:endParaRPr sz="8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트림명 : 트림명을 모델명과 함께 노출한다.</a:t>
                      </a:r>
                      <a:endParaRPr sz="8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주요정보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연식 : 연식을 노출한다.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주행거리 : 주행거리를 노출한다.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연료 : 연료방식을 노출한다.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가격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최종가(할인가) : 할인이 적용된 경우 할인가를 가장 크게 노출한다.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할인율 : 할인적용 시 판매가에서 할인이 적용된 할인율을 표기한다.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판매가 : 상품화 후 책정된 기본 판매가를 노출한다. 할인가가 없는 경우 판매가를 노출한다.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할부정보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할부정보를 노출한다. 기준정보는 최대할부 가능한 금액, 가장 낮은 금리로 적용하여 노출한다.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찜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찜한경우 아이콘이 색칠되어 노출된다. 찜한 상품의 찜버튼 클릭 시 찜이 해제되어 색이 없어진다.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085" name="Google Shape;1085;p25"/>
          <p:cNvGrpSpPr/>
          <p:nvPr/>
        </p:nvGrpSpPr>
        <p:grpSpPr>
          <a:xfrm>
            <a:off x="1555181" y="1375954"/>
            <a:ext cx="2691575" cy="4980741"/>
            <a:chOff x="1555181" y="1375954"/>
            <a:chExt cx="2691575" cy="4980741"/>
          </a:xfrm>
        </p:grpSpPr>
        <p:grpSp>
          <p:nvGrpSpPr>
            <p:cNvPr id="1086" name="Google Shape;1086;p25"/>
            <p:cNvGrpSpPr/>
            <p:nvPr/>
          </p:nvGrpSpPr>
          <p:grpSpPr>
            <a:xfrm>
              <a:off x="1555181" y="1375954"/>
              <a:ext cx="2690948" cy="4980741"/>
              <a:chOff x="1555181" y="1375954"/>
              <a:chExt cx="2690948" cy="4980741"/>
            </a:xfrm>
          </p:grpSpPr>
          <p:sp>
            <p:nvSpPr>
              <p:cNvPr id="1087" name="Google Shape;1087;p25"/>
              <p:cNvSpPr/>
              <p:nvPr/>
            </p:nvSpPr>
            <p:spPr>
              <a:xfrm>
                <a:off x="1555181" y="1375954"/>
                <a:ext cx="2690948" cy="4980741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088" name="Google Shape;1088;p25"/>
              <p:cNvGrpSpPr/>
              <p:nvPr/>
            </p:nvGrpSpPr>
            <p:grpSpPr>
              <a:xfrm>
                <a:off x="1555181" y="1375954"/>
                <a:ext cx="2690948" cy="203713"/>
                <a:chOff x="1555181" y="704832"/>
                <a:chExt cx="2690948" cy="203713"/>
              </a:xfrm>
            </p:grpSpPr>
            <p:pic>
              <p:nvPicPr>
                <p:cNvPr id="1089" name="Google Shape;1089;p2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26197" b="19146"/>
                <a:stretch/>
              </p:blipFill>
              <p:spPr>
                <a:xfrm>
                  <a:off x="1577746" y="717144"/>
                  <a:ext cx="2628000" cy="1685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90" name="Google Shape;1090;p25"/>
                <p:cNvSpPr/>
                <p:nvPr/>
              </p:nvSpPr>
              <p:spPr>
                <a:xfrm>
                  <a:off x="1555181" y="704832"/>
                  <a:ext cx="2690948" cy="203713"/>
                </a:xfrm>
                <a:prstGeom prst="rect">
                  <a:avLst/>
                </a:prstGeom>
                <a:solidFill>
                  <a:srgbClr val="0D0D0D">
                    <a:alpha val="20000"/>
                  </a:srgbClr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1091" name="Google Shape;1091;p25"/>
            <p:cNvGrpSpPr/>
            <p:nvPr/>
          </p:nvGrpSpPr>
          <p:grpSpPr>
            <a:xfrm>
              <a:off x="1555808" y="1578614"/>
              <a:ext cx="2690948" cy="360000"/>
              <a:chOff x="1555808" y="1578614"/>
              <a:chExt cx="2690948" cy="360000"/>
            </a:xfrm>
          </p:grpSpPr>
          <p:sp>
            <p:nvSpPr>
              <p:cNvPr id="1092" name="Google Shape;1092;p25"/>
              <p:cNvSpPr/>
              <p:nvPr/>
            </p:nvSpPr>
            <p:spPr>
              <a:xfrm>
                <a:off x="1555808" y="1578614"/>
                <a:ext cx="2690948" cy="36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93" name="Google Shape;1093;p25"/>
              <p:cNvSpPr/>
              <p:nvPr/>
            </p:nvSpPr>
            <p:spPr>
              <a:xfrm>
                <a:off x="1617478" y="1625193"/>
                <a:ext cx="481832" cy="26069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900"/>
                  <a:buFont typeface="Malgun Gothic"/>
                  <a:buNone/>
                </a:pPr>
                <a:r>
                  <a:rPr lang="en-US" sz="9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p25"/>
              <p:cNvSpPr/>
              <p:nvPr/>
            </p:nvSpPr>
            <p:spPr>
              <a:xfrm>
                <a:off x="3916174" y="1634476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25"/>
              <p:cNvSpPr/>
              <p:nvPr/>
            </p:nvSpPr>
            <p:spPr>
              <a:xfrm>
                <a:off x="4090975" y="1630403"/>
                <a:ext cx="111588" cy="111588"/>
              </a:xfrm>
              <a:prstGeom prst="ellipse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00"/>
                  <a:buFont typeface="Malgun Gothic"/>
                  <a:buNone/>
                </a:pPr>
                <a:r>
                  <a:rPr lang="en-US" sz="6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 sz="6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96" name="Google Shape;1096;p25"/>
              <p:cNvSpPr/>
              <p:nvPr/>
            </p:nvSpPr>
            <p:spPr>
              <a:xfrm>
                <a:off x="3612104" y="1631339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검색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7" name="Google Shape;1097;p25"/>
            <p:cNvSpPr/>
            <p:nvPr/>
          </p:nvSpPr>
          <p:spPr>
            <a:xfrm>
              <a:off x="1555181" y="1938614"/>
              <a:ext cx="2690948" cy="405702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Malgun Gothic"/>
                <a:buNone/>
              </a:pPr>
              <a:endParaRPr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98" name="Google Shape;1098;p25"/>
            <p:cNvSpPr/>
            <p:nvPr/>
          </p:nvSpPr>
          <p:spPr>
            <a:xfrm>
              <a:off x="1555248" y="5996169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99" name="Google Shape;1099;p25"/>
            <p:cNvSpPr/>
            <p:nvPr/>
          </p:nvSpPr>
          <p:spPr>
            <a:xfrm>
              <a:off x="1684534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25"/>
            <p:cNvSpPr/>
            <p:nvPr/>
          </p:nvSpPr>
          <p:spPr>
            <a:xfrm>
              <a:off x="2769646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25"/>
            <p:cNvSpPr/>
            <p:nvPr/>
          </p:nvSpPr>
          <p:spPr>
            <a:xfrm>
              <a:off x="2227090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25"/>
            <p:cNvSpPr/>
            <p:nvPr/>
          </p:nvSpPr>
          <p:spPr>
            <a:xfrm>
              <a:off x="3312202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25"/>
            <p:cNvSpPr/>
            <p:nvPr/>
          </p:nvSpPr>
          <p:spPr>
            <a:xfrm>
              <a:off x="3854758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04" name="Google Shape;1104;p25"/>
          <p:cNvGrpSpPr/>
          <p:nvPr/>
        </p:nvGrpSpPr>
        <p:grpSpPr>
          <a:xfrm>
            <a:off x="1555808" y="1574571"/>
            <a:ext cx="2690948" cy="363954"/>
            <a:chOff x="1555808" y="2552523"/>
            <a:chExt cx="2690948" cy="363954"/>
          </a:xfrm>
        </p:grpSpPr>
        <p:sp>
          <p:nvSpPr>
            <p:cNvPr id="1105" name="Google Shape;1105;p25"/>
            <p:cNvSpPr/>
            <p:nvPr/>
          </p:nvSpPr>
          <p:spPr>
            <a:xfrm>
              <a:off x="1555808" y="2552523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6" name="Google Shape;1106;p25"/>
            <p:cNvSpPr/>
            <p:nvPr/>
          </p:nvSpPr>
          <p:spPr>
            <a:xfrm flipH="1">
              <a:off x="1645444" y="2676741"/>
              <a:ext cx="57524" cy="117201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7" name="Google Shape;1107;p25"/>
            <p:cNvSpPr txBox="1"/>
            <p:nvPr/>
          </p:nvSpPr>
          <p:spPr>
            <a:xfrm>
              <a:off x="1794681" y="2552523"/>
              <a:ext cx="2224585" cy="363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LIST</a:t>
              </a:r>
              <a:endParaRPr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8" name="Google Shape;1108;p25"/>
            <p:cNvSpPr/>
            <p:nvPr/>
          </p:nvSpPr>
          <p:spPr>
            <a:xfrm>
              <a:off x="3916174" y="2606083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9" name="Google Shape;1109;p25"/>
          <p:cNvGrpSpPr/>
          <p:nvPr/>
        </p:nvGrpSpPr>
        <p:grpSpPr>
          <a:xfrm>
            <a:off x="1554499" y="1934059"/>
            <a:ext cx="2939778" cy="360000"/>
            <a:chOff x="1554499" y="1936396"/>
            <a:chExt cx="2939778" cy="360000"/>
          </a:xfrm>
        </p:grpSpPr>
        <p:sp>
          <p:nvSpPr>
            <p:cNvPr id="1110" name="Google Shape;1110;p25"/>
            <p:cNvSpPr/>
            <p:nvPr/>
          </p:nvSpPr>
          <p:spPr>
            <a:xfrm>
              <a:off x="1554499" y="1936396"/>
              <a:ext cx="269162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 </a:t>
              </a: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00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111" name="Google Shape;1111;p25"/>
            <p:cNvGrpSpPr/>
            <p:nvPr/>
          </p:nvGrpSpPr>
          <p:grpSpPr>
            <a:xfrm>
              <a:off x="3989070" y="2055436"/>
              <a:ext cx="134532" cy="121920"/>
              <a:chOff x="4335780" y="3314700"/>
              <a:chExt cx="266700" cy="220980"/>
            </a:xfrm>
          </p:grpSpPr>
          <p:sp>
            <p:nvSpPr>
              <p:cNvPr id="1112" name="Google Shape;1112;p25"/>
              <p:cNvSpPr/>
              <p:nvPr/>
            </p:nvSpPr>
            <p:spPr>
              <a:xfrm>
                <a:off x="4335780" y="331470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13" name="Google Shape;1113;p25"/>
              <p:cNvSpPr/>
              <p:nvPr/>
            </p:nvSpPr>
            <p:spPr>
              <a:xfrm>
                <a:off x="4335780" y="340233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14" name="Google Shape;1114;p25"/>
              <p:cNvSpPr/>
              <p:nvPr/>
            </p:nvSpPr>
            <p:spPr>
              <a:xfrm>
                <a:off x="4335780" y="348996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115" name="Google Shape;1115;p25"/>
            <p:cNvGrpSpPr/>
            <p:nvPr/>
          </p:nvGrpSpPr>
          <p:grpSpPr>
            <a:xfrm>
              <a:off x="4364737" y="2055436"/>
              <a:ext cx="129540" cy="121920"/>
              <a:chOff x="3328035" y="2152972"/>
              <a:chExt cx="184743" cy="121920"/>
            </a:xfrm>
          </p:grpSpPr>
          <p:grpSp>
            <p:nvGrpSpPr>
              <p:cNvPr id="1116" name="Google Shape;1116;p25"/>
              <p:cNvGrpSpPr/>
              <p:nvPr/>
            </p:nvGrpSpPr>
            <p:grpSpPr>
              <a:xfrm>
                <a:off x="3328035" y="2152972"/>
                <a:ext cx="45719" cy="121920"/>
                <a:chOff x="4335780" y="3314700"/>
                <a:chExt cx="266700" cy="220980"/>
              </a:xfrm>
            </p:grpSpPr>
            <p:sp>
              <p:nvSpPr>
                <p:cNvPr id="1117" name="Google Shape;1117;p25"/>
                <p:cNvSpPr/>
                <p:nvPr/>
              </p:nvSpPr>
              <p:spPr>
                <a:xfrm>
                  <a:off x="4335780" y="331470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118" name="Google Shape;1118;p25"/>
                <p:cNvSpPr/>
                <p:nvPr/>
              </p:nvSpPr>
              <p:spPr>
                <a:xfrm>
                  <a:off x="4335780" y="340233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119" name="Google Shape;1119;p25"/>
                <p:cNvSpPr/>
                <p:nvPr/>
              </p:nvSpPr>
              <p:spPr>
                <a:xfrm>
                  <a:off x="4335780" y="348996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1120" name="Google Shape;1120;p25"/>
              <p:cNvGrpSpPr/>
              <p:nvPr/>
            </p:nvGrpSpPr>
            <p:grpSpPr>
              <a:xfrm>
                <a:off x="3398479" y="2152972"/>
                <a:ext cx="45719" cy="121920"/>
                <a:chOff x="4335780" y="3314700"/>
                <a:chExt cx="266700" cy="220980"/>
              </a:xfrm>
            </p:grpSpPr>
            <p:sp>
              <p:nvSpPr>
                <p:cNvPr id="1121" name="Google Shape;1121;p25"/>
                <p:cNvSpPr/>
                <p:nvPr/>
              </p:nvSpPr>
              <p:spPr>
                <a:xfrm>
                  <a:off x="4335780" y="331470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122" name="Google Shape;1122;p25"/>
                <p:cNvSpPr/>
                <p:nvPr/>
              </p:nvSpPr>
              <p:spPr>
                <a:xfrm>
                  <a:off x="4335780" y="340233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123" name="Google Shape;1123;p25"/>
                <p:cNvSpPr/>
                <p:nvPr/>
              </p:nvSpPr>
              <p:spPr>
                <a:xfrm>
                  <a:off x="4335780" y="348996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1124" name="Google Shape;1124;p25"/>
              <p:cNvGrpSpPr/>
              <p:nvPr/>
            </p:nvGrpSpPr>
            <p:grpSpPr>
              <a:xfrm>
                <a:off x="3467059" y="2152972"/>
                <a:ext cx="45719" cy="121920"/>
                <a:chOff x="4335780" y="3314700"/>
                <a:chExt cx="266700" cy="220980"/>
              </a:xfrm>
            </p:grpSpPr>
            <p:sp>
              <p:nvSpPr>
                <p:cNvPr id="1125" name="Google Shape;1125;p25"/>
                <p:cNvSpPr/>
                <p:nvPr/>
              </p:nvSpPr>
              <p:spPr>
                <a:xfrm>
                  <a:off x="4335780" y="331470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126" name="Google Shape;1126;p25"/>
                <p:cNvSpPr/>
                <p:nvPr/>
              </p:nvSpPr>
              <p:spPr>
                <a:xfrm>
                  <a:off x="4335780" y="340233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127" name="Google Shape;1127;p25"/>
                <p:cNvSpPr/>
                <p:nvPr/>
              </p:nvSpPr>
              <p:spPr>
                <a:xfrm>
                  <a:off x="4335780" y="348996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</p:grpSp>
      <p:sp>
        <p:nvSpPr>
          <p:cNvPr id="1128" name="Google Shape;1128;p25"/>
          <p:cNvSpPr/>
          <p:nvPr/>
        </p:nvSpPr>
        <p:spPr>
          <a:xfrm>
            <a:off x="4027216" y="1625546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29" name="Google Shape;1129;p25"/>
          <p:cNvGrpSpPr/>
          <p:nvPr/>
        </p:nvGrpSpPr>
        <p:grpSpPr>
          <a:xfrm>
            <a:off x="3183045" y="1997971"/>
            <a:ext cx="707676" cy="221662"/>
            <a:chOff x="2149824" y="2537763"/>
            <a:chExt cx="707676" cy="221662"/>
          </a:xfrm>
        </p:grpSpPr>
        <p:sp>
          <p:nvSpPr>
            <p:cNvPr id="1130" name="Google Shape;1130;p25"/>
            <p:cNvSpPr/>
            <p:nvPr/>
          </p:nvSpPr>
          <p:spPr>
            <a:xfrm>
              <a:off x="2149824" y="2537763"/>
              <a:ext cx="707676" cy="221662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인기순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5"/>
            <p:cNvSpPr/>
            <p:nvPr/>
          </p:nvSpPr>
          <p:spPr>
            <a:xfrm rot="-5400000" flipH="1">
              <a:off x="2713602" y="2617666"/>
              <a:ext cx="37785" cy="69985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32" name="Google Shape;1132;p25"/>
          <p:cNvGrpSpPr/>
          <p:nvPr/>
        </p:nvGrpSpPr>
        <p:grpSpPr>
          <a:xfrm>
            <a:off x="1533146" y="2417861"/>
            <a:ext cx="1414461" cy="1867239"/>
            <a:chOff x="1530714" y="2443993"/>
            <a:chExt cx="1414461" cy="1867239"/>
          </a:xfrm>
        </p:grpSpPr>
        <p:grpSp>
          <p:nvGrpSpPr>
            <p:cNvPr id="1133" name="Google Shape;1133;p25"/>
            <p:cNvGrpSpPr/>
            <p:nvPr/>
          </p:nvGrpSpPr>
          <p:grpSpPr>
            <a:xfrm>
              <a:off x="1641540" y="2443993"/>
              <a:ext cx="1187281" cy="807073"/>
              <a:chOff x="1659705" y="2054741"/>
              <a:chExt cx="543515" cy="544442"/>
            </a:xfrm>
          </p:grpSpPr>
          <p:grpSp>
            <p:nvGrpSpPr>
              <p:cNvPr id="1134" name="Google Shape;1134;p25"/>
              <p:cNvGrpSpPr/>
              <p:nvPr/>
            </p:nvGrpSpPr>
            <p:grpSpPr>
              <a:xfrm>
                <a:off x="1659705" y="2054741"/>
                <a:ext cx="543515" cy="544442"/>
                <a:chOff x="3571333" y="3966538"/>
                <a:chExt cx="674796" cy="675947"/>
              </a:xfrm>
            </p:grpSpPr>
            <p:sp>
              <p:nvSpPr>
                <p:cNvPr id="1135" name="Google Shape;1135;p25"/>
                <p:cNvSpPr/>
                <p:nvPr/>
              </p:nvSpPr>
              <p:spPr>
                <a:xfrm>
                  <a:off x="3571333" y="3966538"/>
                  <a:ext cx="674796" cy="674796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1136" name="Google Shape;1136;p25"/>
                <p:cNvCxnSpPr/>
                <p:nvPr/>
              </p:nvCxnSpPr>
              <p:spPr>
                <a:xfrm>
                  <a:off x="3572292" y="3968115"/>
                  <a:ext cx="673837" cy="6743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137" name="Google Shape;1137;p25"/>
                <p:cNvCxnSpPr/>
                <p:nvPr/>
              </p:nvCxnSpPr>
              <p:spPr>
                <a:xfrm flipH="1">
                  <a:off x="3571333" y="3966538"/>
                  <a:ext cx="674796" cy="67479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1138" name="Google Shape;1138;p25"/>
              <p:cNvSpPr txBox="1"/>
              <p:nvPr/>
            </p:nvSpPr>
            <p:spPr>
              <a:xfrm>
                <a:off x="1721794" y="2299343"/>
                <a:ext cx="432786" cy="7862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36000" rIns="91425" bIns="360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image</a:t>
                </a: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139" name="Google Shape;1139;p25"/>
            <p:cNvSpPr/>
            <p:nvPr/>
          </p:nvSpPr>
          <p:spPr>
            <a:xfrm>
              <a:off x="1642592" y="2444685"/>
              <a:ext cx="183601" cy="17116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algun Gothic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Flag</a:t>
              </a:r>
              <a:endParaRPr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0" name="Google Shape;1140;p25"/>
            <p:cNvSpPr txBox="1"/>
            <p:nvPr/>
          </p:nvSpPr>
          <p:spPr>
            <a:xfrm>
              <a:off x="1541734" y="3497944"/>
              <a:ext cx="14034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더 뉴 그랜저 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2.5 프리미엄 초이스(2줄 노출)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1" name="Google Shape;1141;p25"/>
            <p:cNvSpPr txBox="1"/>
            <p:nvPr/>
          </p:nvSpPr>
          <p:spPr>
            <a:xfrm>
              <a:off x="1541735" y="3775038"/>
              <a:ext cx="1287086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20년식 5,6732Km 가솔린</a:t>
              </a: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142" name="Google Shape;1142;p25"/>
            <p:cNvGrpSpPr/>
            <p:nvPr/>
          </p:nvGrpSpPr>
          <p:grpSpPr>
            <a:xfrm>
              <a:off x="1641540" y="3353178"/>
              <a:ext cx="1187282" cy="122322"/>
              <a:chOff x="1641539" y="3517942"/>
              <a:chExt cx="1396633" cy="122322"/>
            </a:xfrm>
          </p:grpSpPr>
          <p:sp>
            <p:nvSpPr>
              <p:cNvPr id="1143" name="Google Shape;1143;p25"/>
              <p:cNvSpPr/>
              <p:nvPr/>
            </p:nvSpPr>
            <p:spPr>
              <a:xfrm>
                <a:off x="1641539" y="351794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2121355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2601980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146" name="Google Shape;1146;p25"/>
            <p:cNvSpPr txBox="1"/>
            <p:nvPr/>
          </p:nvSpPr>
          <p:spPr>
            <a:xfrm>
              <a:off x="1530714" y="3941900"/>
              <a:ext cx="12981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lgun Gothic"/>
                <a:buNone/>
              </a:pPr>
              <a:r>
                <a:rPr lang="en-US" sz="11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3,340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만원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할부 월 </a:t>
              </a:r>
              <a:r>
                <a:rPr lang="en-US" sz="7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71</a:t>
              </a: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만원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7" name="Google Shape;1147;p25"/>
            <p:cNvSpPr/>
            <p:nvPr/>
          </p:nvSpPr>
          <p:spPr>
            <a:xfrm>
              <a:off x="2615811" y="3044896"/>
              <a:ext cx="163348" cy="159709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48" name="Google Shape;1148;p25"/>
          <p:cNvCxnSpPr/>
          <p:nvPr/>
        </p:nvCxnSpPr>
        <p:spPr>
          <a:xfrm>
            <a:off x="2900313" y="2294059"/>
            <a:ext cx="409" cy="370211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149" name="Google Shape;1149;p25"/>
          <p:cNvSpPr/>
          <p:nvPr/>
        </p:nvSpPr>
        <p:spPr>
          <a:xfrm>
            <a:off x="1508594" y="2679573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0" name="Google Shape;1150;p25"/>
          <p:cNvSpPr/>
          <p:nvPr/>
        </p:nvSpPr>
        <p:spPr>
          <a:xfrm>
            <a:off x="1406395" y="3299246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1" name="Google Shape;1151;p25"/>
          <p:cNvSpPr/>
          <p:nvPr/>
        </p:nvSpPr>
        <p:spPr>
          <a:xfrm>
            <a:off x="1418398" y="3537875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2" name="Google Shape;1152;p25"/>
          <p:cNvSpPr/>
          <p:nvPr/>
        </p:nvSpPr>
        <p:spPr>
          <a:xfrm>
            <a:off x="1409433" y="3755658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3" name="Google Shape;1153;p25"/>
          <p:cNvSpPr/>
          <p:nvPr/>
        </p:nvSpPr>
        <p:spPr>
          <a:xfrm>
            <a:off x="2180860" y="3914394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4" name="Google Shape;1154;p25"/>
          <p:cNvSpPr/>
          <p:nvPr/>
        </p:nvSpPr>
        <p:spPr>
          <a:xfrm>
            <a:off x="2243255" y="4097474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5" name="Google Shape;1155;p25"/>
          <p:cNvSpPr/>
          <p:nvPr/>
        </p:nvSpPr>
        <p:spPr>
          <a:xfrm>
            <a:off x="2638597" y="2890276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56" name="Google Shape;1156;p25"/>
          <p:cNvGrpSpPr/>
          <p:nvPr/>
        </p:nvGrpSpPr>
        <p:grpSpPr>
          <a:xfrm>
            <a:off x="2852450" y="2417861"/>
            <a:ext cx="1414461" cy="1867239"/>
            <a:chOff x="1530714" y="2443993"/>
            <a:chExt cx="1414461" cy="1867239"/>
          </a:xfrm>
        </p:grpSpPr>
        <p:grpSp>
          <p:nvGrpSpPr>
            <p:cNvPr id="1157" name="Google Shape;1157;p25"/>
            <p:cNvGrpSpPr/>
            <p:nvPr/>
          </p:nvGrpSpPr>
          <p:grpSpPr>
            <a:xfrm>
              <a:off x="1641540" y="2443993"/>
              <a:ext cx="1187281" cy="807073"/>
              <a:chOff x="1659705" y="2054741"/>
              <a:chExt cx="543515" cy="544442"/>
            </a:xfrm>
          </p:grpSpPr>
          <p:grpSp>
            <p:nvGrpSpPr>
              <p:cNvPr id="1158" name="Google Shape;1158;p25"/>
              <p:cNvGrpSpPr/>
              <p:nvPr/>
            </p:nvGrpSpPr>
            <p:grpSpPr>
              <a:xfrm>
                <a:off x="1659705" y="2054741"/>
                <a:ext cx="543515" cy="544442"/>
                <a:chOff x="3571333" y="3966538"/>
                <a:chExt cx="674796" cy="675947"/>
              </a:xfrm>
            </p:grpSpPr>
            <p:sp>
              <p:nvSpPr>
                <p:cNvPr id="1159" name="Google Shape;1159;p25"/>
                <p:cNvSpPr/>
                <p:nvPr/>
              </p:nvSpPr>
              <p:spPr>
                <a:xfrm>
                  <a:off x="3571333" y="3966538"/>
                  <a:ext cx="674796" cy="674796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1160" name="Google Shape;1160;p25"/>
                <p:cNvCxnSpPr/>
                <p:nvPr/>
              </p:nvCxnSpPr>
              <p:spPr>
                <a:xfrm>
                  <a:off x="3572292" y="3968115"/>
                  <a:ext cx="673837" cy="6743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161" name="Google Shape;1161;p25"/>
                <p:cNvCxnSpPr/>
                <p:nvPr/>
              </p:nvCxnSpPr>
              <p:spPr>
                <a:xfrm flipH="1">
                  <a:off x="3571333" y="3966538"/>
                  <a:ext cx="674796" cy="67479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1162" name="Google Shape;1162;p25"/>
              <p:cNvSpPr txBox="1"/>
              <p:nvPr/>
            </p:nvSpPr>
            <p:spPr>
              <a:xfrm>
                <a:off x="1721794" y="2299343"/>
                <a:ext cx="432786" cy="7862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36000" rIns="91425" bIns="360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image</a:t>
                </a: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163" name="Google Shape;1163;p25"/>
            <p:cNvSpPr/>
            <p:nvPr/>
          </p:nvSpPr>
          <p:spPr>
            <a:xfrm>
              <a:off x="1642592" y="2444685"/>
              <a:ext cx="183601" cy="17116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algun Gothic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Flag</a:t>
              </a:r>
              <a:endParaRPr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4" name="Google Shape;1164;p25"/>
            <p:cNvSpPr txBox="1"/>
            <p:nvPr/>
          </p:nvSpPr>
          <p:spPr>
            <a:xfrm>
              <a:off x="1541734" y="3497944"/>
              <a:ext cx="14034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더 뉴 그랜저 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2.5 프리미엄 초이스(2줄 노출)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5" name="Google Shape;1165;p25"/>
            <p:cNvSpPr txBox="1"/>
            <p:nvPr/>
          </p:nvSpPr>
          <p:spPr>
            <a:xfrm>
              <a:off x="1541735" y="3775038"/>
              <a:ext cx="1287086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20년식 5,6732Km 가솔린</a:t>
              </a: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166" name="Google Shape;1166;p25"/>
            <p:cNvGrpSpPr/>
            <p:nvPr/>
          </p:nvGrpSpPr>
          <p:grpSpPr>
            <a:xfrm>
              <a:off x="1641540" y="3353178"/>
              <a:ext cx="1187282" cy="122322"/>
              <a:chOff x="1641539" y="3517942"/>
              <a:chExt cx="1396633" cy="122322"/>
            </a:xfrm>
          </p:grpSpPr>
          <p:sp>
            <p:nvSpPr>
              <p:cNvPr id="1167" name="Google Shape;1167;p25"/>
              <p:cNvSpPr/>
              <p:nvPr/>
            </p:nvSpPr>
            <p:spPr>
              <a:xfrm>
                <a:off x="1641539" y="351794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68" name="Google Shape;1168;p25"/>
              <p:cNvSpPr/>
              <p:nvPr/>
            </p:nvSpPr>
            <p:spPr>
              <a:xfrm>
                <a:off x="2121355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69" name="Google Shape;1169;p25"/>
              <p:cNvSpPr/>
              <p:nvPr/>
            </p:nvSpPr>
            <p:spPr>
              <a:xfrm>
                <a:off x="2601980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170" name="Google Shape;1170;p25"/>
            <p:cNvSpPr txBox="1"/>
            <p:nvPr/>
          </p:nvSpPr>
          <p:spPr>
            <a:xfrm>
              <a:off x="1530714" y="3941900"/>
              <a:ext cx="12981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lgun Gothic"/>
                <a:buNone/>
              </a:pPr>
              <a:r>
                <a:rPr lang="en-US" sz="11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3,340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만원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할부 월 </a:t>
              </a:r>
              <a:r>
                <a:rPr lang="en-US" sz="7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71</a:t>
              </a: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만원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1" name="Google Shape;1171;p25"/>
            <p:cNvSpPr/>
            <p:nvPr/>
          </p:nvSpPr>
          <p:spPr>
            <a:xfrm>
              <a:off x="2615811" y="3044896"/>
              <a:ext cx="163348" cy="159709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2" name="Google Shape;1172;p25"/>
          <p:cNvGrpSpPr/>
          <p:nvPr/>
        </p:nvGrpSpPr>
        <p:grpSpPr>
          <a:xfrm>
            <a:off x="1544166" y="4434244"/>
            <a:ext cx="1403441" cy="1531100"/>
            <a:chOff x="1541734" y="2443993"/>
            <a:chExt cx="1403441" cy="1531100"/>
          </a:xfrm>
        </p:grpSpPr>
        <p:grpSp>
          <p:nvGrpSpPr>
            <p:cNvPr id="1173" name="Google Shape;1173;p25"/>
            <p:cNvGrpSpPr/>
            <p:nvPr/>
          </p:nvGrpSpPr>
          <p:grpSpPr>
            <a:xfrm>
              <a:off x="1641540" y="2443993"/>
              <a:ext cx="1187281" cy="807073"/>
              <a:chOff x="1659705" y="2054741"/>
              <a:chExt cx="543515" cy="544442"/>
            </a:xfrm>
          </p:grpSpPr>
          <p:grpSp>
            <p:nvGrpSpPr>
              <p:cNvPr id="1174" name="Google Shape;1174;p25"/>
              <p:cNvGrpSpPr/>
              <p:nvPr/>
            </p:nvGrpSpPr>
            <p:grpSpPr>
              <a:xfrm>
                <a:off x="1659705" y="2054741"/>
                <a:ext cx="543515" cy="544442"/>
                <a:chOff x="3571333" y="3966538"/>
                <a:chExt cx="674796" cy="675947"/>
              </a:xfrm>
            </p:grpSpPr>
            <p:sp>
              <p:nvSpPr>
                <p:cNvPr id="1175" name="Google Shape;1175;p25"/>
                <p:cNvSpPr/>
                <p:nvPr/>
              </p:nvSpPr>
              <p:spPr>
                <a:xfrm>
                  <a:off x="3571333" y="3966538"/>
                  <a:ext cx="674796" cy="674796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1176" name="Google Shape;1176;p25"/>
                <p:cNvCxnSpPr/>
                <p:nvPr/>
              </p:nvCxnSpPr>
              <p:spPr>
                <a:xfrm>
                  <a:off x="3572292" y="3968115"/>
                  <a:ext cx="673837" cy="6743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177" name="Google Shape;1177;p25"/>
                <p:cNvCxnSpPr/>
                <p:nvPr/>
              </p:nvCxnSpPr>
              <p:spPr>
                <a:xfrm flipH="1">
                  <a:off x="3571333" y="3966538"/>
                  <a:ext cx="674796" cy="67479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1178" name="Google Shape;1178;p25"/>
              <p:cNvSpPr txBox="1"/>
              <p:nvPr/>
            </p:nvSpPr>
            <p:spPr>
              <a:xfrm>
                <a:off x="1721794" y="2299343"/>
                <a:ext cx="432786" cy="7862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36000" rIns="91425" bIns="360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image</a:t>
                </a: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179" name="Google Shape;1179;p25"/>
            <p:cNvSpPr/>
            <p:nvPr/>
          </p:nvSpPr>
          <p:spPr>
            <a:xfrm>
              <a:off x="1642592" y="2444685"/>
              <a:ext cx="183601" cy="17116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algun Gothic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Flag</a:t>
              </a:r>
              <a:endParaRPr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80" name="Google Shape;1180;p25"/>
            <p:cNvSpPr txBox="1"/>
            <p:nvPr/>
          </p:nvSpPr>
          <p:spPr>
            <a:xfrm>
              <a:off x="1541734" y="3497944"/>
              <a:ext cx="14034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더 뉴 그랜저 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2.5 프리미엄 초이스(2줄 노출)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81" name="Google Shape;1181;p25"/>
            <p:cNvSpPr txBox="1"/>
            <p:nvPr/>
          </p:nvSpPr>
          <p:spPr>
            <a:xfrm>
              <a:off x="1541735" y="3775038"/>
              <a:ext cx="1287086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20년식 5,6732Km 가솔린</a:t>
              </a: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182" name="Google Shape;1182;p25"/>
            <p:cNvGrpSpPr/>
            <p:nvPr/>
          </p:nvGrpSpPr>
          <p:grpSpPr>
            <a:xfrm>
              <a:off x="1641540" y="3353178"/>
              <a:ext cx="1187282" cy="122322"/>
              <a:chOff x="1641539" y="3517942"/>
              <a:chExt cx="1396633" cy="122322"/>
            </a:xfrm>
          </p:grpSpPr>
          <p:sp>
            <p:nvSpPr>
              <p:cNvPr id="1183" name="Google Shape;1183;p25"/>
              <p:cNvSpPr/>
              <p:nvPr/>
            </p:nvSpPr>
            <p:spPr>
              <a:xfrm>
                <a:off x="1641539" y="351794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84" name="Google Shape;1184;p25"/>
              <p:cNvSpPr/>
              <p:nvPr/>
            </p:nvSpPr>
            <p:spPr>
              <a:xfrm>
                <a:off x="2121355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85" name="Google Shape;1185;p25"/>
              <p:cNvSpPr/>
              <p:nvPr/>
            </p:nvSpPr>
            <p:spPr>
              <a:xfrm>
                <a:off x="2601980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186" name="Google Shape;1186;p25"/>
            <p:cNvSpPr/>
            <p:nvPr/>
          </p:nvSpPr>
          <p:spPr>
            <a:xfrm>
              <a:off x="2615811" y="3044896"/>
              <a:ext cx="163348" cy="159709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7" name="Google Shape;1187;p25"/>
          <p:cNvGrpSpPr/>
          <p:nvPr/>
        </p:nvGrpSpPr>
        <p:grpSpPr>
          <a:xfrm>
            <a:off x="2863470" y="4434244"/>
            <a:ext cx="1403441" cy="1531100"/>
            <a:chOff x="1541734" y="2443993"/>
            <a:chExt cx="1403441" cy="1531100"/>
          </a:xfrm>
        </p:grpSpPr>
        <p:grpSp>
          <p:nvGrpSpPr>
            <p:cNvPr id="1188" name="Google Shape;1188;p25"/>
            <p:cNvGrpSpPr/>
            <p:nvPr/>
          </p:nvGrpSpPr>
          <p:grpSpPr>
            <a:xfrm>
              <a:off x="1641540" y="2443993"/>
              <a:ext cx="1187281" cy="807073"/>
              <a:chOff x="1659705" y="2054741"/>
              <a:chExt cx="543515" cy="544442"/>
            </a:xfrm>
          </p:grpSpPr>
          <p:grpSp>
            <p:nvGrpSpPr>
              <p:cNvPr id="1189" name="Google Shape;1189;p25"/>
              <p:cNvGrpSpPr/>
              <p:nvPr/>
            </p:nvGrpSpPr>
            <p:grpSpPr>
              <a:xfrm>
                <a:off x="1659705" y="2054741"/>
                <a:ext cx="543515" cy="544442"/>
                <a:chOff x="3571333" y="3966538"/>
                <a:chExt cx="674796" cy="675947"/>
              </a:xfrm>
            </p:grpSpPr>
            <p:sp>
              <p:nvSpPr>
                <p:cNvPr id="1190" name="Google Shape;1190;p25"/>
                <p:cNvSpPr/>
                <p:nvPr/>
              </p:nvSpPr>
              <p:spPr>
                <a:xfrm>
                  <a:off x="3571333" y="3966538"/>
                  <a:ext cx="674796" cy="674796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1191" name="Google Shape;1191;p25"/>
                <p:cNvCxnSpPr/>
                <p:nvPr/>
              </p:nvCxnSpPr>
              <p:spPr>
                <a:xfrm>
                  <a:off x="3572292" y="3968115"/>
                  <a:ext cx="673837" cy="6743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192" name="Google Shape;1192;p25"/>
                <p:cNvCxnSpPr/>
                <p:nvPr/>
              </p:nvCxnSpPr>
              <p:spPr>
                <a:xfrm flipH="1">
                  <a:off x="3571333" y="3966538"/>
                  <a:ext cx="674796" cy="67479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1193" name="Google Shape;1193;p25"/>
              <p:cNvSpPr txBox="1"/>
              <p:nvPr/>
            </p:nvSpPr>
            <p:spPr>
              <a:xfrm>
                <a:off x="1721794" y="2299343"/>
                <a:ext cx="432786" cy="7862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36000" rIns="91425" bIns="360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image</a:t>
                </a: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194" name="Google Shape;1194;p25"/>
            <p:cNvSpPr/>
            <p:nvPr/>
          </p:nvSpPr>
          <p:spPr>
            <a:xfrm>
              <a:off x="1642592" y="2444685"/>
              <a:ext cx="183601" cy="17116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algun Gothic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Flag</a:t>
              </a:r>
              <a:endParaRPr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95" name="Google Shape;1195;p25"/>
            <p:cNvSpPr txBox="1"/>
            <p:nvPr/>
          </p:nvSpPr>
          <p:spPr>
            <a:xfrm>
              <a:off x="1541734" y="3497944"/>
              <a:ext cx="14034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더 뉴 그랜저 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2.5 프리미엄 초이스(2줄 노출)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96" name="Google Shape;1196;p25"/>
            <p:cNvSpPr txBox="1"/>
            <p:nvPr/>
          </p:nvSpPr>
          <p:spPr>
            <a:xfrm>
              <a:off x="1541735" y="3775038"/>
              <a:ext cx="1287086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20년식 5,6732Km 가솔린</a:t>
              </a: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197" name="Google Shape;1197;p25"/>
            <p:cNvGrpSpPr/>
            <p:nvPr/>
          </p:nvGrpSpPr>
          <p:grpSpPr>
            <a:xfrm>
              <a:off x="1641540" y="3353178"/>
              <a:ext cx="1187282" cy="122322"/>
              <a:chOff x="1641539" y="3517942"/>
              <a:chExt cx="1396633" cy="122322"/>
            </a:xfrm>
          </p:grpSpPr>
          <p:sp>
            <p:nvSpPr>
              <p:cNvPr id="1198" name="Google Shape;1198;p25"/>
              <p:cNvSpPr/>
              <p:nvPr/>
            </p:nvSpPr>
            <p:spPr>
              <a:xfrm>
                <a:off x="1641539" y="351794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99" name="Google Shape;1199;p25"/>
              <p:cNvSpPr/>
              <p:nvPr/>
            </p:nvSpPr>
            <p:spPr>
              <a:xfrm>
                <a:off x="2121355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00" name="Google Shape;1200;p25"/>
              <p:cNvSpPr/>
              <p:nvPr/>
            </p:nvSpPr>
            <p:spPr>
              <a:xfrm>
                <a:off x="2601980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01" name="Google Shape;1201;p25"/>
            <p:cNvSpPr/>
            <p:nvPr/>
          </p:nvSpPr>
          <p:spPr>
            <a:xfrm>
              <a:off x="2615811" y="3044896"/>
              <a:ext cx="163348" cy="159709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26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7" name="Google Shape;1207;p26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리스트형, 썸네일형 목록에서 상품유닛을 정의한다.</a:t>
            </a:r>
            <a:endParaRPr/>
          </a:p>
        </p:txBody>
      </p:sp>
      <p:sp>
        <p:nvSpPr>
          <p:cNvPr id="1208" name="Google Shape;1208;p26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7) Product Unit(2/3)</a:t>
            </a:r>
            <a:endParaRPr/>
          </a:p>
        </p:txBody>
      </p:sp>
      <p:grpSp>
        <p:nvGrpSpPr>
          <p:cNvPr id="1209" name="Google Shape;1209;p26"/>
          <p:cNvGrpSpPr/>
          <p:nvPr/>
        </p:nvGrpSpPr>
        <p:grpSpPr>
          <a:xfrm>
            <a:off x="1555181" y="1375954"/>
            <a:ext cx="2691575" cy="4980741"/>
            <a:chOff x="1555181" y="1375954"/>
            <a:chExt cx="2691575" cy="4980741"/>
          </a:xfrm>
        </p:grpSpPr>
        <p:grpSp>
          <p:nvGrpSpPr>
            <p:cNvPr id="1210" name="Google Shape;1210;p26"/>
            <p:cNvGrpSpPr/>
            <p:nvPr/>
          </p:nvGrpSpPr>
          <p:grpSpPr>
            <a:xfrm>
              <a:off x="1555181" y="1375954"/>
              <a:ext cx="2690948" cy="4980741"/>
              <a:chOff x="1555181" y="1375954"/>
              <a:chExt cx="2690948" cy="4980741"/>
            </a:xfrm>
          </p:grpSpPr>
          <p:sp>
            <p:nvSpPr>
              <p:cNvPr id="1211" name="Google Shape;1211;p26"/>
              <p:cNvSpPr/>
              <p:nvPr/>
            </p:nvSpPr>
            <p:spPr>
              <a:xfrm>
                <a:off x="1555181" y="1375954"/>
                <a:ext cx="2690948" cy="4980741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212" name="Google Shape;1212;p26"/>
              <p:cNvGrpSpPr/>
              <p:nvPr/>
            </p:nvGrpSpPr>
            <p:grpSpPr>
              <a:xfrm>
                <a:off x="1555181" y="1375954"/>
                <a:ext cx="2690948" cy="203713"/>
                <a:chOff x="1555181" y="704832"/>
                <a:chExt cx="2690948" cy="203713"/>
              </a:xfrm>
            </p:grpSpPr>
            <p:pic>
              <p:nvPicPr>
                <p:cNvPr id="1213" name="Google Shape;1213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26197" b="19146"/>
                <a:stretch/>
              </p:blipFill>
              <p:spPr>
                <a:xfrm>
                  <a:off x="1577746" y="717144"/>
                  <a:ext cx="2628000" cy="1685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214" name="Google Shape;1214;p26"/>
                <p:cNvSpPr/>
                <p:nvPr/>
              </p:nvSpPr>
              <p:spPr>
                <a:xfrm>
                  <a:off x="1555181" y="704832"/>
                  <a:ext cx="2690948" cy="203713"/>
                </a:xfrm>
                <a:prstGeom prst="rect">
                  <a:avLst/>
                </a:prstGeom>
                <a:solidFill>
                  <a:srgbClr val="0D0D0D">
                    <a:alpha val="20000"/>
                  </a:srgbClr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1215" name="Google Shape;1215;p26"/>
            <p:cNvGrpSpPr/>
            <p:nvPr/>
          </p:nvGrpSpPr>
          <p:grpSpPr>
            <a:xfrm>
              <a:off x="1555808" y="1578614"/>
              <a:ext cx="2690948" cy="360000"/>
              <a:chOff x="1555808" y="1578614"/>
              <a:chExt cx="2690948" cy="360000"/>
            </a:xfrm>
          </p:grpSpPr>
          <p:sp>
            <p:nvSpPr>
              <p:cNvPr id="1216" name="Google Shape;1216;p26"/>
              <p:cNvSpPr/>
              <p:nvPr/>
            </p:nvSpPr>
            <p:spPr>
              <a:xfrm>
                <a:off x="1555808" y="1578614"/>
                <a:ext cx="2690948" cy="36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17" name="Google Shape;1217;p26"/>
              <p:cNvSpPr/>
              <p:nvPr/>
            </p:nvSpPr>
            <p:spPr>
              <a:xfrm>
                <a:off x="1617478" y="1625193"/>
                <a:ext cx="481832" cy="26069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900"/>
                  <a:buFont typeface="Malgun Gothic"/>
                  <a:buNone/>
                </a:pPr>
                <a:r>
                  <a:rPr lang="en-US" sz="9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26"/>
              <p:cNvSpPr/>
              <p:nvPr/>
            </p:nvSpPr>
            <p:spPr>
              <a:xfrm>
                <a:off x="3916174" y="1634476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p26"/>
              <p:cNvSpPr/>
              <p:nvPr/>
            </p:nvSpPr>
            <p:spPr>
              <a:xfrm>
                <a:off x="4090975" y="1630403"/>
                <a:ext cx="111588" cy="111588"/>
              </a:xfrm>
              <a:prstGeom prst="ellipse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00"/>
                  <a:buFont typeface="Malgun Gothic"/>
                  <a:buNone/>
                </a:pPr>
                <a:r>
                  <a:rPr lang="en-US" sz="6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 sz="6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20" name="Google Shape;1220;p26"/>
              <p:cNvSpPr/>
              <p:nvPr/>
            </p:nvSpPr>
            <p:spPr>
              <a:xfrm>
                <a:off x="3612104" y="1631339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검색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21" name="Google Shape;1221;p26"/>
            <p:cNvSpPr/>
            <p:nvPr/>
          </p:nvSpPr>
          <p:spPr>
            <a:xfrm>
              <a:off x="1555181" y="1938614"/>
              <a:ext cx="2690948" cy="405702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Malgun Gothic"/>
                <a:buNone/>
              </a:pPr>
              <a:endParaRPr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22" name="Google Shape;1222;p26"/>
            <p:cNvSpPr/>
            <p:nvPr/>
          </p:nvSpPr>
          <p:spPr>
            <a:xfrm>
              <a:off x="1555248" y="5996169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23" name="Google Shape;1223;p26"/>
            <p:cNvSpPr/>
            <p:nvPr/>
          </p:nvSpPr>
          <p:spPr>
            <a:xfrm>
              <a:off x="1684534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6"/>
            <p:cNvSpPr/>
            <p:nvPr/>
          </p:nvSpPr>
          <p:spPr>
            <a:xfrm>
              <a:off x="2769646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26"/>
            <p:cNvSpPr/>
            <p:nvPr/>
          </p:nvSpPr>
          <p:spPr>
            <a:xfrm>
              <a:off x="2227090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26"/>
            <p:cNvSpPr/>
            <p:nvPr/>
          </p:nvSpPr>
          <p:spPr>
            <a:xfrm>
              <a:off x="3312202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26"/>
            <p:cNvSpPr/>
            <p:nvPr/>
          </p:nvSpPr>
          <p:spPr>
            <a:xfrm>
              <a:off x="3854758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28" name="Google Shape;1228;p26"/>
          <p:cNvGrpSpPr/>
          <p:nvPr/>
        </p:nvGrpSpPr>
        <p:grpSpPr>
          <a:xfrm>
            <a:off x="1555808" y="1574571"/>
            <a:ext cx="2690948" cy="363954"/>
            <a:chOff x="1555808" y="2552523"/>
            <a:chExt cx="2690948" cy="363954"/>
          </a:xfrm>
        </p:grpSpPr>
        <p:sp>
          <p:nvSpPr>
            <p:cNvPr id="1229" name="Google Shape;1229;p26"/>
            <p:cNvSpPr/>
            <p:nvPr/>
          </p:nvSpPr>
          <p:spPr>
            <a:xfrm>
              <a:off x="1555808" y="2552523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30" name="Google Shape;1230;p26"/>
            <p:cNvSpPr/>
            <p:nvPr/>
          </p:nvSpPr>
          <p:spPr>
            <a:xfrm flipH="1">
              <a:off x="1645444" y="2676741"/>
              <a:ext cx="57524" cy="117201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31" name="Google Shape;1231;p26"/>
            <p:cNvSpPr txBox="1"/>
            <p:nvPr/>
          </p:nvSpPr>
          <p:spPr>
            <a:xfrm>
              <a:off x="1794681" y="2552523"/>
              <a:ext cx="2224585" cy="363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LIST</a:t>
              </a:r>
              <a:endParaRPr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32" name="Google Shape;1232;p26"/>
            <p:cNvSpPr/>
            <p:nvPr/>
          </p:nvSpPr>
          <p:spPr>
            <a:xfrm>
              <a:off x="3916174" y="2606083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3" name="Google Shape;1233;p26"/>
          <p:cNvSpPr/>
          <p:nvPr/>
        </p:nvSpPr>
        <p:spPr>
          <a:xfrm>
            <a:off x="1554499" y="1934059"/>
            <a:ext cx="2691628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00</a:t>
            </a: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34" name="Google Shape;1234;p26"/>
          <p:cNvGrpSpPr/>
          <p:nvPr/>
        </p:nvGrpSpPr>
        <p:grpSpPr>
          <a:xfrm>
            <a:off x="4383515" y="2053099"/>
            <a:ext cx="134532" cy="121920"/>
            <a:chOff x="4335780" y="3314700"/>
            <a:chExt cx="266700" cy="220980"/>
          </a:xfrm>
        </p:grpSpPr>
        <p:sp>
          <p:nvSpPr>
            <p:cNvPr id="1235" name="Google Shape;1235;p26"/>
            <p:cNvSpPr/>
            <p:nvPr/>
          </p:nvSpPr>
          <p:spPr>
            <a:xfrm>
              <a:off x="4335780" y="3314700"/>
              <a:ext cx="266700" cy="45720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36" name="Google Shape;1236;p26"/>
            <p:cNvSpPr/>
            <p:nvPr/>
          </p:nvSpPr>
          <p:spPr>
            <a:xfrm>
              <a:off x="4335780" y="3402330"/>
              <a:ext cx="266700" cy="45720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37" name="Google Shape;1237;p26"/>
            <p:cNvSpPr/>
            <p:nvPr/>
          </p:nvSpPr>
          <p:spPr>
            <a:xfrm>
              <a:off x="4335780" y="3489960"/>
              <a:ext cx="266700" cy="45720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38" name="Google Shape;1238;p26"/>
          <p:cNvGrpSpPr/>
          <p:nvPr/>
        </p:nvGrpSpPr>
        <p:grpSpPr>
          <a:xfrm>
            <a:off x="3999299" y="2053099"/>
            <a:ext cx="129540" cy="121920"/>
            <a:chOff x="3328035" y="2152972"/>
            <a:chExt cx="184743" cy="121920"/>
          </a:xfrm>
        </p:grpSpPr>
        <p:grpSp>
          <p:nvGrpSpPr>
            <p:cNvPr id="1239" name="Google Shape;1239;p26"/>
            <p:cNvGrpSpPr/>
            <p:nvPr/>
          </p:nvGrpSpPr>
          <p:grpSpPr>
            <a:xfrm>
              <a:off x="3328035" y="2152972"/>
              <a:ext cx="45719" cy="121920"/>
              <a:chOff x="4335780" y="3314700"/>
              <a:chExt cx="266700" cy="220980"/>
            </a:xfrm>
          </p:grpSpPr>
          <p:sp>
            <p:nvSpPr>
              <p:cNvPr id="1240" name="Google Shape;1240;p26"/>
              <p:cNvSpPr/>
              <p:nvPr/>
            </p:nvSpPr>
            <p:spPr>
              <a:xfrm>
                <a:off x="4335780" y="331470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41" name="Google Shape;1241;p26"/>
              <p:cNvSpPr/>
              <p:nvPr/>
            </p:nvSpPr>
            <p:spPr>
              <a:xfrm>
                <a:off x="4335780" y="340233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42" name="Google Shape;1242;p26"/>
              <p:cNvSpPr/>
              <p:nvPr/>
            </p:nvSpPr>
            <p:spPr>
              <a:xfrm>
                <a:off x="4335780" y="348996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243" name="Google Shape;1243;p26"/>
            <p:cNvGrpSpPr/>
            <p:nvPr/>
          </p:nvGrpSpPr>
          <p:grpSpPr>
            <a:xfrm>
              <a:off x="3398479" y="2152972"/>
              <a:ext cx="45719" cy="121920"/>
              <a:chOff x="4335780" y="3314700"/>
              <a:chExt cx="266700" cy="220980"/>
            </a:xfrm>
          </p:grpSpPr>
          <p:sp>
            <p:nvSpPr>
              <p:cNvPr id="1244" name="Google Shape;1244;p26"/>
              <p:cNvSpPr/>
              <p:nvPr/>
            </p:nvSpPr>
            <p:spPr>
              <a:xfrm>
                <a:off x="4335780" y="331470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45" name="Google Shape;1245;p26"/>
              <p:cNvSpPr/>
              <p:nvPr/>
            </p:nvSpPr>
            <p:spPr>
              <a:xfrm>
                <a:off x="4335780" y="340233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46" name="Google Shape;1246;p26"/>
              <p:cNvSpPr/>
              <p:nvPr/>
            </p:nvSpPr>
            <p:spPr>
              <a:xfrm>
                <a:off x="4335780" y="348996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247" name="Google Shape;1247;p26"/>
            <p:cNvGrpSpPr/>
            <p:nvPr/>
          </p:nvGrpSpPr>
          <p:grpSpPr>
            <a:xfrm>
              <a:off x="3467059" y="2152972"/>
              <a:ext cx="45719" cy="121920"/>
              <a:chOff x="4335780" y="3314700"/>
              <a:chExt cx="266700" cy="220980"/>
            </a:xfrm>
          </p:grpSpPr>
          <p:sp>
            <p:nvSpPr>
              <p:cNvPr id="1248" name="Google Shape;1248;p26"/>
              <p:cNvSpPr/>
              <p:nvPr/>
            </p:nvSpPr>
            <p:spPr>
              <a:xfrm>
                <a:off x="4335780" y="331470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49" name="Google Shape;1249;p26"/>
              <p:cNvSpPr/>
              <p:nvPr/>
            </p:nvSpPr>
            <p:spPr>
              <a:xfrm>
                <a:off x="4335780" y="340233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50" name="Google Shape;1250;p26"/>
              <p:cNvSpPr/>
              <p:nvPr/>
            </p:nvSpPr>
            <p:spPr>
              <a:xfrm>
                <a:off x="4335780" y="348996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251" name="Google Shape;1251;p26"/>
          <p:cNvSpPr/>
          <p:nvPr/>
        </p:nvSpPr>
        <p:spPr>
          <a:xfrm>
            <a:off x="4027216" y="1625546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52" name="Google Shape;1252;p26"/>
          <p:cNvGrpSpPr/>
          <p:nvPr/>
        </p:nvGrpSpPr>
        <p:grpSpPr>
          <a:xfrm>
            <a:off x="3183045" y="1997971"/>
            <a:ext cx="707676" cy="221662"/>
            <a:chOff x="2149824" y="2537763"/>
            <a:chExt cx="707676" cy="221662"/>
          </a:xfrm>
        </p:grpSpPr>
        <p:sp>
          <p:nvSpPr>
            <p:cNvPr id="1253" name="Google Shape;1253;p26"/>
            <p:cNvSpPr/>
            <p:nvPr/>
          </p:nvSpPr>
          <p:spPr>
            <a:xfrm>
              <a:off x="2149824" y="2537763"/>
              <a:ext cx="707676" cy="221662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인기순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26"/>
            <p:cNvSpPr/>
            <p:nvPr/>
          </p:nvSpPr>
          <p:spPr>
            <a:xfrm rot="-5400000" flipH="1">
              <a:off x="2713602" y="2617666"/>
              <a:ext cx="37785" cy="69985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55" name="Google Shape;1255;p26"/>
          <p:cNvGrpSpPr/>
          <p:nvPr/>
        </p:nvGrpSpPr>
        <p:grpSpPr>
          <a:xfrm>
            <a:off x="1641541" y="2443994"/>
            <a:ext cx="2768789" cy="848939"/>
            <a:chOff x="1641541" y="2443994"/>
            <a:chExt cx="2768789" cy="848939"/>
          </a:xfrm>
        </p:grpSpPr>
        <p:grpSp>
          <p:nvGrpSpPr>
            <p:cNvPr id="1256" name="Google Shape;1256;p26"/>
            <p:cNvGrpSpPr/>
            <p:nvPr/>
          </p:nvGrpSpPr>
          <p:grpSpPr>
            <a:xfrm>
              <a:off x="1641541" y="2443994"/>
              <a:ext cx="1145144" cy="778429"/>
              <a:chOff x="1659705" y="2054741"/>
              <a:chExt cx="543515" cy="544442"/>
            </a:xfrm>
          </p:grpSpPr>
          <p:grpSp>
            <p:nvGrpSpPr>
              <p:cNvPr id="1257" name="Google Shape;1257;p26"/>
              <p:cNvGrpSpPr/>
              <p:nvPr/>
            </p:nvGrpSpPr>
            <p:grpSpPr>
              <a:xfrm>
                <a:off x="1659705" y="2054741"/>
                <a:ext cx="543515" cy="544442"/>
                <a:chOff x="3571333" y="3966538"/>
                <a:chExt cx="674796" cy="675947"/>
              </a:xfrm>
            </p:grpSpPr>
            <p:sp>
              <p:nvSpPr>
                <p:cNvPr id="1258" name="Google Shape;1258;p26"/>
                <p:cNvSpPr/>
                <p:nvPr/>
              </p:nvSpPr>
              <p:spPr>
                <a:xfrm>
                  <a:off x="3571333" y="3966538"/>
                  <a:ext cx="674796" cy="674796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1259" name="Google Shape;1259;p26"/>
                <p:cNvCxnSpPr/>
                <p:nvPr/>
              </p:nvCxnSpPr>
              <p:spPr>
                <a:xfrm>
                  <a:off x="3572292" y="3968115"/>
                  <a:ext cx="673837" cy="6743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260" name="Google Shape;1260;p26"/>
                <p:cNvCxnSpPr/>
                <p:nvPr/>
              </p:nvCxnSpPr>
              <p:spPr>
                <a:xfrm flipH="1">
                  <a:off x="3571333" y="3966538"/>
                  <a:ext cx="674796" cy="67479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1261" name="Google Shape;1261;p26"/>
              <p:cNvSpPr txBox="1"/>
              <p:nvPr/>
            </p:nvSpPr>
            <p:spPr>
              <a:xfrm>
                <a:off x="1721794" y="2299343"/>
                <a:ext cx="432786" cy="7862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36000" rIns="91425" bIns="360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image</a:t>
                </a: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62" name="Google Shape;1262;p26"/>
            <p:cNvSpPr/>
            <p:nvPr/>
          </p:nvSpPr>
          <p:spPr>
            <a:xfrm>
              <a:off x="1642592" y="2444685"/>
              <a:ext cx="183601" cy="17116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algun Gothic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Flag</a:t>
              </a:r>
              <a:endParaRPr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263" name="Google Shape;1263;p26"/>
            <p:cNvGrpSpPr/>
            <p:nvPr/>
          </p:nvGrpSpPr>
          <p:grpSpPr>
            <a:xfrm>
              <a:off x="2854512" y="2446127"/>
              <a:ext cx="1187282" cy="122322"/>
              <a:chOff x="1641539" y="3517942"/>
              <a:chExt cx="1396633" cy="122322"/>
            </a:xfrm>
          </p:grpSpPr>
          <p:sp>
            <p:nvSpPr>
              <p:cNvPr id="1264" name="Google Shape;1264;p26"/>
              <p:cNvSpPr/>
              <p:nvPr/>
            </p:nvSpPr>
            <p:spPr>
              <a:xfrm>
                <a:off x="1641539" y="351794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65" name="Google Shape;1265;p26"/>
              <p:cNvSpPr/>
              <p:nvPr/>
            </p:nvSpPr>
            <p:spPr>
              <a:xfrm>
                <a:off x="2121355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66" name="Google Shape;1266;p26"/>
              <p:cNvSpPr/>
              <p:nvPr/>
            </p:nvSpPr>
            <p:spPr>
              <a:xfrm>
                <a:off x="2601980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67" name="Google Shape;1267;p26"/>
            <p:cNvSpPr/>
            <p:nvPr/>
          </p:nvSpPr>
          <p:spPr>
            <a:xfrm>
              <a:off x="2562023" y="3026965"/>
              <a:ext cx="163348" cy="159709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26"/>
            <p:cNvSpPr txBox="1"/>
            <p:nvPr/>
          </p:nvSpPr>
          <p:spPr>
            <a:xfrm>
              <a:off x="2768216" y="2584646"/>
              <a:ext cx="14034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더 뉴 그랜저 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2.5 프리미엄 초이스(2줄 노출)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69" name="Google Shape;1269;p26"/>
            <p:cNvSpPr txBox="1"/>
            <p:nvPr/>
          </p:nvSpPr>
          <p:spPr>
            <a:xfrm>
              <a:off x="2777182" y="2843810"/>
              <a:ext cx="1287086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20년식 5,6732Km 가솔린</a:t>
              </a: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70" name="Google Shape;1270;p26"/>
            <p:cNvSpPr txBox="1"/>
            <p:nvPr/>
          </p:nvSpPr>
          <p:spPr>
            <a:xfrm>
              <a:off x="2773563" y="3031323"/>
              <a:ext cx="1636767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lgun Gothic"/>
                <a:buNone/>
              </a:pPr>
              <a:r>
                <a:rPr lang="en-US" sz="11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3,340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만원ㅣ</a:t>
              </a: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할부 월 </a:t>
              </a:r>
              <a:r>
                <a:rPr lang="en-US" sz="7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71</a:t>
              </a: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만원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271" name="Google Shape;1271;p26"/>
          <p:cNvCxnSpPr/>
          <p:nvPr/>
        </p:nvCxnSpPr>
        <p:spPr>
          <a:xfrm>
            <a:off x="1554499" y="3356601"/>
            <a:ext cx="2691628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272" name="Google Shape;1272;p26"/>
          <p:cNvGrpSpPr/>
          <p:nvPr/>
        </p:nvGrpSpPr>
        <p:grpSpPr>
          <a:xfrm>
            <a:off x="1641541" y="3477714"/>
            <a:ext cx="2768789" cy="848939"/>
            <a:chOff x="1641541" y="2443994"/>
            <a:chExt cx="2768789" cy="848939"/>
          </a:xfrm>
        </p:grpSpPr>
        <p:grpSp>
          <p:nvGrpSpPr>
            <p:cNvPr id="1273" name="Google Shape;1273;p26"/>
            <p:cNvGrpSpPr/>
            <p:nvPr/>
          </p:nvGrpSpPr>
          <p:grpSpPr>
            <a:xfrm>
              <a:off x="1641541" y="2443994"/>
              <a:ext cx="1145144" cy="778429"/>
              <a:chOff x="1659705" y="2054741"/>
              <a:chExt cx="543515" cy="544442"/>
            </a:xfrm>
          </p:grpSpPr>
          <p:grpSp>
            <p:nvGrpSpPr>
              <p:cNvPr id="1274" name="Google Shape;1274;p26"/>
              <p:cNvGrpSpPr/>
              <p:nvPr/>
            </p:nvGrpSpPr>
            <p:grpSpPr>
              <a:xfrm>
                <a:off x="1659705" y="2054741"/>
                <a:ext cx="543515" cy="544442"/>
                <a:chOff x="3571333" y="3966538"/>
                <a:chExt cx="674796" cy="675947"/>
              </a:xfrm>
            </p:grpSpPr>
            <p:sp>
              <p:nvSpPr>
                <p:cNvPr id="1275" name="Google Shape;1275;p26"/>
                <p:cNvSpPr/>
                <p:nvPr/>
              </p:nvSpPr>
              <p:spPr>
                <a:xfrm>
                  <a:off x="3571333" y="3966538"/>
                  <a:ext cx="674796" cy="674796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1276" name="Google Shape;1276;p26"/>
                <p:cNvCxnSpPr/>
                <p:nvPr/>
              </p:nvCxnSpPr>
              <p:spPr>
                <a:xfrm>
                  <a:off x="3572292" y="3968115"/>
                  <a:ext cx="673837" cy="6743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277" name="Google Shape;1277;p26"/>
                <p:cNvCxnSpPr/>
                <p:nvPr/>
              </p:nvCxnSpPr>
              <p:spPr>
                <a:xfrm flipH="1">
                  <a:off x="3571333" y="3966538"/>
                  <a:ext cx="674796" cy="67479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1278" name="Google Shape;1278;p26"/>
              <p:cNvSpPr txBox="1"/>
              <p:nvPr/>
            </p:nvSpPr>
            <p:spPr>
              <a:xfrm>
                <a:off x="1721794" y="2299343"/>
                <a:ext cx="432786" cy="7862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36000" rIns="91425" bIns="360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image</a:t>
                </a: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79" name="Google Shape;1279;p26"/>
            <p:cNvSpPr/>
            <p:nvPr/>
          </p:nvSpPr>
          <p:spPr>
            <a:xfrm>
              <a:off x="1642592" y="2444685"/>
              <a:ext cx="183601" cy="17116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algun Gothic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Flag</a:t>
              </a:r>
              <a:endParaRPr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280" name="Google Shape;1280;p26"/>
            <p:cNvGrpSpPr/>
            <p:nvPr/>
          </p:nvGrpSpPr>
          <p:grpSpPr>
            <a:xfrm>
              <a:off x="2854512" y="2446127"/>
              <a:ext cx="1187282" cy="122322"/>
              <a:chOff x="1641539" y="3517942"/>
              <a:chExt cx="1396633" cy="122322"/>
            </a:xfrm>
          </p:grpSpPr>
          <p:sp>
            <p:nvSpPr>
              <p:cNvPr id="1281" name="Google Shape;1281;p26"/>
              <p:cNvSpPr/>
              <p:nvPr/>
            </p:nvSpPr>
            <p:spPr>
              <a:xfrm>
                <a:off x="1641539" y="351794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82" name="Google Shape;1282;p26"/>
              <p:cNvSpPr/>
              <p:nvPr/>
            </p:nvSpPr>
            <p:spPr>
              <a:xfrm>
                <a:off x="2121355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83" name="Google Shape;1283;p26"/>
              <p:cNvSpPr/>
              <p:nvPr/>
            </p:nvSpPr>
            <p:spPr>
              <a:xfrm>
                <a:off x="2601980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84" name="Google Shape;1284;p26"/>
            <p:cNvSpPr/>
            <p:nvPr/>
          </p:nvSpPr>
          <p:spPr>
            <a:xfrm>
              <a:off x="2562023" y="3026965"/>
              <a:ext cx="163348" cy="159709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26"/>
            <p:cNvSpPr txBox="1"/>
            <p:nvPr/>
          </p:nvSpPr>
          <p:spPr>
            <a:xfrm>
              <a:off x="2768216" y="2584646"/>
              <a:ext cx="14034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더 뉴 그랜저 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2.5 프리미엄 초이스(2줄 노출)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86" name="Google Shape;1286;p26"/>
            <p:cNvSpPr txBox="1"/>
            <p:nvPr/>
          </p:nvSpPr>
          <p:spPr>
            <a:xfrm>
              <a:off x="2777182" y="2843810"/>
              <a:ext cx="1287086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20년식 5,6732Km 가솔린</a:t>
              </a: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87" name="Google Shape;1287;p26"/>
            <p:cNvSpPr txBox="1"/>
            <p:nvPr/>
          </p:nvSpPr>
          <p:spPr>
            <a:xfrm>
              <a:off x="2773563" y="3031323"/>
              <a:ext cx="1636767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lgun Gothic"/>
                <a:buNone/>
              </a:pPr>
              <a:r>
                <a:rPr lang="en-US" sz="11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3,340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만원ㅣ</a:t>
              </a: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할부 월 </a:t>
              </a:r>
              <a:r>
                <a:rPr lang="en-US" sz="7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71</a:t>
              </a: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만원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288" name="Google Shape;1288;p26"/>
          <p:cNvCxnSpPr/>
          <p:nvPr/>
        </p:nvCxnSpPr>
        <p:spPr>
          <a:xfrm>
            <a:off x="1554499" y="4383784"/>
            <a:ext cx="2691628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289" name="Google Shape;1289;p26"/>
          <p:cNvGrpSpPr/>
          <p:nvPr/>
        </p:nvGrpSpPr>
        <p:grpSpPr>
          <a:xfrm>
            <a:off x="1641541" y="4504897"/>
            <a:ext cx="2768789" cy="848939"/>
            <a:chOff x="1641541" y="2443994"/>
            <a:chExt cx="2768789" cy="848939"/>
          </a:xfrm>
        </p:grpSpPr>
        <p:grpSp>
          <p:nvGrpSpPr>
            <p:cNvPr id="1290" name="Google Shape;1290;p26"/>
            <p:cNvGrpSpPr/>
            <p:nvPr/>
          </p:nvGrpSpPr>
          <p:grpSpPr>
            <a:xfrm>
              <a:off x="1641541" y="2443994"/>
              <a:ext cx="1145144" cy="778429"/>
              <a:chOff x="1659705" y="2054741"/>
              <a:chExt cx="543515" cy="544442"/>
            </a:xfrm>
          </p:grpSpPr>
          <p:grpSp>
            <p:nvGrpSpPr>
              <p:cNvPr id="1291" name="Google Shape;1291;p26"/>
              <p:cNvGrpSpPr/>
              <p:nvPr/>
            </p:nvGrpSpPr>
            <p:grpSpPr>
              <a:xfrm>
                <a:off x="1659705" y="2054741"/>
                <a:ext cx="543515" cy="544442"/>
                <a:chOff x="3571333" y="3966538"/>
                <a:chExt cx="674796" cy="675947"/>
              </a:xfrm>
            </p:grpSpPr>
            <p:sp>
              <p:nvSpPr>
                <p:cNvPr id="1292" name="Google Shape;1292;p26"/>
                <p:cNvSpPr/>
                <p:nvPr/>
              </p:nvSpPr>
              <p:spPr>
                <a:xfrm>
                  <a:off x="3571333" y="3966538"/>
                  <a:ext cx="674796" cy="674796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1293" name="Google Shape;1293;p26"/>
                <p:cNvCxnSpPr/>
                <p:nvPr/>
              </p:nvCxnSpPr>
              <p:spPr>
                <a:xfrm>
                  <a:off x="3572292" y="3968115"/>
                  <a:ext cx="673837" cy="6743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294" name="Google Shape;1294;p26"/>
                <p:cNvCxnSpPr/>
                <p:nvPr/>
              </p:nvCxnSpPr>
              <p:spPr>
                <a:xfrm flipH="1">
                  <a:off x="3571333" y="3966538"/>
                  <a:ext cx="674796" cy="67479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1295" name="Google Shape;1295;p26"/>
              <p:cNvSpPr txBox="1"/>
              <p:nvPr/>
            </p:nvSpPr>
            <p:spPr>
              <a:xfrm>
                <a:off x="1721794" y="2299343"/>
                <a:ext cx="432786" cy="7862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36000" rIns="91425" bIns="360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image</a:t>
                </a: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96" name="Google Shape;1296;p26"/>
            <p:cNvSpPr/>
            <p:nvPr/>
          </p:nvSpPr>
          <p:spPr>
            <a:xfrm>
              <a:off x="1642592" y="2444685"/>
              <a:ext cx="183601" cy="17116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algun Gothic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Flag</a:t>
              </a:r>
              <a:endParaRPr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297" name="Google Shape;1297;p26"/>
            <p:cNvGrpSpPr/>
            <p:nvPr/>
          </p:nvGrpSpPr>
          <p:grpSpPr>
            <a:xfrm>
              <a:off x="2854512" y="2446127"/>
              <a:ext cx="1187282" cy="122322"/>
              <a:chOff x="1641539" y="3517942"/>
              <a:chExt cx="1396633" cy="122322"/>
            </a:xfrm>
          </p:grpSpPr>
          <p:sp>
            <p:nvSpPr>
              <p:cNvPr id="1298" name="Google Shape;1298;p26"/>
              <p:cNvSpPr/>
              <p:nvPr/>
            </p:nvSpPr>
            <p:spPr>
              <a:xfrm>
                <a:off x="1641539" y="351794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99" name="Google Shape;1299;p26"/>
              <p:cNvSpPr/>
              <p:nvPr/>
            </p:nvSpPr>
            <p:spPr>
              <a:xfrm>
                <a:off x="2121355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00" name="Google Shape;1300;p26"/>
              <p:cNvSpPr/>
              <p:nvPr/>
            </p:nvSpPr>
            <p:spPr>
              <a:xfrm>
                <a:off x="2601980" y="3523392"/>
                <a:ext cx="436192" cy="116872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Malgun Gothic"/>
                  <a:buNone/>
                </a:pPr>
                <a:r>
                  <a:rPr lang="en-US" sz="6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Flag</a:t>
                </a:r>
                <a:endParaRPr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301" name="Google Shape;1301;p26"/>
            <p:cNvSpPr/>
            <p:nvPr/>
          </p:nvSpPr>
          <p:spPr>
            <a:xfrm>
              <a:off x="2562023" y="3026965"/>
              <a:ext cx="163348" cy="159709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6"/>
            <p:cNvSpPr txBox="1"/>
            <p:nvPr/>
          </p:nvSpPr>
          <p:spPr>
            <a:xfrm>
              <a:off x="2768216" y="2584646"/>
              <a:ext cx="14034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더 뉴 그랜저 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2.5 프리미엄 초이스(2줄 노출)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03" name="Google Shape;1303;p26"/>
            <p:cNvSpPr txBox="1"/>
            <p:nvPr/>
          </p:nvSpPr>
          <p:spPr>
            <a:xfrm>
              <a:off x="2777182" y="2843810"/>
              <a:ext cx="1287086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20년식 5,6732Km 가솔린</a:t>
              </a: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04" name="Google Shape;1304;p26"/>
            <p:cNvSpPr txBox="1"/>
            <p:nvPr/>
          </p:nvSpPr>
          <p:spPr>
            <a:xfrm>
              <a:off x="2773563" y="3031323"/>
              <a:ext cx="1636767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Malgun Gothic"/>
                <a:buNone/>
              </a:pPr>
              <a:r>
                <a:rPr lang="en-US" sz="11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3,340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만원ㅣ</a:t>
              </a: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할부 월 </a:t>
              </a:r>
              <a:r>
                <a:rPr lang="en-US" sz="7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71</a:t>
              </a: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만원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27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27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0" name="Google Shape;1310;p27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딜형 목록에서 상품유닛을 정의한다.</a:t>
            </a:r>
            <a:endParaRPr/>
          </a:p>
        </p:txBody>
      </p:sp>
      <p:sp>
        <p:nvSpPr>
          <p:cNvPr id="1311" name="Google Shape;1311;p27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7) Product Unit(3/3)</a:t>
            </a:r>
            <a:endParaRPr/>
          </a:p>
        </p:txBody>
      </p:sp>
      <p:grpSp>
        <p:nvGrpSpPr>
          <p:cNvPr id="1312" name="Google Shape;1312;p27"/>
          <p:cNvGrpSpPr/>
          <p:nvPr/>
        </p:nvGrpSpPr>
        <p:grpSpPr>
          <a:xfrm>
            <a:off x="1555181" y="1375954"/>
            <a:ext cx="2691575" cy="4980741"/>
            <a:chOff x="1555181" y="1375954"/>
            <a:chExt cx="2691575" cy="4980741"/>
          </a:xfrm>
        </p:grpSpPr>
        <p:grpSp>
          <p:nvGrpSpPr>
            <p:cNvPr id="1313" name="Google Shape;1313;p27"/>
            <p:cNvGrpSpPr/>
            <p:nvPr/>
          </p:nvGrpSpPr>
          <p:grpSpPr>
            <a:xfrm>
              <a:off x="1555181" y="1375954"/>
              <a:ext cx="2690948" cy="4980741"/>
              <a:chOff x="1555181" y="1375954"/>
              <a:chExt cx="2690948" cy="4980741"/>
            </a:xfrm>
          </p:grpSpPr>
          <p:sp>
            <p:nvSpPr>
              <p:cNvPr id="1314" name="Google Shape;1314;p27"/>
              <p:cNvSpPr/>
              <p:nvPr/>
            </p:nvSpPr>
            <p:spPr>
              <a:xfrm>
                <a:off x="1555181" y="1375954"/>
                <a:ext cx="2690948" cy="4980741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315" name="Google Shape;1315;p27"/>
              <p:cNvGrpSpPr/>
              <p:nvPr/>
            </p:nvGrpSpPr>
            <p:grpSpPr>
              <a:xfrm>
                <a:off x="1555181" y="1375954"/>
                <a:ext cx="2690948" cy="203713"/>
                <a:chOff x="1555181" y="704832"/>
                <a:chExt cx="2690948" cy="203713"/>
              </a:xfrm>
            </p:grpSpPr>
            <p:pic>
              <p:nvPicPr>
                <p:cNvPr id="1316" name="Google Shape;1316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26197" b="19146"/>
                <a:stretch/>
              </p:blipFill>
              <p:spPr>
                <a:xfrm>
                  <a:off x="1577746" y="717144"/>
                  <a:ext cx="2628000" cy="1685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17" name="Google Shape;1317;p27"/>
                <p:cNvSpPr/>
                <p:nvPr/>
              </p:nvSpPr>
              <p:spPr>
                <a:xfrm>
                  <a:off x="1555181" y="704832"/>
                  <a:ext cx="2690948" cy="203713"/>
                </a:xfrm>
                <a:prstGeom prst="rect">
                  <a:avLst/>
                </a:prstGeom>
                <a:solidFill>
                  <a:srgbClr val="0D0D0D">
                    <a:alpha val="20000"/>
                  </a:srgbClr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1318" name="Google Shape;1318;p27"/>
            <p:cNvGrpSpPr/>
            <p:nvPr/>
          </p:nvGrpSpPr>
          <p:grpSpPr>
            <a:xfrm>
              <a:off x="1555808" y="1578614"/>
              <a:ext cx="2690948" cy="360000"/>
              <a:chOff x="1555808" y="1578614"/>
              <a:chExt cx="2690948" cy="360000"/>
            </a:xfrm>
          </p:grpSpPr>
          <p:sp>
            <p:nvSpPr>
              <p:cNvPr id="1319" name="Google Shape;1319;p27"/>
              <p:cNvSpPr/>
              <p:nvPr/>
            </p:nvSpPr>
            <p:spPr>
              <a:xfrm>
                <a:off x="1555808" y="1578614"/>
                <a:ext cx="2690948" cy="36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20" name="Google Shape;1320;p27"/>
              <p:cNvSpPr/>
              <p:nvPr/>
            </p:nvSpPr>
            <p:spPr>
              <a:xfrm>
                <a:off x="1617478" y="1625193"/>
                <a:ext cx="481832" cy="260695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900"/>
                  <a:buFont typeface="Malgun Gothic"/>
                  <a:buNone/>
                </a:pPr>
                <a:r>
                  <a:rPr lang="en-US" sz="9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p27"/>
              <p:cNvSpPr/>
              <p:nvPr/>
            </p:nvSpPr>
            <p:spPr>
              <a:xfrm>
                <a:off x="3916174" y="1634476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차고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2" name="Google Shape;1322;p27"/>
              <p:cNvSpPr/>
              <p:nvPr/>
            </p:nvSpPr>
            <p:spPr>
              <a:xfrm>
                <a:off x="4090975" y="1630403"/>
                <a:ext cx="111588" cy="111588"/>
              </a:xfrm>
              <a:prstGeom prst="ellipse">
                <a:avLst/>
              </a:prstGeom>
              <a:solidFill>
                <a:srgbClr val="0C0C0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600"/>
                  <a:buFont typeface="Malgun Gothic"/>
                  <a:buNone/>
                </a:pPr>
                <a:r>
                  <a:rPr lang="en-US" sz="6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 sz="6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23" name="Google Shape;1323;p27"/>
              <p:cNvSpPr/>
              <p:nvPr/>
            </p:nvSpPr>
            <p:spPr>
              <a:xfrm>
                <a:off x="3612104" y="1631339"/>
                <a:ext cx="260090" cy="254295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BFBFBF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검색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24" name="Google Shape;1324;p27"/>
            <p:cNvSpPr/>
            <p:nvPr/>
          </p:nvSpPr>
          <p:spPr>
            <a:xfrm>
              <a:off x="1555181" y="1938614"/>
              <a:ext cx="2690948" cy="4057029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50"/>
                <a:buFont typeface="Malgun Gothic"/>
                <a:buNone/>
              </a:pPr>
              <a:endParaRPr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5" name="Google Shape;1325;p27"/>
            <p:cNvSpPr/>
            <p:nvPr/>
          </p:nvSpPr>
          <p:spPr>
            <a:xfrm>
              <a:off x="1555248" y="5996169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6" name="Google Shape;1326;p27"/>
            <p:cNvSpPr/>
            <p:nvPr/>
          </p:nvSpPr>
          <p:spPr>
            <a:xfrm>
              <a:off x="1684534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27"/>
            <p:cNvSpPr/>
            <p:nvPr/>
          </p:nvSpPr>
          <p:spPr>
            <a:xfrm>
              <a:off x="2769646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27"/>
            <p:cNvSpPr/>
            <p:nvPr/>
          </p:nvSpPr>
          <p:spPr>
            <a:xfrm>
              <a:off x="2227090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27"/>
            <p:cNvSpPr/>
            <p:nvPr/>
          </p:nvSpPr>
          <p:spPr>
            <a:xfrm>
              <a:off x="3312202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7"/>
            <p:cNvSpPr/>
            <p:nvPr/>
          </p:nvSpPr>
          <p:spPr>
            <a:xfrm>
              <a:off x="3854758" y="605668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31" name="Google Shape;1331;p27"/>
          <p:cNvGrpSpPr/>
          <p:nvPr/>
        </p:nvGrpSpPr>
        <p:grpSpPr>
          <a:xfrm>
            <a:off x="1555808" y="1574571"/>
            <a:ext cx="2690948" cy="363954"/>
            <a:chOff x="1555808" y="2552523"/>
            <a:chExt cx="2690948" cy="363954"/>
          </a:xfrm>
        </p:grpSpPr>
        <p:sp>
          <p:nvSpPr>
            <p:cNvPr id="1332" name="Google Shape;1332;p27"/>
            <p:cNvSpPr/>
            <p:nvPr/>
          </p:nvSpPr>
          <p:spPr>
            <a:xfrm>
              <a:off x="1555808" y="2552523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3" name="Google Shape;1333;p27"/>
            <p:cNvSpPr/>
            <p:nvPr/>
          </p:nvSpPr>
          <p:spPr>
            <a:xfrm flipH="1">
              <a:off x="1645444" y="2676741"/>
              <a:ext cx="57524" cy="117201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4" name="Google Shape;1334;p27"/>
            <p:cNvSpPr txBox="1"/>
            <p:nvPr/>
          </p:nvSpPr>
          <p:spPr>
            <a:xfrm>
              <a:off x="1794681" y="2552523"/>
              <a:ext cx="2224585" cy="363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LIST</a:t>
              </a:r>
              <a:endParaRPr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3916174" y="2606083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6" name="Google Shape;1336;p27"/>
          <p:cNvSpPr/>
          <p:nvPr/>
        </p:nvSpPr>
        <p:spPr>
          <a:xfrm>
            <a:off x="1554499" y="1934059"/>
            <a:ext cx="2691628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00</a:t>
            </a: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7" name="Google Shape;1337;p27"/>
          <p:cNvSpPr/>
          <p:nvPr/>
        </p:nvSpPr>
        <p:spPr>
          <a:xfrm>
            <a:off x="4027216" y="1625546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338" name="Google Shape;1338;p27"/>
          <p:cNvGrpSpPr/>
          <p:nvPr/>
        </p:nvGrpSpPr>
        <p:grpSpPr>
          <a:xfrm>
            <a:off x="3469919" y="1997971"/>
            <a:ext cx="707676" cy="221662"/>
            <a:chOff x="2149824" y="2537763"/>
            <a:chExt cx="707676" cy="221662"/>
          </a:xfrm>
        </p:grpSpPr>
        <p:sp>
          <p:nvSpPr>
            <p:cNvPr id="1339" name="Google Shape;1339;p27"/>
            <p:cNvSpPr/>
            <p:nvPr/>
          </p:nvSpPr>
          <p:spPr>
            <a:xfrm>
              <a:off x="2149824" y="2537763"/>
              <a:ext cx="707676" cy="221662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인기순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27"/>
            <p:cNvSpPr/>
            <p:nvPr/>
          </p:nvSpPr>
          <p:spPr>
            <a:xfrm rot="-5400000" flipH="1">
              <a:off x="2713602" y="2617666"/>
              <a:ext cx="37785" cy="69985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41" name="Google Shape;1341;p27"/>
          <p:cNvGrpSpPr/>
          <p:nvPr/>
        </p:nvGrpSpPr>
        <p:grpSpPr>
          <a:xfrm>
            <a:off x="1654409" y="2412052"/>
            <a:ext cx="2478158" cy="1684567"/>
            <a:chOff x="1659705" y="2054741"/>
            <a:chExt cx="543515" cy="544442"/>
          </a:xfrm>
        </p:grpSpPr>
        <p:grpSp>
          <p:nvGrpSpPr>
            <p:cNvPr id="1342" name="Google Shape;1342;p27"/>
            <p:cNvGrpSpPr/>
            <p:nvPr/>
          </p:nvGrpSpPr>
          <p:grpSpPr>
            <a:xfrm>
              <a:off x="1659705" y="2054741"/>
              <a:ext cx="543515" cy="544442"/>
              <a:chOff x="3571333" y="3966538"/>
              <a:chExt cx="674796" cy="675947"/>
            </a:xfrm>
          </p:grpSpPr>
          <p:sp>
            <p:nvSpPr>
              <p:cNvPr id="1343" name="Google Shape;1343;p27"/>
              <p:cNvSpPr/>
              <p:nvPr/>
            </p:nvSpPr>
            <p:spPr>
              <a:xfrm>
                <a:off x="3571333" y="3966538"/>
                <a:ext cx="674796" cy="674796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1344" name="Google Shape;1344;p27"/>
              <p:cNvCxnSpPr/>
              <p:nvPr/>
            </p:nvCxnSpPr>
            <p:spPr>
              <a:xfrm>
                <a:off x="3572292" y="3968115"/>
                <a:ext cx="673837" cy="67437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5" name="Google Shape;1345;p27"/>
              <p:cNvCxnSpPr/>
              <p:nvPr/>
            </p:nvCxnSpPr>
            <p:spPr>
              <a:xfrm flipH="1">
                <a:off x="3571333" y="3966538"/>
                <a:ext cx="674796" cy="674796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346" name="Google Shape;1346;p27"/>
            <p:cNvSpPr txBox="1"/>
            <p:nvPr/>
          </p:nvSpPr>
          <p:spPr>
            <a:xfrm>
              <a:off x="1721794" y="2299343"/>
              <a:ext cx="432786" cy="7862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36000" rIns="91425" bIns="360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347" name="Google Shape;1347;p27"/>
          <p:cNvSpPr/>
          <p:nvPr/>
        </p:nvSpPr>
        <p:spPr>
          <a:xfrm>
            <a:off x="1655455" y="2415437"/>
            <a:ext cx="300318" cy="27997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Flag</a:t>
            </a:r>
            <a:endParaRPr sz="6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8" name="Google Shape;1348;p27"/>
          <p:cNvSpPr txBox="1"/>
          <p:nvPr/>
        </p:nvSpPr>
        <p:spPr>
          <a:xfrm>
            <a:off x="1574760" y="4354367"/>
            <a:ext cx="255780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뉴 그랜저 </a:t>
            </a: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2.5 프리미엄 초이스(1줄 노출)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9" name="Google Shape;1349;p27"/>
          <p:cNvSpPr txBox="1"/>
          <p:nvPr/>
        </p:nvSpPr>
        <p:spPr>
          <a:xfrm>
            <a:off x="1584506" y="4546700"/>
            <a:ext cx="200571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20년식 5,6732Km 가솔린</a:t>
            </a:r>
            <a:endParaRPr sz="8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0" name="Google Shape;1350;p27"/>
          <p:cNvSpPr txBox="1"/>
          <p:nvPr/>
        </p:nvSpPr>
        <p:spPr>
          <a:xfrm>
            <a:off x="1573724" y="4724986"/>
            <a:ext cx="129810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3,340</a:t>
            </a: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만원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할부 월 </a:t>
            </a: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71</a:t>
            </a: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만원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1" name="Google Shape;1351;p27"/>
          <p:cNvSpPr/>
          <p:nvPr/>
        </p:nvSpPr>
        <p:spPr>
          <a:xfrm>
            <a:off x="3786595" y="3775433"/>
            <a:ext cx="248395" cy="242861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2" name="Google Shape;1352;p27"/>
          <p:cNvGrpSpPr/>
          <p:nvPr/>
        </p:nvGrpSpPr>
        <p:grpSpPr>
          <a:xfrm>
            <a:off x="1654409" y="4170174"/>
            <a:ext cx="1187282" cy="122322"/>
            <a:chOff x="1641539" y="3517942"/>
            <a:chExt cx="1396633" cy="122322"/>
          </a:xfrm>
        </p:grpSpPr>
        <p:sp>
          <p:nvSpPr>
            <p:cNvPr id="1353" name="Google Shape;1353;p27"/>
            <p:cNvSpPr/>
            <p:nvPr/>
          </p:nvSpPr>
          <p:spPr>
            <a:xfrm>
              <a:off x="1641539" y="3517942"/>
              <a:ext cx="436192" cy="11687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algun Gothic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Flag</a:t>
              </a:r>
              <a:endParaRPr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2121355" y="3523392"/>
              <a:ext cx="436192" cy="11687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algun Gothic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Flag</a:t>
              </a:r>
              <a:endParaRPr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2601980" y="3523392"/>
              <a:ext cx="436192" cy="11687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Malgun Gothic"/>
                <a:buNone/>
              </a:pPr>
              <a:r>
                <a:rPr lang="en-US" sz="6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Flag</a:t>
              </a:r>
              <a:endParaRPr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356" name="Google Shape;1356;p27"/>
          <p:cNvCxnSpPr/>
          <p:nvPr/>
        </p:nvCxnSpPr>
        <p:spPr>
          <a:xfrm>
            <a:off x="1554499" y="5163712"/>
            <a:ext cx="2691628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28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28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2" name="Google Shape;1362;p28"/>
          <p:cNvSpPr txBox="1">
            <a:spLocks noGrp="1"/>
          </p:cNvSpPr>
          <p:nvPr>
            <p:ph type="ctrTitle"/>
          </p:nvPr>
        </p:nvSpPr>
        <p:spPr>
          <a:xfrm>
            <a:off x="717391" y="2344464"/>
            <a:ext cx="10671969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rPr lang="en-US"/>
              <a:t>용어정의</a:t>
            </a:r>
            <a:endParaRPr/>
          </a:p>
        </p:txBody>
      </p:sp>
      <p:sp>
        <p:nvSpPr>
          <p:cNvPr id="1363" name="Google Shape;1363;p28"/>
          <p:cNvSpPr txBox="1"/>
          <p:nvPr/>
        </p:nvSpPr>
        <p:spPr>
          <a:xfrm>
            <a:off x="691264" y="1602382"/>
            <a:ext cx="93723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8A"/>
              </a:buClr>
              <a:buSzPts val="4000"/>
              <a:buFont typeface="Malgun Gothic"/>
              <a:buNone/>
            </a:pPr>
            <a:r>
              <a:rPr lang="en-US" sz="4000" b="1" i="0" u="none" strike="noStrike" cap="none">
                <a:solidFill>
                  <a:srgbClr val="00458A"/>
                </a:solidFill>
                <a:latin typeface="Malgun Gothic"/>
                <a:ea typeface="Malgun Gothic"/>
                <a:cs typeface="Malgun Gothic"/>
                <a:sym typeface="Malgun Gothic"/>
              </a:rPr>
              <a:t>04.</a:t>
            </a:r>
            <a:endParaRPr sz="4000" b="1" i="0" u="none" strike="noStrike" cap="none">
              <a:solidFill>
                <a:srgbClr val="0045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4" name="Google Shape;1364;p28"/>
          <p:cNvSpPr txBox="1"/>
          <p:nvPr/>
        </p:nvSpPr>
        <p:spPr>
          <a:xfrm>
            <a:off x="801186" y="2995755"/>
            <a:ext cx="768096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Title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Information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Message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2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29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0" name="Google Shape;1370;p29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메뉴명, 화면 타이틀, 서브 타이틀, 탭명, 버튼명, 테이블의 칼럼명 등 레이블의 규칙을 정의한다.</a:t>
            </a:r>
            <a:endParaRPr/>
          </a:p>
        </p:txBody>
      </p:sp>
      <p:sp>
        <p:nvSpPr>
          <p:cNvPr id="1371" name="Google Shape;1371;p29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1) Title</a:t>
            </a:r>
            <a:endParaRPr/>
          </a:p>
        </p:txBody>
      </p:sp>
      <p:graphicFrame>
        <p:nvGraphicFramePr>
          <p:cNvPr id="1372" name="Google Shape;1372;p29"/>
          <p:cNvGraphicFramePr/>
          <p:nvPr/>
        </p:nvGraphicFramePr>
        <p:xfrm>
          <a:off x="5277395" y="2412052"/>
          <a:ext cx="5425450" cy="214962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 rowSpan="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정책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영어의 사용을 최대한 자제하나, 브랜드 등 고유명사가 영어로 된 경우 또는 의미를 보다 명확하고 강하게 전달 하기 위해 불가피하게 영어가 사용될 수 있다.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레이블이 9음절 이상일 경우 띄어 쓴다.</a:t>
                      </a:r>
                      <a:endParaRPr sz="1400" u="none" strike="noStrike" cap="none"/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레이블은 국/영문 구별하지 않고 띄어쓰기, 특수문자 등을 포함해 최대 12음절을 넘지 않는 것을 권장한다.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괄호’( )’, 특수문자 등 사용을 지양한다.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주관적인 레이블 또는 시스템 위주의 레이블을 지양한다.</a:t>
                      </a:r>
                      <a:endParaRPr sz="1400" u="none" strike="noStrike" cap="none"/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메뉴명의 경우 1~2Depth는 하위 기능이나 하위 메뉴를 추정할 수 있도록 하며 3Depth 부터는 정확한 의미 전달을 할 수 있어야 한다.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버튼명의 경우 해당 버튼이 어떤 액션을 수행하는지 알 수 있도록 한다.</a:t>
                      </a:r>
                      <a:endParaRPr sz="1400" u="none" strike="noStrike" cap="none"/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3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유형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명사형 : 한 개의 단어 또는 2~3개의 단어가 합해서 하나의 단어 처럼 해당 메뉴의 기능이나 상황을 설명하는 형태이다.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액션형 : 어떤 대상 정보에 Action 을 수행하는 형태이다.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1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상태형 : 어떤 대상 정보의 상태를 알려주는 형태이다.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373" name="Google Shape;1373;p29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374" name="Google Shape;1374;p29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375" name="Google Shape;1375;p29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376" name="Google Shape;1376;p29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7" name="Google Shape;1377;p29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378" name="Google Shape;1378;p29"/>
          <p:cNvSpPr/>
          <p:nvPr/>
        </p:nvSpPr>
        <p:spPr>
          <a:xfrm>
            <a:off x="1557661" y="1375954"/>
            <a:ext cx="2690948" cy="4990369"/>
          </a:xfrm>
          <a:prstGeom prst="rect">
            <a:avLst/>
          </a:prstGeom>
          <a:solidFill>
            <a:srgbClr val="000000">
              <a:alpha val="2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9" name="Google Shape;1379;p29"/>
          <p:cNvSpPr/>
          <p:nvPr/>
        </p:nvSpPr>
        <p:spPr>
          <a:xfrm>
            <a:off x="1554554" y="1581154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 Title 10pt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0" name="Google Shape;1380;p29"/>
          <p:cNvSpPr/>
          <p:nvPr/>
        </p:nvSpPr>
        <p:spPr>
          <a:xfrm>
            <a:off x="1554554" y="1939021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 Title 10pt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1" name="Google Shape;1381;p29"/>
          <p:cNvSpPr/>
          <p:nvPr/>
        </p:nvSpPr>
        <p:spPr>
          <a:xfrm>
            <a:off x="1554554" y="2299021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 Title 9pt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2" name="Google Shape;1382;p29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메뉴명, 화면 타이틀, 화면 내 소타이틀, 탭명, 버튼명, 테이블의 칼럼명 등 각기 다른 형태의 레이블이라 하더라도 동일한 레이블링 규칙을 적용한다.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예외 사항을 최소화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지킬 수 있는 최소한의 규칙을 제시해 운영관리를 용이하게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문장 형태의 레이블의 경우 한글 맞춤법 및 표준어 규정을 따른다.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3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30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8" name="Google Shape;1388;p30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레이블 작성은 아래의 규칙을 준수한다.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389" name="Google Shape;1389;p30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2) Label(1/2)</a:t>
            </a:r>
            <a:endParaRPr/>
          </a:p>
        </p:txBody>
      </p:sp>
      <p:graphicFrame>
        <p:nvGraphicFramePr>
          <p:cNvPr id="1390" name="Google Shape;1390;p30"/>
          <p:cNvGraphicFramePr/>
          <p:nvPr/>
        </p:nvGraphicFramePr>
        <p:xfrm>
          <a:off x="5277395" y="1388266"/>
          <a:ext cx="5425450" cy="366282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레이블의 길이를 줄이고자 ‘~와(과), 및 쉼표“,” 등으로 표현하여 특정 단어의 반복을 줄이고자 할 경우, 앞 뒤 단어의 구분을 “/ “ 로 통일하여 사용한다.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9음절 이상의 레이블로 띄어쓰기가 필요한 경우 띄어쓰기 지점은 끊어서 읽기에 도움이 되는 곳을 선택하고 띄어쓰기는 한 번만 한다.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9음절 이상일 경우 띄어쓰기를 해야 하나 ‘/ ‘로 레이블의 구분이 있을 경우 전체 레이블이 9음절 이상이라 하더라도 띄어쓰기를 하지 않는다.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(단, /로 구분된 앞 뒤의 레이블 중 9음절 이상이 있을 경우 띄어쓰기 할 수 있음)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8음절 이하일 경우 ‘띄어쓰기 하지 않음＇이 기본 원칙이나 아래 경우는 예외로 한다.</a:t>
                      </a:r>
                      <a:endParaRPr sz="1400" u="none" strike="noStrike" cap="none"/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Char char="-"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브랜드명의 경우 앞 뒤 단어와 띄어 씀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Char char="-"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영문 단어 조합 혹은 국영문 혼합일 경우 앞 뒤 단어를 띄어 씀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Char char="-"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‘(명사+조사/접사)+명사＇조합일 경우‘(명사+조사/접사)’ 뒤에 오는 단어는 띄어 씀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Char char="-"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콜론‘;’ 뒤에 오는 단어는 띄어 씀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Char char="-"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괄호‘( )’ 뒤에 오는 단어는 띄어 씀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브랜드/상품명 일 경우 해당 브랜드/상품의 표기법 대로 사용한다.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브랜드/상품명이 아닐 경우 각 단어의 맨 앞 글자만 대문자를 사용하고 단어끼리는 띄어 쓴다.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여러 개의 정보가 수평 나열되는 경우 특수 문자를 지양하고 폰트의 굵기와 색상으로 정보간의 구분을 준다.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 타이틀은 ‘무엇을‘ 을 제공한다.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 타이틀은 명사형을 지향하나, 그 의미 전달이 부족한 경우 부득이하게 명사+동사형을 사용한다.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 화면 내에서 항목 타이틀이 여러 개인 경우, 레이블링 기조를 통일한다.</a:t>
                      </a:r>
                      <a:endParaRPr sz="1400" u="none" strike="noStrike" cap="none"/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명사+명사로 레이블링 한 경우 모든 항목의 타이틀을 명사+명사로 한다.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명사+동사로 레이블링 한 경우 모든 항목의 타이틀을 명사+동사로 한다.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‘~하기/보기‘ 등의 표현은 자제한다.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(단, 해당 어미를 삭제 했을 경우 뜻을 알 수 없는 레이블에 대해서만 사용)</a:t>
                      </a:r>
                      <a:endParaRPr sz="1400" u="none" strike="noStrike" cap="none"/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1391" name="Google Shape;1391;p30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392" name="Google Shape;1392;p30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393" name="Google Shape;1393;p30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394" name="Google Shape;1394;p30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5" name="Google Shape;1395;p30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396" name="Google Shape;1396;p30"/>
          <p:cNvSpPr/>
          <p:nvPr/>
        </p:nvSpPr>
        <p:spPr>
          <a:xfrm>
            <a:off x="1554554" y="1581154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예약신청확인/취소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30"/>
          <p:cNvSpPr/>
          <p:nvPr/>
        </p:nvSpPr>
        <p:spPr>
          <a:xfrm>
            <a:off x="1327736" y="167842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8" name="Google Shape;1398;p30"/>
          <p:cNvSpPr/>
          <p:nvPr/>
        </p:nvSpPr>
        <p:spPr>
          <a:xfrm>
            <a:off x="1554554" y="1941154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참여시 블루멤버스 포인트증정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9" name="Google Shape;1399;p30"/>
          <p:cNvSpPr/>
          <p:nvPr/>
        </p:nvSpPr>
        <p:spPr>
          <a:xfrm>
            <a:off x="1554554" y="2301154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주문내역조회/취소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30"/>
          <p:cNvSpPr/>
          <p:nvPr/>
        </p:nvSpPr>
        <p:spPr>
          <a:xfrm>
            <a:off x="1554554" y="2661154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사업자명 : 현대자동차㈜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30"/>
          <p:cNvSpPr/>
          <p:nvPr/>
        </p:nvSpPr>
        <p:spPr>
          <a:xfrm>
            <a:off x="1554554" y="3021154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 new GRANDEUR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2" name="Google Shape;1402;p30"/>
          <p:cNvSpPr/>
          <p:nvPr/>
        </p:nvSpPr>
        <p:spPr>
          <a:xfrm>
            <a:off x="1554554" y="3381154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Trade In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3" name="Google Shape;1403;p30"/>
          <p:cNvSpPr/>
          <p:nvPr/>
        </p:nvSpPr>
        <p:spPr>
          <a:xfrm>
            <a:off x="1554554" y="3741154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10%</a:t>
            </a: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할인</a:t>
            </a: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25,000,000</a:t>
            </a: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30"/>
          <p:cNvSpPr/>
          <p:nvPr/>
        </p:nvSpPr>
        <p:spPr>
          <a:xfrm>
            <a:off x="1554554" y="4101154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입금확인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30"/>
          <p:cNvSpPr/>
          <p:nvPr/>
        </p:nvSpPr>
        <p:spPr>
          <a:xfrm>
            <a:off x="1554554" y="4461154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주문내역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30"/>
          <p:cNvSpPr/>
          <p:nvPr/>
        </p:nvSpPr>
        <p:spPr>
          <a:xfrm>
            <a:off x="1554554" y="4821154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주문내역확인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30"/>
          <p:cNvSpPr/>
          <p:nvPr/>
        </p:nvSpPr>
        <p:spPr>
          <a:xfrm>
            <a:off x="1554554" y="5181154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더보기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8" name="Google Shape;1408;p30"/>
          <p:cNvSpPr/>
          <p:nvPr/>
        </p:nvSpPr>
        <p:spPr>
          <a:xfrm>
            <a:off x="1327736" y="203842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9" name="Google Shape;1409;p30"/>
          <p:cNvSpPr/>
          <p:nvPr/>
        </p:nvSpPr>
        <p:spPr>
          <a:xfrm>
            <a:off x="1327736" y="2389167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0" name="Google Shape;1410;p30"/>
          <p:cNvSpPr/>
          <p:nvPr/>
        </p:nvSpPr>
        <p:spPr>
          <a:xfrm>
            <a:off x="1327736" y="2740125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1" name="Google Shape;1411;p30"/>
          <p:cNvSpPr/>
          <p:nvPr/>
        </p:nvSpPr>
        <p:spPr>
          <a:xfrm>
            <a:off x="1327736" y="311842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2" name="Google Shape;1412;p30"/>
          <p:cNvSpPr/>
          <p:nvPr/>
        </p:nvSpPr>
        <p:spPr>
          <a:xfrm>
            <a:off x="1327736" y="3475806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3" name="Google Shape;1413;p30"/>
          <p:cNvSpPr/>
          <p:nvPr/>
        </p:nvSpPr>
        <p:spPr>
          <a:xfrm>
            <a:off x="1327736" y="381413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4" name="Google Shape;1414;p30"/>
          <p:cNvSpPr/>
          <p:nvPr/>
        </p:nvSpPr>
        <p:spPr>
          <a:xfrm>
            <a:off x="1327736" y="419842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5" name="Google Shape;1415;p30"/>
          <p:cNvSpPr/>
          <p:nvPr/>
        </p:nvSpPr>
        <p:spPr>
          <a:xfrm>
            <a:off x="1327736" y="455842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6" name="Google Shape;1416;p30"/>
          <p:cNvSpPr/>
          <p:nvPr/>
        </p:nvSpPr>
        <p:spPr>
          <a:xfrm>
            <a:off x="1327736" y="491842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lgun Gothic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sz="7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7" name="Google Shape;1417;p30"/>
          <p:cNvSpPr/>
          <p:nvPr/>
        </p:nvSpPr>
        <p:spPr>
          <a:xfrm>
            <a:off x="1327736" y="5272506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lgun Gothic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sz="7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31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3" name="Google Shape;1423;p31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레이블 정렬은 아래의 규칙을 준수한다.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424" name="Google Shape;1424;p31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2) Label(2/2)</a:t>
            </a:r>
            <a:endParaRPr/>
          </a:p>
        </p:txBody>
      </p:sp>
      <p:graphicFrame>
        <p:nvGraphicFramePr>
          <p:cNvPr id="1425" name="Google Shape;1425;p31"/>
          <p:cNvGraphicFramePr/>
          <p:nvPr/>
        </p:nvGraphicFramePr>
        <p:xfrm>
          <a:off x="5277395" y="1388266"/>
          <a:ext cx="5425450" cy="193566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정책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문자 정렬은 좌측정렬 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컨텐츠 내 상품 설명 서브 타이틀은 중앙 정렬 한다.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탭명</a:t>
                      </a: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중앙정렬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 리스트 : </a:t>
                      </a: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죄측정렬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상품상세 설명 : </a:t>
                      </a: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좌측정렬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메뉴 </a:t>
                      </a: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중앙정렬, 좌측정렬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버튼명 </a:t>
                      </a: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중앙정렬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팝업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타이틀 : 중앙정렬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 : 좌측정렬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17775" marT="17775" marB="17775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426" name="Google Shape;1426;p31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427" name="Google Shape;1427;p31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428" name="Google Shape;1428;p31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429" name="Google Shape;1429;p31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0" name="Google Shape;1430;p31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431" name="Google Shape;1431;p31"/>
          <p:cNvSpPr/>
          <p:nvPr/>
        </p:nvSpPr>
        <p:spPr>
          <a:xfrm>
            <a:off x="1327736" y="167842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2" name="Google Shape;1432;p31"/>
          <p:cNvSpPr/>
          <p:nvPr/>
        </p:nvSpPr>
        <p:spPr>
          <a:xfrm>
            <a:off x="1554554" y="1941154"/>
            <a:ext cx="2692202" cy="80076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리스트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리스트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lgun Gothic"/>
              <a:buNone/>
            </a:pP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lgun Gothic"/>
              <a:buNone/>
            </a:pP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3" name="Google Shape;1433;p31"/>
          <p:cNvSpPr/>
          <p:nvPr/>
        </p:nvSpPr>
        <p:spPr>
          <a:xfrm>
            <a:off x="1554554" y="2741041"/>
            <a:ext cx="2692202" cy="63081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상품은 현대자동차가 성능검사 후 완료된 상품으로 최상의 품질인 중고차입니다.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(좌측정렬)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31"/>
          <p:cNvSpPr/>
          <p:nvPr/>
        </p:nvSpPr>
        <p:spPr>
          <a:xfrm>
            <a:off x="1554554" y="3731860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메뉴명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5" name="Google Shape;1435;p31"/>
          <p:cNvSpPr/>
          <p:nvPr/>
        </p:nvSpPr>
        <p:spPr>
          <a:xfrm>
            <a:off x="1554554" y="4091860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버튼명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6" name="Google Shape;1436;p31"/>
          <p:cNvSpPr/>
          <p:nvPr/>
        </p:nvSpPr>
        <p:spPr>
          <a:xfrm>
            <a:off x="1327736" y="2231369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7" name="Google Shape;1437;p31"/>
          <p:cNvSpPr/>
          <p:nvPr/>
        </p:nvSpPr>
        <p:spPr>
          <a:xfrm>
            <a:off x="1327736" y="2974038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8" name="Google Shape;1438;p31"/>
          <p:cNvSpPr/>
          <p:nvPr/>
        </p:nvSpPr>
        <p:spPr>
          <a:xfrm>
            <a:off x="1327736" y="3649128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9" name="Google Shape;1439;p31"/>
          <p:cNvSpPr/>
          <p:nvPr/>
        </p:nvSpPr>
        <p:spPr>
          <a:xfrm>
            <a:off x="1327736" y="4189128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0" name="Google Shape;1440;p31"/>
          <p:cNvSpPr/>
          <p:nvPr/>
        </p:nvSpPr>
        <p:spPr>
          <a:xfrm>
            <a:off x="1327736" y="4752591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41" name="Google Shape;1441;p31"/>
          <p:cNvGrpSpPr/>
          <p:nvPr/>
        </p:nvGrpSpPr>
        <p:grpSpPr>
          <a:xfrm>
            <a:off x="1555807" y="1581154"/>
            <a:ext cx="2690321" cy="360000"/>
            <a:chOff x="1555808" y="1581154"/>
            <a:chExt cx="2607258" cy="360000"/>
          </a:xfrm>
        </p:grpSpPr>
        <p:sp>
          <p:nvSpPr>
            <p:cNvPr id="1442" name="Google Shape;1442;p31"/>
            <p:cNvSpPr/>
            <p:nvPr/>
          </p:nvSpPr>
          <p:spPr>
            <a:xfrm>
              <a:off x="1555808" y="1581154"/>
              <a:ext cx="1303629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탭명</a:t>
              </a:r>
              <a:endParaRPr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43" name="Google Shape;1443;p31"/>
            <p:cNvSpPr/>
            <p:nvPr/>
          </p:nvSpPr>
          <p:spPr>
            <a:xfrm>
              <a:off x="2859437" y="1581154"/>
              <a:ext cx="1303629" cy="360000"/>
            </a:xfrm>
            <a:prstGeom prst="rect">
              <a:avLst/>
            </a:pr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Malgun Gothic"/>
                <a:buNone/>
              </a:pPr>
              <a:r>
                <a:rPr lang="en-US" sz="10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탭명</a:t>
              </a:r>
              <a:endParaRPr sz="10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44" name="Google Shape;1444;p31"/>
          <p:cNvSpPr/>
          <p:nvPr/>
        </p:nvSpPr>
        <p:spPr>
          <a:xfrm>
            <a:off x="1554554" y="3371860"/>
            <a:ext cx="2692202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메뉴명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45" name="Google Shape;1445;p31"/>
          <p:cNvGrpSpPr/>
          <p:nvPr/>
        </p:nvGrpSpPr>
        <p:grpSpPr>
          <a:xfrm>
            <a:off x="1697746" y="4697887"/>
            <a:ext cx="2406441" cy="1396003"/>
            <a:chOff x="1697746" y="4697887"/>
            <a:chExt cx="2406441" cy="1396003"/>
          </a:xfrm>
        </p:grpSpPr>
        <p:grpSp>
          <p:nvGrpSpPr>
            <p:cNvPr id="1446" name="Google Shape;1446;p31"/>
            <p:cNvGrpSpPr/>
            <p:nvPr/>
          </p:nvGrpSpPr>
          <p:grpSpPr>
            <a:xfrm>
              <a:off x="1697746" y="4697887"/>
              <a:ext cx="2406441" cy="1396003"/>
              <a:chOff x="1697746" y="4697887"/>
              <a:chExt cx="2406441" cy="1396003"/>
            </a:xfrm>
          </p:grpSpPr>
          <p:sp>
            <p:nvSpPr>
              <p:cNvPr id="1447" name="Google Shape;1447;p31"/>
              <p:cNvSpPr/>
              <p:nvPr/>
            </p:nvSpPr>
            <p:spPr>
              <a:xfrm>
                <a:off x="1697746" y="4697887"/>
                <a:ext cx="2406441" cy="1396003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팝업내용</a:t>
                </a:r>
                <a:endParaRPr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900"/>
                  <a:buFont typeface="Malgun Gothic"/>
                  <a:buNone/>
                </a:pPr>
                <a:endParaRPr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900"/>
                  <a:buFont typeface="Malgun Gothic"/>
                  <a:buNone/>
                </a:pPr>
                <a:endParaRPr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448" name="Google Shape;1448;p31"/>
              <p:cNvSpPr/>
              <p:nvPr/>
            </p:nvSpPr>
            <p:spPr>
              <a:xfrm>
                <a:off x="1697746" y="4697887"/>
                <a:ext cx="2406441" cy="36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Malgun Gothic"/>
                  <a:buNone/>
                </a:pPr>
                <a:r>
                  <a:rPr lang="en-US" sz="10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팝업 타이틀</a:t>
                </a:r>
                <a:endParaRPr sz="10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449" name="Google Shape;1449;p31"/>
            <p:cNvSpPr/>
            <p:nvPr/>
          </p:nvSpPr>
          <p:spPr>
            <a:xfrm rot="2646491">
              <a:off x="3869652" y="4826631"/>
              <a:ext cx="118612" cy="117796"/>
            </a:xfrm>
            <a:prstGeom prst="plus">
              <a:avLst>
                <a:gd name="adj" fmla="val 457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50" name="Google Shape;1450;p31"/>
          <p:cNvGrpSpPr/>
          <p:nvPr/>
        </p:nvGrpSpPr>
        <p:grpSpPr>
          <a:xfrm>
            <a:off x="1643204" y="2061949"/>
            <a:ext cx="560016" cy="560971"/>
            <a:chOff x="1659705" y="2054741"/>
            <a:chExt cx="543515" cy="544442"/>
          </a:xfrm>
        </p:grpSpPr>
        <p:grpSp>
          <p:nvGrpSpPr>
            <p:cNvPr id="1451" name="Google Shape;1451;p31"/>
            <p:cNvGrpSpPr/>
            <p:nvPr/>
          </p:nvGrpSpPr>
          <p:grpSpPr>
            <a:xfrm>
              <a:off x="1659705" y="2054741"/>
              <a:ext cx="543515" cy="544442"/>
              <a:chOff x="3571333" y="3966538"/>
              <a:chExt cx="674796" cy="675947"/>
            </a:xfrm>
          </p:grpSpPr>
          <p:sp>
            <p:nvSpPr>
              <p:cNvPr id="1452" name="Google Shape;1452;p31"/>
              <p:cNvSpPr/>
              <p:nvPr/>
            </p:nvSpPr>
            <p:spPr>
              <a:xfrm>
                <a:off x="3571333" y="3966538"/>
                <a:ext cx="674796" cy="674796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1453" name="Google Shape;1453;p31"/>
              <p:cNvCxnSpPr/>
              <p:nvPr/>
            </p:nvCxnSpPr>
            <p:spPr>
              <a:xfrm>
                <a:off x="3572292" y="3968115"/>
                <a:ext cx="673837" cy="67437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54" name="Google Shape;1454;p31"/>
              <p:cNvCxnSpPr/>
              <p:nvPr/>
            </p:nvCxnSpPr>
            <p:spPr>
              <a:xfrm flipH="1">
                <a:off x="3571333" y="3966538"/>
                <a:ext cx="674796" cy="674796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455" name="Google Shape;1455;p31"/>
            <p:cNvSpPr txBox="1"/>
            <p:nvPr/>
          </p:nvSpPr>
          <p:spPr>
            <a:xfrm>
              <a:off x="1721794" y="2236735"/>
              <a:ext cx="432786" cy="1783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3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32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1" name="Google Shape;1461;p32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화면에서 제공하는 기능이나 정책에 대해 안내가 필요한 경우 별도의 영역에 안내문을 구성한다.</a:t>
            </a:r>
            <a:endParaRPr/>
          </a:p>
        </p:txBody>
      </p:sp>
      <p:sp>
        <p:nvSpPr>
          <p:cNvPr id="1462" name="Google Shape;1462;p3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3) Information</a:t>
            </a:r>
            <a:endParaRPr/>
          </a:p>
        </p:txBody>
      </p:sp>
      <p:graphicFrame>
        <p:nvGraphicFramePr>
          <p:cNvPr id="1463" name="Google Shape;1463;p32"/>
          <p:cNvGraphicFramePr/>
          <p:nvPr/>
        </p:nvGraphicFramePr>
        <p:xfrm>
          <a:off x="5277395" y="2823113"/>
          <a:ext cx="5425450" cy="5250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안내문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하단에 노출하고 필요 시 글머리 기호를 사용할 수 있다.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464" name="Google Shape;1464;p32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465" name="Google Shape;1465;p32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466" name="Google Shape;1466;p32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467" name="Google Shape;1467;p32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68" name="Google Shape;1468;p32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469" name="Google Shape;1469;p32"/>
          <p:cNvSpPr/>
          <p:nvPr/>
        </p:nvSpPr>
        <p:spPr>
          <a:xfrm>
            <a:off x="1555181" y="5018633"/>
            <a:ext cx="2690948" cy="133806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" tIns="45700" rIns="360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안내문은 하단에 노출한다. 7pt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algun Gothic"/>
              <a:buNone/>
            </a:pP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2075" marR="0" lvl="0" indent="-92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 시 글머리 기호를 사용할 수 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075" marR="0" lvl="0" indent="-92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 시 글머리 기호를 사용할 수 있다. </a:t>
            </a: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2075" marR="0" lvl="0" indent="-92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 시 글머리 기호를 사용할 수 있다. </a:t>
            </a: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92075" marR="0" lvl="0" indent="-92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 시 글머리 기호를 사용할 수 있다.  </a:t>
            </a: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0" name="Google Shape;1470;p32"/>
          <p:cNvSpPr/>
          <p:nvPr/>
        </p:nvSpPr>
        <p:spPr>
          <a:xfrm>
            <a:off x="5277395" y="1406661"/>
            <a:ext cx="5425439" cy="1277815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영문 표기는 자제하고 외래어 표기법에 따른 용어를 제시한다.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한자의 한글표기는 자제하고 순 우리말을 제시한다.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동일한 의미이나 혼용되는 표현에 대해 정의한다.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화면에서 제공하는 기능과 구성에 대해 고객의 행동이나 화면의 이해를 보조할 수 있는 안내 사항을 제시한다.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위치는 화면을 구성하는 입력폼, 테이블, 리스트 등의 하단부에 노출하는 것을 기본으로 한다.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단, 안내 문구의 중요도가 매우 높은 경우에 한하여 해당 안내 문구가 필요한 특정 영역을 지정하여 표시한다. (상단 표시, 중간 내부 표시 등)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32"/>
          <p:cNvSpPr/>
          <p:nvPr/>
        </p:nvSpPr>
        <p:spPr>
          <a:xfrm>
            <a:off x="1327736" y="5123873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33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33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7" name="Google Shape;1477;p33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Input과 Tool Tip 메시지를 정의한다.</a:t>
            </a:r>
            <a:endParaRPr/>
          </a:p>
        </p:txBody>
      </p:sp>
      <p:sp>
        <p:nvSpPr>
          <p:cNvPr id="1478" name="Google Shape;1478;p33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4) Message(1/2)</a:t>
            </a:r>
            <a:endParaRPr/>
          </a:p>
        </p:txBody>
      </p:sp>
      <p:graphicFrame>
        <p:nvGraphicFramePr>
          <p:cNvPr id="1479" name="Google Shape;1479;p33"/>
          <p:cNvGraphicFramePr/>
          <p:nvPr/>
        </p:nvGraphicFramePr>
        <p:xfrm>
          <a:off x="5277395" y="1379847"/>
          <a:ext cx="5425450" cy="218196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인풋 입력오류 메시지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입력된 정보의 유효성 검증 시점은 사용자가 입력 완료 후 해당 입력창 이외의 영역을 클릭할 때 또는 엔터키를 입력할 때이다.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‘최종 입력확인’ 버튼 클릭 시는 필수 입력 정보 누락 여부를 체크하여 누락된 경우 해당 Input Box 하단에 누락 메시지를 출력한다.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 받을 정보에 따라 Input Box 선택 시 자동으로 키패드를 변환한다.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단, 주문과 관련된 프로세스에서는 경우에 따라 Input Box 하단이 아닌 System alert 으로 메시지 출력 가능하다.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툴팁 메시지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메시지는 짧고 이해하기 쉽게 작성한다.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‘X(닫기)’버튼을 제공한다.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(?) 버튼과 함께 사용되며, 해당 버튼을 탭하면 레이어 팝업을 호출한다.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레이어 외 영역 탭하면 해당 레이어 팝업이 닫힌다.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레이어 팝업의 x 버튼 탭하면 해당 레이어 팝업이 닫힌다.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여러 개의 (?) 버튼이 함께 제공될 경우라도 각자의 (?) 버튼을 클릭하면 해당 레이어 팝업이 나타난다.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480" name="Google Shape;1480;p33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481" name="Google Shape;1481;p33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482" name="Google Shape;1482;p33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483" name="Google Shape;1483;p33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4" name="Google Shape;1484;p33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485" name="Google Shape;1485;p33"/>
          <p:cNvSpPr/>
          <p:nvPr/>
        </p:nvSpPr>
        <p:spPr>
          <a:xfrm>
            <a:off x="1557661" y="1375954"/>
            <a:ext cx="2690948" cy="4990369"/>
          </a:xfrm>
          <a:prstGeom prst="rect">
            <a:avLst/>
          </a:prstGeom>
          <a:solidFill>
            <a:srgbClr val="000000">
              <a:alpha val="2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6" name="Google Shape;1486;p33"/>
          <p:cNvSpPr/>
          <p:nvPr/>
        </p:nvSpPr>
        <p:spPr>
          <a:xfrm>
            <a:off x="1554499" y="1797884"/>
            <a:ext cx="2691630" cy="132183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7" name="Google Shape;1487;p33"/>
          <p:cNvSpPr/>
          <p:nvPr/>
        </p:nvSpPr>
        <p:spPr>
          <a:xfrm>
            <a:off x="1645443" y="1933913"/>
            <a:ext cx="2490789" cy="293712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Hyundai@Hyundai...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8" name="Google Shape;1488;p33"/>
          <p:cNvSpPr txBox="1"/>
          <p:nvPr/>
        </p:nvSpPr>
        <p:spPr>
          <a:xfrm>
            <a:off x="1564759" y="2250685"/>
            <a:ext cx="213766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890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Noto Sans Symbols"/>
              <a:buChar char="✔"/>
            </a:pPr>
            <a:r>
              <a:rPr lang="en-US" sz="8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 형식이 올바르지 않습니다.</a:t>
            </a:r>
            <a:endParaRPr sz="8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9" name="Google Shape;1489;p33"/>
          <p:cNvSpPr/>
          <p:nvPr/>
        </p:nvSpPr>
        <p:spPr>
          <a:xfrm>
            <a:off x="1327736" y="2141474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0" name="Google Shape;1490;p33"/>
          <p:cNvSpPr/>
          <p:nvPr/>
        </p:nvSpPr>
        <p:spPr>
          <a:xfrm>
            <a:off x="1645443" y="2526601"/>
            <a:ext cx="2490789" cy="293712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algun Gothic"/>
              <a:buNone/>
            </a:pP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1" name="Google Shape;1491;p33"/>
          <p:cNvSpPr txBox="1"/>
          <p:nvPr/>
        </p:nvSpPr>
        <p:spPr>
          <a:xfrm>
            <a:off x="1564759" y="2843373"/>
            <a:ext cx="268137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890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Noto Sans Symbols"/>
              <a:buChar char="✔"/>
            </a:pPr>
            <a:r>
              <a:rPr lang="en-US" sz="8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이메일은 반드시 등록하셔야 합니다.</a:t>
            </a:r>
            <a:endParaRPr sz="8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2" name="Google Shape;1492;p33"/>
          <p:cNvSpPr/>
          <p:nvPr/>
        </p:nvSpPr>
        <p:spPr>
          <a:xfrm>
            <a:off x="1554499" y="3511619"/>
            <a:ext cx="2691630" cy="59268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POINT              </a:t>
            </a: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35,000</a:t>
            </a: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33"/>
          <p:cNvSpPr/>
          <p:nvPr/>
        </p:nvSpPr>
        <p:spPr>
          <a:xfrm>
            <a:off x="2086807" y="3733103"/>
            <a:ext cx="154948" cy="151496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sz="8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94" name="Google Shape;1494;p33"/>
          <p:cNvGrpSpPr/>
          <p:nvPr/>
        </p:nvGrpSpPr>
        <p:grpSpPr>
          <a:xfrm>
            <a:off x="1645443" y="3962400"/>
            <a:ext cx="2490789" cy="585216"/>
            <a:chOff x="1645443" y="3962400"/>
            <a:chExt cx="2490789" cy="585216"/>
          </a:xfrm>
        </p:grpSpPr>
        <p:sp>
          <p:nvSpPr>
            <p:cNvPr id="1495" name="Google Shape;1495;p33"/>
            <p:cNvSpPr/>
            <p:nvPr/>
          </p:nvSpPr>
          <p:spPr>
            <a:xfrm>
              <a:off x="1645443" y="3962400"/>
              <a:ext cx="2490789" cy="585216"/>
            </a:xfrm>
            <a:prstGeom prst="roundRect">
              <a:avLst>
                <a:gd name="adj" fmla="val 13542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08000" tIns="0" rIns="36000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POINT는 현대자동차 회원에게 제공하는 블루멤버스 포인트를 말하며 현금과 동일하게 사용할 수 있습니다.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33"/>
            <p:cNvSpPr/>
            <p:nvPr/>
          </p:nvSpPr>
          <p:spPr>
            <a:xfrm rot="2646491">
              <a:off x="3942804" y="4028575"/>
              <a:ext cx="118612" cy="117796"/>
            </a:xfrm>
            <a:prstGeom prst="plus">
              <a:avLst>
                <a:gd name="adj" fmla="val 457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497" name="Google Shape;1497;p33"/>
          <p:cNvSpPr/>
          <p:nvPr/>
        </p:nvSpPr>
        <p:spPr>
          <a:xfrm>
            <a:off x="1327736" y="3722089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34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34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3" name="Google Shape;1503;p34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Alert과 Confirm은 OS 제공 UI를 사용하지 않고 Custom UI를 사용한다.</a:t>
            </a:r>
            <a:endParaRPr/>
          </a:p>
        </p:txBody>
      </p:sp>
      <p:sp>
        <p:nvSpPr>
          <p:cNvPr id="1504" name="Google Shape;1504;p34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4) Message(2/2)</a:t>
            </a:r>
            <a:endParaRPr/>
          </a:p>
        </p:txBody>
      </p:sp>
      <p:graphicFrame>
        <p:nvGraphicFramePr>
          <p:cNvPr id="1505" name="Google Shape;1505;p34"/>
          <p:cNvGraphicFramePr/>
          <p:nvPr/>
        </p:nvGraphicFramePr>
        <p:xfrm>
          <a:off x="5277395" y="2412052"/>
          <a:ext cx="5425450" cy="176628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Alert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메시지는 짧고 이해하기 쉽게 작성한다.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‘확인‘ 버튼을 제공한다.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확인 버튼 클릭 시 해당 창은 닫힌다.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Confirm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메시지는 짧고 이해하기 쉽게 작성한다.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‘확인‘과 '취소' 버튼을 제공한다.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확인 버튼 탭하면 해당 창은 닫히고 다음 프로세스를 진행한다.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취소 버튼 탭하면 진행중인 프로세스가 중단된다.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Toast Pop-up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처리 후 메시지를 2초간 노출한다.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06" name="Google Shape;1506;p34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507" name="Google Shape;1507;p34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508" name="Google Shape;1508;p34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509" name="Google Shape;1509;p34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10" name="Google Shape;1510;p34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511" name="Google Shape;1511;p34"/>
          <p:cNvSpPr/>
          <p:nvPr/>
        </p:nvSpPr>
        <p:spPr>
          <a:xfrm>
            <a:off x="1557661" y="1375954"/>
            <a:ext cx="2690948" cy="4990369"/>
          </a:xfrm>
          <a:prstGeom prst="rect">
            <a:avLst/>
          </a:prstGeom>
          <a:solidFill>
            <a:srgbClr val="000000">
              <a:alpha val="2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12" name="Google Shape;1512;p34"/>
          <p:cNvGrpSpPr/>
          <p:nvPr/>
        </p:nvGrpSpPr>
        <p:grpSpPr>
          <a:xfrm>
            <a:off x="1697746" y="1802858"/>
            <a:ext cx="2406441" cy="1316859"/>
            <a:chOff x="1697746" y="4697887"/>
            <a:chExt cx="2406441" cy="1224191"/>
          </a:xfrm>
        </p:grpSpPr>
        <p:sp>
          <p:nvSpPr>
            <p:cNvPr id="1513" name="Google Shape;1513;p34"/>
            <p:cNvSpPr/>
            <p:nvPr/>
          </p:nvSpPr>
          <p:spPr>
            <a:xfrm>
              <a:off x="1697746" y="4983804"/>
              <a:ext cx="2406441" cy="93827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08000" tIns="45700" rIns="108000" bIns="360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해당 서비스는 로그인이 필요합니다.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34"/>
            <p:cNvSpPr/>
            <p:nvPr/>
          </p:nvSpPr>
          <p:spPr>
            <a:xfrm>
              <a:off x="1697746" y="4697887"/>
              <a:ext cx="2406441" cy="285917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로그인 요청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5" name="Google Shape;1515;p34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예상되는 Alert, Confirm은 정의된 Custom UI로 제공한다.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예기치 못한 시스템 적 예외처리 메시지 등은 System UI로 제공한다.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34"/>
          <p:cNvSpPr/>
          <p:nvPr/>
        </p:nvSpPr>
        <p:spPr>
          <a:xfrm>
            <a:off x="1807324" y="2719858"/>
            <a:ext cx="2181969" cy="29083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7" name="Google Shape;1517;p34"/>
          <p:cNvGrpSpPr/>
          <p:nvPr/>
        </p:nvGrpSpPr>
        <p:grpSpPr>
          <a:xfrm>
            <a:off x="1697746" y="3491759"/>
            <a:ext cx="2406441" cy="1316859"/>
            <a:chOff x="1697746" y="4697887"/>
            <a:chExt cx="2406441" cy="1224191"/>
          </a:xfrm>
        </p:grpSpPr>
        <p:sp>
          <p:nvSpPr>
            <p:cNvPr id="1518" name="Google Shape;1518;p34"/>
            <p:cNvSpPr/>
            <p:nvPr/>
          </p:nvSpPr>
          <p:spPr>
            <a:xfrm>
              <a:off x="1697746" y="4983804"/>
              <a:ext cx="2406441" cy="938274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108000" tIns="45700" rIns="108000" bIns="360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회원 탈퇴 시 보유 포인트 및 서비스 이력이 삭제됩니다.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회원 탈퇴를 하시겠습니까?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Malgun Gothic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19" name="Google Shape;1519;p34"/>
            <p:cNvSpPr/>
            <p:nvPr/>
          </p:nvSpPr>
          <p:spPr>
            <a:xfrm>
              <a:off x="1697746" y="4697887"/>
              <a:ext cx="2406441" cy="285917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회원 탈퇴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0" name="Google Shape;1520;p34"/>
          <p:cNvGrpSpPr/>
          <p:nvPr/>
        </p:nvGrpSpPr>
        <p:grpSpPr>
          <a:xfrm>
            <a:off x="1810593" y="4382174"/>
            <a:ext cx="2181970" cy="291793"/>
            <a:chOff x="1807324" y="4299872"/>
            <a:chExt cx="2044316" cy="291793"/>
          </a:xfrm>
        </p:grpSpPr>
        <p:sp>
          <p:nvSpPr>
            <p:cNvPr id="1521" name="Google Shape;1521;p34"/>
            <p:cNvSpPr/>
            <p:nvPr/>
          </p:nvSpPr>
          <p:spPr>
            <a:xfrm>
              <a:off x="1807324" y="4299872"/>
              <a:ext cx="985037" cy="291793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취소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34"/>
            <p:cNvSpPr/>
            <p:nvPr/>
          </p:nvSpPr>
          <p:spPr>
            <a:xfrm>
              <a:off x="2866603" y="4299872"/>
              <a:ext cx="985037" cy="291793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확인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3" name="Google Shape;1523;p34"/>
          <p:cNvSpPr/>
          <p:nvPr/>
        </p:nvSpPr>
        <p:spPr>
          <a:xfrm>
            <a:off x="1327736" y="2141474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4" name="Google Shape;1524;p34"/>
          <p:cNvSpPr/>
          <p:nvPr/>
        </p:nvSpPr>
        <p:spPr>
          <a:xfrm>
            <a:off x="1327736" y="3722089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5" name="Google Shape;1525;p34"/>
          <p:cNvSpPr/>
          <p:nvPr/>
        </p:nvSpPr>
        <p:spPr>
          <a:xfrm>
            <a:off x="1697746" y="5256822"/>
            <a:ext cx="2406441" cy="30756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장바구니에 담겼습니다.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6" name="Google Shape;1526;p34"/>
          <p:cNvSpPr/>
          <p:nvPr/>
        </p:nvSpPr>
        <p:spPr>
          <a:xfrm>
            <a:off x="1327736" y="5327870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5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35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2" name="Google Shape;1532;p35"/>
          <p:cNvSpPr txBox="1">
            <a:spLocks noGrp="1"/>
          </p:cNvSpPr>
          <p:nvPr>
            <p:ph type="ctrTitle"/>
          </p:nvPr>
        </p:nvSpPr>
        <p:spPr>
          <a:xfrm>
            <a:off x="717391" y="2344464"/>
            <a:ext cx="10671969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rPr lang="en-US"/>
              <a:t>UI요소 정의</a:t>
            </a:r>
            <a:endParaRPr/>
          </a:p>
        </p:txBody>
      </p:sp>
      <p:sp>
        <p:nvSpPr>
          <p:cNvPr id="1533" name="Google Shape;1533;p35"/>
          <p:cNvSpPr txBox="1"/>
          <p:nvPr/>
        </p:nvSpPr>
        <p:spPr>
          <a:xfrm>
            <a:off x="691264" y="1602382"/>
            <a:ext cx="93723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8A"/>
              </a:buClr>
              <a:buSzPts val="4000"/>
              <a:buFont typeface="Malgun Gothic"/>
              <a:buNone/>
            </a:pPr>
            <a:r>
              <a:rPr lang="en-US" sz="4000" b="1" i="0" u="none" strike="noStrike" cap="none">
                <a:solidFill>
                  <a:srgbClr val="00458A"/>
                </a:solidFill>
                <a:latin typeface="Malgun Gothic"/>
                <a:ea typeface="Malgun Gothic"/>
                <a:cs typeface="Malgun Gothic"/>
                <a:sym typeface="Malgun Gothic"/>
              </a:rPr>
              <a:t>05.</a:t>
            </a:r>
            <a:endParaRPr sz="4000" b="1" i="0" u="none" strike="noStrike" cap="none">
              <a:solidFill>
                <a:srgbClr val="0045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4" name="Google Shape;1534;p35"/>
          <p:cNvSpPr txBox="1"/>
          <p:nvPr/>
        </p:nvSpPr>
        <p:spPr>
          <a:xfrm>
            <a:off x="801186" y="2856416"/>
            <a:ext cx="7680960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445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Malgun Gothic"/>
              <a:buAutoNum type="arabicParenR"/>
            </a:pPr>
            <a:r>
              <a:rPr lang="en-US" sz="18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Tab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45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Malgun Gothic"/>
              <a:buAutoNum type="arabicParenR"/>
            </a:pPr>
            <a:r>
              <a:rPr lang="en-US" sz="18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Button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45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Malgun Gothic"/>
              <a:buAutoNum type="arabicParenR"/>
            </a:pPr>
            <a:r>
              <a:rPr lang="en-US" sz="18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 Box &amp; Radio Button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45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Malgun Gothic"/>
              <a:buAutoNum type="arabicParenR"/>
            </a:pPr>
            <a:r>
              <a:rPr lang="en-US" sz="18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Drop Down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45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Malgun Gothic"/>
              <a:buAutoNum type="arabicParenR"/>
            </a:pPr>
            <a:r>
              <a:rPr lang="en-US" sz="18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Icon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45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Malgun Gothic"/>
              <a:buAutoNum type="arabicParenR"/>
            </a:pPr>
            <a:r>
              <a:rPr lang="en-US" sz="18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45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Malgun Gothic"/>
              <a:buAutoNum type="arabicParenR"/>
            </a:pPr>
            <a:r>
              <a:rPr lang="en-US" sz="18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45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Malgun Gothic"/>
              <a:buAutoNum type="arabicParenR"/>
            </a:pPr>
            <a:r>
              <a:rPr lang="en-US" sz="18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45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Malgun Gothic"/>
              <a:buAutoNum type="arabicParenR"/>
            </a:pPr>
            <a:r>
              <a:rPr lang="en-US" sz="18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Image &amp; Movie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45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Malgun Gothic"/>
              <a:buAutoNum type="arabicParenR"/>
            </a:pPr>
            <a:r>
              <a:rPr lang="en-US" sz="18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Progress Bar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4500" marR="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Malgun Gothic"/>
              <a:buAutoNum type="arabicParenR"/>
            </a:pPr>
            <a:r>
              <a:rPr lang="en-US" sz="18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List &amp; Paging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36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36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0" name="Google Shape;1540;p36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Tab 메뉴 형식을 정의한다.</a:t>
            </a:r>
            <a:endParaRPr/>
          </a:p>
        </p:txBody>
      </p:sp>
      <p:sp>
        <p:nvSpPr>
          <p:cNvPr id="1541" name="Google Shape;1541;p36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1) Tab</a:t>
            </a:r>
            <a:endParaRPr/>
          </a:p>
        </p:txBody>
      </p:sp>
      <p:grpSp>
        <p:nvGrpSpPr>
          <p:cNvPr id="1542" name="Google Shape;1542;p36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543" name="Google Shape;1543;p36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544" name="Google Shape;1544;p36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545" name="Google Shape;1545;p36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46" name="Google Shape;1546;p36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1547" name="Google Shape;1547;p36"/>
          <p:cNvGraphicFramePr/>
          <p:nvPr/>
        </p:nvGraphicFramePr>
        <p:xfrm>
          <a:off x="5277395" y="2412052"/>
          <a:ext cx="5425450" cy="19602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2단 탭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고정형으로 탭을 통해 선택할 수 있다.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3단 탭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고정형으로 탭을 통해 선택할 수 있다.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4단 이상 탭 1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고정형으로 탭을 통해 선택할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탭명 레이블 길이에 따라 N건을 노출할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단, 터치 제스처가 가능하도록 영역이 확보되어야 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또한 선택된 탭은 선택되지 않은 탭과 구별될 수 있어야 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4단 이상 탭 2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좌우 스와이프가 가능하며, 스와이프 후 탭을 통해 선택 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선택된 탭은 선택되지 않은 탭과 구별될 수 있어야 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48" name="Google Shape;1548;p36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선택된 탭은 선택표시하고, 나머지 탭은 미선택 표시한다.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 상세와 같이 복잡한 화면에서는 디자인요소를 통해 탭메뉴명 등을 강조할 수 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36"/>
          <p:cNvSpPr/>
          <p:nvPr/>
        </p:nvSpPr>
        <p:spPr>
          <a:xfrm>
            <a:off x="1557661" y="1375954"/>
            <a:ext cx="2690948" cy="4990369"/>
          </a:xfrm>
          <a:prstGeom prst="rect">
            <a:avLst/>
          </a:prstGeom>
          <a:solidFill>
            <a:srgbClr val="000000">
              <a:alpha val="2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50" name="Google Shape;1550;p36"/>
          <p:cNvGrpSpPr/>
          <p:nvPr/>
        </p:nvGrpSpPr>
        <p:grpSpPr>
          <a:xfrm>
            <a:off x="1555807" y="1581154"/>
            <a:ext cx="2690321" cy="360000"/>
            <a:chOff x="1555808" y="1581154"/>
            <a:chExt cx="2607258" cy="360000"/>
          </a:xfrm>
        </p:grpSpPr>
        <p:sp>
          <p:nvSpPr>
            <p:cNvPr id="1551" name="Google Shape;1551;p36"/>
            <p:cNvSpPr/>
            <p:nvPr/>
          </p:nvSpPr>
          <p:spPr>
            <a:xfrm>
              <a:off x="1555808" y="1581154"/>
              <a:ext cx="1303629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TITLE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36"/>
            <p:cNvSpPr/>
            <p:nvPr/>
          </p:nvSpPr>
          <p:spPr>
            <a:xfrm>
              <a:off x="2859437" y="1581154"/>
              <a:ext cx="1303629" cy="360000"/>
            </a:xfrm>
            <a:prstGeom prst="rect">
              <a:avLst/>
            </a:pr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Malgun Gothic"/>
                <a:buNone/>
              </a:pPr>
              <a:r>
                <a:rPr lang="en-US" sz="10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TITLE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3" name="Google Shape;1553;p36"/>
          <p:cNvGrpSpPr/>
          <p:nvPr/>
        </p:nvGrpSpPr>
        <p:grpSpPr>
          <a:xfrm>
            <a:off x="1555808" y="2403143"/>
            <a:ext cx="2690319" cy="360000"/>
            <a:chOff x="1555808" y="1581154"/>
            <a:chExt cx="3908993" cy="360000"/>
          </a:xfrm>
        </p:grpSpPr>
        <p:sp>
          <p:nvSpPr>
            <p:cNvPr id="1554" name="Google Shape;1554;p36"/>
            <p:cNvSpPr/>
            <p:nvPr/>
          </p:nvSpPr>
          <p:spPr>
            <a:xfrm>
              <a:off x="1555808" y="1581154"/>
              <a:ext cx="1303629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TITLE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36"/>
            <p:cNvSpPr/>
            <p:nvPr/>
          </p:nvSpPr>
          <p:spPr>
            <a:xfrm>
              <a:off x="2859437" y="1581154"/>
              <a:ext cx="1303629" cy="360000"/>
            </a:xfrm>
            <a:prstGeom prst="rect">
              <a:avLst/>
            </a:pr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Malgun Gothic"/>
                <a:buNone/>
              </a:pPr>
              <a:r>
                <a:rPr lang="en-US" sz="10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TITLE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36"/>
            <p:cNvSpPr/>
            <p:nvPr/>
          </p:nvSpPr>
          <p:spPr>
            <a:xfrm>
              <a:off x="4161172" y="1581154"/>
              <a:ext cx="1303629" cy="360000"/>
            </a:xfrm>
            <a:prstGeom prst="rect">
              <a:avLst/>
            </a:pr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1000"/>
                <a:buFont typeface="Malgun Gothic"/>
                <a:buNone/>
              </a:pPr>
              <a:r>
                <a:rPr lang="en-US" sz="10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TITLE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7" name="Google Shape;1557;p36"/>
          <p:cNvSpPr/>
          <p:nvPr/>
        </p:nvSpPr>
        <p:spPr>
          <a:xfrm>
            <a:off x="1327736" y="1670673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8" name="Google Shape;1558;p36"/>
          <p:cNvSpPr/>
          <p:nvPr/>
        </p:nvSpPr>
        <p:spPr>
          <a:xfrm>
            <a:off x="1327736" y="2500411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9" name="Google Shape;1559;p36"/>
          <p:cNvSpPr/>
          <p:nvPr/>
        </p:nvSpPr>
        <p:spPr>
          <a:xfrm>
            <a:off x="1554499" y="3238538"/>
            <a:ext cx="2691628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탭명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탭명    탭명    탭명    탭명    탭명</a:t>
            </a:r>
            <a:endParaRPr sz="10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0" name="Google Shape;1560;p36"/>
          <p:cNvSpPr/>
          <p:nvPr/>
        </p:nvSpPr>
        <p:spPr>
          <a:xfrm>
            <a:off x="1327736" y="3302245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1" name="Google Shape;1561;p36"/>
          <p:cNvSpPr/>
          <p:nvPr/>
        </p:nvSpPr>
        <p:spPr>
          <a:xfrm>
            <a:off x="1554499" y="4073971"/>
            <a:ext cx="2691628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#TITLE    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#TITLE        #TITLE        #TI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36"/>
          <p:cNvSpPr/>
          <p:nvPr/>
        </p:nvSpPr>
        <p:spPr>
          <a:xfrm>
            <a:off x="3451860" y="4082975"/>
            <a:ext cx="794267" cy="349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7F7F7F">
                  <a:alpha val="4941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lgun Gothic"/>
              <a:buNone/>
            </a:pP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3" name="Google Shape;1563;p36"/>
          <p:cNvSpPr/>
          <p:nvPr/>
        </p:nvSpPr>
        <p:spPr>
          <a:xfrm>
            <a:off x="1327736" y="4171239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64" name="Google Shape;1564;p36"/>
          <p:cNvCxnSpPr/>
          <p:nvPr/>
        </p:nvCxnSpPr>
        <p:spPr>
          <a:xfrm>
            <a:off x="1684020" y="3583298"/>
            <a:ext cx="31242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37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37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0" name="Google Shape;1570;p37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버튼의 종류와 사용되는 위치에 대해 정의한다.</a:t>
            </a:r>
            <a:endParaRPr/>
          </a:p>
        </p:txBody>
      </p:sp>
      <p:sp>
        <p:nvSpPr>
          <p:cNvPr id="1571" name="Google Shape;1571;p37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2) Button</a:t>
            </a:r>
            <a:endParaRPr/>
          </a:p>
        </p:txBody>
      </p:sp>
      <p:grpSp>
        <p:nvGrpSpPr>
          <p:cNvPr id="1572" name="Google Shape;1572;p37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573" name="Google Shape;1573;p37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574" name="Google Shape;1574;p37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575" name="Google Shape;1575;p37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76" name="Google Shape;1576;p37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1577" name="Google Shape;1577;p37"/>
          <p:cNvGraphicFramePr/>
          <p:nvPr/>
        </p:nvGraphicFramePr>
        <p:xfrm>
          <a:off x="5277395" y="2412052"/>
          <a:ext cx="5425450" cy="176628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Big Size Button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 내에서 주요 기능을 수행 하는 버튼이다.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버튼명은 업무와 진행 단계를 알 수 있도록 한다.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Confirm Button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2개 이상의 Button이 함께 사용될 경우 중요도에 따라 시각적으로 구분 될 수 있도록 한다.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Sticky Button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화면의 하단에 붙어 계속 노출되는 버튼이다.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반드시 전체 내용에 대한 기능 수행이 진행되는 케이스에 사용되어야 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상품상세 기능버튼 Sticky Button은 첫 진입 시 비노출되고, 스크롤 방향과 관계없이 스크롤 시 계속 노출된다.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장바구니, 주문서 Sticky Button은 첫 진입 시부터 계속 노출된다.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78" name="Google Shape;1578;p37" descr="thumb-zone-mapping_UI_desig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6839" y="4693687"/>
            <a:ext cx="2695656" cy="1740769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37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버튼은 중요한 순서로 오른쪽 🡪 왼쪽 배치한다.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버튼에는 아이콘 사용을 지양한다.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37"/>
          <p:cNvSpPr/>
          <p:nvPr/>
        </p:nvSpPr>
        <p:spPr>
          <a:xfrm>
            <a:off x="1327736" y="6054847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581" name="Google Shape;1581;p37"/>
          <p:cNvGrpSpPr/>
          <p:nvPr/>
        </p:nvGrpSpPr>
        <p:grpSpPr>
          <a:xfrm>
            <a:off x="1555248" y="5996151"/>
            <a:ext cx="2690948" cy="360544"/>
            <a:chOff x="1555248" y="3130252"/>
            <a:chExt cx="2690948" cy="360544"/>
          </a:xfrm>
        </p:grpSpPr>
        <p:sp>
          <p:nvSpPr>
            <p:cNvPr id="1582" name="Google Shape;1582;p37"/>
            <p:cNvSpPr/>
            <p:nvPr/>
          </p:nvSpPr>
          <p:spPr>
            <a:xfrm>
              <a:off x="1555248" y="3130252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83" name="Google Shape;1583;p37"/>
            <p:cNvSpPr/>
            <p:nvPr/>
          </p:nvSpPr>
          <p:spPr>
            <a:xfrm>
              <a:off x="2901868" y="3130796"/>
              <a:ext cx="1344327" cy="360000"/>
            </a:xfrm>
            <a:prstGeom prst="rect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바로구매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84" name="Google Shape;1584;p37"/>
            <p:cNvSpPr/>
            <p:nvPr/>
          </p:nvSpPr>
          <p:spPr>
            <a:xfrm>
              <a:off x="1944624" y="3130796"/>
              <a:ext cx="961819" cy="360000"/>
            </a:xfrm>
            <a:prstGeom prst="rect">
              <a:avLst/>
            </a:prstGeom>
            <a:solidFill>
              <a:srgbClr val="7F7F7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장바구니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37"/>
            <p:cNvSpPr/>
            <p:nvPr/>
          </p:nvSpPr>
          <p:spPr>
            <a:xfrm>
              <a:off x="1615737" y="318364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A5A5A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6" name="Google Shape;1586;p37"/>
          <p:cNvSpPr/>
          <p:nvPr/>
        </p:nvSpPr>
        <p:spPr>
          <a:xfrm>
            <a:off x="1656904" y="4596419"/>
            <a:ext cx="2495996" cy="360000"/>
          </a:xfrm>
          <a:prstGeom prst="rect">
            <a:avLst/>
          </a:prstGeom>
          <a:solidFill>
            <a:srgbClr val="3F3F3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37"/>
          <p:cNvSpPr/>
          <p:nvPr/>
        </p:nvSpPr>
        <p:spPr>
          <a:xfrm>
            <a:off x="2946627" y="5250762"/>
            <a:ext cx="1203671" cy="360000"/>
          </a:xfrm>
          <a:prstGeom prst="rect">
            <a:avLst/>
          </a:prstGeom>
          <a:solidFill>
            <a:srgbClr val="3F3F3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37"/>
          <p:cNvSpPr/>
          <p:nvPr/>
        </p:nvSpPr>
        <p:spPr>
          <a:xfrm>
            <a:off x="1656904" y="5250762"/>
            <a:ext cx="1193892" cy="36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37"/>
          <p:cNvSpPr/>
          <p:nvPr/>
        </p:nvSpPr>
        <p:spPr>
          <a:xfrm>
            <a:off x="1327736" y="4693687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0" name="Google Shape;1590;p37"/>
          <p:cNvSpPr/>
          <p:nvPr/>
        </p:nvSpPr>
        <p:spPr>
          <a:xfrm>
            <a:off x="1327736" y="5328547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38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38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6" name="Google Shape;1596;p38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항목을 선택할 때에 체크박스와 라디오버튼으로 대상을 선택한다.</a:t>
            </a:r>
            <a:endParaRPr/>
          </a:p>
        </p:txBody>
      </p:sp>
      <p:sp>
        <p:nvSpPr>
          <p:cNvPr id="1597" name="Google Shape;1597;p38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3) Check Box &amp; Radio Button</a:t>
            </a:r>
            <a:endParaRPr/>
          </a:p>
        </p:txBody>
      </p:sp>
      <p:grpSp>
        <p:nvGrpSpPr>
          <p:cNvPr id="1598" name="Google Shape;1598;p38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599" name="Google Shape;1599;p38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600" name="Google Shape;1600;p38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601" name="Google Shape;1601;p38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02" name="Google Shape;1602;p38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1603" name="Google Shape;1603;p38"/>
          <p:cNvGraphicFramePr/>
          <p:nvPr/>
        </p:nvGraphicFramePr>
        <p:xfrm>
          <a:off x="5277395" y="2412052"/>
          <a:ext cx="5425450" cy="171636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2단 체크박스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항목명이 짧을 경우 사용할 수 있다.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1단 체크박스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항목명이 길 경우 사용할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선택/ 미선택/ 비활성화가 명확하게 보이도록 설계한다.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2단 라디오박스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항목명이 짧을 경우 사용할 수 있다.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1단 라디오박스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항목명이 길 경우 사용할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선택/ 미선택/ 비활성화가 명확하게 보이도록 설계한다.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04" name="Google Shape;1604;p38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다중 선택 또는 미선택 가능한 경우 체크박스를 적용한다.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택일 필수인 경우 라디오버튼을 적용한다.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의도에 따라 미선택 상태를 디폴트로 지정할 수 있으며, 선택/ 미선택 상태로 강제 지정할 경우 비활성 표시하여 조회 가능하다.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38"/>
          <p:cNvSpPr/>
          <p:nvPr/>
        </p:nvSpPr>
        <p:spPr>
          <a:xfrm>
            <a:off x="1557661" y="1375954"/>
            <a:ext cx="2690948" cy="4990369"/>
          </a:xfrm>
          <a:prstGeom prst="rect">
            <a:avLst/>
          </a:prstGeom>
          <a:solidFill>
            <a:srgbClr val="000000">
              <a:alpha val="2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6" name="Google Shape;1606;p38"/>
          <p:cNvSpPr/>
          <p:nvPr/>
        </p:nvSpPr>
        <p:spPr>
          <a:xfrm>
            <a:off x="1554499" y="1931723"/>
            <a:ext cx="1345815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항목명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7" name="Google Shape;1607;p38"/>
          <p:cNvSpPr/>
          <p:nvPr/>
        </p:nvSpPr>
        <p:spPr>
          <a:xfrm>
            <a:off x="2900314" y="1931723"/>
            <a:ext cx="1345815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항목명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8" name="Google Shape;1608;p38"/>
          <p:cNvSpPr/>
          <p:nvPr/>
        </p:nvSpPr>
        <p:spPr>
          <a:xfrm>
            <a:off x="1554499" y="2471474"/>
            <a:ext cx="2691630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항목명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9" name="Google Shape;1609;p38"/>
          <p:cNvSpPr/>
          <p:nvPr/>
        </p:nvSpPr>
        <p:spPr>
          <a:xfrm>
            <a:off x="1554499" y="4070186"/>
            <a:ext cx="1345815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항목명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0" name="Google Shape;1610;p38"/>
          <p:cNvSpPr/>
          <p:nvPr/>
        </p:nvSpPr>
        <p:spPr>
          <a:xfrm>
            <a:off x="2900314" y="4070186"/>
            <a:ext cx="1345815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항목명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1" name="Google Shape;1611;p38"/>
          <p:cNvSpPr/>
          <p:nvPr/>
        </p:nvSpPr>
        <p:spPr>
          <a:xfrm>
            <a:off x="1554499" y="2831474"/>
            <a:ext cx="2691630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항목명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2" name="Google Shape;1612;p38"/>
          <p:cNvSpPr/>
          <p:nvPr/>
        </p:nvSpPr>
        <p:spPr>
          <a:xfrm>
            <a:off x="1327736" y="2021176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3" name="Google Shape;1613;p38"/>
          <p:cNvSpPr/>
          <p:nvPr/>
        </p:nvSpPr>
        <p:spPr>
          <a:xfrm>
            <a:off x="1327736" y="256874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14" name="Google Shape;1614;p38"/>
          <p:cNvGrpSpPr/>
          <p:nvPr/>
        </p:nvGrpSpPr>
        <p:grpSpPr>
          <a:xfrm>
            <a:off x="1647005" y="2019807"/>
            <a:ext cx="180000" cy="180000"/>
            <a:chOff x="1139190" y="3825240"/>
            <a:chExt cx="180000" cy="180000"/>
          </a:xfrm>
        </p:grpSpPr>
        <p:sp>
          <p:nvSpPr>
            <p:cNvPr id="1615" name="Google Shape;1615;p38"/>
            <p:cNvSpPr/>
            <p:nvPr/>
          </p:nvSpPr>
          <p:spPr>
            <a:xfrm>
              <a:off x="1139190" y="3825240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16" name="Google Shape;1616;p38"/>
            <p:cNvSpPr/>
            <p:nvPr/>
          </p:nvSpPr>
          <p:spPr>
            <a:xfrm>
              <a:off x="1181750" y="3865245"/>
              <a:ext cx="11949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 extrusionOk="0">
                  <a:moveTo>
                    <a:pt x="0" y="30480"/>
                  </a:moveTo>
                  <a:lnTo>
                    <a:pt x="55245" y="85725"/>
                  </a:lnTo>
                  <a:lnTo>
                    <a:pt x="131445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617" name="Google Shape;1617;p38"/>
          <p:cNvGrpSpPr/>
          <p:nvPr/>
        </p:nvGrpSpPr>
        <p:grpSpPr>
          <a:xfrm>
            <a:off x="2981843" y="2019807"/>
            <a:ext cx="180000" cy="180000"/>
            <a:chOff x="1139190" y="4073971"/>
            <a:chExt cx="180000" cy="180000"/>
          </a:xfrm>
        </p:grpSpPr>
        <p:sp>
          <p:nvSpPr>
            <p:cNvPr id="1618" name="Google Shape;1618;p38"/>
            <p:cNvSpPr/>
            <p:nvPr/>
          </p:nvSpPr>
          <p:spPr>
            <a:xfrm>
              <a:off x="1139190" y="4073971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19" name="Google Shape;1619;p38"/>
            <p:cNvSpPr/>
            <p:nvPr/>
          </p:nvSpPr>
          <p:spPr>
            <a:xfrm>
              <a:off x="1181750" y="4111583"/>
              <a:ext cx="11949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 extrusionOk="0">
                  <a:moveTo>
                    <a:pt x="0" y="30480"/>
                  </a:moveTo>
                  <a:lnTo>
                    <a:pt x="55245" y="85725"/>
                  </a:lnTo>
                  <a:lnTo>
                    <a:pt x="131445" y="0"/>
                  </a:lnTo>
                </a:path>
              </a:pathLst>
            </a:custGeom>
            <a:noFill/>
            <a:ln w="190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A5A5A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620" name="Google Shape;1620;p38"/>
          <p:cNvGrpSpPr/>
          <p:nvPr/>
        </p:nvGrpSpPr>
        <p:grpSpPr>
          <a:xfrm>
            <a:off x="1647005" y="2566288"/>
            <a:ext cx="180000" cy="180000"/>
            <a:chOff x="1139190" y="3825240"/>
            <a:chExt cx="180000" cy="180000"/>
          </a:xfrm>
        </p:grpSpPr>
        <p:sp>
          <p:nvSpPr>
            <p:cNvPr id="1621" name="Google Shape;1621;p38"/>
            <p:cNvSpPr/>
            <p:nvPr/>
          </p:nvSpPr>
          <p:spPr>
            <a:xfrm>
              <a:off x="1139190" y="3825240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22" name="Google Shape;1622;p38"/>
            <p:cNvSpPr/>
            <p:nvPr/>
          </p:nvSpPr>
          <p:spPr>
            <a:xfrm>
              <a:off x="1181750" y="3865245"/>
              <a:ext cx="11949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 extrusionOk="0">
                  <a:moveTo>
                    <a:pt x="0" y="30480"/>
                  </a:moveTo>
                  <a:lnTo>
                    <a:pt x="55245" y="85725"/>
                  </a:lnTo>
                  <a:lnTo>
                    <a:pt x="131445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623" name="Google Shape;1623;p38"/>
          <p:cNvGrpSpPr/>
          <p:nvPr/>
        </p:nvGrpSpPr>
        <p:grpSpPr>
          <a:xfrm>
            <a:off x="1644078" y="2920806"/>
            <a:ext cx="180000" cy="180000"/>
            <a:chOff x="1139190" y="4073971"/>
            <a:chExt cx="180000" cy="180000"/>
          </a:xfrm>
        </p:grpSpPr>
        <p:sp>
          <p:nvSpPr>
            <p:cNvPr id="1624" name="Google Shape;1624;p38"/>
            <p:cNvSpPr/>
            <p:nvPr/>
          </p:nvSpPr>
          <p:spPr>
            <a:xfrm>
              <a:off x="1139190" y="4073971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25" name="Google Shape;1625;p38"/>
            <p:cNvSpPr/>
            <p:nvPr/>
          </p:nvSpPr>
          <p:spPr>
            <a:xfrm>
              <a:off x="1181750" y="4111583"/>
              <a:ext cx="11949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 extrusionOk="0">
                  <a:moveTo>
                    <a:pt x="0" y="30480"/>
                  </a:moveTo>
                  <a:lnTo>
                    <a:pt x="55245" y="85725"/>
                  </a:lnTo>
                  <a:lnTo>
                    <a:pt x="131445" y="0"/>
                  </a:lnTo>
                </a:path>
              </a:pathLst>
            </a:custGeom>
            <a:noFill/>
            <a:ln w="190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A5A5A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626" name="Google Shape;1626;p38"/>
          <p:cNvSpPr/>
          <p:nvPr/>
        </p:nvSpPr>
        <p:spPr>
          <a:xfrm>
            <a:off x="1554499" y="4623027"/>
            <a:ext cx="2691630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항목명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7" name="Google Shape;1627;p38"/>
          <p:cNvSpPr/>
          <p:nvPr/>
        </p:nvSpPr>
        <p:spPr>
          <a:xfrm>
            <a:off x="1554499" y="4983027"/>
            <a:ext cx="2691630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항목명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28" name="Google Shape;1628;p38"/>
          <p:cNvGrpSpPr/>
          <p:nvPr/>
        </p:nvGrpSpPr>
        <p:grpSpPr>
          <a:xfrm>
            <a:off x="1644078" y="4168320"/>
            <a:ext cx="180000" cy="180000"/>
            <a:chOff x="1139190" y="3288030"/>
            <a:chExt cx="180000" cy="180000"/>
          </a:xfrm>
        </p:grpSpPr>
        <p:sp>
          <p:nvSpPr>
            <p:cNvPr id="1629" name="Google Shape;1629;p38"/>
            <p:cNvSpPr/>
            <p:nvPr/>
          </p:nvSpPr>
          <p:spPr>
            <a:xfrm>
              <a:off x="1139190" y="3288030"/>
              <a:ext cx="180000" cy="180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30" name="Google Shape;1630;p38"/>
            <p:cNvSpPr/>
            <p:nvPr/>
          </p:nvSpPr>
          <p:spPr>
            <a:xfrm>
              <a:off x="1178499" y="3327421"/>
              <a:ext cx="100371" cy="10037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631" name="Google Shape;1631;p38"/>
          <p:cNvGrpSpPr/>
          <p:nvPr/>
        </p:nvGrpSpPr>
        <p:grpSpPr>
          <a:xfrm>
            <a:off x="2971913" y="4172033"/>
            <a:ext cx="180000" cy="180000"/>
            <a:chOff x="1139190" y="3288030"/>
            <a:chExt cx="180000" cy="180000"/>
          </a:xfrm>
        </p:grpSpPr>
        <p:sp>
          <p:nvSpPr>
            <p:cNvPr id="1632" name="Google Shape;1632;p38"/>
            <p:cNvSpPr/>
            <p:nvPr/>
          </p:nvSpPr>
          <p:spPr>
            <a:xfrm>
              <a:off x="1139190" y="3288030"/>
              <a:ext cx="180000" cy="180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33" name="Google Shape;1633;p38"/>
            <p:cNvSpPr/>
            <p:nvPr/>
          </p:nvSpPr>
          <p:spPr>
            <a:xfrm>
              <a:off x="1178499" y="3327421"/>
              <a:ext cx="100371" cy="100371"/>
            </a:xfrm>
            <a:prstGeom prst="ellipse">
              <a:avLst/>
            </a:prstGeom>
            <a:solidFill>
              <a:srgbClr val="D8D8D8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634" name="Google Shape;1634;p38"/>
          <p:cNvGrpSpPr/>
          <p:nvPr/>
        </p:nvGrpSpPr>
        <p:grpSpPr>
          <a:xfrm>
            <a:off x="1642833" y="4718246"/>
            <a:ext cx="180000" cy="180000"/>
            <a:chOff x="1139190" y="3288030"/>
            <a:chExt cx="180000" cy="180000"/>
          </a:xfrm>
        </p:grpSpPr>
        <p:sp>
          <p:nvSpPr>
            <p:cNvPr id="1635" name="Google Shape;1635;p38"/>
            <p:cNvSpPr/>
            <p:nvPr/>
          </p:nvSpPr>
          <p:spPr>
            <a:xfrm>
              <a:off x="1139190" y="3288030"/>
              <a:ext cx="180000" cy="180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36" name="Google Shape;1636;p38"/>
            <p:cNvSpPr/>
            <p:nvPr/>
          </p:nvSpPr>
          <p:spPr>
            <a:xfrm>
              <a:off x="1178499" y="3327421"/>
              <a:ext cx="100371" cy="100371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637" name="Google Shape;1637;p38"/>
          <p:cNvGrpSpPr/>
          <p:nvPr/>
        </p:nvGrpSpPr>
        <p:grpSpPr>
          <a:xfrm>
            <a:off x="1642833" y="5078615"/>
            <a:ext cx="180000" cy="180000"/>
            <a:chOff x="1139190" y="3288030"/>
            <a:chExt cx="180000" cy="180000"/>
          </a:xfrm>
        </p:grpSpPr>
        <p:sp>
          <p:nvSpPr>
            <p:cNvPr id="1638" name="Google Shape;1638;p38"/>
            <p:cNvSpPr/>
            <p:nvPr/>
          </p:nvSpPr>
          <p:spPr>
            <a:xfrm>
              <a:off x="1139190" y="3288030"/>
              <a:ext cx="180000" cy="1800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39" name="Google Shape;1639;p38"/>
            <p:cNvSpPr/>
            <p:nvPr/>
          </p:nvSpPr>
          <p:spPr>
            <a:xfrm>
              <a:off x="1178499" y="3327421"/>
              <a:ext cx="100371" cy="100371"/>
            </a:xfrm>
            <a:prstGeom prst="ellipse">
              <a:avLst/>
            </a:prstGeom>
            <a:solidFill>
              <a:srgbClr val="D8D8D8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640" name="Google Shape;1640;p38"/>
          <p:cNvSpPr/>
          <p:nvPr/>
        </p:nvSpPr>
        <p:spPr>
          <a:xfrm>
            <a:off x="1554499" y="3180870"/>
            <a:ext cx="2691630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A5A5A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항목명</a:t>
            </a:r>
            <a:endParaRPr sz="900" b="0" i="0" u="none" strike="noStrike" cap="none">
              <a:solidFill>
                <a:srgbClr val="A5A5A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41" name="Google Shape;1641;p38"/>
          <p:cNvGrpSpPr/>
          <p:nvPr/>
        </p:nvGrpSpPr>
        <p:grpSpPr>
          <a:xfrm>
            <a:off x="1644078" y="3270202"/>
            <a:ext cx="180000" cy="180000"/>
            <a:chOff x="1139190" y="4073971"/>
            <a:chExt cx="180000" cy="180000"/>
          </a:xfrm>
        </p:grpSpPr>
        <p:sp>
          <p:nvSpPr>
            <p:cNvPr id="1642" name="Google Shape;1642;p38"/>
            <p:cNvSpPr/>
            <p:nvPr/>
          </p:nvSpPr>
          <p:spPr>
            <a:xfrm>
              <a:off x="1139190" y="4073971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43" name="Google Shape;1643;p38"/>
            <p:cNvSpPr/>
            <p:nvPr/>
          </p:nvSpPr>
          <p:spPr>
            <a:xfrm>
              <a:off x="1181750" y="4111583"/>
              <a:ext cx="11949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 extrusionOk="0">
                  <a:moveTo>
                    <a:pt x="0" y="30480"/>
                  </a:moveTo>
                  <a:lnTo>
                    <a:pt x="55245" y="85725"/>
                  </a:lnTo>
                  <a:lnTo>
                    <a:pt x="131445" y="0"/>
                  </a:lnTo>
                </a:path>
              </a:pathLst>
            </a:custGeom>
            <a:noFill/>
            <a:ln w="190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A5A5A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644" name="Google Shape;1644;p38"/>
          <p:cNvSpPr/>
          <p:nvPr/>
        </p:nvSpPr>
        <p:spPr>
          <a:xfrm>
            <a:off x="1554499" y="5343027"/>
            <a:ext cx="2691630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A5A5A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항목명</a:t>
            </a:r>
            <a:endParaRPr sz="900" b="0" i="0" u="none" strike="noStrike" cap="none">
              <a:solidFill>
                <a:srgbClr val="A5A5A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45" name="Google Shape;1645;p38"/>
          <p:cNvGrpSpPr/>
          <p:nvPr/>
        </p:nvGrpSpPr>
        <p:grpSpPr>
          <a:xfrm>
            <a:off x="1642833" y="5438615"/>
            <a:ext cx="180000" cy="180000"/>
            <a:chOff x="1139190" y="3288030"/>
            <a:chExt cx="180000" cy="180000"/>
          </a:xfrm>
        </p:grpSpPr>
        <p:sp>
          <p:nvSpPr>
            <p:cNvPr id="1646" name="Google Shape;1646;p38"/>
            <p:cNvSpPr/>
            <p:nvPr/>
          </p:nvSpPr>
          <p:spPr>
            <a:xfrm>
              <a:off x="1139190" y="3288030"/>
              <a:ext cx="180000" cy="180000"/>
            </a:xfrm>
            <a:prstGeom prst="ellipse">
              <a:avLst/>
            </a:prstGeom>
            <a:solidFill>
              <a:srgbClr val="D8D8D8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47" name="Google Shape;1647;p38"/>
            <p:cNvSpPr/>
            <p:nvPr/>
          </p:nvSpPr>
          <p:spPr>
            <a:xfrm>
              <a:off x="1178499" y="3327421"/>
              <a:ext cx="100371" cy="100371"/>
            </a:xfrm>
            <a:prstGeom prst="ellipse">
              <a:avLst/>
            </a:prstGeom>
            <a:solidFill>
              <a:srgbClr val="BFBFBF"/>
            </a:solidFill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648" name="Google Shape;1648;p38"/>
          <p:cNvSpPr/>
          <p:nvPr/>
        </p:nvSpPr>
        <p:spPr>
          <a:xfrm>
            <a:off x="1327736" y="4124979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9" name="Google Shape;1649;p38"/>
          <p:cNvSpPr/>
          <p:nvPr/>
        </p:nvSpPr>
        <p:spPr>
          <a:xfrm>
            <a:off x="1327736" y="470537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3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39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5" name="Google Shape;1655;p39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드롭다운 리스트를 정의한다.</a:t>
            </a:r>
            <a:endParaRPr/>
          </a:p>
        </p:txBody>
      </p:sp>
      <p:sp>
        <p:nvSpPr>
          <p:cNvPr id="1656" name="Google Shape;1656;p39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4) Drop Down</a:t>
            </a:r>
            <a:endParaRPr/>
          </a:p>
        </p:txBody>
      </p:sp>
      <p:grpSp>
        <p:nvGrpSpPr>
          <p:cNvPr id="1657" name="Google Shape;1657;p39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658" name="Google Shape;1658;p39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659" name="Google Shape;1659;p39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660" name="Google Shape;1660;p39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1" name="Google Shape;1661;p39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1662" name="Google Shape;1662;p39"/>
          <p:cNvGraphicFramePr/>
          <p:nvPr/>
        </p:nvGraphicFramePr>
        <p:xfrm>
          <a:off x="5277395" y="2412052"/>
          <a:ext cx="5425450" cy="12786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2단 Drop Down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Option 및 Data 선택 영역에 사용한다.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리스트에서 제공하는 항목을 클릭하여 선택한다.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1단 Drop Down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Data명이 길어질 경우 1단으로 적용할 수 있다.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OS별 Select UI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항목이 3개 이상 있거나 Data가 많을 경우는 각 </a:t>
                      </a: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OS의 Select UI를 사용할 수 있다.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63" name="Google Shape;1663;p39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드롭다운 리스트는 화살표를 클릭하여 선택 대상 항목을 조회하고 지정하는 옵션 선택 방식이다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39"/>
          <p:cNvSpPr/>
          <p:nvPr/>
        </p:nvSpPr>
        <p:spPr>
          <a:xfrm>
            <a:off x="1557661" y="1375954"/>
            <a:ext cx="2690948" cy="4990369"/>
          </a:xfrm>
          <a:prstGeom prst="rect">
            <a:avLst/>
          </a:prstGeom>
          <a:solidFill>
            <a:srgbClr val="000000">
              <a:alpha val="2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5" name="Google Shape;1665;p39"/>
          <p:cNvSpPr/>
          <p:nvPr/>
        </p:nvSpPr>
        <p:spPr>
          <a:xfrm>
            <a:off x="1554499" y="1569119"/>
            <a:ext cx="2691630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6" name="Google Shape;1666;p39"/>
          <p:cNvSpPr/>
          <p:nvPr/>
        </p:nvSpPr>
        <p:spPr>
          <a:xfrm>
            <a:off x="1638299" y="1863212"/>
            <a:ext cx="1219201" cy="827263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가솔린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디젤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가솔린 + 디젤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LPG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67" name="Google Shape;1667;p39"/>
          <p:cNvGrpSpPr/>
          <p:nvPr/>
        </p:nvGrpSpPr>
        <p:grpSpPr>
          <a:xfrm>
            <a:off x="1638299" y="1635407"/>
            <a:ext cx="1219201" cy="230499"/>
            <a:chOff x="1638299" y="2537762"/>
            <a:chExt cx="1219201" cy="230499"/>
          </a:xfrm>
        </p:grpSpPr>
        <p:sp>
          <p:nvSpPr>
            <p:cNvPr id="1668" name="Google Shape;1668;p39"/>
            <p:cNvSpPr/>
            <p:nvPr/>
          </p:nvSpPr>
          <p:spPr>
            <a:xfrm>
              <a:off x="1638299" y="2537762"/>
              <a:ext cx="1219201" cy="230499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39"/>
            <p:cNvSpPr/>
            <p:nvPr/>
          </p:nvSpPr>
          <p:spPr>
            <a:xfrm rot="-5400000" flipH="1">
              <a:off x="2713602" y="2617666"/>
              <a:ext cx="37785" cy="69985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670" name="Google Shape;1670;p39"/>
          <p:cNvGrpSpPr/>
          <p:nvPr/>
        </p:nvGrpSpPr>
        <p:grpSpPr>
          <a:xfrm>
            <a:off x="2939341" y="1635407"/>
            <a:ext cx="1219201" cy="230499"/>
            <a:chOff x="1638299" y="2537762"/>
            <a:chExt cx="1219201" cy="230499"/>
          </a:xfrm>
        </p:grpSpPr>
        <p:sp>
          <p:nvSpPr>
            <p:cNvPr id="1671" name="Google Shape;1671;p39"/>
            <p:cNvSpPr/>
            <p:nvPr/>
          </p:nvSpPr>
          <p:spPr>
            <a:xfrm>
              <a:off x="1638299" y="2537762"/>
              <a:ext cx="1219201" cy="230499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39"/>
            <p:cNvSpPr/>
            <p:nvPr/>
          </p:nvSpPr>
          <p:spPr>
            <a:xfrm rot="-5400000" flipH="1">
              <a:off x="2713602" y="2617666"/>
              <a:ext cx="37785" cy="69985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673" name="Google Shape;1673;p39"/>
          <p:cNvSpPr/>
          <p:nvPr/>
        </p:nvSpPr>
        <p:spPr>
          <a:xfrm>
            <a:off x="1554499" y="2820926"/>
            <a:ext cx="2691630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74" name="Google Shape;1674;p39"/>
          <p:cNvGrpSpPr/>
          <p:nvPr/>
        </p:nvGrpSpPr>
        <p:grpSpPr>
          <a:xfrm>
            <a:off x="1638299" y="2886365"/>
            <a:ext cx="2520243" cy="230499"/>
            <a:chOff x="337257" y="2537762"/>
            <a:chExt cx="2520243" cy="230499"/>
          </a:xfrm>
        </p:grpSpPr>
        <p:sp>
          <p:nvSpPr>
            <p:cNvPr id="1675" name="Google Shape;1675;p39"/>
            <p:cNvSpPr/>
            <p:nvPr/>
          </p:nvSpPr>
          <p:spPr>
            <a:xfrm>
              <a:off x="337257" y="2537762"/>
              <a:ext cx="2520243" cy="230499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39"/>
            <p:cNvSpPr/>
            <p:nvPr/>
          </p:nvSpPr>
          <p:spPr>
            <a:xfrm rot="-5400000" flipH="1">
              <a:off x="2713602" y="2617666"/>
              <a:ext cx="37785" cy="69985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677" name="Google Shape;1677;p39"/>
          <p:cNvSpPr/>
          <p:nvPr/>
        </p:nvSpPr>
        <p:spPr>
          <a:xfrm>
            <a:off x="1638299" y="3116864"/>
            <a:ext cx="2520243" cy="693593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뉴 그랜저 가솔린 3.3 프리미엄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뉴 그랜저 가솔린 3.3 익스클루시브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뉴 그랜저 가솔린 3.3 캘리그래피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8" name="Google Shape;1678;p39"/>
          <p:cNvSpPr/>
          <p:nvPr/>
        </p:nvSpPr>
        <p:spPr>
          <a:xfrm>
            <a:off x="1327736" y="1666387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9" name="Google Shape;1679;p39"/>
          <p:cNvSpPr/>
          <p:nvPr/>
        </p:nvSpPr>
        <p:spPr>
          <a:xfrm>
            <a:off x="1327736" y="2918194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80" name="Google Shape;1680;p39" descr="Inspiration Currency on Android by Booking.com - UI Gar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77395" y="4143505"/>
            <a:ext cx="1078705" cy="2337195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39"/>
          <p:cNvSpPr txBox="1"/>
          <p:nvPr/>
        </p:nvSpPr>
        <p:spPr>
          <a:xfrm>
            <a:off x="5277395" y="3863788"/>
            <a:ext cx="192126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Android 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2" name="Google Shape;1682;p39"/>
          <p:cNvSpPr txBox="1"/>
          <p:nvPr/>
        </p:nvSpPr>
        <p:spPr>
          <a:xfrm>
            <a:off x="6604171" y="3863788"/>
            <a:ext cx="192126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IOS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83" name="Google Shape;1683;p39" descr="Is there a better solution for picker control on iOS - User Experience  Stack Exchan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96635" y="4143505"/>
            <a:ext cx="2097554" cy="1803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4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40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9" name="Google Shape;1689;p40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아이콘에 대한 정책을 정의한다.</a:t>
            </a:r>
            <a:endParaRPr/>
          </a:p>
        </p:txBody>
      </p:sp>
      <p:sp>
        <p:nvSpPr>
          <p:cNvPr id="1690" name="Google Shape;1690;p40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5) Icon</a:t>
            </a:r>
            <a:endParaRPr/>
          </a:p>
        </p:txBody>
      </p:sp>
      <p:grpSp>
        <p:nvGrpSpPr>
          <p:cNvPr id="1691" name="Google Shape;1691;p40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692" name="Google Shape;1692;p40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693" name="Google Shape;1693;p40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694" name="Google Shape;1694;p40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5" name="Google Shape;1695;p40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1696" name="Google Shape;1696;p40"/>
          <p:cNvGraphicFramePr/>
          <p:nvPr/>
        </p:nvGraphicFramePr>
        <p:xfrm>
          <a:off x="5277395" y="2412052"/>
          <a:ext cx="5425450" cy="12786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플래그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플래그는 상품 목록 및 상품 상세에 노출할 수 있다. 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플래그는 우선순위에 따라 노출/ 비노출이 설정될 수 있다.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아이콘 메뉴 1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화면설계서 내 아이콘으로만 표현되는 경우 원형점선에 메뉴명으로 표현한다.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아이콘 메뉴 2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화면설계서 내 아이콘 + 메뉴로 표현되는 경우 원형점선 하단 메뉴명으로 표현한다.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7" name="Google Shape;1697;p40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아이콘은 화면설계서에서 이미지로 표현하지 않는다.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한줄에 4개 이상 아이콘을 노출하지 않는다. 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algun Gothic"/>
              <a:buNone/>
            </a:pP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8" name="Google Shape;1698;p40"/>
          <p:cNvSpPr/>
          <p:nvPr/>
        </p:nvSpPr>
        <p:spPr>
          <a:xfrm>
            <a:off x="1557661" y="1375954"/>
            <a:ext cx="2690948" cy="4990369"/>
          </a:xfrm>
          <a:prstGeom prst="rect">
            <a:avLst/>
          </a:prstGeom>
          <a:solidFill>
            <a:srgbClr val="000000">
              <a:alpha val="2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9" name="Google Shape;1699;p40"/>
          <p:cNvSpPr/>
          <p:nvPr/>
        </p:nvSpPr>
        <p:spPr>
          <a:xfrm>
            <a:off x="1327736" y="2267028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700" name="Google Shape;1700;p40"/>
          <p:cNvGrpSpPr/>
          <p:nvPr/>
        </p:nvGrpSpPr>
        <p:grpSpPr>
          <a:xfrm>
            <a:off x="1554554" y="1941154"/>
            <a:ext cx="2692202" cy="800766"/>
            <a:chOff x="1554554" y="1941154"/>
            <a:chExt cx="2692202" cy="800766"/>
          </a:xfrm>
        </p:grpSpPr>
        <p:sp>
          <p:nvSpPr>
            <p:cNvPr id="1701" name="Google Shape;1701;p40"/>
            <p:cNvSpPr/>
            <p:nvPr/>
          </p:nvSpPr>
          <p:spPr>
            <a:xfrm>
              <a:off x="1554554" y="1941154"/>
              <a:ext cx="2692202" cy="8007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상품 리스트</a:t>
              </a: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상품 리스트</a:t>
              </a: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2" name="Google Shape;1702;p40"/>
            <p:cNvSpPr/>
            <p:nvPr/>
          </p:nvSpPr>
          <p:spPr>
            <a:xfrm>
              <a:off x="2290024" y="2062621"/>
              <a:ext cx="606189" cy="162350"/>
            </a:xfrm>
            <a:prstGeom prst="rect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화끈한 마라맛</a:t>
              </a:r>
              <a:endParaRPr sz="7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703" name="Google Shape;1703;p40"/>
          <p:cNvGrpSpPr/>
          <p:nvPr/>
        </p:nvGrpSpPr>
        <p:grpSpPr>
          <a:xfrm>
            <a:off x="1554554" y="2918209"/>
            <a:ext cx="2692202" cy="800766"/>
            <a:chOff x="1554554" y="2918209"/>
            <a:chExt cx="2692202" cy="800766"/>
          </a:xfrm>
        </p:grpSpPr>
        <p:sp>
          <p:nvSpPr>
            <p:cNvPr id="1704" name="Google Shape;1704;p40"/>
            <p:cNvSpPr/>
            <p:nvPr/>
          </p:nvSpPr>
          <p:spPr>
            <a:xfrm>
              <a:off x="1554554" y="2918209"/>
              <a:ext cx="2692202" cy="8007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5" name="Google Shape;1705;p40"/>
            <p:cNvSpPr/>
            <p:nvPr/>
          </p:nvSpPr>
          <p:spPr>
            <a:xfrm>
              <a:off x="1668197" y="3039471"/>
              <a:ext cx="535023" cy="523102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메뉴명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6" name="Google Shape;1706;p40"/>
            <p:cNvSpPr/>
            <p:nvPr/>
          </p:nvSpPr>
          <p:spPr>
            <a:xfrm>
              <a:off x="2313756" y="3039471"/>
              <a:ext cx="535023" cy="523102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메뉴명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7" name="Google Shape;1707;p40"/>
            <p:cNvSpPr/>
            <p:nvPr/>
          </p:nvSpPr>
          <p:spPr>
            <a:xfrm>
              <a:off x="2964494" y="3039471"/>
              <a:ext cx="535023" cy="523102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메뉴명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8" name="Google Shape;1708;p40"/>
            <p:cNvSpPr/>
            <p:nvPr/>
          </p:nvSpPr>
          <p:spPr>
            <a:xfrm>
              <a:off x="3599494" y="3039471"/>
              <a:ext cx="535023" cy="523102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메뉴명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09" name="Google Shape;1709;p40"/>
          <p:cNvSpPr/>
          <p:nvPr/>
        </p:nvSpPr>
        <p:spPr>
          <a:xfrm>
            <a:off x="1327736" y="3218290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0" name="Google Shape;1710;p40"/>
          <p:cNvSpPr/>
          <p:nvPr/>
        </p:nvSpPr>
        <p:spPr>
          <a:xfrm>
            <a:off x="1327736" y="421528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711" name="Google Shape;1711;p40"/>
          <p:cNvGrpSpPr/>
          <p:nvPr/>
        </p:nvGrpSpPr>
        <p:grpSpPr>
          <a:xfrm>
            <a:off x="1554554" y="3895264"/>
            <a:ext cx="2692202" cy="800766"/>
            <a:chOff x="1554554" y="3895264"/>
            <a:chExt cx="2692202" cy="800766"/>
          </a:xfrm>
        </p:grpSpPr>
        <p:sp>
          <p:nvSpPr>
            <p:cNvPr id="1712" name="Google Shape;1712;p40"/>
            <p:cNvSpPr/>
            <p:nvPr/>
          </p:nvSpPr>
          <p:spPr>
            <a:xfrm>
              <a:off x="1554554" y="3895264"/>
              <a:ext cx="2692202" cy="80076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2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3" name="Google Shape;1713;p40"/>
            <p:cNvSpPr/>
            <p:nvPr/>
          </p:nvSpPr>
          <p:spPr>
            <a:xfrm>
              <a:off x="1729157" y="4010965"/>
              <a:ext cx="417947" cy="40863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icon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4" name="Google Shape;1714;p40"/>
            <p:cNvSpPr/>
            <p:nvPr/>
          </p:nvSpPr>
          <p:spPr>
            <a:xfrm>
              <a:off x="2374716" y="4010965"/>
              <a:ext cx="417947" cy="40863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icon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5" name="Google Shape;1715;p40"/>
            <p:cNvSpPr/>
            <p:nvPr/>
          </p:nvSpPr>
          <p:spPr>
            <a:xfrm>
              <a:off x="3025454" y="4010965"/>
              <a:ext cx="417947" cy="40863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icon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6" name="Google Shape;1716;p40"/>
            <p:cNvSpPr/>
            <p:nvPr/>
          </p:nvSpPr>
          <p:spPr>
            <a:xfrm>
              <a:off x="3660454" y="4010965"/>
              <a:ext cx="417947" cy="40863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icon</a:t>
              </a:r>
              <a:endParaRPr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7" name="Google Shape;1717;p40"/>
            <p:cNvSpPr txBox="1"/>
            <p:nvPr/>
          </p:nvSpPr>
          <p:spPr>
            <a:xfrm>
              <a:off x="1585075" y="4430045"/>
              <a:ext cx="693121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메뉴명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8" name="Google Shape;1718;p40"/>
            <p:cNvSpPr txBox="1"/>
            <p:nvPr/>
          </p:nvSpPr>
          <p:spPr>
            <a:xfrm>
              <a:off x="2234706" y="4430045"/>
              <a:ext cx="693121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메뉴명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9" name="Google Shape;1719;p40"/>
            <p:cNvSpPr txBox="1"/>
            <p:nvPr/>
          </p:nvSpPr>
          <p:spPr>
            <a:xfrm>
              <a:off x="2896213" y="4430045"/>
              <a:ext cx="693121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메뉴명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0" name="Google Shape;1720;p40"/>
            <p:cNvSpPr txBox="1"/>
            <p:nvPr/>
          </p:nvSpPr>
          <p:spPr>
            <a:xfrm>
              <a:off x="3517705" y="4430045"/>
              <a:ext cx="693121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메뉴명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721" name="Google Shape;1721;p40"/>
          <p:cNvGrpSpPr/>
          <p:nvPr/>
        </p:nvGrpSpPr>
        <p:grpSpPr>
          <a:xfrm>
            <a:off x="1643204" y="2061949"/>
            <a:ext cx="560016" cy="560971"/>
            <a:chOff x="1659705" y="2054741"/>
            <a:chExt cx="543515" cy="544442"/>
          </a:xfrm>
        </p:grpSpPr>
        <p:grpSp>
          <p:nvGrpSpPr>
            <p:cNvPr id="1722" name="Google Shape;1722;p40"/>
            <p:cNvGrpSpPr/>
            <p:nvPr/>
          </p:nvGrpSpPr>
          <p:grpSpPr>
            <a:xfrm>
              <a:off x="1659705" y="2054741"/>
              <a:ext cx="543515" cy="544442"/>
              <a:chOff x="3571333" y="3966538"/>
              <a:chExt cx="674796" cy="675947"/>
            </a:xfrm>
          </p:grpSpPr>
          <p:sp>
            <p:nvSpPr>
              <p:cNvPr id="1723" name="Google Shape;1723;p40"/>
              <p:cNvSpPr/>
              <p:nvPr/>
            </p:nvSpPr>
            <p:spPr>
              <a:xfrm>
                <a:off x="3571333" y="3966538"/>
                <a:ext cx="674796" cy="674796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1724" name="Google Shape;1724;p40"/>
              <p:cNvCxnSpPr/>
              <p:nvPr/>
            </p:nvCxnSpPr>
            <p:spPr>
              <a:xfrm>
                <a:off x="3572292" y="3968115"/>
                <a:ext cx="673837" cy="67437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725" name="Google Shape;1725;p40"/>
              <p:cNvCxnSpPr/>
              <p:nvPr/>
            </p:nvCxnSpPr>
            <p:spPr>
              <a:xfrm flipH="1">
                <a:off x="3571333" y="3966538"/>
                <a:ext cx="674796" cy="674796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726" name="Google Shape;1726;p40"/>
            <p:cNvSpPr txBox="1"/>
            <p:nvPr/>
          </p:nvSpPr>
          <p:spPr>
            <a:xfrm>
              <a:off x="1721794" y="2236735"/>
              <a:ext cx="432786" cy="1783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4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41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2" name="Google Shape;1732;p41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데이터를 입력하는 인풋박스를 정의한다.</a:t>
            </a:r>
            <a:endParaRPr/>
          </a:p>
        </p:txBody>
      </p:sp>
      <p:sp>
        <p:nvSpPr>
          <p:cNvPr id="1733" name="Google Shape;1733;p41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6) Input</a:t>
            </a:r>
            <a:endParaRPr/>
          </a:p>
        </p:txBody>
      </p:sp>
      <p:grpSp>
        <p:nvGrpSpPr>
          <p:cNvPr id="1734" name="Google Shape;1734;p41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735" name="Google Shape;1735;p41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736" name="Google Shape;1736;p41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737" name="Google Shape;1737;p41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8" name="Google Shape;1738;p41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1739" name="Google Shape;1739;p41"/>
          <p:cNvGraphicFramePr/>
          <p:nvPr/>
        </p:nvGraphicFramePr>
        <p:xfrm>
          <a:off x="5277395" y="2412052"/>
          <a:ext cx="5425450" cy="176628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인풋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문구 없는 인풋 : 탭 시 하단 키보드가 올라오면서 텍스트를 입력할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텍스트 문구 있는 인풋 : </a:t>
                      </a: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Guide 문구 출력될 경우 ‘플레이스홀더(placeholder)’를 제공하고 첫 글자를 입력하는 순간 사라진 후 입력란의 내용을 지웠을 때 다시 노출한다.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비활성화 인풋 : Data 수정이 불가한 경우 Read Only로 비활성화 인풋 노출한다.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인풋 삭제 버튼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인풋 내 입력 중 수정이 필요할 경우 한꺼번에 지울 수 있는 기능을 제공한다.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 글자 입력 시부터 노출한다.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수량 선택 버튼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수량 선택 시 +, - 버튼 조작을 통해 1건 씩 증가/감소하도록 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가운데 영역은 인풋으로 직접 숫자를 입력할 수 있다.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40" name="Google Shape;1740;p41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인풋에 탭한 경우 텍스트 입력이 필요한 경우 텍스트 키보드로, 숫자 입력이 필요한 경우 숫자 키보드로 노출한다.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41"/>
          <p:cNvSpPr/>
          <p:nvPr/>
        </p:nvSpPr>
        <p:spPr>
          <a:xfrm>
            <a:off x="1557661" y="1375954"/>
            <a:ext cx="2690948" cy="4990369"/>
          </a:xfrm>
          <a:prstGeom prst="rect">
            <a:avLst/>
          </a:prstGeom>
          <a:solidFill>
            <a:srgbClr val="000000">
              <a:alpha val="2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2" name="Google Shape;1742;p41"/>
          <p:cNvSpPr/>
          <p:nvPr/>
        </p:nvSpPr>
        <p:spPr>
          <a:xfrm>
            <a:off x="1554499" y="1896497"/>
            <a:ext cx="2691630" cy="136819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3" name="Google Shape;1743;p41"/>
          <p:cNvSpPr/>
          <p:nvPr/>
        </p:nvSpPr>
        <p:spPr>
          <a:xfrm>
            <a:off x="1645443" y="2041370"/>
            <a:ext cx="2490789" cy="293712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algun Gothic"/>
              <a:buNone/>
            </a:pP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4" name="Google Shape;1744;p41"/>
          <p:cNvSpPr/>
          <p:nvPr/>
        </p:nvSpPr>
        <p:spPr>
          <a:xfrm>
            <a:off x="1645443" y="2413683"/>
            <a:ext cx="2490789" cy="293712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 Text</a:t>
            </a:r>
            <a:endParaRPr sz="8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5" name="Google Shape;1745;p41"/>
          <p:cNvSpPr/>
          <p:nvPr/>
        </p:nvSpPr>
        <p:spPr>
          <a:xfrm>
            <a:off x="1645443" y="2788829"/>
            <a:ext cx="2490789" cy="293712"/>
          </a:xfrm>
          <a:prstGeom prst="roundRect">
            <a:avLst>
              <a:gd name="adj" fmla="val 0"/>
            </a:avLst>
          </a:prstGeom>
          <a:solidFill>
            <a:srgbClr val="D8D8D8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 Text</a:t>
            </a:r>
            <a:endParaRPr sz="8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6" name="Google Shape;1746;p41"/>
          <p:cNvSpPr/>
          <p:nvPr/>
        </p:nvSpPr>
        <p:spPr>
          <a:xfrm>
            <a:off x="1327736" y="259564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7" name="Google Shape;1747;p41"/>
          <p:cNvSpPr/>
          <p:nvPr/>
        </p:nvSpPr>
        <p:spPr>
          <a:xfrm>
            <a:off x="1327736" y="3546904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8" name="Google Shape;1748;p41"/>
          <p:cNvSpPr/>
          <p:nvPr/>
        </p:nvSpPr>
        <p:spPr>
          <a:xfrm>
            <a:off x="1327736" y="4463213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9" name="Google Shape;1749;p41"/>
          <p:cNvSpPr/>
          <p:nvPr/>
        </p:nvSpPr>
        <p:spPr>
          <a:xfrm>
            <a:off x="1554499" y="3409568"/>
            <a:ext cx="2691630" cy="63341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0" name="Google Shape;1750;p41"/>
          <p:cNvSpPr/>
          <p:nvPr/>
        </p:nvSpPr>
        <p:spPr>
          <a:xfrm>
            <a:off x="1645443" y="3562432"/>
            <a:ext cx="2490789" cy="293712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검색키워드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1" name="Google Shape;1751;p41"/>
          <p:cNvSpPr/>
          <p:nvPr/>
        </p:nvSpPr>
        <p:spPr>
          <a:xfrm>
            <a:off x="3914166" y="3660547"/>
            <a:ext cx="130706" cy="118824"/>
          </a:xfrm>
          <a:prstGeom prst="ellipse">
            <a:avLst/>
          </a:prstGeom>
          <a:solidFill>
            <a:srgbClr val="D8D8D8"/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Malgun Gothic"/>
              <a:buNone/>
            </a:pPr>
            <a:r>
              <a:rPr lang="en-US" sz="5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endParaRPr sz="5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2" name="Google Shape;1752;p41"/>
          <p:cNvSpPr/>
          <p:nvPr/>
        </p:nvSpPr>
        <p:spPr>
          <a:xfrm>
            <a:off x="1554499" y="4197836"/>
            <a:ext cx="2691630" cy="63341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753" name="Google Shape;1753;p41"/>
          <p:cNvGrpSpPr/>
          <p:nvPr/>
        </p:nvGrpSpPr>
        <p:grpSpPr>
          <a:xfrm>
            <a:off x="1645443" y="4350700"/>
            <a:ext cx="1503388" cy="293712"/>
            <a:chOff x="2102644" y="4350700"/>
            <a:chExt cx="1503388" cy="293712"/>
          </a:xfrm>
        </p:grpSpPr>
        <p:sp>
          <p:nvSpPr>
            <p:cNvPr id="1754" name="Google Shape;1754;p41"/>
            <p:cNvSpPr/>
            <p:nvPr/>
          </p:nvSpPr>
          <p:spPr>
            <a:xfrm>
              <a:off x="2461260" y="4350700"/>
              <a:ext cx="786156" cy="293712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55" name="Google Shape;1755;p41"/>
            <p:cNvSpPr/>
            <p:nvPr/>
          </p:nvSpPr>
          <p:spPr>
            <a:xfrm>
              <a:off x="2102644" y="4350700"/>
              <a:ext cx="358616" cy="293712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Malgun Gothic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</a:t>
              </a:r>
              <a:endParaRPr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56" name="Google Shape;1756;p41"/>
            <p:cNvSpPr/>
            <p:nvPr/>
          </p:nvSpPr>
          <p:spPr>
            <a:xfrm>
              <a:off x="3247416" y="4350700"/>
              <a:ext cx="358616" cy="293712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Malgun Gothic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+</a:t>
              </a:r>
              <a:endParaRPr sz="14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4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42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2" name="Google Shape;1762;p42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날짜를 입력할 경우 달력 UI로 제공한다.</a:t>
            </a:r>
            <a:endParaRPr/>
          </a:p>
        </p:txBody>
      </p:sp>
      <p:sp>
        <p:nvSpPr>
          <p:cNvPr id="1763" name="Google Shape;1763;p4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7) Calender</a:t>
            </a:r>
            <a:endParaRPr/>
          </a:p>
        </p:txBody>
      </p:sp>
      <p:grpSp>
        <p:nvGrpSpPr>
          <p:cNvPr id="1764" name="Google Shape;1764;p42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765" name="Google Shape;1765;p42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766" name="Google Shape;1766;p42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767" name="Google Shape;1767;p42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68" name="Google Shape;1768;p42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1769" name="Google Shape;1769;p42"/>
          <p:cNvGraphicFramePr/>
          <p:nvPr/>
        </p:nvGraphicFramePr>
        <p:xfrm>
          <a:off x="5277395" y="2412052"/>
          <a:ext cx="5425450" cy="145044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날짜 입력란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달력 제공시 날짜입력란을 동시에 제공하여 달력을 조회하지 않아도 직접 입력가능하도록 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날짜는 YYYYMMDD 8자리를 특수문자 없이 입력한다.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달력 아이콘 클릭 시 2번 날짜선택 달력 레이어가 노출된다.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달력 레이어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 현재 기준으로 선택되어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좌우 탭 시 1달씩 이동된다. 만약 예약이 불가한 날짜라면 비활성화 되어 노출된다.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오늘 날짜와 선택 날짜는 시각적으로 차별화하여 노출한다.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(예 : 오늘 14일, 선택 23일)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70" name="Google Shape;1770;p42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년, 월, 일을 선택해야하는 경우 달력 UI로 날짜를 선택할 수 있도록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42"/>
          <p:cNvSpPr/>
          <p:nvPr/>
        </p:nvSpPr>
        <p:spPr>
          <a:xfrm>
            <a:off x="1557661" y="1375954"/>
            <a:ext cx="2690948" cy="4990369"/>
          </a:xfrm>
          <a:prstGeom prst="rect">
            <a:avLst/>
          </a:prstGeom>
          <a:solidFill>
            <a:srgbClr val="000000">
              <a:alpha val="2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2" name="Google Shape;1772;p42"/>
          <p:cNvSpPr/>
          <p:nvPr/>
        </p:nvSpPr>
        <p:spPr>
          <a:xfrm>
            <a:off x="1554915" y="2052051"/>
            <a:ext cx="2691628" cy="50136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algun Gothic"/>
              <a:buNone/>
            </a:pP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3" name="Google Shape;1773;p42"/>
          <p:cNvSpPr/>
          <p:nvPr/>
        </p:nvSpPr>
        <p:spPr>
          <a:xfrm>
            <a:off x="1645444" y="2153508"/>
            <a:ext cx="2193312" cy="293712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YYYY-MM-DD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4" name="Google Shape;1774;p42"/>
          <p:cNvSpPr/>
          <p:nvPr/>
        </p:nvSpPr>
        <p:spPr>
          <a:xfrm>
            <a:off x="3912397" y="2167047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달력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5" name="Google Shape;1775;p42"/>
          <p:cNvGrpSpPr/>
          <p:nvPr/>
        </p:nvGrpSpPr>
        <p:grpSpPr>
          <a:xfrm>
            <a:off x="1697746" y="2778167"/>
            <a:ext cx="2406441" cy="2673727"/>
            <a:chOff x="1697746" y="4697887"/>
            <a:chExt cx="2406441" cy="2673727"/>
          </a:xfrm>
        </p:grpSpPr>
        <p:grpSp>
          <p:nvGrpSpPr>
            <p:cNvPr id="1776" name="Google Shape;1776;p42"/>
            <p:cNvGrpSpPr/>
            <p:nvPr/>
          </p:nvGrpSpPr>
          <p:grpSpPr>
            <a:xfrm>
              <a:off x="1697746" y="4697887"/>
              <a:ext cx="2406441" cy="2673727"/>
              <a:chOff x="1697746" y="4697887"/>
              <a:chExt cx="2406441" cy="2673727"/>
            </a:xfrm>
          </p:grpSpPr>
          <p:sp>
            <p:nvSpPr>
              <p:cNvPr id="1777" name="Google Shape;1777;p42"/>
              <p:cNvSpPr/>
              <p:nvPr/>
            </p:nvSpPr>
            <p:spPr>
              <a:xfrm>
                <a:off x="1697746" y="4697887"/>
                <a:ext cx="2406441" cy="2673727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63500" sx="102000" sy="102000" algn="c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Malgun Gothic"/>
                  <a:buNone/>
                </a:pPr>
                <a:r>
                  <a:rPr lang="en-US" sz="9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900"/>
                  <a:buFont typeface="Malgun Gothic"/>
                  <a:buNone/>
                </a:pPr>
                <a:endParaRPr sz="9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778" name="Google Shape;1778;p42"/>
              <p:cNvSpPr/>
              <p:nvPr/>
            </p:nvSpPr>
            <p:spPr>
              <a:xfrm>
                <a:off x="1697746" y="4697887"/>
                <a:ext cx="2406441" cy="36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Malgun Gothic"/>
                  <a:buNone/>
                </a:pPr>
                <a:r>
                  <a:rPr lang="en-US" sz="10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날짜선택</a:t>
                </a:r>
                <a:endParaRPr sz="10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779" name="Google Shape;1779;p42"/>
            <p:cNvSpPr/>
            <p:nvPr/>
          </p:nvSpPr>
          <p:spPr>
            <a:xfrm rot="2646491">
              <a:off x="3869652" y="4826631"/>
              <a:ext cx="118612" cy="117796"/>
            </a:xfrm>
            <a:prstGeom prst="plus">
              <a:avLst>
                <a:gd name="adj" fmla="val 457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80" name="Google Shape;1780;p42"/>
          <p:cNvSpPr/>
          <p:nvPr/>
        </p:nvSpPr>
        <p:spPr>
          <a:xfrm>
            <a:off x="1327736" y="222000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1" name="Google Shape;1781;p42"/>
          <p:cNvSpPr/>
          <p:nvPr/>
        </p:nvSpPr>
        <p:spPr>
          <a:xfrm>
            <a:off x="1327736" y="3045755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782" name="Google Shape;1782;p42"/>
          <p:cNvGraphicFramePr/>
          <p:nvPr/>
        </p:nvGraphicFramePr>
        <p:xfrm>
          <a:off x="1818230" y="3229515"/>
          <a:ext cx="2194325" cy="2030700"/>
        </p:xfrm>
        <a:graphic>
          <a:graphicData uri="http://schemas.openxmlformats.org/drawingml/2006/table">
            <a:tbl>
              <a:tblPr>
                <a:noFill/>
                <a:tableStyleId>{86D099D6-B71A-4573-80F2-A8A7518E7D8A}</a:tableStyleId>
              </a:tblPr>
              <a:tblGrid>
                <a:gridCol w="36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&lt;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2021 04</a:t>
                      </a:r>
                      <a:endParaRPr sz="14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&gt;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S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M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T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W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T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F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S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1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2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3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4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5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6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7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8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9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10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11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12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13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sng" strike="noStrike" cap="none"/>
                        <a:t>14</a:t>
                      </a:r>
                      <a:endParaRPr sz="1100" b="1" i="0" u="sng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15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16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17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18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19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20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21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22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23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24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25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26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27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28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29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BFBFBF"/>
                          </a:solidFill>
                        </a:rPr>
                        <a:t>30</a:t>
                      </a: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0" i="0" u="none" strike="noStrike" cap="none">
                        <a:solidFill>
                          <a:srgbClr val="BFBFB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625" marR="7625" marT="76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43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43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8" name="Google Shape;1788;p43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모바일에서 테이블은 아래와 같이 정의한다.</a:t>
            </a:r>
            <a:endParaRPr/>
          </a:p>
        </p:txBody>
      </p:sp>
      <p:sp>
        <p:nvSpPr>
          <p:cNvPr id="1789" name="Google Shape;1789;p43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8) Table</a:t>
            </a:r>
            <a:endParaRPr/>
          </a:p>
        </p:txBody>
      </p:sp>
      <p:grpSp>
        <p:nvGrpSpPr>
          <p:cNvPr id="1790" name="Google Shape;1790;p43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791" name="Google Shape;1791;p43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792" name="Google Shape;1792;p43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793" name="Google Shape;1793;p43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94" name="Google Shape;1794;p43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1795" name="Google Shape;1795;p43"/>
          <p:cNvGraphicFramePr/>
          <p:nvPr/>
        </p:nvGraphicFramePr>
        <p:xfrm>
          <a:off x="5277395" y="2412052"/>
          <a:ext cx="5425450" cy="64692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테이블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모바일의 화면 특성에 따라 열이 많아지지 않도록 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내용이 많을 경우 2번 처럼 변경하여 노출할 수 있다.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96" name="Google Shape;1796;p43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테이블은 최대 4열까지 제공한다.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테이블 헤더의 칼럼명은 중앙 정렬한다.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금액 관련된 데이터는 우측 정렬로 규정한다.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‘날짜, 번호, 순위, 조회수, 상품코드, 주문번호, 테이블 내 버튼‘ 은  중앙 정렬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‘상품명, 상품 구분, 제목‘ 등 셀에 출력되는 데이터의 글자수가 불규칙할 경우 좌측 정렬한다.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97" name="Google Shape;1797;p43"/>
          <p:cNvGraphicFramePr/>
          <p:nvPr/>
        </p:nvGraphicFramePr>
        <p:xfrm>
          <a:off x="1613646" y="1724906"/>
          <a:ext cx="2574150" cy="62748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85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547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(필수)개인정보 수집 및 이용 동의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수집목적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보유기간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98" name="Google Shape;1798;p43"/>
          <p:cNvSpPr/>
          <p:nvPr/>
        </p:nvSpPr>
        <p:spPr>
          <a:xfrm>
            <a:off x="1318771" y="1937985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799" name="Google Shape;1799;p43"/>
          <p:cNvGraphicFramePr/>
          <p:nvPr/>
        </p:nvGraphicFramePr>
        <p:xfrm>
          <a:off x="1613644" y="2475958"/>
          <a:ext cx="2574200" cy="62748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64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54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(필수)개인정보 제3자 제공 동의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제공업체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이용목적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제공항목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보유기간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00" name="Google Shape;1800;p43"/>
          <p:cNvGraphicFramePr/>
          <p:nvPr/>
        </p:nvGraphicFramePr>
        <p:xfrm>
          <a:off x="1613646" y="3243957"/>
          <a:ext cx="2574150" cy="62748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85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547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(선택)개인정보 마케팅 활용 동의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수집목적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보유기간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01" name="Google Shape;1801;p43"/>
          <p:cNvGraphicFramePr/>
          <p:nvPr/>
        </p:nvGraphicFramePr>
        <p:xfrm>
          <a:off x="1613642" y="4174053"/>
          <a:ext cx="2574175" cy="10458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75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47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(필수)개인정보 제3자 제공 동의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제공업체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이용목적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제공항목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보유기간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02" name="Google Shape;1802;p43"/>
          <p:cNvSpPr/>
          <p:nvPr/>
        </p:nvSpPr>
        <p:spPr>
          <a:xfrm>
            <a:off x="1318771" y="4367420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44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44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8" name="Google Shape;1808;p44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콘텐츠 영역에서 이미지와 동영상은 아래와 같이 표현한다.</a:t>
            </a:r>
            <a:endParaRPr/>
          </a:p>
        </p:txBody>
      </p:sp>
      <p:sp>
        <p:nvSpPr>
          <p:cNvPr id="1809" name="Google Shape;1809;p44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9) Image &amp; Movie</a:t>
            </a:r>
            <a:endParaRPr/>
          </a:p>
        </p:txBody>
      </p:sp>
      <p:grpSp>
        <p:nvGrpSpPr>
          <p:cNvPr id="1810" name="Google Shape;1810;p44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811" name="Google Shape;1811;p44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812" name="Google Shape;1812;p44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813" name="Google Shape;1813;p44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14" name="Google Shape;1814;p44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1815" name="Google Shape;1815;p44"/>
          <p:cNvGraphicFramePr/>
          <p:nvPr/>
        </p:nvGraphicFramePr>
        <p:xfrm>
          <a:off x="5277395" y="2412052"/>
          <a:ext cx="5425450" cy="145044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이미지는 콘텐츠 비율을 고려하여 정의한다.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목록 : 정사각형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: 00:00비율 직사각형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동영상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동영상 썸네일은 콘텐츠 비율을 고려하여 정의한다.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목록 : 정사각형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: 00:00비율 가로 직사각형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: 00:00비율 세로 직사각형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16" name="Google Shape;1816;p44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동영상 멀티미디어 컨텐츠의 경우 썸네일에서 이미지와 구분될 수 있도록 동영상 전용 UI로 표현한다.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44"/>
          <p:cNvSpPr/>
          <p:nvPr/>
        </p:nvSpPr>
        <p:spPr>
          <a:xfrm>
            <a:off x="1557661" y="1375954"/>
            <a:ext cx="2690948" cy="4990369"/>
          </a:xfrm>
          <a:prstGeom prst="rect">
            <a:avLst/>
          </a:prstGeom>
          <a:solidFill>
            <a:srgbClr val="000000">
              <a:alpha val="2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8" name="Google Shape;1818;p44"/>
          <p:cNvSpPr/>
          <p:nvPr/>
        </p:nvSpPr>
        <p:spPr>
          <a:xfrm>
            <a:off x="1554554" y="1941155"/>
            <a:ext cx="2692202" cy="80204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상품명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상품설명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algun Gothic"/>
              <a:buNone/>
            </a:pP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00,000,000</a:t>
            </a: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44"/>
          <p:cNvSpPr/>
          <p:nvPr/>
        </p:nvSpPr>
        <p:spPr>
          <a:xfrm>
            <a:off x="1554554" y="3057326"/>
            <a:ext cx="2692202" cy="80204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상품명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상품설명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algun Gothic"/>
              <a:buNone/>
            </a:pP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00,000,000</a:t>
            </a: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44"/>
          <p:cNvSpPr/>
          <p:nvPr/>
        </p:nvSpPr>
        <p:spPr>
          <a:xfrm>
            <a:off x="1318771" y="2242566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1" name="Google Shape;1821;p44"/>
          <p:cNvSpPr/>
          <p:nvPr/>
        </p:nvSpPr>
        <p:spPr>
          <a:xfrm>
            <a:off x="1318771" y="3392441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22" name="Google Shape;1822;p44"/>
          <p:cNvGrpSpPr/>
          <p:nvPr/>
        </p:nvGrpSpPr>
        <p:grpSpPr>
          <a:xfrm>
            <a:off x="1643204" y="2061949"/>
            <a:ext cx="560016" cy="560971"/>
            <a:chOff x="1659705" y="2054741"/>
            <a:chExt cx="543515" cy="544442"/>
          </a:xfrm>
        </p:grpSpPr>
        <p:grpSp>
          <p:nvGrpSpPr>
            <p:cNvPr id="1823" name="Google Shape;1823;p44"/>
            <p:cNvGrpSpPr/>
            <p:nvPr/>
          </p:nvGrpSpPr>
          <p:grpSpPr>
            <a:xfrm>
              <a:off x="1659705" y="2054741"/>
              <a:ext cx="543515" cy="544442"/>
              <a:chOff x="3571333" y="3966538"/>
              <a:chExt cx="674796" cy="675947"/>
            </a:xfrm>
          </p:grpSpPr>
          <p:sp>
            <p:nvSpPr>
              <p:cNvPr id="1824" name="Google Shape;1824;p44"/>
              <p:cNvSpPr/>
              <p:nvPr/>
            </p:nvSpPr>
            <p:spPr>
              <a:xfrm>
                <a:off x="3571333" y="3966538"/>
                <a:ext cx="674796" cy="674796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1825" name="Google Shape;1825;p44"/>
              <p:cNvCxnSpPr/>
              <p:nvPr/>
            </p:nvCxnSpPr>
            <p:spPr>
              <a:xfrm>
                <a:off x="3572292" y="3968115"/>
                <a:ext cx="673837" cy="67437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826" name="Google Shape;1826;p44"/>
              <p:cNvCxnSpPr/>
              <p:nvPr/>
            </p:nvCxnSpPr>
            <p:spPr>
              <a:xfrm flipH="1">
                <a:off x="3571333" y="3966538"/>
                <a:ext cx="674796" cy="674796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827" name="Google Shape;1827;p44"/>
            <p:cNvSpPr txBox="1"/>
            <p:nvPr/>
          </p:nvSpPr>
          <p:spPr>
            <a:xfrm>
              <a:off x="1721794" y="2236735"/>
              <a:ext cx="432786" cy="1783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828" name="Google Shape;1828;p44"/>
          <p:cNvGrpSpPr/>
          <p:nvPr/>
        </p:nvGrpSpPr>
        <p:grpSpPr>
          <a:xfrm>
            <a:off x="1643205" y="3182943"/>
            <a:ext cx="560016" cy="560971"/>
            <a:chOff x="635013" y="3938657"/>
            <a:chExt cx="787387" cy="788730"/>
          </a:xfrm>
        </p:grpSpPr>
        <p:grpSp>
          <p:nvGrpSpPr>
            <p:cNvPr id="1829" name="Google Shape;1829;p44"/>
            <p:cNvGrpSpPr/>
            <p:nvPr/>
          </p:nvGrpSpPr>
          <p:grpSpPr>
            <a:xfrm>
              <a:off x="635013" y="3938657"/>
              <a:ext cx="787387" cy="788730"/>
              <a:chOff x="1659705" y="2054741"/>
              <a:chExt cx="543515" cy="544442"/>
            </a:xfrm>
          </p:grpSpPr>
          <p:grpSp>
            <p:nvGrpSpPr>
              <p:cNvPr id="1830" name="Google Shape;1830;p44"/>
              <p:cNvGrpSpPr/>
              <p:nvPr/>
            </p:nvGrpSpPr>
            <p:grpSpPr>
              <a:xfrm>
                <a:off x="1659705" y="2054741"/>
                <a:ext cx="543515" cy="544442"/>
                <a:chOff x="3571333" y="3966538"/>
                <a:chExt cx="674796" cy="675947"/>
              </a:xfrm>
            </p:grpSpPr>
            <p:sp>
              <p:nvSpPr>
                <p:cNvPr id="1831" name="Google Shape;1831;p44"/>
                <p:cNvSpPr/>
                <p:nvPr/>
              </p:nvSpPr>
              <p:spPr>
                <a:xfrm>
                  <a:off x="3571333" y="3966538"/>
                  <a:ext cx="674796" cy="674796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1832" name="Google Shape;1832;p44"/>
                <p:cNvCxnSpPr/>
                <p:nvPr/>
              </p:nvCxnSpPr>
              <p:spPr>
                <a:xfrm>
                  <a:off x="3572292" y="3968115"/>
                  <a:ext cx="673837" cy="6743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1833" name="Google Shape;1833;p44"/>
                <p:cNvCxnSpPr/>
                <p:nvPr/>
              </p:nvCxnSpPr>
              <p:spPr>
                <a:xfrm flipH="1">
                  <a:off x="3571333" y="3966538"/>
                  <a:ext cx="674796" cy="67479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1834" name="Google Shape;1834;p44"/>
              <p:cNvSpPr txBox="1"/>
              <p:nvPr/>
            </p:nvSpPr>
            <p:spPr>
              <a:xfrm>
                <a:off x="1721794" y="2121336"/>
                <a:ext cx="432786" cy="40325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movie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835" name="Google Shape;1835;p44"/>
            <p:cNvSpPr/>
            <p:nvPr/>
          </p:nvSpPr>
          <p:spPr>
            <a:xfrm>
              <a:off x="946459" y="4304422"/>
              <a:ext cx="160021" cy="160021"/>
            </a:xfrm>
            <a:prstGeom prst="donut">
              <a:avLst>
                <a:gd name="adj" fmla="val 8107"/>
              </a:avLst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36" name="Google Shape;1836;p44"/>
            <p:cNvSpPr/>
            <p:nvPr/>
          </p:nvSpPr>
          <p:spPr>
            <a:xfrm rot="5400000">
              <a:off x="1004547" y="4361174"/>
              <a:ext cx="53035" cy="45719"/>
            </a:xfrm>
            <a:prstGeom prst="triangle">
              <a:avLst>
                <a:gd name="adj" fmla="val 50000"/>
              </a:avLst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45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45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2" name="Google Shape;1842;p45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로딩이 진행 중 일때, 진행된 정도와 남은 양을 바(Bar) 형태로 보여주는 프로그레스 인디케이터를 정의한다.</a:t>
            </a:r>
            <a:endParaRPr/>
          </a:p>
        </p:txBody>
      </p:sp>
      <p:sp>
        <p:nvSpPr>
          <p:cNvPr id="1843" name="Google Shape;1843;p45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10) Progress Bar</a:t>
            </a:r>
            <a:endParaRPr/>
          </a:p>
        </p:txBody>
      </p:sp>
      <p:grpSp>
        <p:nvGrpSpPr>
          <p:cNvPr id="1844" name="Google Shape;1844;p45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845" name="Google Shape;1845;p45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846" name="Google Shape;1846;p45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847" name="Google Shape;1847;p45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48" name="Google Shape;1848;p45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1849" name="Google Shape;1849;p45"/>
          <p:cNvGraphicFramePr/>
          <p:nvPr/>
        </p:nvGraphicFramePr>
        <p:xfrm>
          <a:off x="5277395" y="2412052"/>
          <a:ext cx="5425450" cy="96276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로딩이 완료되는 시기 예측 가능 시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 퍼센테이지를 제공하거나, 그래픽으로 100%이내 완료정도를 알 수 있도록 제공한다.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로딩이 완료되는 시기 예측 불가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로딩 애니메이션을 적용하여 처리한다.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반드시 OS에서 기본적으로 제공되는 로딩바와 겹쳐 중복되지 않도록 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50" name="Google Shape;1850;p45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프로그레스 바는 로딩이 완료되는 시기를 예측할 수 있는 경우와 로딩이 완료되는 시기를 예측할 수 없는 경우로 구분하여 제공한다.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45"/>
          <p:cNvSpPr/>
          <p:nvPr/>
        </p:nvSpPr>
        <p:spPr>
          <a:xfrm>
            <a:off x="1555181" y="2098295"/>
            <a:ext cx="860359" cy="91443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30%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45"/>
          <p:cNvSpPr/>
          <p:nvPr/>
        </p:nvSpPr>
        <p:spPr>
          <a:xfrm>
            <a:off x="2415539" y="2098295"/>
            <a:ext cx="1830589" cy="9144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algun Gothic"/>
              <a:buNone/>
            </a:pPr>
            <a:endParaRPr sz="7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3" name="Google Shape;1853;p45"/>
          <p:cNvSpPr/>
          <p:nvPr/>
        </p:nvSpPr>
        <p:spPr>
          <a:xfrm>
            <a:off x="1327736" y="207058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4" name="Google Shape;1854;p45"/>
          <p:cNvSpPr/>
          <p:nvPr/>
        </p:nvSpPr>
        <p:spPr>
          <a:xfrm>
            <a:off x="1327736" y="2803828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55" name="Google Shape;1855;p45"/>
          <p:cNvGrpSpPr/>
          <p:nvPr/>
        </p:nvGrpSpPr>
        <p:grpSpPr>
          <a:xfrm>
            <a:off x="2585425" y="2941448"/>
            <a:ext cx="565271" cy="565271"/>
            <a:chOff x="4181586" y="4150658"/>
            <a:chExt cx="914401" cy="914399"/>
          </a:xfrm>
        </p:grpSpPr>
        <p:sp>
          <p:nvSpPr>
            <p:cNvPr id="1856" name="Google Shape;1856;p45"/>
            <p:cNvSpPr/>
            <p:nvPr/>
          </p:nvSpPr>
          <p:spPr>
            <a:xfrm>
              <a:off x="4181586" y="4150658"/>
              <a:ext cx="914400" cy="914399"/>
            </a:xfrm>
            <a:prstGeom prst="donut">
              <a:avLst>
                <a:gd name="adj" fmla="val 10188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57" name="Google Shape;1857;p45"/>
            <p:cNvSpPr/>
            <p:nvPr/>
          </p:nvSpPr>
          <p:spPr>
            <a:xfrm rot="5400000">
              <a:off x="4183059" y="4149185"/>
              <a:ext cx="911453" cy="914400"/>
            </a:xfrm>
            <a:prstGeom prst="blockArc">
              <a:avLst>
                <a:gd name="adj1" fmla="val 10800000"/>
                <a:gd name="adj2" fmla="val 2383461"/>
                <a:gd name="adj3" fmla="val 10167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46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46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3" name="Google Shape;1863;p46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목록페이지를 정의한다.</a:t>
            </a:r>
            <a:endParaRPr/>
          </a:p>
        </p:txBody>
      </p:sp>
      <p:sp>
        <p:nvSpPr>
          <p:cNvPr id="1864" name="Google Shape;1864;p46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11) List &amp; Paging(1/2)</a:t>
            </a:r>
            <a:endParaRPr/>
          </a:p>
        </p:txBody>
      </p:sp>
      <p:grpSp>
        <p:nvGrpSpPr>
          <p:cNvPr id="1865" name="Google Shape;1865;p46"/>
          <p:cNvGrpSpPr/>
          <p:nvPr/>
        </p:nvGrpSpPr>
        <p:grpSpPr>
          <a:xfrm>
            <a:off x="1555181" y="1375954"/>
            <a:ext cx="2690948" cy="2231539"/>
            <a:chOff x="1555181" y="1375954"/>
            <a:chExt cx="2690948" cy="2231539"/>
          </a:xfrm>
        </p:grpSpPr>
        <p:sp>
          <p:nvSpPr>
            <p:cNvPr id="1866" name="Google Shape;1866;p46"/>
            <p:cNvSpPr/>
            <p:nvPr/>
          </p:nvSpPr>
          <p:spPr>
            <a:xfrm>
              <a:off x="1555181" y="1375954"/>
              <a:ext cx="2690948" cy="223153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867" name="Google Shape;1867;p46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868" name="Google Shape;1868;p46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69" name="Google Shape;1869;p46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1870" name="Google Shape;1870;p46"/>
          <p:cNvGraphicFramePr/>
          <p:nvPr/>
        </p:nvGraphicFramePr>
        <p:xfrm>
          <a:off x="5277395" y="2412052"/>
          <a:ext cx="5425450" cy="208212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 목록 상단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타이틀 하단 전체 목록 수, 정렬, 보기방식을 제공한다.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정렬은 인기순, 최신순, 가격낮은순, 가격높은순을 제공한다.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보기방식은 리스트뷰, 섬네일 뷰를 제공한다.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자동 더보기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자동 더보기는 스크롤 속도에 맞춰 상품을 불러온다.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검색 목록 상단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타이틀 내 검색바를 제공하고, 필터를 제공한다.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타이틀 하단은 선택된 필터를 좌우 스와이핑으로 노출한다.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목록 상단은 일반 목록과 동일하게 제공한다.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더보기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Data양이 많아 전체 목록 수를 확인하기 어려운 경우 더보기 + 로 표현한다.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목록 수를 확인가능한 경우 현재/전체를 표현한다.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1" name="Google Shape;1871;p46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상품목록 페이지에서 상단은 View 방식, Sort, Filter를 정의한다.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상품목록 페이징에서 하단의 자동 더보기, 버튼형 더보기를 데이터 상황에 맞춰 제공한다.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46"/>
          <p:cNvSpPr/>
          <p:nvPr/>
        </p:nvSpPr>
        <p:spPr>
          <a:xfrm>
            <a:off x="1557661" y="1375955"/>
            <a:ext cx="2690948" cy="2231538"/>
          </a:xfrm>
          <a:prstGeom prst="rect">
            <a:avLst/>
          </a:prstGeom>
          <a:solidFill>
            <a:srgbClr val="000000">
              <a:alpha val="2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73" name="Google Shape;1873;p46"/>
          <p:cNvGrpSpPr/>
          <p:nvPr/>
        </p:nvGrpSpPr>
        <p:grpSpPr>
          <a:xfrm>
            <a:off x="1555808" y="1576908"/>
            <a:ext cx="2690948" cy="363954"/>
            <a:chOff x="1555808" y="2552523"/>
            <a:chExt cx="2690948" cy="363954"/>
          </a:xfrm>
        </p:grpSpPr>
        <p:sp>
          <p:nvSpPr>
            <p:cNvPr id="1874" name="Google Shape;1874;p46"/>
            <p:cNvSpPr/>
            <p:nvPr/>
          </p:nvSpPr>
          <p:spPr>
            <a:xfrm>
              <a:off x="1555808" y="2552523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75" name="Google Shape;1875;p46"/>
            <p:cNvSpPr/>
            <p:nvPr/>
          </p:nvSpPr>
          <p:spPr>
            <a:xfrm flipH="1">
              <a:off x="1645444" y="2676741"/>
              <a:ext cx="57524" cy="117201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76" name="Google Shape;1876;p46"/>
            <p:cNvSpPr txBox="1"/>
            <p:nvPr/>
          </p:nvSpPr>
          <p:spPr>
            <a:xfrm>
              <a:off x="1794681" y="2552523"/>
              <a:ext cx="2224585" cy="363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LIST</a:t>
              </a:r>
              <a:endParaRPr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77" name="Google Shape;1877;p46"/>
            <p:cNvSpPr/>
            <p:nvPr/>
          </p:nvSpPr>
          <p:spPr>
            <a:xfrm>
              <a:off x="3916174" y="2606083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8" name="Google Shape;1878;p46"/>
          <p:cNvGrpSpPr/>
          <p:nvPr/>
        </p:nvGrpSpPr>
        <p:grpSpPr>
          <a:xfrm>
            <a:off x="1554499" y="1936396"/>
            <a:ext cx="2939778" cy="360000"/>
            <a:chOff x="1554499" y="1936396"/>
            <a:chExt cx="2939778" cy="360000"/>
          </a:xfrm>
        </p:grpSpPr>
        <p:sp>
          <p:nvSpPr>
            <p:cNvPr id="1879" name="Google Shape;1879;p46"/>
            <p:cNvSpPr/>
            <p:nvPr/>
          </p:nvSpPr>
          <p:spPr>
            <a:xfrm>
              <a:off x="1554499" y="1936396"/>
              <a:ext cx="269162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 </a:t>
              </a: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00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880" name="Google Shape;1880;p46"/>
            <p:cNvGrpSpPr/>
            <p:nvPr/>
          </p:nvGrpSpPr>
          <p:grpSpPr>
            <a:xfrm>
              <a:off x="3989070" y="2055436"/>
              <a:ext cx="134532" cy="121920"/>
              <a:chOff x="4335780" y="3314700"/>
              <a:chExt cx="266700" cy="220980"/>
            </a:xfrm>
          </p:grpSpPr>
          <p:sp>
            <p:nvSpPr>
              <p:cNvPr id="1881" name="Google Shape;1881;p46"/>
              <p:cNvSpPr/>
              <p:nvPr/>
            </p:nvSpPr>
            <p:spPr>
              <a:xfrm>
                <a:off x="4335780" y="331470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882" name="Google Shape;1882;p46"/>
              <p:cNvSpPr/>
              <p:nvPr/>
            </p:nvSpPr>
            <p:spPr>
              <a:xfrm>
                <a:off x="4335780" y="340233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883" name="Google Shape;1883;p46"/>
              <p:cNvSpPr/>
              <p:nvPr/>
            </p:nvSpPr>
            <p:spPr>
              <a:xfrm>
                <a:off x="4335780" y="348996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884" name="Google Shape;1884;p46"/>
            <p:cNvGrpSpPr/>
            <p:nvPr/>
          </p:nvGrpSpPr>
          <p:grpSpPr>
            <a:xfrm>
              <a:off x="4364737" y="2055436"/>
              <a:ext cx="129540" cy="121920"/>
              <a:chOff x="3328035" y="2152972"/>
              <a:chExt cx="184743" cy="121920"/>
            </a:xfrm>
          </p:grpSpPr>
          <p:grpSp>
            <p:nvGrpSpPr>
              <p:cNvPr id="1885" name="Google Shape;1885;p46"/>
              <p:cNvGrpSpPr/>
              <p:nvPr/>
            </p:nvGrpSpPr>
            <p:grpSpPr>
              <a:xfrm>
                <a:off x="3328035" y="2152972"/>
                <a:ext cx="45719" cy="121920"/>
                <a:chOff x="4335780" y="3314700"/>
                <a:chExt cx="266700" cy="220980"/>
              </a:xfrm>
            </p:grpSpPr>
            <p:sp>
              <p:nvSpPr>
                <p:cNvPr id="1886" name="Google Shape;1886;p46"/>
                <p:cNvSpPr/>
                <p:nvPr/>
              </p:nvSpPr>
              <p:spPr>
                <a:xfrm>
                  <a:off x="4335780" y="331470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887" name="Google Shape;1887;p46"/>
                <p:cNvSpPr/>
                <p:nvPr/>
              </p:nvSpPr>
              <p:spPr>
                <a:xfrm>
                  <a:off x="4335780" y="340233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888" name="Google Shape;1888;p46"/>
                <p:cNvSpPr/>
                <p:nvPr/>
              </p:nvSpPr>
              <p:spPr>
                <a:xfrm>
                  <a:off x="4335780" y="348996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1889" name="Google Shape;1889;p46"/>
              <p:cNvGrpSpPr/>
              <p:nvPr/>
            </p:nvGrpSpPr>
            <p:grpSpPr>
              <a:xfrm>
                <a:off x="3398479" y="2152972"/>
                <a:ext cx="45719" cy="121920"/>
                <a:chOff x="4335780" y="3314700"/>
                <a:chExt cx="266700" cy="220980"/>
              </a:xfrm>
            </p:grpSpPr>
            <p:sp>
              <p:nvSpPr>
                <p:cNvPr id="1890" name="Google Shape;1890;p46"/>
                <p:cNvSpPr/>
                <p:nvPr/>
              </p:nvSpPr>
              <p:spPr>
                <a:xfrm>
                  <a:off x="4335780" y="331470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891" name="Google Shape;1891;p46"/>
                <p:cNvSpPr/>
                <p:nvPr/>
              </p:nvSpPr>
              <p:spPr>
                <a:xfrm>
                  <a:off x="4335780" y="340233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892" name="Google Shape;1892;p46"/>
                <p:cNvSpPr/>
                <p:nvPr/>
              </p:nvSpPr>
              <p:spPr>
                <a:xfrm>
                  <a:off x="4335780" y="348996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1893" name="Google Shape;1893;p46"/>
              <p:cNvGrpSpPr/>
              <p:nvPr/>
            </p:nvGrpSpPr>
            <p:grpSpPr>
              <a:xfrm>
                <a:off x="3467059" y="2152972"/>
                <a:ext cx="45719" cy="121920"/>
                <a:chOff x="4335780" y="3314700"/>
                <a:chExt cx="266700" cy="220980"/>
              </a:xfrm>
            </p:grpSpPr>
            <p:sp>
              <p:nvSpPr>
                <p:cNvPr id="1894" name="Google Shape;1894;p46"/>
                <p:cNvSpPr/>
                <p:nvPr/>
              </p:nvSpPr>
              <p:spPr>
                <a:xfrm>
                  <a:off x="4335780" y="331470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895" name="Google Shape;1895;p46"/>
                <p:cNvSpPr/>
                <p:nvPr/>
              </p:nvSpPr>
              <p:spPr>
                <a:xfrm>
                  <a:off x="4335780" y="340233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896" name="Google Shape;1896;p46"/>
                <p:cNvSpPr/>
                <p:nvPr/>
              </p:nvSpPr>
              <p:spPr>
                <a:xfrm>
                  <a:off x="4335780" y="348996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1897" name="Google Shape;1897;p46"/>
            <p:cNvGrpSpPr/>
            <p:nvPr/>
          </p:nvGrpSpPr>
          <p:grpSpPr>
            <a:xfrm>
              <a:off x="2561976" y="2012918"/>
              <a:ext cx="1263300" cy="230499"/>
              <a:chOff x="1723643" y="2537762"/>
              <a:chExt cx="1263300" cy="230499"/>
            </a:xfrm>
          </p:grpSpPr>
          <p:sp>
            <p:nvSpPr>
              <p:cNvPr id="1898" name="Google Shape;1898;p46"/>
              <p:cNvSpPr/>
              <p:nvPr/>
            </p:nvSpPr>
            <p:spPr>
              <a:xfrm>
                <a:off x="1723643" y="2537762"/>
                <a:ext cx="1219201" cy="230499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Malgun Gothic"/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인기순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9" name="Google Shape;1899;p46"/>
              <p:cNvSpPr/>
              <p:nvPr/>
            </p:nvSpPr>
            <p:spPr>
              <a:xfrm rot="-5400000" flipH="1">
                <a:off x="2933058" y="2617666"/>
                <a:ext cx="37785" cy="69985"/>
              </a:xfrm>
              <a:prstGeom prst="chevron">
                <a:avLst>
                  <a:gd name="adj" fmla="val 100000"/>
                </a:avLst>
              </a:prstGeom>
              <a:solidFill>
                <a:srgbClr val="0C0C0C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1900" name="Google Shape;1900;p46"/>
          <p:cNvGrpSpPr/>
          <p:nvPr/>
        </p:nvGrpSpPr>
        <p:grpSpPr>
          <a:xfrm>
            <a:off x="1555181" y="3822559"/>
            <a:ext cx="2690948" cy="2231539"/>
            <a:chOff x="1555181" y="1375954"/>
            <a:chExt cx="2690948" cy="2231539"/>
          </a:xfrm>
        </p:grpSpPr>
        <p:sp>
          <p:nvSpPr>
            <p:cNvPr id="1901" name="Google Shape;1901;p46"/>
            <p:cNvSpPr/>
            <p:nvPr/>
          </p:nvSpPr>
          <p:spPr>
            <a:xfrm>
              <a:off x="1555181" y="1375954"/>
              <a:ext cx="2690948" cy="223153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902" name="Google Shape;1902;p46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903" name="Google Shape;1903;p46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04" name="Google Shape;1904;p46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905" name="Google Shape;1905;p46"/>
          <p:cNvSpPr/>
          <p:nvPr/>
        </p:nvSpPr>
        <p:spPr>
          <a:xfrm>
            <a:off x="1557661" y="3822560"/>
            <a:ext cx="2690948" cy="2231538"/>
          </a:xfrm>
          <a:prstGeom prst="rect">
            <a:avLst/>
          </a:prstGeom>
          <a:solidFill>
            <a:srgbClr val="000000">
              <a:alpha val="2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906" name="Google Shape;1906;p46"/>
          <p:cNvGrpSpPr/>
          <p:nvPr/>
        </p:nvGrpSpPr>
        <p:grpSpPr>
          <a:xfrm>
            <a:off x="1553755" y="4027629"/>
            <a:ext cx="2940374" cy="1079572"/>
            <a:chOff x="1553903" y="2816856"/>
            <a:chExt cx="2940374" cy="1079572"/>
          </a:xfrm>
        </p:grpSpPr>
        <p:grpSp>
          <p:nvGrpSpPr>
            <p:cNvPr id="1907" name="Google Shape;1907;p46"/>
            <p:cNvGrpSpPr/>
            <p:nvPr/>
          </p:nvGrpSpPr>
          <p:grpSpPr>
            <a:xfrm>
              <a:off x="1554499" y="3536428"/>
              <a:ext cx="2939778" cy="360000"/>
              <a:chOff x="1554499" y="1936396"/>
              <a:chExt cx="2939778" cy="360000"/>
            </a:xfrm>
          </p:grpSpPr>
          <p:sp>
            <p:nvSpPr>
              <p:cNvPr id="1908" name="Google Shape;1908;p46"/>
              <p:cNvSpPr/>
              <p:nvPr/>
            </p:nvSpPr>
            <p:spPr>
              <a:xfrm>
                <a:off x="1554499" y="1936396"/>
                <a:ext cx="2691628" cy="36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Malgun Gothic"/>
                  <a:buNone/>
                </a:pPr>
                <a:r>
                  <a:rPr lang="en-US" sz="8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전체 </a:t>
                </a:r>
                <a:r>
                  <a:rPr lang="en-US" sz="800" b="1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00</a:t>
                </a:r>
                <a:r>
                  <a:rPr lang="en-US" sz="8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대</a:t>
                </a:r>
                <a:endParaRPr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909" name="Google Shape;1909;p46"/>
              <p:cNvGrpSpPr/>
              <p:nvPr/>
            </p:nvGrpSpPr>
            <p:grpSpPr>
              <a:xfrm>
                <a:off x="3989070" y="2055436"/>
                <a:ext cx="134532" cy="121920"/>
                <a:chOff x="4335780" y="3314700"/>
                <a:chExt cx="266700" cy="220980"/>
              </a:xfrm>
            </p:grpSpPr>
            <p:sp>
              <p:nvSpPr>
                <p:cNvPr id="1910" name="Google Shape;1910;p46"/>
                <p:cNvSpPr/>
                <p:nvPr/>
              </p:nvSpPr>
              <p:spPr>
                <a:xfrm>
                  <a:off x="4335780" y="331470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911" name="Google Shape;1911;p46"/>
                <p:cNvSpPr/>
                <p:nvPr/>
              </p:nvSpPr>
              <p:spPr>
                <a:xfrm>
                  <a:off x="4335780" y="340233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912" name="Google Shape;1912;p46"/>
                <p:cNvSpPr/>
                <p:nvPr/>
              </p:nvSpPr>
              <p:spPr>
                <a:xfrm>
                  <a:off x="4335780" y="348996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1913" name="Google Shape;1913;p46"/>
              <p:cNvGrpSpPr/>
              <p:nvPr/>
            </p:nvGrpSpPr>
            <p:grpSpPr>
              <a:xfrm>
                <a:off x="4364737" y="2055436"/>
                <a:ext cx="129540" cy="121920"/>
                <a:chOff x="3328035" y="2152972"/>
                <a:chExt cx="184743" cy="121920"/>
              </a:xfrm>
            </p:grpSpPr>
            <p:grpSp>
              <p:nvGrpSpPr>
                <p:cNvPr id="1914" name="Google Shape;1914;p46"/>
                <p:cNvGrpSpPr/>
                <p:nvPr/>
              </p:nvGrpSpPr>
              <p:grpSpPr>
                <a:xfrm>
                  <a:off x="3328035" y="2152972"/>
                  <a:ext cx="45719" cy="121920"/>
                  <a:chOff x="4335780" y="3314700"/>
                  <a:chExt cx="266700" cy="220980"/>
                </a:xfrm>
              </p:grpSpPr>
              <p:sp>
                <p:nvSpPr>
                  <p:cNvPr id="1915" name="Google Shape;1915;p46"/>
                  <p:cNvSpPr/>
                  <p:nvPr/>
                </p:nvSpPr>
                <p:spPr>
                  <a:xfrm>
                    <a:off x="4335780" y="3314700"/>
                    <a:ext cx="266700" cy="45720"/>
                  </a:xfrm>
                  <a:prstGeom prst="rect">
                    <a:avLst/>
                  </a:prstGeom>
                  <a:solidFill>
                    <a:srgbClr val="3F3F3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Malgun Gothic"/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16" name="Google Shape;1916;p46"/>
                  <p:cNvSpPr/>
                  <p:nvPr/>
                </p:nvSpPr>
                <p:spPr>
                  <a:xfrm>
                    <a:off x="4335780" y="3402330"/>
                    <a:ext cx="266700" cy="45720"/>
                  </a:xfrm>
                  <a:prstGeom prst="rect">
                    <a:avLst/>
                  </a:prstGeom>
                  <a:solidFill>
                    <a:srgbClr val="3F3F3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Malgun Gothic"/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17" name="Google Shape;1917;p46"/>
                  <p:cNvSpPr/>
                  <p:nvPr/>
                </p:nvSpPr>
                <p:spPr>
                  <a:xfrm>
                    <a:off x="4335780" y="3489960"/>
                    <a:ext cx="266700" cy="45720"/>
                  </a:xfrm>
                  <a:prstGeom prst="rect">
                    <a:avLst/>
                  </a:prstGeom>
                  <a:solidFill>
                    <a:srgbClr val="3F3F3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Malgun Gothic"/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918" name="Google Shape;1918;p46"/>
                <p:cNvGrpSpPr/>
                <p:nvPr/>
              </p:nvGrpSpPr>
              <p:grpSpPr>
                <a:xfrm>
                  <a:off x="3398479" y="2152972"/>
                  <a:ext cx="45719" cy="121920"/>
                  <a:chOff x="4335780" y="3314700"/>
                  <a:chExt cx="266700" cy="220980"/>
                </a:xfrm>
              </p:grpSpPr>
              <p:sp>
                <p:nvSpPr>
                  <p:cNvPr id="1919" name="Google Shape;1919;p46"/>
                  <p:cNvSpPr/>
                  <p:nvPr/>
                </p:nvSpPr>
                <p:spPr>
                  <a:xfrm>
                    <a:off x="4335780" y="3314700"/>
                    <a:ext cx="266700" cy="45720"/>
                  </a:xfrm>
                  <a:prstGeom prst="rect">
                    <a:avLst/>
                  </a:prstGeom>
                  <a:solidFill>
                    <a:srgbClr val="3F3F3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Malgun Gothic"/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20" name="Google Shape;1920;p46"/>
                  <p:cNvSpPr/>
                  <p:nvPr/>
                </p:nvSpPr>
                <p:spPr>
                  <a:xfrm>
                    <a:off x="4335780" y="3402330"/>
                    <a:ext cx="266700" cy="45720"/>
                  </a:xfrm>
                  <a:prstGeom prst="rect">
                    <a:avLst/>
                  </a:prstGeom>
                  <a:solidFill>
                    <a:srgbClr val="3F3F3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Malgun Gothic"/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21" name="Google Shape;1921;p46"/>
                  <p:cNvSpPr/>
                  <p:nvPr/>
                </p:nvSpPr>
                <p:spPr>
                  <a:xfrm>
                    <a:off x="4335780" y="3489960"/>
                    <a:ext cx="266700" cy="45720"/>
                  </a:xfrm>
                  <a:prstGeom prst="rect">
                    <a:avLst/>
                  </a:prstGeom>
                  <a:solidFill>
                    <a:srgbClr val="3F3F3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Malgun Gothic"/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922" name="Google Shape;1922;p46"/>
                <p:cNvGrpSpPr/>
                <p:nvPr/>
              </p:nvGrpSpPr>
              <p:grpSpPr>
                <a:xfrm>
                  <a:off x="3467059" y="2152972"/>
                  <a:ext cx="45719" cy="121920"/>
                  <a:chOff x="4335780" y="3314700"/>
                  <a:chExt cx="266700" cy="220980"/>
                </a:xfrm>
              </p:grpSpPr>
              <p:sp>
                <p:nvSpPr>
                  <p:cNvPr id="1923" name="Google Shape;1923;p46"/>
                  <p:cNvSpPr/>
                  <p:nvPr/>
                </p:nvSpPr>
                <p:spPr>
                  <a:xfrm>
                    <a:off x="4335780" y="3314700"/>
                    <a:ext cx="266700" cy="45720"/>
                  </a:xfrm>
                  <a:prstGeom prst="rect">
                    <a:avLst/>
                  </a:prstGeom>
                  <a:solidFill>
                    <a:srgbClr val="3F3F3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Malgun Gothic"/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24" name="Google Shape;1924;p46"/>
                  <p:cNvSpPr/>
                  <p:nvPr/>
                </p:nvSpPr>
                <p:spPr>
                  <a:xfrm>
                    <a:off x="4335780" y="3402330"/>
                    <a:ext cx="266700" cy="45720"/>
                  </a:xfrm>
                  <a:prstGeom prst="rect">
                    <a:avLst/>
                  </a:prstGeom>
                  <a:solidFill>
                    <a:srgbClr val="3F3F3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Malgun Gothic"/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25" name="Google Shape;1925;p46"/>
                  <p:cNvSpPr/>
                  <p:nvPr/>
                </p:nvSpPr>
                <p:spPr>
                  <a:xfrm>
                    <a:off x="4335780" y="3489960"/>
                    <a:ext cx="266700" cy="45720"/>
                  </a:xfrm>
                  <a:prstGeom prst="rect">
                    <a:avLst/>
                  </a:prstGeom>
                  <a:solidFill>
                    <a:srgbClr val="3F3F3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Malgun Gothic"/>
                      <a:buNone/>
                    </a:pPr>
                    <a:endParaRPr sz="1800" b="0" i="0" u="none" strike="noStrike" cap="none">
                      <a:solidFill>
                        <a:srgbClr val="FFFFFF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grpSp>
            <p:nvGrpSpPr>
              <p:cNvPr id="1926" name="Google Shape;1926;p46"/>
              <p:cNvGrpSpPr/>
              <p:nvPr/>
            </p:nvGrpSpPr>
            <p:grpSpPr>
              <a:xfrm>
                <a:off x="2561976" y="2012918"/>
                <a:ext cx="1263300" cy="230499"/>
                <a:chOff x="1723643" y="2537762"/>
                <a:chExt cx="1263300" cy="230499"/>
              </a:xfrm>
            </p:grpSpPr>
            <p:sp>
              <p:nvSpPr>
                <p:cNvPr id="1927" name="Google Shape;1927;p46"/>
                <p:cNvSpPr/>
                <p:nvPr/>
              </p:nvSpPr>
              <p:spPr>
                <a:xfrm>
                  <a:off x="1723643" y="2537762"/>
                  <a:ext cx="1219201" cy="230499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Malgun Gothic"/>
                    <a:buNone/>
                  </a:pPr>
                  <a:r>
                    <a:rPr lang="en-US" sz="800" b="0" i="0" u="none" strike="noStrike" cap="none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인기순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8" name="Google Shape;1928;p46"/>
                <p:cNvSpPr/>
                <p:nvPr/>
              </p:nvSpPr>
              <p:spPr>
                <a:xfrm rot="-5400000" flipH="1">
                  <a:off x="2933058" y="2617666"/>
                  <a:ext cx="37785" cy="69985"/>
                </a:xfrm>
                <a:prstGeom prst="chevron">
                  <a:avLst>
                    <a:gd name="adj" fmla="val 100000"/>
                  </a:avLst>
                </a:prstGeom>
                <a:solidFill>
                  <a:srgbClr val="0C0C0C"/>
                </a:solidFill>
                <a:ln w="1270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1929" name="Google Shape;1929;p46"/>
            <p:cNvGrpSpPr/>
            <p:nvPr/>
          </p:nvGrpSpPr>
          <p:grpSpPr>
            <a:xfrm>
              <a:off x="1553903" y="2816856"/>
              <a:ext cx="2692224" cy="360000"/>
              <a:chOff x="1555808" y="5576655"/>
              <a:chExt cx="2692224" cy="360000"/>
            </a:xfrm>
          </p:grpSpPr>
          <p:sp>
            <p:nvSpPr>
              <p:cNvPr id="1930" name="Google Shape;1930;p46"/>
              <p:cNvSpPr/>
              <p:nvPr/>
            </p:nvSpPr>
            <p:spPr>
              <a:xfrm>
                <a:off x="1555808" y="5576655"/>
                <a:ext cx="2692224" cy="360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Malgun Gothic"/>
                  <a:buNone/>
                </a:pPr>
                <a:r>
                  <a:rPr lang="en-US" sz="900" b="1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931" name="Google Shape;1931;p46"/>
              <p:cNvSpPr/>
              <p:nvPr/>
            </p:nvSpPr>
            <p:spPr>
              <a:xfrm flipH="1">
                <a:off x="1645444" y="5699423"/>
                <a:ext cx="57524" cy="117201"/>
              </a:xfrm>
              <a:prstGeom prst="chevron">
                <a:avLst>
                  <a:gd name="adj" fmla="val 100000"/>
                </a:avLst>
              </a:prstGeom>
              <a:solidFill>
                <a:srgbClr val="0C0C0C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932" name="Google Shape;1932;p46"/>
              <p:cNvSpPr/>
              <p:nvPr/>
            </p:nvSpPr>
            <p:spPr>
              <a:xfrm>
                <a:off x="1901189" y="5646658"/>
                <a:ext cx="1955769" cy="230499"/>
              </a:xfrm>
              <a:prstGeom prst="roundRect">
                <a:avLst>
                  <a:gd name="adj" fmla="val 8265"/>
                </a:avLst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F7F7F"/>
                  </a:buClr>
                  <a:buSzPts val="800"/>
                  <a:buFont typeface="Malgun Gothic"/>
                  <a:buNone/>
                </a:pPr>
                <a:r>
                  <a:rPr lang="en-US" sz="8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차량 모델명을 입력하세요.</a:t>
                </a:r>
                <a:endParaRPr sz="8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933" name="Google Shape;1933;p46"/>
              <p:cNvSpPr/>
              <p:nvPr/>
            </p:nvSpPr>
            <p:spPr>
              <a:xfrm>
                <a:off x="3642360" y="5708198"/>
                <a:ext cx="102870" cy="102870"/>
              </a:xfrm>
              <a:prstGeom prst="donut">
                <a:avLst>
                  <a:gd name="adj" fmla="val 9722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1934" name="Google Shape;1934;p46"/>
              <p:cNvCxnSpPr/>
              <p:nvPr/>
            </p:nvCxnSpPr>
            <p:spPr>
              <a:xfrm>
                <a:off x="3725479" y="5785388"/>
                <a:ext cx="29540" cy="2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1935" name="Google Shape;1935;p46"/>
            <p:cNvSpPr/>
            <p:nvPr/>
          </p:nvSpPr>
          <p:spPr>
            <a:xfrm>
              <a:off x="1555063" y="3177059"/>
              <a:ext cx="269162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36" name="Google Shape;1936;p46"/>
            <p:cNvSpPr/>
            <p:nvPr/>
          </p:nvSpPr>
          <p:spPr>
            <a:xfrm>
              <a:off x="3918079" y="2871479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필터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46"/>
            <p:cNvSpPr/>
            <p:nvPr/>
          </p:nvSpPr>
          <p:spPr>
            <a:xfrm>
              <a:off x="1641850" y="3264051"/>
              <a:ext cx="660649" cy="186014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선택필터2  X</a:t>
              </a:r>
              <a:endParaRPr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38" name="Google Shape;1938;p46"/>
            <p:cNvSpPr/>
            <p:nvPr/>
          </p:nvSpPr>
          <p:spPr>
            <a:xfrm>
              <a:off x="2367816" y="3264051"/>
              <a:ext cx="660649" cy="186014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선택필터1  X</a:t>
              </a:r>
              <a:endParaRPr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939" name="Google Shape;1939;p46"/>
          <p:cNvSpPr/>
          <p:nvPr/>
        </p:nvSpPr>
        <p:spPr>
          <a:xfrm>
            <a:off x="2576648" y="5526309"/>
            <a:ext cx="660649" cy="18601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더보기 +</a:t>
            </a: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0" name="Google Shape;1940;p46"/>
          <p:cNvSpPr/>
          <p:nvPr/>
        </p:nvSpPr>
        <p:spPr>
          <a:xfrm>
            <a:off x="2576648" y="5775078"/>
            <a:ext cx="660649" cy="18601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더보기 1/10</a:t>
            </a:r>
            <a:endParaRPr sz="7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1" name="Google Shape;1941;p46"/>
          <p:cNvSpPr/>
          <p:nvPr/>
        </p:nvSpPr>
        <p:spPr>
          <a:xfrm>
            <a:off x="1555181" y="3411137"/>
            <a:ext cx="2690948" cy="20371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더보기</a:t>
            </a: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2" name="Google Shape;1942;p46"/>
          <p:cNvSpPr/>
          <p:nvPr/>
        </p:nvSpPr>
        <p:spPr>
          <a:xfrm>
            <a:off x="1327736" y="1682397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3" name="Google Shape;1943;p46"/>
          <p:cNvSpPr/>
          <p:nvPr/>
        </p:nvSpPr>
        <p:spPr>
          <a:xfrm>
            <a:off x="1327736" y="3442030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4" name="Google Shape;1944;p46"/>
          <p:cNvSpPr/>
          <p:nvPr/>
        </p:nvSpPr>
        <p:spPr>
          <a:xfrm>
            <a:off x="1327736" y="4142938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5" name="Google Shape;1945;p46"/>
          <p:cNvSpPr/>
          <p:nvPr/>
        </p:nvSpPr>
        <p:spPr>
          <a:xfrm>
            <a:off x="1327736" y="5657513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6" name="Google Shape;1946;p46"/>
          <p:cNvSpPr/>
          <p:nvPr/>
        </p:nvSpPr>
        <p:spPr>
          <a:xfrm>
            <a:off x="4027217" y="1620528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1" name="Google Shape;1951;p47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1952" name="Google Shape;1952;p47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953" name="Google Shape;1953;p47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954" name="Google Shape;1954;p47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55" name="Google Shape;1955;p47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956" name="Google Shape;1956;p47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47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7" name="Google Shape;1957;p47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배너에 대한 페이징 표시는 아래와 같이 정의한다.</a:t>
            </a:r>
            <a:endParaRPr/>
          </a:p>
        </p:txBody>
      </p:sp>
      <p:sp>
        <p:nvSpPr>
          <p:cNvPr id="1958" name="Google Shape;1958;p47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11) List &amp; Paging(2/2)</a:t>
            </a:r>
            <a:endParaRPr/>
          </a:p>
        </p:txBody>
      </p:sp>
      <p:graphicFrame>
        <p:nvGraphicFramePr>
          <p:cNvPr id="1959" name="Google Shape;1959;p47"/>
          <p:cNvGraphicFramePr/>
          <p:nvPr/>
        </p:nvGraphicFramePr>
        <p:xfrm>
          <a:off x="5277395" y="2412052"/>
          <a:ext cx="5425450" cy="132852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 배너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좌우 스와이핑으로 확인한다.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자동 롤링을 제공할 수 있다. 자동 롤링 시 롤링을 멈출 수 있는 버튼을 제공한다.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배너 대비 현재 배너 순서를 숫자로 표현한다.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중/소 배너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좌우 스와이핑으로 확인한다.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자동 롤링을 제공할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배너 대비 현재 배너를 하단 인디케이터를 통해 확인할 수 있다.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60" name="Google Shape;1960;p47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배너는 좌우 스와이핑으로 확인할 수 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47"/>
          <p:cNvSpPr/>
          <p:nvPr/>
        </p:nvSpPr>
        <p:spPr>
          <a:xfrm>
            <a:off x="1327736" y="2631108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2" name="Google Shape;1962;p47"/>
          <p:cNvSpPr/>
          <p:nvPr/>
        </p:nvSpPr>
        <p:spPr>
          <a:xfrm>
            <a:off x="1327736" y="378359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3" name="Google Shape;1963;p47"/>
          <p:cNvSpPr/>
          <p:nvPr/>
        </p:nvSpPr>
        <p:spPr>
          <a:xfrm>
            <a:off x="1555181" y="2005977"/>
            <a:ext cx="2690948" cy="1327878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banner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47"/>
          <p:cNvSpPr/>
          <p:nvPr/>
        </p:nvSpPr>
        <p:spPr>
          <a:xfrm>
            <a:off x="1555181" y="3524759"/>
            <a:ext cx="2690948" cy="666242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banner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5" name="Google Shape;1965;p47"/>
          <p:cNvGrpSpPr/>
          <p:nvPr/>
        </p:nvGrpSpPr>
        <p:grpSpPr>
          <a:xfrm>
            <a:off x="2651735" y="4264339"/>
            <a:ext cx="497840" cy="76175"/>
            <a:chOff x="919480" y="4384040"/>
            <a:chExt cx="996010" cy="152400"/>
          </a:xfrm>
        </p:grpSpPr>
        <p:sp>
          <p:nvSpPr>
            <p:cNvPr id="1966" name="Google Shape;1966;p47"/>
            <p:cNvSpPr/>
            <p:nvPr/>
          </p:nvSpPr>
          <p:spPr>
            <a:xfrm>
              <a:off x="919480" y="4384040"/>
              <a:ext cx="152400" cy="152400"/>
            </a:xfrm>
            <a:prstGeom prst="ellipse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Malgun Gothic"/>
                <a:buNone/>
              </a:pP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7" name="Google Shape;1967;p47"/>
            <p:cNvSpPr/>
            <p:nvPr/>
          </p:nvSpPr>
          <p:spPr>
            <a:xfrm>
              <a:off x="1133862" y="4384040"/>
              <a:ext cx="152400" cy="15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Malgun Gothic"/>
                <a:buNone/>
              </a:pP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8" name="Google Shape;1968;p47"/>
            <p:cNvSpPr/>
            <p:nvPr/>
          </p:nvSpPr>
          <p:spPr>
            <a:xfrm>
              <a:off x="1334267" y="4384040"/>
              <a:ext cx="152400" cy="15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Malgun Gothic"/>
                <a:buNone/>
              </a:pP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9" name="Google Shape;1969;p47"/>
            <p:cNvSpPr/>
            <p:nvPr/>
          </p:nvSpPr>
          <p:spPr>
            <a:xfrm>
              <a:off x="1543248" y="4384040"/>
              <a:ext cx="152400" cy="15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Malgun Gothic"/>
                <a:buNone/>
              </a:pP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70" name="Google Shape;1970;p47"/>
            <p:cNvSpPr/>
            <p:nvPr/>
          </p:nvSpPr>
          <p:spPr>
            <a:xfrm>
              <a:off x="1763090" y="4384040"/>
              <a:ext cx="152400" cy="15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Malgun Gothic"/>
                <a:buNone/>
              </a:pP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971" name="Google Shape;1971;p47"/>
          <p:cNvGrpSpPr/>
          <p:nvPr/>
        </p:nvGrpSpPr>
        <p:grpSpPr>
          <a:xfrm>
            <a:off x="3564555" y="3036626"/>
            <a:ext cx="598015" cy="233249"/>
            <a:chOff x="7654085" y="2731069"/>
            <a:chExt cx="618323" cy="241170"/>
          </a:xfrm>
        </p:grpSpPr>
        <p:sp>
          <p:nvSpPr>
            <p:cNvPr id="1972" name="Google Shape;1972;p47"/>
            <p:cNvSpPr/>
            <p:nvPr/>
          </p:nvSpPr>
          <p:spPr>
            <a:xfrm>
              <a:off x="7654085" y="2731069"/>
              <a:ext cx="262748" cy="24117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ll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73" name="Google Shape;1973;p47"/>
            <p:cNvSpPr/>
            <p:nvPr/>
          </p:nvSpPr>
          <p:spPr>
            <a:xfrm>
              <a:off x="7916928" y="2731069"/>
              <a:ext cx="355480" cy="24117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1/5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p48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48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9" name="Google Shape;1979;p48"/>
          <p:cNvSpPr txBox="1">
            <a:spLocks noGrp="1"/>
          </p:cNvSpPr>
          <p:nvPr>
            <p:ph type="ctrTitle"/>
          </p:nvPr>
        </p:nvSpPr>
        <p:spPr>
          <a:xfrm>
            <a:off x="717391" y="2344464"/>
            <a:ext cx="10671969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rPr lang="en-US"/>
              <a:t>인터랙션</a:t>
            </a:r>
            <a:endParaRPr/>
          </a:p>
        </p:txBody>
      </p:sp>
      <p:sp>
        <p:nvSpPr>
          <p:cNvPr id="1980" name="Google Shape;1980;p48"/>
          <p:cNvSpPr txBox="1"/>
          <p:nvPr/>
        </p:nvSpPr>
        <p:spPr>
          <a:xfrm>
            <a:off x="691264" y="1602382"/>
            <a:ext cx="93723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8A"/>
              </a:buClr>
              <a:buSzPts val="4000"/>
              <a:buFont typeface="Malgun Gothic"/>
              <a:buNone/>
            </a:pPr>
            <a:r>
              <a:rPr lang="en-US" sz="4000" b="1" i="0" u="none" strike="noStrike" cap="none">
                <a:solidFill>
                  <a:srgbClr val="00458A"/>
                </a:solidFill>
                <a:latin typeface="Malgun Gothic"/>
                <a:ea typeface="Malgun Gothic"/>
                <a:cs typeface="Malgun Gothic"/>
                <a:sym typeface="Malgun Gothic"/>
              </a:rPr>
              <a:t>06.</a:t>
            </a:r>
            <a:endParaRPr sz="4000" b="1" i="0" u="none" strike="noStrike" cap="none">
              <a:solidFill>
                <a:srgbClr val="0045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1" name="Google Shape;1981;p48"/>
          <p:cNvSpPr txBox="1"/>
          <p:nvPr/>
        </p:nvSpPr>
        <p:spPr>
          <a:xfrm>
            <a:off x="801186" y="2995755"/>
            <a:ext cx="7680960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Scroll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Swipe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Pinch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Movie Play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Agreement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4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49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7" name="Google Shape;1987;p49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페이지 내 상하 스크롤을 정의한다.</a:t>
            </a:r>
            <a:endParaRPr/>
          </a:p>
        </p:txBody>
      </p:sp>
      <p:sp>
        <p:nvSpPr>
          <p:cNvPr id="1988" name="Google Shape;1988;p49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1) Scroll</a:t>
            </a:r>
            <a:endParaRPr/>
          </a:p>
        </p:txBody>
      </p:sp>
      <p:grpSp>
        <p:nvGrpSpPr>
          <p:cNvPr id="1989" name="Google Shape;1989;p49"/>
          <p:cNvGrpSpPr/>
          <p:nvPr/>
        </p:nvGrpSpPr>
        <p:grpSpPr>
          <a:xfrm>
            <a:off x="903174" y="1375954"/>
            <a:ext cx="2690948" cy="4980741"/>
            <a:chOff x="1555181" y="1375954"/>
            <a:chExt cx="2690948" cy="4980741"/>
          </a:xfrm>
        </p:grpSpPr>
        <p:sp>
          <p:nvSpPr>
            <p:cNvPr id="1990" name="Google Shape;1990;p49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991" name="Google Shape;1991;p49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1992" name="Google Shape;1992;p49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3" name="Google Shape;1993;p49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994" name="Google Shape;1994;p49"/>
          <p:cNvSpPr/>
          <p:nvPr/>
        </p:nvSpPr>
        <p:spPr>
          <a:xfrm>
            <a:off x="1752441" y="4547349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995" name="Google Shape;1995;p49"/>
          <p:cNvGrpSpPr/>
          <p:nvPr/>
        </p:nvGrpSpPr>
        <p:grpSpPr>
          <a:xfrm>
            <a:off x="903801" y="1578614"/>
            <a:ext cx="2690948" cy="360000"/>
            <a:chOff x="1555808" y="1578614"/>
            <a:chExt cx="2690948" cy="360000"/>
          </a:xfrm>
        </p:grpSpPr>
        <p:sp>
          <p:nvSpPr>
            <p:cNvPr id="1996" name="Google Shape;1996;p49"/>
            <p:cNvSpPr/>
            <p:nvPr/>
          </p:nvSpPr>
          <p:spPr>
            <a:xfrm>
              <a:off x="1555808" y="1578614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97" name="Google Shape;1997;p49"/>
            <p:cNvSpPr/>
            <p:nvPr/>
          </p:nvSpPr>
          <p:spPr>
            <a:xfrm>
              <a:off x="1617478" y="1625193"/>
              <a:ext cx="481832" cy="260695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900"/>
                <a:buFont typeface="Malgun Gothic"/>
                <a:buNone/>
              </a:pPr>
              <a:r>
                <a:rPr lang="en-US" sz="9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49"/>
            <p:cNvSpPr/>
            <p:nvPr/>
          </p:nvSpPr>
          <p:spPr>
            <a:xfrm>
              <a:off x="3916174" y="1634476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49"/>
            <p:cNvSpPr/>
            <p:nvPr/>
          </p:nvSpPr>
          <p:spPr>
            <a:xfrm>
              <a:off x="3612104" y="1631339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0" name="Google Shape;2000;p49"/>
          <p:cNvGrpSpPr/>
          <p:nvPr/>
        </p:nvGrpSpPr>
        <p:grpSpPr>
          <a:xfrm>
            <a:off x="903241" y="6002993"/>
            <a:ext cx="2690948" cy="360000"/>
            <a:chOff x="1555248" y="1961465"/>
            <a:chExt cx="2690948" cy="360000"/>
          </a:xfrm>
        </p:grpSpPr>
        <p:sp>
          <p:nvSpPr>
            <p:cNvPr id="2001" name="Google Shape;2001;p49"/>
            <p:cNvSpPr/>
            <p:nvPr/>
          </p:nvSpPr>
          <p:spPr>
            <a:xfrm>
              <a:off x="1555248" y="1961465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02" name="Google Shape;2002;p49"/>
            <p:cNvSpPr/>
            <p:nvPr/>
          </p:nvSpPr>
          <p:spPr>
            <a:xfrm>
              <a:off x="1684534" y="202197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49"/>
            <p:cNvSpPr/>
            <p:nvPr/>
          </p:nvSpPr>
          <p:spPr>
            <a:xfrm>
              <a:off x="2769646" y="202197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49"/>
            <p:cNvSpPr/>
            <p:nvPr/>
          </p:nvSpPr>
          <p:spPr>
            <a:xfrm>
              <a:off x="2227090" y="202197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49"/>
            <p:cNvSpPr/>
            <p:nvPr/>
          </p:nvSpPr>
          <p:spPr>
            <a:xfrm>
              <a:off x="3312202" y="202197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49"/>
            <p:cNvSpPr/>
            <p:nvPr/>
          </p:nvSpPr>
          <p:spPr>
            <a:xfrm>
              <a:off x="3854758" y="202197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</a:t>
              </a: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007" name="Google Shape;2007;p49"/>
          <p:cNvGrpSpPr/>
          <p:nvPr/>
        </p:nvGrpSpPr>
        <p:grpSpPr>
          <a:xfrm>
            <a:off x="3940572" y="1375954"/>
            <a:ext cx="2690948" cy="4980741"/>
            <a:chOff x="1555181" y="1375954"/>
            <a:chExt cx="2690948" cy="4980741"/>
          </a:xfrm>
        </p:grpSpPr>
        <p:sp>
          <p:nvSpPr>
            <p:cNvPr id="2008" name="Google Shape;2008;p49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009" name="Google Shape;2009;p49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2010" name="Google Shape;2010;p49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11" name="Google Shape;2011;p49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2012" name="Google Shape;2012;p49"/>
          <p:cNvGrpSpPr/>
          <p:nvPr/>
        </p:nvGrpSpPr>
        <p:grpSpPr>
          <a:xfrm>
            <a:off x="3940639" y="6002993"/>
            <a:ext cx="2690948" cy="360000"/>
            <a:chOff x="1555248" y="1961465"/>
            <a:chExt cx="2690948" cy="360000"/>
          </a:xfrm>
        </p:grpSpPr>
        <p:sp>
          <p:nvSpPr>
            <p:cNvPr id="2013" name="Google Shape;2013;p49"/>
            <p:cNvSpPr/>
            <p:nvPr/>
          </p:nvSpPr>
          <p:spPr>
            <a:xfrm>
              <a:off x="1555248" y="1961465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14" name="Google Shape;2014;p49"/>
            <p:cNvSpPr/>
            <p:nvPr/>
          </p:nvSpPr>
          <p:spPr>
            <a:xfrm>
              <a:off x="1684534" y="202197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49"/>
            <p:cNvSpPr/>
            <p:nvPr/>
          </p:nvSpPr>
          <p:spPr>
            <a:xfrm>
              <a:off x="2769646" y="202197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49"/>
            <p:cNvSpPr/>
            <p:nvPr/>
          </p:nvSpPr>
          <p:spPr>
            <a:xfrm>
              <a:off x="2227090" y="202197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메뉴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49"/>
            <p:cNvSpPr/>
            <p:nvPr/>
          </p:nvSpPr>
          <p:spPr>
            <a:xfrm>
              <a:off x="3312202" y="202197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마이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49"/>
            <p:cNvSpPr/>
            <p:nvPr/>
          </p:nvSpPr>
          <p:spPr>
            <a:xfrm>
              <a:off x="3854758" y="202197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…</a:t>
              </a: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2019" name="Google Shape;2019;p49"/>
          <p:cNvGraphicFramePr/>
          <p:nvPr/>
        </p:nvGraphicFramePr>
        <p:xfrm>
          <a:off x="7014554" y="2412052"/>
          <a:ext cx="4386875" cy="157236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하향 스크롤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헤더 : 헤더가 숨김 처리된다.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Tab : Tab은 상단 Sticky로 고정된다.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Tab Bar : Tab Bar는 스크롤과 관계없이 고정되어 노출된다.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 스크롤 이후 부터는 맨위로 가기 버튼이 노출된다.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상향 스크롤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헤더 : 헤더가 숨겨지다가 최 상단에서 노출된다.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Tab : 원 위치까지 Sticky 되어 노출된다.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Tab Bar : Tab Bar는 스크롤과 관계없이 고정되어 노출된다.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최상단 위치 시 맨위로 가기 버튼이 비노출된다.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20" name="Google Shape;2020;p49"/>
          <p:cNvSpPr/>
          <p:nvPr/>
        </p:nvSpPr>
        <p:spPr>
          <a:xfrm>
            <a:off x="3937894" y="1577114"/>
            <a:ext cx="2693625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#TITLE    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#TITLE        #TITLE        #TI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49"/>
          <p:cNvSpPr/>
          <p:nvPr/>
        </p:nvSpPr>
        <p:spPr>
          <a:xfrm>
            <a:off x="5835256" y="1586118"/>
            <a:ext cx="794267" cy="349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7F7F7F">
                  <a:alpha val="4941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lgun Gothic"/>
              <a:buNone/>
            </a:pP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2" name="Google Shape;2022;p49"/>
          <p:cNvSpPr/>
          <p:nvPr/>
        </p:nvSpPr>
        <p:spPr>
          <a:xfrm>
            <a:off x="1848895" y="2604695"/>
            <a:ext cx="828675" cy="2844369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F7F7F"/>
              </a:gs>
              <a:gs pos="100000">
                <a:schemeClr val="l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3" name="Google Shape;2023;p49"/>
          <p:cNvSpPr/>
          <p:nvPr/>
        </p:nvSpPr>
        <p:spPr>
          <a:xfrm rot="10800000">
            <a:off x="4878039" y="2474679"/>
            <a:ext cx="828675" cy="2844369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F7F7F"/>
              </a:gs>
              <a:gs pos="100000">
                <a:schemeClr val="l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4" name="Google Shape;2024;p49"/>
          <p:cNvSpPr/>
          <p:nvPr/>
        </p:nvSpPr>
        <p:spPr>
          <a:xfrm>
            <a:off x="903174" y="1935433"/>
            <a:ext cx="2693625" cy="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#TITLE        </a:t>
            </a: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#TITLE        #TITLE        #TI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49"/>
          <p:cNvSpPr/>
          <p:nvPr/>
        </p:nvSpPr>
        <p:spPr>
          <a:xfrm>
            <a:off x="2800536" y="1944437"/>
            <a:ext cx="794267" cy="349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7F7F7F">
                  <a:alpha val="4941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lgun Gothic"/>
              <a:buNone/>
            </a:pP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6" name="Google Shape;2026;p49"/>
          <p:cNvSpPr/>
          <p:nvPr/>
        </p:nvSpPr>
        <p:spPr>
          <a:xfrm>
            <a:off x="6236020" y="5624905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algun Gothic"/>
              <a:buNone/>
            </a:pPr>
            <a:endParaRPr sz="7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7" name="Google Shape;2027;p49"/>
          <p:cNvSpPr/>
          <p:nvPr/>
        </p:nvSpPr>
        <p:spPr>
          <a:xfrm rot="-5400000">
            <a:off x="6351871" y="5720296"/>
            <a:ext cx="28388" cy="63511"/>
          </a:xfrm>
          <a:prstGeom prst="chevron">
            <a:avLst>
              <a:gd name="adj" fmla="val 100000"/>
            </a:avLst>
          </a:prstGeom>
          <a:solidFill>
            <a:srgbClr val="0C0C0C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8" name="Google Shape;2028;p49"/>
          <p:cNvSpPr/>
          <p:nvPr/>
        </p:nvSpPr>
        <p:spPr>
          <a:xfrm>
            <a:off x="4789839" y="3094469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9" name="Google Shape;2029;p49"/>
          <p:cNvSpPr/>
          <p:nvPr/>
        </p:nvSpPr>
        <p:spPr>
          <a:xfrm>
            <a:off x="7014555" y="1375954"/>
            <a:ext cx="4374806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스크롤 시 주요 메뉴로 이동할 수 있는 Tab bar나 상단 Tab은 유지하되 최대한 화면을 크게 볼 수 있도록 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스크롤 이후 부터는 위로가기 버튼이 노출된다. 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0" name="Google Shape;2030;p49"/>
          <p:cNvSpPr/>
          <p:nvPr/>
        </p:nvSpPr>
        <p:spPr>
          <a:xfrm>
            <a:off x="3391111" y="1620528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5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50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6" name="Google Shape;2036;p50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좌우, 상하 플리킹를 정의한다.</a:t>
            </a:r>
            <a:endParaRPr/>
          </a:p>
        </p:txBody>
      </p:sp>
      <p:sp>
        <p:nvSpPr>
          <p:cNvPr id="2037" name="Google Shape;2037;p50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2) Flicking</a:t>
            </a:r>
            <a:endParaRPr/>
          </a:p>
        </p:txBody>
      </p:sp>
      <p:grpSp>
        <p:nvGrpSpPr>
          <p:cNvPr id="2038" name="Google Shape;2038;p50"/>
          <p:cNvGrpSpPr/>
          <p:nvPr/>
        </p:nvGrpSpPr>
        <p:grpSpPr>
          <a:xfrm>
            <a:off x="903174" y="1375954"/>
            <a:ext cx="2690948" cy="4980741"/>
            <a:chOff x="1555181" y="1375954"/>
            <a:chExt cx="2690948" cy="4980741"/>
          </a:xfrm>
        </p:grpSpPr>
        <p:sp>
          <p:nvSpPr>
            <p:cNvPr id="2039" name="Google Shape;2039;p50"/>
            <p:cNvSpPr/>
            <p:nvPr/>
          </p:nvSpPr>
          <p:spPr>
            <a:xfrm>
              <a:off x="1555181" y="1579667"/>
              <a:ext cx="2690948" cy="4777028"/>
            </a:xfrm>
            <a:prstGeom prst="rect">
              <a:avLst/>
            </a:pr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040" name="Google Shape;2040;p50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2041" name="Google Shape;2041;p50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42" name="Google Shape;2042;p50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2043" name="Google Shape;2043;p50"/>
          <p:cNvGrpSpPr/>
          <p:nvPr/>
        </p:nvGrpSpPr>
        <p:grpSpPr>
          <a:xfrm>
            <a:off x="3940572" y="1375954"/>
            <a:ext cx="2690948" cy="4980741"/>
            <a:chOff x="1555181" y="1375954"/>
            <a:chExt cx="2690948" cy="4980741"/>
          </a:xfrm>
        </p:grpSpPr>
        <p:sp>
          <p:nvSpPr>
            <p:cNvPr id="2044" name="Google Shape;2044;p50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045" name="Google Shape;2045;p50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2046" name="Google Shape;2046;p50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47" name="Google Shape;2047;p50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2048" name="Google Shape;2048;p50"/>
          <p:cNvGraphicFramePr/>
          <p:nvPr/>
        </p:nvGraphicFramePr>
        <p:xfrm>
          <a:off x="7014554" y="2412052"/>
          <a:ext cx="4386875" cy="132852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좌우 플리킹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이미지를 좌우 플리킹으로 확인할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순서는 1-2-3-4-5 의 경우 5번 이미지에서 우 플리킹 시 더 이상 이동되지 않는다.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1번 이미지에서 좌 플리킹 시 더 이상 이동되지 않는다.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상하 플리킹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 면을 분할하여 콘텐츠를 플리킹 단위로 확인할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상하 플리킹 시 플리킹 가능하다는 인디케이터를 제공한다.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고객 인지를 위해 페이지 단위 별 콘텐츠 그룹핑이 잘 되어야 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049" name="Google Shape;2049;p50"/>
          <p:cNvGrpSpPr/>
          <p:nvPr/>
        </p:nvGrpSpPr>
        <p:grpSpPr>
          <a:xfrm>
            <a:off x="961179" y="1681297"/>
            <a:ext cx="2530820" cy="255349"/>
            <a:chOff x="1645444" y="3641258"/>
            <a:chExt cx="2530820" cy="255349"/>
          </a:xfrm>
        </p:grpSpPr>
        <p:sp>
          <p:nvSpPr>
            <p:cNvPr id="2050" name="Google Shape;2050;p50"/>
            <p:cNvSpPr/>
            <p:nvPr/>
          </p:nvSpPr>
          <p:spPr>
            <a:xfrm flipH="1">
              <a:off x="1645444" y="3700486"/>
              <a:ext cx="57524" cy="117201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51" name="Google Shape;2051;p50"/>
            <p:cNvSpPr/>
            <p:nvPr/>
          </p:nvSpPr>
          <p:spPr>
            <a:xfrm>
              <a:off x="3916174" y="364125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50"/>
            <p:cNvSpPr/>
            <p:nvPr/>
          </p:nvSpPr>
          <p:spPr>
            <a:xfrm>
              <a:off x="3273195" y="364231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50"/>
            <p:cNvSpPr/>
            <p:nvPr/>
          </p:nvSpPr>
          <p:spPr>
            <a:xfrm>
              <a:off x="3596869" y="364231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4" name="Google Shape;2054;p50"/>
          <p:cNvSpPr/>
          <p:nvPr/>
        </p:nvSpPr>
        <p:spPr>
          <a:xfrm>
            <a:off x="1158240" y="3531103"/>
            <a:ext cx="2228150" cy="73152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5" name="Google Shape;2055;p50"/>
          <p:cNvSpPr/>
          <p:nvPr/>
        </p:nvSpPr>
        <p:spPr>
          <a:xfrm>
            <a:off x="1640681" y="3423988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6" name="Google Shape;2056;p50"/>
          <p:cNvSpPr/>
          <p:nvPr/>
        </p:nvSpPr>
        <p:spPr>
          <a:xfrm>
            <a:off x="903174" y="5857081"/>
            <a:ext cx="2690948" cy="4996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7" name="Google Shape;2057;p50"/>
          <p:cNvSpPr/>
          <p:nvPr/>
        </p:nvSpPr>
        <p:spPr>
          <a:xfrm>
            <a:off x="3940572" y="1588547"/>
            <a:ext cx="2690948" cy="4768148"/>
          </a:xfrm>
          <a:prstGeom prst="round2SameRect">
            <a:avLst>
              <a:gd name="adj1" fmla="val 12688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8" name="Google Shape;2058;p50"/>
          <p:cNvSpPr/>
          <p:nvPr/>
        </p:nvSpPr>
        <p:spPr>
          <a:xfrm rot="5400000">
            <a:off x="4171971" y="3500564"/>
            <a:ext cx="2228150" cy="73152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9" name="Google Shape;2059;p50"/>
          <p:cNvSpPr/>
          <p:nvPr/>
        </p:nvSpPr>
        <p:spPr>
          <a:xfrm>
            <a:off x="4763788" y="3423988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60" name="Google Shape;2060;p50"/>
          <p:cNvCxnSpPr/>
          <p:nvPr/>
        </p:nvCxnSpPr>
        <p:spPr>
          <a:xfrm>
            <a:off x="3972102" y="2026024"/>
            <a:ext cx="2903828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2061" name="Google Shape;2061;p50"/>
          <p:cNvCxnSpPr/>
          <p:nvPr/>
        </p:nvCxnSpPr>
        <p:spPr>
          <a:xfrm>
            <a:off x="3972102" y="5926387"/>
            <a:ext cx="2903828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</p:cxnSp>
      <p:grpSp>
        <p:nvGrpSpPr>
          <p:cNvPr id="2062" name="Google Shape;2062;p50"/>
          <p:cNvGrpSpPr/>
          <p:nvPr/>
        </p:nvGrpSpPr>
        <p:grpSpPr>
          <a:xfrm rot="5400000">
            <a:off x="6219446" y="3842405"/>
            <a:ext cx="497840" cy="76175"/>
            <a:chOff x="919480" y="4384040"/>
            <a:chExt cx="996010" cy="152400"/>
          </a:xfrm>
        </p:grpSpPr>
        <p:sp>
          <p:nvSpPr>
            <p:cNvPr id="2063" name="Google Shape;2063;p50"/>
            <p:cNvSpPr/>
            <p:nvPr/>
          </p:nvSpPr>
          <p:spPr>
            <a:xfrm>
              <a:off x="919480" y="4384040"/>
              <a:ext cx="152400" cy="152400"/>
            </a:xfrm>
            <a:prstGeom prst="ellipse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Malgun Gothic"/>
                <a:buNone/>
              </a:pP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64" name="Google Shape;2064;p50"/>
            <p:cNvSpPr/>
            <p:nvPr/>
          </p:nvSpPr>
          <p:spPr>
            <a:xfrm>
              <a:off x="1133862" y="4384040"/>
              <a:ext cx="152400" cy="15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Malgun Gothic"/>
                <a:buNone/>
              </a:pP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65" name="Google Shape;2065;p50"/>
            <p:cNvSpPr/>
            <p:nvPr/>
          </p:nvSpPr>
          <p:spPr>
            <a:xfrm>
              <a:off x="1334267" y="4384040"/>
              <a:ext cx="152400" cy="15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Malgun Gothic"/>
                <a:buNone/>
              </a:pP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66" name="Google Shape;2066;p50"/>
            <p:cNvSpPr/>
            <p:nvPr/>
          </p:nvSpPr>
          <p:spPr>
            <a:xfrm>
              <a:off x="1543248" y="4384040"/>
              <a:ext cx="152400" cy="15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Malgun Gothic"/>
                <a:buNone/>
              </a:pP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67" name="Google Shape;2067;p50"/>
            <p:cNvSpPr/>
            <p:nvPr/>
          </p:nvSpPr>
          <p:spPr>
            <a:xfrm>
              <a:off x="1763090" y="4384040"/>
              <a:ext cx="152400" cy="152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700"/>
                <a:buFont typeface="Malgun Gothic"/>
                <a:buNone/>
              </a:pPr>
              <a:endParaRPr sz="7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068" name="Google Shape;2068;p50"/>
          <p:cNvGrpSpPr/>
          <p:nvPr/>
        </p:nvGrpSpPr>
        <p:grpSpPr>
          <a:xfrm>
            <a:off x="3940857" y="5996151"/>
            <a:ext cx="2690948" cy="360544"/>
            <a:chOff x="1555248" y="3130252"/>
            <a:chExt cx="2690948" cy="360544"/>
          </a:xfrm>
        </p:grpSpPr>
        <p:sp>
          <p:nvSpPr>
            <p:cNvPr id="2069" name="Google Shape;2069;p50"/>
            <p:cNvSpPr/>
            <p:nvPr/>
          </p:nvSpPr>
          <p:spPr>
            <a:xfrm>
              <a:off x="1555248" y="3130252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70" name="Google Shape;2070;p50"/>
            <p:cNvSpPr/>
            <p:nvPr/>
          </p:nvSpPr>
          <p:spPr>
            <a:xfrm>
              <a:off x="2901868" y="3130796"/>
              <a:ext cx="1344327" cy="360000"/>
            </a:xfrm>
            <a:prstGeom prst="rect">
              <a:avLst/>
            </a:prstGeom>
            <a:solidFill>
              <a:srgbClr val="3F3F3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바로구매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71" name="Google Shape;2071;p50"/>
            <p:cNvSpPr/>
            <p:nvPr/>
          </p:nvSpPr>
          <p:spPr>
            <a:xfrm>
              <a:off x="1944624" y="3130796"/>
              <a:ext cx="961819" cy="360000"/>
            </a:xfrm>
            <a:prstGeom prst="rect">
              <a:avLst/>
            </a:prstGeom>
            <a:solidFill>
              <a:srgbClr val="7F7F7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장바구니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50"/>
            <p:cNvSpPr/>
            <p:nvPr/>
          </p:nvSpPr>
          <p:spPr>
            <a:xfrm>
              <a:off x="1615737" y="318364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5A5A5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A5A5A5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73" name="Google Shape;2073;p50"/>
          <p:cNvCxnSpPr/>
          <p:nvPr/>
        </p:nvCxnSpPr>
        <p:spPr>
          <a:xfrm>
            <a:off x="6741460" y="2026024"/>
            <a:ext cx="0" cy="3900363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074" name="Google Shape;2074;p50"/>
          <p:cNvSpPr/>
          <p:nvPr/>
        </p:nvSpPr>
        <p:spPr>
          <a:xfrm>
            <a:off x="7014555" y="1375954"/>
            <a:ext cx="4374806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좌우 플리킹를 통해 N개의 이미지를 볼 수 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상하 플리킹를 통해 상품상세와 같이 다량의 정보 페이지에서 정보를 그룹핑하여 한눈에 확인할 수 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5" name="Google Shape;2075;p50"/>
          <p:cNvSpPr/>
          <p:nvPr/>
        </p:nvSpPr>
        <p:spPr>
          <a:xfrm>
            <a:off x="3375209" y="1660284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p5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51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1" name="Google Shape;2081;p51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상품상세 및 콘텐츠 상세 페이지에서는 이미지를 크게 확인할 수 있다.</a:t>
            </a:r>
            <a:endParaRPr/>
          </a:p>
        </p:txBody>
      </p:sp>
      <p:sp>
        <p:nvSpPr>
          <p:cNvPr id="2082" name="Google Shape;2082;p51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3) Pinch</a:t>
            </a:r>
            <a:endParaRPr/>
          </a:p>
        </p:txBody>
      </p:sp>
      <p:graphicFrame>
        <p:nvGraphicFramePr>
          <p:cNvPr id="2083" name="Google Shape;2083;p51"/>
          <p:cNvGraphicFramePr/>
          <p:nvPr/>
        </p:nvGraphicFramePr>
        <p:xfrm>
          <a:off x="5277395" y="2412052"/>
          <a:ext cx="5425450" cy="12066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Pinch Out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핀치 아웃 시 해당 이미지가 Zoom In 되어 노출된다.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Zoom In 상태에서 이미지는 상하좌우로 확인할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Zoom In 상태에서 이미지는 플리킹되지 않는다.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Pinch In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핀치 인 시 해당 이미지를 원래의 사이즈로 노출한다.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원래 이미지 사이즈인 경우 플리킹이 가능하다.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084" name="Google Shape;2084;p51"/>
          <p:cNvGrpSpPr/>
          <p:nvPr/>
        </p:nvGrpSpPr>
        <p:grpSpPr>
          <a:xfrm>
            <a:off x="1567432" y="1388267"/>
            <a:ext cx="2690948" cy="4980741"/>
            <a:chOff x="1555181" y="1375954"/>
            <a:chExt cx="2690948" cy="4980741"/>
          </a:xfrm>
        </p:grpSpPr>
        <p:sp>
          <p:nvSpPr>
            <p:cNvPr id="2085" name="Google Shape;2085;p51"/>
            <p:cNvSpPr/>
            <p:nvPr/>
          </p:nvSpPr>
          <p:spPr>
            <a:xfrm>
              <a:off x="1555181" y="1579667"/>
              <a:ext cx="2690948" cy="4777028"/>
            </a:xfrm>
            <a:prstGeom prst="rect">
              <a:avLst/>
            </a:pr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086" name="Google Shape;2086;p51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2087" name="Google Shape;2087;p51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8" name="Google Shape;2088;p51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2089" name="Google Shape;2089;p51"/>
          <p:cNvGrpSpPr/>
          <p:nvPr/>
        </p:nvGrpSpPr>
        <p:grpSpPr>
          <a:xfrm>
            <a:off x="1622207" y="1681297"/>
            <a:ext cx="2530820" cy="255349"/>
            <a:chOff x="1645444" y="3641258"/>
            <a:chExt cx="2530820" cy="255349"/>
          </a:xfrm>
        </p:grpSpPr>
        <p:sp>
          <p:nvSpPr>
            <p:cNvPr id="2090" name="Google Shape;2090;p51"/>
            <p:cNvSpPr/>
            <p:nvPr/>
          </p:nvSpPr>
          <p:spPr>
            <a:xfrm flipH="1">
              <a:off x="1645444" y="3700486"/>
              <a:ext cx="57524" cy="117201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91" name="Google Shape;2091;p51"/>
            <p:cNvSpPr/>
            <p:nvPr/>
          </p:nvSpPr>
          <p:spPr>
            <a:xfrm>
              <a:off x="3916174" y="3641258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51"/>
            <p:cNvSpPr/>
            <p:nvPr/>
          </p:nvSpPr>
          <p:spPr>
            <a:xfrm>
              <a:off x="3273195" y="364231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검색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51"/>
            <p:cNvSpPr/>
            <p:nvPr/>
          </p:nvSpPr>
          <p:spPr>
            <a:xfrm>
              <a:off x="3596869" y="3642312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홈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4" name="Google Shape;2094;p51"/>
          <p:cNvSpPr/>
          <p:nvPr/>
        </p:nvSpPr>
        <p:spPr>
          <a:xfrm rot="-2740368">
            <a:off x="1903862" y="3431616"/>
            <a:ext cx="2046445" cy="73152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5" name="Google Shape;2095;p51"/>
          <p:cNvSpPr/>
          <p:nvPr/>
        </p:nvSpPr>
        <p:spPr>
          <a:xfrm>
            <a:off x="2510936" y="356243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6" name="Google Shape;2096;p51"/>
          <p:cNvSpPr/>
          <p:nvPr/>
        </p:nvSpPr>
        <p:spPr>
          <a:xfrm>
            <a:off x="1564202" y="5857081"/>
            <a:ext cx="2690948" cy="49961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7" name="Google Shape;2097;p51"/>
          <p:cNvSpPr/>
          <p:nvPr/>
        </p:nvSpPr>
        <p:spPr>
          <a:xfrm>
            <a:off x="797859" y="2384611"/>
            <a:ext cx="4213412" cy="2823883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8" name="Google Shape;2098;p51"/>
          <p:cNvSpPr/>
          <p:nvPr/>
        </p:nvSpPr>
        <p:spPr>
          <a:xfrm>
            <a:off x="1572529" y="2902815"/>
            <a:ext cx="2682621" cy="1797927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9" name="Google Shape;2099;p51"/>
          <p:cNvSpPr/>
          <p:nvPr/>
        </p:nvSpPr>
        <p:spPr>
          <a:xfrm rot="-7408289">
            <a:off x="4521714" y="2292068"/>
            <a:ext cx="222719" cy="735882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F7F7F"/>
              </a:gs>
              <a:gs pos="100000">
                <a:schemeClr val="l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0" name="Google Shape;2100;p51"/>
          <p:cNvSpPr/>
          <p:nvPr/>
        </p:nvSpPr>
        <p:spPr>
          <a:xfrm rot="7145671">
            <a:off x="1056513" y="2290574"/>
            <a:ext cx="222719" cy="735882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F7F7F"/>
              </a:gs>
              <a:gs pos="100000">
                <a:schemeClr val="l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1" name="Google Shape;2101;p51"/>
          <p:cNvSpPr/>
          <p:nvPr/>
        </p:nvSpPr>
        <p:spPr>
          <a:xfrm rot="3563872">
            <a:off x="1070003" y="4560787"/>
            <a:ext cx="222719" cy="735882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F7F7F"/>
              </a:gs>
              <a:gs pos="100000">
                <a:schemeClr val="l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2" name="Google Shape;2102;p51"/>
          <p:cNvSpPr/>
          <p:nvPr/>
        </p:nvSpPr>
        <p:spPr>
          <a:xfrm rot="-3326734">
            <a:off x="4520964" y="4552517"/>
            <a:ext cx="222719" cy="735882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7F7F7F"/>
              </a:gs>
              <a:gs pos="100000">
                <a:schemeClr val="l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3" name="Google Shape;2103;p51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상세 페이지에서는 Pinch를 통해 이미지를 크게 확인할 수 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동영상 등 멀티미디어 콘텐츠는 확대되지 않는다.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51"/>
          <p:cNvSpPr/>
          <p:nvPr/>
        </p:nvSpPr>
        <p:spPr>
          <a:xfrm>
            <a:off x="4003363" y="1652332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5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52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0" name="Google Shape;2110;p52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동영상 콘텐츠의 Play 기준을 정의한다.</a:t>
            </a:r>
            <a:endParaRPr/>
          </a:p>
        </p:txBody>
      </p:sp>
      <p:sp>
        <p:nvSpPr>
          <p:cNvPr id="2111" name="Google Shape;2111;p5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3) Movie Play</a:t>
            </a:r>
            <a:endParaRPr/>
          </a:p>
        </p:txBody>
      </p:sp>
      <p:grpSp>
        <p:nvGrpSpPr>
          <p:cNvPr id="2112" name="Google Shape;2112;p52"/>
          <p:cNvGrpSpPr/>
          <p:nvPr/>
        </p:nvGrpSpPr>
        <p:grpSpPr>
          <a:xfrm>
            <a:off x="894459" y="1375954"/>
            <a:ext cx="2690948" cy="3267765"/>
            <a:chOff x="1555181" y="1375954"/>
            <a:chExt cx="2690948" cy="3267765"/>
          </a:xfrm>
        </p:grpSpPr>
        <p:sp>
          <p:nvSpPr>
            <p:cNvPr id="2113" name="Google Shape;2113;p52"/>
            <p:cNvSpPr/>
            <p:nvPr/>
          </p:nvSpPr>
          <p:spPr>
            <a:xfrm>
              <a:off x="1555181" y="1375955"/>
              <a:ext cx="2690948" cy="3267764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114" name="Google Shape;2114;p52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2115" name="Google Shape;2115;p52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16" name="Google Shape;2116;p52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117" name="Google Shape;2117;p52"/>
          <p:cNvSpPr/>
          <p:nvPr/>
        </p:nvSpPr>
        <p:spPr>
          <a:xfrm>
            <a:off x="886508" y="5056456"/>
            <a:ext cx="2692202" cy="80204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상품명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상품설명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algun Gothic"/>
              <a:buNone/>
            </a:pP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00,000,000</a:t>
            </a: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52"/>
          <p:cNvSpPr/>
          <p:nvPr/>
        </p:nvSpPr>
        <p:spPr>
          <a:xfrm>
            <a:off x="886508" y="2917039"/>
            <a:ext cx="2692202" cy="80204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상품명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상품설명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Malgun Gothic"/>
              <a:buNone/>
            </a:pPr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00,000,000</a:t>
            </a:r>
            <a:r>
              <a:rPr lang="en-US"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52"/>
          <p:cNvSpPr/>
          <p:nvPr/>
        </p:nvSpPr>
        <p:spPr>
          <a:xfrm>
            <a:off x="620253" y="5374931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20" name="Google Shape;2120;p52"/>
          <p:cNvSpPr/>
          <p:nvPr/>
        </p:nvSpPr>
        <p:spPr>
          <a:xfrm>
            <a:off x="620253" y="3248009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121" name="Google Shape;2121;p52"/>
          <p:cNvGraphicFramePr/>
          <p:nvPr/>
        </p:nvGraphicFramePr>
        <p:xfrm>
          <a:off x="7014554" y="2412052"/>
          <a:ext cx="4386875" cy="286356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밖 동영상 목록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밖 동영상 목록은 썸네일만 노출되고 플레이되지 않는다.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스크롤을 통해 상단 화면 밖으로 이동 시 동일 적용된다.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내 동영상 목록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내 동영상 목록은 음성 제외하고 플레이된다.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사용자가 일시정지를 통해 정지할 수 있다.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 동영상 상세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페이지 진입 시 바로 플레이된다.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음소거 상태이고 음성을 켤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일시정지 버튼을 통해 정지시킬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좋아요, 공유를 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상품상세 또는 기획전 페이지로 이동할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라이브방송 상세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상세 페이지 진입 시 스트리밍 되어 플레이된다.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음소거 상태이고 음성을 켤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라이브방송은 일시정지를 할 수 없다.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좋아요, 공유를 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상품상세 또는 기획전 페이지로 이동할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채팅 영역이 노출되고 실시간 채팅이 가능하다.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22" name="Google Shape;2122;p52"/>
          <p:cNvSpPr/>
          <p:nvPr/>
        </p:nvSpPr>
        <p:spPr>
          <a:xfrm>
            <a:off x="7014555" y="1375954"/>
            <a:ext cx="4374806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동영상은 화면 내에서 자동 재생된다.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플레이 시 음성은 음소거 상태로 재생된다. 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23" name="Google Shape;2123;p52"/>
          <p:cNvGrpSpPr/>
          <p:nvPr/>
        </p:nvGrpSpPr>
        <p:grpSpPr>
          <a:xfrm>
            <a:off x="3944588" y="1375954"/>
            <a:ext cx="2690948" cy="4980741"/>
            <a:chOff x="1555181" y="1375954"/>
            <a:chExt cx="2690948" cy="4980741"/>
          </a:xfrm>
        </p:grpSpPr>
        <p:sp>
          <p:nvSpPr>
            <p:cNvPr id="2124" name="Google Shape;2124;p52"/>
            <p:cNvSpPr/>
            <p:nvPr/>
          </p:nvSpPr>
          <p:spPr>
            <a:xfrm>
              <a:off x="1555181" y="1579667"/>
              <a:ext cx="2690948" cy="4777028"/>
            </a:xfrm>
            <a:prstGeom prst="rect">
              <a:avLst/>
            </a:prstGeom>
            <a:solidFill>
              <a:srgbClr val="D8D8D8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125" name="Google Shape;2125;p52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2126" name="Google Shape;2126;p52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27" name="Google Shape;2127;p52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128" name="Google Shape;2128;p52"/>
          <p:cNvSpPr/>
          <p:nvPr/>
        </p:nvSpPr>
        <p:spPr>
          <a:xfrm>
            <a:off x="5985822" y="1682351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음성</a:t>
            </a:r>
            <a:endParaRPr sz="700" b="0" i="0" u="none" strike="noStrike" cap="none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29" name="Google Shape;2129;p52"/>
          <p:cNvSpPr/>
          <p:nvPr/>
        </p:nvSpPr>
        <p:spPr>
          <a:xfrm rot="2646491">
            <a:off x="6357667" y="1750810"/>
            <a:ext cx="118612" cy="117796"/>
          </a:xfrm>
          <a:prstGeom prst="plus">
            <a:avLst>
              <a:gd name="adj" fmla="val 4579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30" name="Google Shape;2130;p52"/>
          <p:cNvSpPr txBox="1"/>
          <p:nvPr/>
        </p:nvSpPr>
        <p:spPr>
          <a:xfrm>
            <a:off x="4000824" y="1662445"/>
            <a:ext cx="1715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 dirty="0" smtClean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000 </a:t>
            </a:r>
            <a:r>
              <a:rPr lang="en-US" sz="90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 sz="900" b="1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라이브</a:t>
            </a:r>
            <a:r>
              <a:rPr lang="en-US" sz="900" b="0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방송명</a:t>
            </a:r>
            <a:endParaRPr sz="9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31" name="Google Shape;2131;p52"/>
          <p:cNvSpPr/>
          <p:nvPr/>
        </p:nvSpPr>
        <p:spPr>
          <a:xfrm>
            <a:off x="6245912" y="5269866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like</a:t>
            </a:r>
            <a:endParaRPr sz="700" b="0" i="0" u="none" strike="noStrike" cap="none">
              <a:solidFill>
                <a:srgbClr val="BFBFB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32" name="Google Shape;2132;p52"/>
          <p:cNvSpPr/>
          <p:nvPr/>
        </p:nvSpPr>
        <p:spPr>
          <a:xfrm>
            <a:off x="6245912" y="5600726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3" name="Google Shape;2133;p52"/>
          <p:cNvSpPr/>
          <p:nvPr/>
        </p:nvSpPr>
        <p:spPr>
          <a:xfrm>
            <a:off x="6245912" y="5939537"/>
            <a:ext cx="260090" cy="254295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52"/>
          <p:cNvSpPr/>
          <p:nvPr/>
        </p:nvSpPr>
        <p:spPr>
          <a:xfrm>
            <a:off x="4048531" y="4301656"/>
            <a:ext cx="2115043" cy="1916029"/>
          </a:xfrm>
          <a:prstGeom prst="roundRect">
            <a:avLst>
              <a:gd name="adj" fmla="val 4233"/>
            </a:avLst>
          </a:prstGeom>
          <a:noFill/>
          <a:ln w="9525" cap="flat" cmpd="sng">
            <a:solidFill>
              <a:srgbClr val="7F7F7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Chat Area</a:t>
            </a:r>
            <a:endParaRPr sz="9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35" name="Google Shape;2135;p52"/>
          <p:cNvSpPr/>
          <p:nvPr/>
        </p:nvSpPr>
        <p:spPr>
          <a:xfrm>
            <a:off x="3713484" y="3248009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36" name="Google Shape;2136;p52"/>
          <p:cNvGrpSpPr/>
          <p:nvPr/>
        </p:nvGrpSpPr>
        <p:grpSpPr>
          <a:xfrm>
            <a:off x="972085" y="3026615"/>
            <a:ext cx="560016" cy="560971"/>
            <a:chOff x="635013" y="3938657"/>
            <a:chExt cx="787387" cy="788730"/>
          </a:xfrm>
        </p:grpSpPr>
        <p:grpSp>
          <p:nvGrpSpPr>
            <p:cNvPr id="2137" name="Google Shape;2137;p52"/>
            <p:cNvGrpSpPr/>
            <p:nvPr/>
          </p:nvGrpSpPr>
          <p:grpSpPr>
            <a:xfrm>
              <a:off x="635013" y="3938657"/>
              <a:ext cx="787387" cy="788730"/>
              <a:chOff x="1659705" y="2054741"/>
              <a:chExt cx="543515" cy="544442"/>
            </a:xfrm>
          </p:grpSpPr>
          <p:grpSp>
            <p:nvGrpSpPr>
              <p:cNvPr id="2138" name="Google Shape;2138;p52"/>
              <p:cNvGrpSpPr/>
              <p:nvPr/>
            </p:nvGrpSpPr>
            <p:grpSpPr>
              <a:xfrm>
                <a:off x="1659705" y="2054741"/>
                <a:ext cx="543515" cy="544442"/>
                <a:chOff x="3571333" y="3966538"/>
                <a:chExt cx="674796" cy="675947"/>
              </a:xfrm>
            </p:grpSpPr>
            <p:sp>
              <p:nvSpPr>
                <p:cNvPr id="2139" name="Google Shape;2139;p52"/>
                <p:cNvSpPr/>
                <p:nvPr/>
              </p:nvSpPr>
              <p:spPr>
                <a:xfrm>
                  <a:off x="3571333" y="3966538"/>
                  <a:ext cx="674796" cy="674796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2140" name="Google Shape;2140;p52"/>
                <p:cNvCxnSpPr/>
                <p:nvPr/>
              </p:nvCxnSpPr>
              <p:spPr>
                <a:xfrm>
                  <a:off x="3572292" y="3968115"/>
                  <a:ext cx="673837" cy="6743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141" name="Google Shape;2141;p52"/>
                <p:cNvCxnSpPr/>
                <p:nvPr/>
              </p:nvCxnSpPr>
              <p:spPr>
                <a:xfrm flipH="1">
                  <a:off x="3571333" y="3966538"/>
                  <a:ext cx="674796" cy="67479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2142" name="Google Shape;2142;p52"/>
              <p:cNvSpPr txBox="1"/>
              <p:nvPr/>
            </p:nvSpPr>
            <p:spPr>
              <a:xfrm>
                <a:off x="1721794" y="2121336"/>
                <a:ext cx="432786" cy="40325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movie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143" name="Google Shape;2143;p52"/>
            <p:cNvSpPr/>
            <p:nvPr/>
          </p:nvSpPr>
          <p:spPr>
            <a:xfrm>
              <a:off x="946459" y="4304422"/>
              <a:ext cx="160021" cy="160021"/>
            </a:xfrm>
            <a:prstGeom prst="donut">
              <a:avLst>
                <a:gd name="adj" fmla="val 8107"/>
              </a:avLst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44" name="Google Shape;2144;p52"/>
            <p:cNvSpPr/>
            <p:nvPr/>
          </p:nvSpPr>
          <p:spPr>
            <a:xfrm rot="5400000">
              <a:off x="1004547" y="4361174"/>
              <a:ext cx="53035" cy="45719"/>
            </a:xfrm>
            <a:prstGeom prst="triangle">
              <a:avLst>
                <a:gd name="adj" fmla="val 50000"/>
              </a:avLst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145" name="Google Shape;2145;p52"/>
          <p:cNvGrpSpPr/>
          <p:nvPr/>
        </p:nvGrpSpPr>
        <p:grpSpPr>
          <a:xfrm>
            <a:off x="972085" y="5178709"/>
            <a:ext cx="560016" cy="560971"/>
            <a:chOff x="635013" y="3938657"/>
            <a:chExt cx="787387" cy="788730"/>
          </a:xfrm>
        </p:grpSpPr>
        <p:grpSp>
          <p:nvGrpSpPr>
            <p:cNvPr id="2146" name="Google Shape;2146;p52"/>
            <p:cNvGrpSpPr/>
            <p:nvPr/>
          </p:nvGrpSpPr>
          <p:grpSpPr>
            <a:xfrm>
              <a:off x="635013" y="3938657"/>
              <a:ext cx="787387" cy="788730"/>
              <a:chOff x="1659705" y="2054741"/>
              <a:chExt cx="543515" cy="544442"/>
            </a:xfrm>
          </p:grpSpPr>
          <p:grpSp>
            <p:nvGrpSpPr>
              <p:cNvPr id="2147" name="Google Shape;2147;p52"/>
              <p:cNvGrpSpPr/>
              <p:nvPr/>
            </p:nvGrpSpPr>
            <p:grpSpPr>
              <a:xfrm>
                <a:off x="1659705" y="2054741"/>
                <a:ext cx="543515" cy="544442"/>
                <a:chOff x="3571333" y="3966538"/>
                <a:chExt cx="674796" cy="675947"/>
              </a:xfrm>
            </p:grpSpPr>
            <p:sp>
              <p:nvSpPr>
                <p:cNvPr id="2148" name="Google Shape;2148;p52"/>
                <p:cNvSpPr/>
                <p:nvPr/>
              </p:nvSpPr>
              <p:spPr>
                <a:xfrm>
                  <a:off x="3571333" y="3966538"/>
                  <a:ext cx="674796" cy="674796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700"/>
                    <a:buFont typeface="Malgun Gothic"/>
                    <a:buNone/>
                  </a:pPr>
                  <a:endParaRPr sz="700" b="0" i="0" u="none" strike="noStrike" cap="none">
                    <a:solidFill>
                      <a:srgbClr val="7F7F7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cxnSp>
              <p:nvCxnSpPr>
                <p:cNvPr id="2149" name="Google Shape;2149;p52"/>
                <p:cNvCxnSpPr/>
                <p:nvPr/>
              </p:nvCxnSpPr>
              <p:spPr>
                <a:xfrm>
                  <a:off x="3572292" y="3968115"/>
                  <a:ext cx="673837" cy="67437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150" name="Google Shape;2150;p52"/>
                <p:cNvCxnSpPr/>
                <p:nvPr/>
              </p:nvCxnSpPr>
              <p:spPr>
                <a:xfrm flipH="1">
                  <a:off x="3571333" y="3966538"/>
                  <a:ext cx="674796" cy="674796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7F7F7F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</p:cxnSp>
          </p:grpSp>
          <p:sp>
            <p:nvSpPr>
              <p:cNvPr id="2151" name="Google Shape;2151;p52"/>
              <p:cNvSpPr txBox="1"/>
              <p:nvPr/>
            </p:nvSpPr>
            <p:spPr>
              <a:xfrm>
                <a:off x="1721794" y="2121336"/>
                <a:ext cx="432786" cy="40325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Malgun Gothic"/>
                  <a:buNone/>
                </a:pPr>
                <a:r>
                  <a:rPr lang="en-US" sz="700" b="0" i="0" u="none" strike="noStrike" cap="none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movie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152" name="Google Shape;2152;p52"/>
            <p:cNvSpPr/>
            <p:nvPr/>
          </p:nvSpPr>
          <p:spPr>
            <a:xfrm>
              <a:off x="946459" y="4304422"/>
              <a:ext cx="160021" cy="160021"/>
            </a:xfrm>
            <a:prstGeom prst="donut">
              <a:avLst>
                <a:gd name="adj" fmla="val 8107"/>
              </a:avLst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53" name="Google Shape;2153;p52"/>
            <p:cNvSpPr/>
            <p:nvPr/>
          </p:nvSpPr>
          <p:spPr>
            <a:xfrm rot="5400000">
              <a:off x="1004547" y="4361174"/>
              <a:ext cx="53035" cy="45719"/>
            </a:xfrm>
            <a:prstGeom prst="triangle">
              <a:avLst>
                <a:gd name="adj" fmla="val 50000"/>
              </a:avLst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p53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53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59" name="Google Shape;2159;p53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약관 동의에 대하여 정의한다.</a:t>
            </a:r>
            <a:endParaRPr/>
          </a:p>
        </p:txBody>
      </p:sp>
      <p:sp>
        <p:nvSpPr>
          <p:cNvPr id="2160" name="Google Shape;2160;p53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6) Agreement</a:t>
            </a:r>
            <a:endParaRPr/>
          </a:p>
        </p:txBody>
      </p:sp>
      <p:grpSp>
        <p:nvGrpSpPr>
          <p:cNvPr id="2161" name="Google Shape;2161;p53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2162" name="Google Shape;2162;p53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163" name="Google Shape;2163;p53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2164" name="Google Shape;2164;p53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65" name="Google Shape;2165;p53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2166" name="Google Shape;2166;p53"/>
          <p:cNvGraphicFramePr/>
          <p:nvPr/>
        </p:nvGraphicFramePr>
        <p:xfrm>
          <a:off x="5277395" y="2412052"/>
          <a:ext cx="5425450" cy="12786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약관동의 전 펼침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약관동의 이전 전체 약관을 확인할 수 있다.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약관보기 탭 시 레이어로 약관 내용을 확인할 수 있다.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약관동의 후 닫힘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약관동의 탭 시 상세 약관이 아코디언 UI로 닫히고 대표 약관동의만 노출된다.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간소화 약관동의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간소화 약관동의는 상세 약관내용을 닫은 채 고지로만 안내한다.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67" name="Google Shape;2167;p53"/>
          <p:cNvSpPr/>
          <p:nvPr/>
        </p:nvSpPr>
        <p:spPr>
          <a:xfrm>
            <a:off x="1555181" y="2470484"/>
            <a:ext cx="2690948" cy="118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algun Gothic"/>
              <a:buNone/>
            </a:pPr>
            <a:endParaRPr sz="7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8" name="Google Shape;2168;p53"/>
          <p:cNvSpPr/>
          <p:nvPr/>
        </p:nvSpPr>
        <p:spPr>
          <a:xfrm>
            <a:off x="1552215" y="4034483"/>
            <a:ext cx="2693914" cy="3450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algun Gothic"/>
              <a:buNone/>
            </a:pPr>
            <a:endParaRPr sz="7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69" name="Google Shape;2169;p53"/>
          <p:cNvGrpSpPr/>
          <p:nvPr/>
        </p:nvGrpSpPr>
        <p:grpSpPr>
          <a:xfrm>
            <a:off x="1647005" y="4114196"/>
            <a:ext cx="180000" cy="180000"/>
            <a:chOff x="1139190" y="3825240"/>
            <a:chExt cx="180000" cy="180000"/>
          </a:xfrm>
        </p:grpSpPr>
        <p:sp>
          <p:nvSpPr>
            <p:cNvPr id="2170" name="Google Shape;2170;p53"/>
            <p:cNvSpPr/>
            <p:nvPr/>
          </p:nvSpPr>
          <p:spPr>
            <a:xfrm>
              <a:off x="1139190" y="3825240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71" name="Google Shape;2171;p53"/>
            <p:cNvSpPr/>
            <p:nvPr/>
          </p:nvSpPr>
          <p:spPr>
            <a:xfrm>
              <a:off x="1181750" y="3865245"/>
              <a:ext cx="11949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 extrusionOk="0">
                  <a:moveTo>
                    <a:pt x="0" y="30480"/>
                  </a:moveTo>
                  <a:lnTo>
                    <a:pt x="55245" y="85725"/>
                  </a:lnTo>
                  <a:lnTo>
                    <a:pt x="131445" y="0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172" name="Google Shape;2172;p53"/>
          <p:cNvSpPr txBox="1"/>
          <p:nvPr/>
        </p:nvSpPr>
        <p:spPr>
          <a:xfrm>
            <a:off x="1812759" y="2542225"/>
            <a:ext cx="235288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주문 결제에 동의합니다.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53"/>
          <p:cNvSpPr txBox="1"/>
          <p:nvPr/>
        </p:nvSpPr>
        <p:spPr>
          <a:xfrm>
            <a:off x="2064708" y="2817319"/>
            <a:ext cx="22667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개인정보 수집 및 이용 동의         </a:t>
            </a:r>
            <a:r>
              <a:rPr lang="en-US" sz="800" b="0" i="0" u="sng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약관보기</a:t>
            </a:r>
            <a:endParaRPr sz="800" b="0" i="0" u="sng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74" name="Google Shape;2174;p53"/>
          <p:cNvGrpSpPr/>
          <p:nvPr/>
        </p:nvGrpSpPr>
        <p:grpSpPr>
          <a:xfrm>
            <a:off x="1644078" y="2567882"/>
            <a:ext cx="180000" cy="180000"/>
            <a:chOff x="1139190" y="4073971"/>
            <a:chExt cx="180000" cy="180000"/>
          </a:xfrm>
        </p:grpSpPr>
        <p:sp>
          <p:nvSpPr>
            <p:cNvPr id="2175" name="Google Shape;2175;p53"/>
            <p:cNvSpPr/>
            <p:nvPr/>
          </p:nvSpPr>
          <p:spPr>
            <a:xfrm>
              <a:off x="1139190" y="4073971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Malgun Gothic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76" name="Google Shape;2176;p53"/>
            <p:cNvSpPr/>
            <p:nvPr/>
          </p:nvSpPr>
          <p:spPr>
            <a:xfrm>
              <a:off x="1181750" y="4111583"/>
              <a:ext cx="11949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 extrusionOk="0">
                  <a:moveTo>
                    <a:pt x="0" y="30480"/>
                  </a:moveTo>
                  <a:lnTo>
                    <a:pt x="55245" y="85725"/>
                  </a:lnTo>
                  <a:lnTo>
                    <a:pt x="131445" y="0"/>
                  </a:lnTo>
                </a:path>
              </a:pathLst>
            </a:custGeom>
            <a:noFill/>
            <a:ln w="190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A5A5A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177" name="Google Shape;2177;p53"/>
          <p:cNvGrpSpPr/>
          <p:nvPr/>
        </p:nvGrpSpPr>
        <p:grpSpPr>
          <a:xfrm>
            <a:off x="1908771" y="2836067"/>
            <a:ext cx="180000" cy="180000"/>
            <a:chOff x="1139190" y="4073971"/>
            <a:chExt cx="180000" cy="180000"/>
          </a:xfrm>
        </p:grpSpPr>
        <p:sp>
          <p:nvSpPr>
            <p:cNvPr id="2178" name="Google Shape;2178;p53"/>
            <p:cNvSpPr/>
            <p:nvPr/>
          </p:nvSpPr>
          <p:spPr>
            <a:xfrm>
              <a:off x="1139190" y="4073971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79" name="Google Shape;2179;p53"/>
            <p:cNvSpPr/>
            <p:nvPr/>
          </p:nvSpPr>
          <p:spPr>
            <a:xfrm>
              <a:off x="1181750" y="4111583"/>
              <a:ext cx="11949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 extrusionOk="0">
                  <a:moveTo>
                    <a:pt x="0" y="30480"/>
                  </a:moveTo>
                  <a:lnTo>
                    <a:pt x="55245" y="85725"/>
                  </a:lnTo>
                  <a:lnTo>
                    <a:pt x="131445" y="0"/>
                  </a:lnTo>
                </a:path>
              </a:pathLst>
            </a:custGeom>
            <a:noFill/>
            <a:ln w="190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A5A5A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180" name="Google Shape;2180;p53"/>
          <p:cNvSpPr txBox="1"/>
          <p:nvPr/>
        </p:nvSpPr>
        <p:spPr>
          <a:xfrm>
            <a:off x="2064708" y="3080731"/>
            <a:ext cx="22667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개인정보 제3자 제공 동의           </a:t>
            </a:r>
            <a:r>
              <a:rPr lang="en-US" sz="800" b="0" i="0" u="sng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약관보기</a:t>
            </a:r>
            <a:endParaRPr sz="800" b="0" i="0" u="sng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81" name="Google Shape;2181;p53"/>
          <p:cNvGrpSpPr/>
          <p:nvPr/>
        </p:nvGrpSpPr>
        <p:grpSpPr>
          <a:xfrm>
            <a:off x="1908771" y="3099480"/>
            <a:ext cx="180000" cy="180000"/>
            <a:chOff x="1139190" y="4073971"/>
            <a:chExt cx="180000" cy="180000"/>
          </a:xfrm>
        </p:grpSpPr>
        <p:sp>
          <p:nvSpPr>
            <p:cNvPr id="2182" name="Google Shape;2182;p53"/>
            <p:cNvSpPr/>
            <p:nvPr/>
          </p:nvSpPr>
          <p:spPr>
            <a:xfrm>
              <a:off x="1139190" y="4073971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83" name="Google Shape;2183;p53"/>
            <p:cNvSpPr/>
            <p:nvPr/>
          </p:nvSpPr>
          <p:spPr>
            <a:xfrm>
              <a:off x="1181750" y="4111583"/>
              <a:ext cx="11949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 extrusionOk="0">
                  <a:moveTo>
                    <a:pt x="0" y="30480"/>
                  </a:moveTo>
                  <a:lnTo>
                    <a:pt x="55245" y="85725"/>
                  </a:lnTo>
                  <a:lnTo>
                    <a:pt x="131445" y="0"/>
                  </a:lnTo>
                </a:path>
              </a:pathLst>
            </a:custGeom>
            <a:noFill/>
            <a:ln w="190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A5A5A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184" name="Google Shape;2184;p53"/>
          <p:cNvSpPr txBox="1"/>
          <p:nvPr/>
        </p:nvSpPr>
        <p:spPr>
          <a:xfrm>
            <a:off x="2064708" y="3339465"/>
            <a:ext cx="22667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결제서비스 이용약관 동의           </a:t>
            </a:r>
            <a:r>
              <a:rPr lang="en-US" sz="800" b="0" i="0" u="sng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약관보기</a:t>
            </a:r>
            <a:endParaRPr sz="800" b="0" i="0" u="sng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185" name="Google Shape;2185;p53"/>
          <p:cNvGrpSpPr/>
          <p:nvPr/>
        </p:nvGrpSpPr>
        <p:grpSpPr>
          <a:xfrm>
            <a:off x="1908771" y="3358213"/>
            <a:ext cx="180000" cy="180000"/>
            <a:chOff x="1139190" y="4073971"/>
            <a:chExt cx="180000" cy="180000"/>
          </a:xfrm>
        </p:grpSpPr>
        <p:sp>
          <p:nvSpPr>
            <p:cNvPr id="2186" name="Google Shape;2186;p53"/>
            <p:cNvSpPr/>
            <p:nvPr/>
          </p:nvSpPr>
          <p:spPr>
            <a:xfrm>
              <a:off x="1139190" y="4073971"/>
              <a:ext cx="180000" cy="180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60000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187" name="Google Shape;2187;p53"/>
            <p:cNvSpPr/>
            <p:nvPr/>
          </p:nvSpPr>
          <p:spPr>
            <a:xfrm>
              <a:off x="1181750" y="4111583"/>
              <a:ext cx="119495" cy="85725"/>
            </a:xfrm>
            <a:custGeom>
              <a:avLst/>
              <a:gdLst/>
              <a:ahLst/>
              <a:cxnLst/>
              <a:rect l="l" t="t" r="r" b="b"/>
              <a:pathLst>
                <a:path w="131445" h="85725" extrusionOk="0">
                  <a:moveTo>
                    <a:pt x="0" y="30480"/>
                  </a:moveTo>
                  <a:lnTo>
                    <a:pt x="55245" y="85725"/>
                  </a:lnTo>
                  <a:lnTo>
                    <a:pt x="131445" y="0"/>
                  </a:lnTo>
                </a:path>
              </a:pathLst>
            </a:custGeom>
            <a:noFill/>
            <a:ln w="190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Malgun Gothic"/>
                <a:buNone/>
              </a:pPr>
              <a:endParaRPr sz="800" b="0" i="0" u="none" strike="noStrike" cap="none">
                <a:solidFill>
                  <a:srgbClr val="A5A5A5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188" name="Google Shape;2188;p53"/>
          <p:cNvSpPr txBox="1"/>
          <p:nvPr/>
        </p:nvSpPr>
        <p:spPr>
          <a:xfrm>
            <a:off x="1812759" y="4096247"/>
            <a:ext cx="235288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주문 결제에 동의합니다.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53"/>
          <p:cNvSpPr/>
          <p:nvPr/>
        </p:nvSpPr>
        <p:spPr>
          <a:xfrm>
            <a:off x="1304341" y="2582266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0" name="Google Shape;2190;p53"/>
          <p:cNvSpPr/>
          <p:nvPr/>
        </p:nvSpPr>
        <p:spPr>
          <a:xfrm>
            <a:off x="1304341" y="4114331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1" name="Google Shape;2191;p53"/>
          <p:cNvSpPr/>
          <p:nvPr/>
        </p:nvSpPr>
        <p:spPr>
          <a:xfrm rot="-5400000">
            <a:off x="4038976" y="2605485"/>
            <a:ext cx="28388" cy="63511"/>
          </a:xfrm>
          <a:prstGeom prst="chevron">
            <a:avLst>
              <a:gd name="adj" fmla="val 100000"/>
            </a:avLst>
          </a:prstGeom>
          <a:solidFill>
            <a:srgbClr val="0C0C0C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2" name="Google Shape;2192;p53"/>
          <p:cNvSpPr/>
          <p:nvPr/>
        </p:nvSpPr>
        <p:spPr>
          <a:xfrm rot="5400000">
            <a:off x="4034381" y="4169265"/>
            <a:ext cx="31227" cy="69862"/>
          </a:xfrm>
          <a:prstGeom prst="chevron">
            <a:avLst>
              <a:gd name="adj" fmla="val 100000"/>
            </a:avLst>
          </a:prstGeom>
          <a:solidFill>
            <a:srgbClr val="0C0C0C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3" name="Google Shape;2193;p53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보수적 관점에서 약관은 동의되지 않은 상태로 전체 약관을 펼쳐서 표현한다.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준법 이슈가 없다면 약관 동의 셀렉트박스 없이 동의안내문으로 표현한다. 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85725" marR="0" lvl="0" indent="-285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4" name="Google Shape;2194;p53"/>
          <p:cNvSpPr/>
          <p:nvPr/>
        </p:nvSpPr>
        <p:spPr>
          <a:xfrm>
            <a:off x="1555181" y="4760694"/>
            <a:ext cx="2690948" cy="34555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algun Gothic"/>
              <a:buNone/>
            </a:pPr>
            <a:endParaRPr sz="7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5" name="Google Shape;2195;p53"/>
          <p:cNvSpPr txBox="1"/>
          <p:nvPr/>
        </p:nvSpPr>
        <p:spPr>
          <a:xfrm>
            <a:off x="1574221" y="4832435"/>
            <a:ext cx="235288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주문 결제에 동의합니다.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53"/>
          <p:cNvSpPr/>
          <p:nvPr/>
        </p:nvSpPr>
        <p:spPr>
          <a:xfrm>
            <a:off x="1304341" y="4872476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7" name="Google Shape;2197;p53"/>
          <p:cNvSpPr/>
          <p:nvPr/>
        </p:nvSpPr>
        <p:spPr>
          <a:xfrm rot="5400000">
            <a:off x="4034381" y="4899425"/>
            <a:ext cx="31227" cy="69862"/>
          </a:xfrm>
          <a:prstGeom prst="chevron">
            <a:avLst>
              <a:gd name="adj" fmla="val 100000"/>
            </a:avLst>
          </a:prstGeom>
          <a:solidFill>
            <a:srgbClr val="0C0C0C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p54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54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3" name="Google Shape;2203;p54"/>
          <p:cNvSpPr txBox="1">
            <a:spLocks noGrp="1"/>
          </p:cNvSpPr>
          <p:nvPr>
            <p:ph type="ctrTitle"/>
          </p:nvPr>
        </p:nvSpPr>
        <p:spPr>
          <a:xfrm>
            <a:off x="717391" y="2344464"/>
            <a:ext cx="10671969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rPr lang="en-US"/>
              <a:t>기타</a:t>
            </a:r>
            <a:endParaRPr/>
          </a:p>
        </p:txBody>
      </p:sp>
      <p:sp>
        <p:nvSpPr>
          <p:cNvPr id="2204" name="Google Shape;2204;p54"/>
          <p:cNvSpPr txBox="1"/>
          <p:nvPr/>
        </p:nvSpPr>
        <p:spPr>
          <a:xfrm>
            <a:off x="691264" y="1602382"/>
            <a:ext cx="93723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8A"/>
              </a:buClr>
              <a:buSzPts val="4000"/>
              <a:buFont typeface="Malgun Gothic"/>
              <a:buNone/>
            </a:pPr>
            <a:r>
              <a:rPr lang="en-US" sz="4000" b="1" i="0" u="none" strike="noStrike" cap="none">
                <a:solidFill>
                  <a:srgbClr val="00458A"/>
                </a:solidFill>
                <a:latin typeface="Malgun Gothic"/>
                <a:ea typeface="Malgun Gothic"/>
                <a:cs typeface="Malgun Gothic"/>
                <a:sym typeface="Malgun Gothic"/>
              </a:rPr>
              <a:t>07.</a:t>
            </a:r>
            <a:endParaRPr sz="4000" b="1" i="0" u="none" strike="noStrike" cap="none">
              <a:solidFill>
                <a:srgbClr val="0045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5" name="Google Shape;2205;p54"/>
          <p:cNvSpPr txBox="1"/>
          <p:nvPr/>
        </p:nvSpPr>
        <p:spPr>
          <a:xfrm>
            <a:off x="801186" y="2995755"/>
            <a:ext cx="768096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7188" marR="0" lvl="0" indent="-3571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Malgun Gothic"/>
              <a:buAutoNum type="arabicParenR"/>
            </a:pPr>
            <a:r>
              <a:rPr lang="en-US" sz="20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Error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55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55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1" name="Google Shape;2211;p55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서버 오류 시 아래와 같이 정의한다.</a:t>
            </a:r>
            <a:endParaRPr/>
          </a:p>
        </p:txBody>
      </p:sp>
      <p:sp>
        <p:nvSpPr>
          <p:cNvPr id="2212" name="Google Shape;2212;p55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1) Error Page(1/3)</a:t>
            </a:r>
            <a:endParaRPr/>
          </a:p>
        </p:txBody>
      </p:sp>
      <p:grpSp>
        <p:nvGrpSpPr>
          <p:cNvPr id="2213" name="Google Shape;2213;p55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2214" name="Google Shape;2214;p55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215" name="Google Shape;2215;p55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2216" name="Google Shape;2216;p55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17" name="Google Shape;2217;p55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2218" name="Google Shape;2218;p55"/>
          <p:cNvGraphicFramePr/>
          <p:nvPr/>
        </p:nvGraphicFramePr>
        <p:xfrm>
          <a:off x="5277395" y="2412052"/>
          <a:ext cx="5425450" cy="5250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서버 오류 에러 페이지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안내문을 노출한다.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19" name="Google Shape;2219;p55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에러 페이지는 공통 헤더/ 풋터 없이 노출한다.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0" name="Google Shape;2220;p55"/>
          <p:cNvSpPr txBox="1"/>
          <p:nvPr/>
        </p:nvSpPr>
        <p:spPr>
          <a:xfrm>
            <a:off x="1555181" y="2232212"/>
            <a:ext cx="2690948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죄송합니다.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일시적으로 서비스 접속이 </a:t>
            </a:r>
            <a:endParaRPr sz="105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원활하지 않습니다.</a:t>
            </a:r>
            <a:endParaRPr sz="105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1" name="Google Shape;2221;p55"/>
          <p:cNvSpPr txBox="1"/>
          <p:nvPr/>
        </p:nvSpPr>
        <p:spPr>
          <a:xfrm>
            <a:off x="1555181" y="3991013"/>
            <a:ext cx="2690948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이용에 불편을 드린 점 진심으로 사과드리며,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편리한 서비스가 되도록 최선을 다하겠습니다.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동일한 문제가 지속적으로 발생할 경우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고객센터로 문의해주시기 바랍니다.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고객센터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1234-1234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2" name="Google Shape;2222;p55"/>
          <p:cNvSpPr/>
          <p:nvPr/>
        </p:nvSpPr>
        <p:spPr>
          <a:xfrm>
            <a:off x="1304341" y="406144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223" name="Google Shape;2223;p55"/>
          <p:cNvGrpSpPr/>
          <p:nvPr/>
        </p:nvGrpSpPr>
        <p:grpSpPr>
          <a:xfrm>
            <a:off x="2611738" y="3105851"/>
            <a:ext cx="560016" cy="560971"/>
            <a:chOff x="1659705" y="2054741"/>
            <a:chExt cx="543515" cy="544442"/>
          </a:xfrm>
        </p:grpSpPr>
        <p:grpSp>
          <p:nvGrpSpPr>
            <p:cNvPr id="2224" name="Google Shape;2224;p55"/>
            <p:cNvGrpSpPr/>
            <p:nvPr/>
          </p:nvGrpSpPr>
          <p:grpSpPr>
            <a:xfrm>
              <a:off x="1659705" y="2054741"/>
              <a:ext cx="543515" cy="544442"/>
              <a:chOff x="3571333" y="3966538"/>
              <a:chExt cx="674796" cy="675947"/>
            </a:xfrm>
          </p:grpSpPr>
          <p:sp>
            <p:nvSpPr>
              <p:cNvPr id="2225" name="Google Shape;2225;p55"/>
              <p:cNvSpPr/>
              <p:nvPr/>
            </p:nvSpPr>
            <p:spPr>
              <a:xfrm>
                <a:off x="3571333" y="3966538"/>
                <a:ext cx="674796" cy="674796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2226" name="Google Shape;2226;p55"/>
              <p:cNvCxnSpPr/>
              <p:nvPr/>
            </p:nvCxnSpPr>
            <p:spPr>
              <a:xfrm>
                <a:off x="3572292" y="3968115"/>
                <a:ext cx="673837" cy="67437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27" name="Google Shape;2227;p55"/>
              <p:cNvCxnSpPr/>
              <p:nvPr/>
            </p:nvCxnSpPr>
            <p:spPr>
              <a:xfrm flipH="1">
                <a:off x="3571333" y="3966538"/>
                <a:ext cx="674796" cy="674796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2228" name="Google Shape;2228;p55"/>
            <p:cNvSpPr txBox="1"/>
            <p:nvPr/>
          </p:nvSpPr>
          <p:spPr>
            <a:xfrm>
              <a:off x="1721794" y="2236735"/>
              <a:ext cx="432786" cy="1783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56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56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4" name="Google Shape;2234;p56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존재하지 않는 페이지로 진입 시 아래와 같이 정의한다.  </a:t>
            </a:r>
            <a:endParaRPr/>
          </a:p>
        </p:txBody>
      </p:sp>
      <p:sp>
        <p:nvSpPr>
          <p:cNvPr id="2235" name="Google Shape;2235;p56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1) Error Page(2/3)</a:t>
            </a:r>
            <a:endParaRPr/>
          </a:p>
        </p:txBody>
      </p:sp>
      <p:grpSp>
        <p:nvGrpSpPr>
          <p:cNvPr id="2236" name="Google Shape;2236;p56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2237" name="Google Shape;2237;p56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238" name="Google Shape;2238;p56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2239" name="Google Shape;2239;p56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40" name="Google Shape;2240;p56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2241" name="Google Shape;2241;p56"/>
          <p:cNvGraphicFramePr/>
          <p:nvPr>
            <p:extLst>
              <p:ext uri="{D42A27DB-BD31-4B8C-83A1-F6EECF244321}">
                <p14:modId xmlns:p14="http://schemas.microsoft.com/office/powerpoint/2010/main" val="1533355356"/>
              </p:ext>
            </p:extLst>
          </p:nvPr>
        </p:nvGraphicFramePr>
        <p:xfrm>
          <a:off x="5277395" y="2412052"/>
          <a:ext cx="5425450" cy="76884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</a:t>
                      </a:r>
                      <a:r>
                        <a:rPr lang="en-US" sz="8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오류</a:t>
                      </a:r>
                      <a:r>
                        <a:rPr lang="en-US" sz="8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에러</a:t>
                      </a:r>
                      <a:r>
                        <a:rPr lang="en-US" sz="8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</a:t>
                      </a:r>
                      <a:endParaRPr sz="8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안내문을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노출한다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endParaRPr sz="8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이전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이전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이동한다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endParaRPr sz="1400" u="none" strike="noStrike" cap="none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u="none" strike="noStrike" cap="none" dirty="0" smtClean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000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플랫폼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메인화면으로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이동한다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endParaRPr sz="8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42" name="Google Shape;2242;p56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에러 페이지는 공통 헤더/ 풋터 없이 노출한다.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3" name="Google Shape;2243;p56"/>
          <p:cNvSpPr txBox="1"/>
          <p:nvPr/>
        </p:nvSpPr>
        <p:spPr>
          <a:xfrm>
            <a:off x="1555181" y="2232212"/>
            <a:ext cx="269094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죄송합니다.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요청하신 페이지를 찾을 수 없습니다.</a:t>
            </a:r>
            <a:endParaRPr sz="105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4" name="Google Shape;2244;p56"/>
          <p:cNvSpPr txBox="1"/>
          <p:nvPr/>
        </p:nvSpPr>
        <p:spPr>
          <a:xfrm>
            <a:off x="1555181" y="3991013"/>
            <a:ext cx="2690948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동일한 문제가 지속적으로 발생할 경우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고객센터로 문의해주시기 바랍니다.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</a:pP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고객센터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1234-1234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5" name="Google Shape;2245;p56"/>
          <p:cNvSpPr/>
          <p:nvPr/>
        </p:nvSpPr>
        <p:spPr>
          <a:xfrm>
            <a:off x="1674834" y="4949665"/>
            <a:ext cx="1184908" cy="36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 페이지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6" name="Google Shape;2246;p56"/>
          <p:cNvSpPr/>
          <p:nvPr/>
        </p:nvSpPr>
        <p:spPr>
          <a:xfrm>
            <a:off x="2961465" y="4949665"/>
            <a:ext cx="1184908" cy="360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메인화면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7" name="Google Shape;2247;p56"/>
          <p:cNvSpPr/>
          <p:nvPr/>
        </p:nvSpPr>
        <p:spPr>
          <a:xfrm>
            <a:off x="1304341" y="406144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248" name="Google Shape;2248;p56"/>
          <p:cNvGrpSpPr/>
          <p:nvPr/>
        </p:nvGrpSpPr>
        <p:grpSpPr>
          <a:xfrm>
            <a:off x="2611738" y="3038739"/>
            <a:ext cx="560016" cy="560971"/>
            <a:chOff x="1659705" y="2054741"/>
            <a:chExt cx="543515" cy="544442"/>
          </a:xfrm>
        </p:grpSpPr>
        <p:grpSp>
          <p:nvGrpSpPr>
            <p:cNvPr id="2249" name="Google Shape;2249;p56"/>
            <p:cNvGrpSpPr/>
            <p:nvPr/>
          </p:nvGrpSpPr>
          <p:grpSpPr>
            <a:xfrm>
              <a:off x="1659705" y="2054741"/>
              <a:ext cx="543515" cy="544442"/>
              <a:chOff x="3571333" y="3966538"/>
              <a:chExt cx="674796" cy="675947"/>
            </a:xfrm>
          </p:grpSpPr>
          <p:sp>
            <p:nvSpPr>
              <p:cNvPr id="2250" name="Google Shape;2250;p56"/>
              <p:cNvSpPr/>
              <p:nvPr/>
            </p:nvSpPr>
            <p:spPr>
              <a:xfrm>
                <a:off x="3571333" y="3966538"/>
                <a:ext cx="674796" cy="674796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700"/>
                  <a:buFont typeface="Malgun Gothic"/>
                  <a:buNone/>
                </a:pPr>
                <a:endParaRPr sz="700" b="0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2251" name="Google Shape;2251;p56"/>
              <p:cNvCxnSpPr/>
              <p:nvPr/>
            </p:nvCxnSpPr>
            <p:spPr>
              <a:xfrm>
                <a:off x="3572292" y="3968115"/>
                <a:ext cx="673837" cy="67437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252" name="Google Shape;2252;p56"/>
              <p:cNvCxnSpPr/>
              <p:nvPr/>
            </p:nvCxnSpPr>
            <p:spPr>
              <a:xfrm flipH="1">
                <a:off x="3571333" y="3966538"/>
                <a:ext cx="674796" cy="674796"/>
              </a:xfrm>
              <a:prstGeom prst="straightConnector1">
                <a:avLst/>
              </a:prstGeom>
              <a:noFill/>
              <a:ln w="9525" cap="flat" cmpd="sng">
                <a:solidFill>
                  <a:srgbClr val="7F7F7F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</p:grpSp>
        <p:sp>
          <p:nvSpPr>
            <p:cNvPr id="2253" name="Google Shape;2253;p56"/>
            <p:cNvSpPr txBox="1"/>
            <p:nvPr/>
          </p:nvSpPr>
          <p:spPr>
            <a:xfrm>
              <a:off x="1721794" y="2236735"/>
              <a:ext cx="432786" cy="1783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image</a:t>
              </a:r>
              <a:endParaRPr sz="7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57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57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59" name="Google Shape;2259;p57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</a:pPr>
            <a:r>
              <a:rPr lang="en-US"/>
              <a:t>정기 점검 시 아래와 같이 정의한다.</a:t>
            </a:r>
            <a:endParaRPr/>
          </a:p>
        </p:txBody>
      </p:sp>
      <p:sp>
        <p:nvSpPr>
          <p:cNvPr id="2260" name="Google Shape;2260;p57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1) Error Page(3/3)</a:t>
            </a:r>
            <a:endParaRPr/>
          </a:p>
        </p:txBody>
      </p:sp>
      <p:grpSp>
        <p:nvGrpSpPr>
          <p:cNvPr id="2261" name="Google Shape;2261;p57"/>
          <p:cNvGrpSpPr/>
          <p:nvPr/>
        </p:nvGrpSpPr>
        <p:grpSpPr>
          <a:xfrm>
            <a:off x="1555181" y="1375954"/>
            <a:ext cx="2690948" cy="4980741"/>
            <a:chOff x="1555181" y="1375954"/>
            <a:chExt cx="2690948" cy="4980741"/>
          </a:xfrm>
        </p:grpSpPr>
        <p:sp>
          <p:nvSpPr>
            <p:cNvPr id="2262" name="Google Shape;2262;p57"/>
            <p:cNvSpPr/>
            <p:nvPr/>
          </p:nvSpPr>
          <p:spPr>
            <a:xfrm>
              <a:off x="1555181" y="1375954"/>
              <a:ext cx="2690948" cy="49807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263" name="Google Shape;2263;p57"/>
            <p:cNvGrpSpPr/>
            <p:nvPr/>
          </p:nvGrpSpPr>
          <p:grpSpPr>
            <a:xfrm>
              <a:off x="1555181" y="1375954"/>
              <a:ext cx="2690948" cy="203713"/>
              <a:chOff x="1555181" y="704832"/>
              <a:chExt cx="2690948" cy="203713"/>
            </a:xfrm>
          </p:grpSpPr>
          <p:pic>
            <p:nvPicPr>
              <p:cNvPr id="2264" name="Google Shape;2264;p57"/>
              <p:cNvPicPr preferRelativeResize="0"/>
              <p:nvPr/>
            </p:nvPicPr>
            <p:blipFill rotWithShape="1">
              <a:blip r:embed="rId3">
                <a:alphaModFix/>
              </a:blip>
              <a:srcRect t="26197" b="19146"/>
              <a:stretch/>
            </p:blipFill>
            <p:spPr>
              <a:xfrm>
                <a:off x="1577746" y="717144"/>
                <a:ext cx="2628000" cy="1685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65" name="Google Shape;2265;p57"/>
              <p:cNvSpPr/>
              <p:nvPr/>
            </p:nvSpPr>
            <p:spPr>
              <a:xfrm>
                <a:off x="1555181" y="704832"/>
                <a:ext cx="2690948" cy="203713"/>
              </a:xfrm>
              <a:prstGeom prst="rect">
                <a:avLst/>
              </a:prstGeom>
              <a:solidFill>
                <a:srgbClr val="0D0D0D">
                  <a:alpha val="20000"/>
                </a:srgbClr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aphicFrame>
        <p:nvGraphicFramePr>
          <p:cNvPr id="2266" name="Google Shape;2266;p57"/>
          <p:cNvGraphicFramePr/>
          <p:nvPr/>
        </p:nvGraphicFramePr>
        <p:xfrm>
          <a:off x="5277395" y="2412052"/>
          <a:ext cx="5425450" cy="5250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7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점검 에러페이지</a:t>
                      </a:r>
                      <a:endParaRPr sz="8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안내문을 노출한다.</a:t>
                      </a: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67" name="Google Shape;2267;p57"/>
          <p:cNvSpPr/>
          <p:nvPr/>
        </p:nvSpPr>
        <p:spPr>
          <a:xfrm>
            <a:off x="5277395" y="1406662"/>
            <a:ext cx="5425439" cy="849836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108000" rIns="91425" bIns="45700" anchor="t" anchorCtr="0">
            <a:noAutofit/>
          </a:bodyPr>
          <a:lstStyle/>
          <a:p>
            <a:pPr marL="85725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에러 페이지는 공통 헤더/ 풋터 없이 노출한다.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57"/>
          <p:cNvSpPr txBox="1"/>
          <p:nvPr/>
        </p:nvSpPr>
        <p:spPr>
          <a:xfrm>
            <a:off x="1555181" y="2268069"/>
            <a:ext cx="2690948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none" strike="noStrike" cap="none" dirty="0" smtClean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000 </a:t>
            </a:r>
            <a:r>
              <a:rPr lang="en-US" sz="105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플랫폼은</a:t>
            </a:r>
            <a:endParaRPr sz="1050" b="1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보다</a:t>
            </a:r>
            <a:r>
              <a:rPr lang="en-US" sz="105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5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안정된</a:t>
            </a:r>
            <a:r>
              <a:rPr lang="en-US" sz="105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5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서비스를</a:t>
            </a:r>
            <a:r>
              <a:rPr lang="en-US" sz="105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5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위해</a:t>
            </a:r>
            <a:endParaRPr sz="1050" b="1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lgun Gothic"/>
              <a:buNone/>
            </a:pPr>
            <a:r>
              <a:rPr lang="en-US" sz="105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아래와</a:t>
            </a:r>
            <a:r>
              <a:rPr lang="en-US" sz="105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5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같이</a:t>
            </a:r>
            <a:r>
              <a:rPr lang="en-US" sz="105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5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</a:t>
            </a:r>
            <a:r>
              <a:rPr lang="en-US" sz="105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5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점검을</a:t>
            </a:r>
            <a:r>
              <a:rPr lang="en-US" sz="105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5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진행합니다</a:t>
            </a:r>
            <a:r>
              <a:rPr lang="en-US" sz="105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sz="1050" b="1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9" name="Google Shape;2269;p57"/>
          <p:cNvSpPr txBox="1"/>
          <p:nvPr/>
        </p:nvSpPr>
        <p:spPr>
          <a:xfrm>
            <a:off x="1555181" y="4505671"/>
            <a:ext cx="269094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더욱 편리한 서비스로 찾아 뵙기 위한 </a:t>
            </a:r>
            <a:endParaRPr sz="9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 작업이니 양해 부탁드립니다.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감사합니다.</a:t>
            </a: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270" name="Google Shape;2270;p57"/>
          <p:cNvGraphicFramePr/>
          <p:nvPr/>
        </p:nvGraphicFramePr>
        <p:xfrm>
          <a:off x="1694310" y="3090407"/>
          <a:ext cx="2429450" cy="11460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71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점검</a:t>
                      </a:r>
                      <a:r>
                        <a:rPr lang="en-US" sz="9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</a:t>
                      </a:r>
                      <a:endParaRPr sz="1400" u="none" strike="noStrike" cap="none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YYYY년 MM월 DD일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AM 02시~06시 (4시간)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점검 내용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회원가입 서비스 시스템 점검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대상서비스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 smtClean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000 </a:t>
                      </a:r>
                      <a:r>
                        <a:rPr lang="en-US" sz="9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플랫폼</a:t>
                      </a:r>
                      <a:r>
                        <a:rPr lang="en-US" sz="9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PC, </a:t>
                      </a:r>
                      <a:r>
                        <a:rPr lang="en-US" sz="9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모바일웹</a:t>
                      </a:r>
                      <a:r>
                        <a:rPr lang="en-US" sz="9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9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안드로이드</a:t>
                      </a:r>
                      <a:r>
                        <a:rPr lang="en-US" sz="9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앱, </a:t>
                      </a:r>
                      <a:r>
                        <a:rPr lang="en-US" sz="9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아이폰</a:t>
                      </a:r>
                      <a:r>
                        <a:rPr lang="en-US" sz="9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앱</a:t>
                      </a:r>
                      <a:endParaRPr sz="9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71" name="Google Shape;2271;p57"/>
          <p:cNvSpPr/>
          <p:nvPr/>
        </p:nvSpPr>
        <p:spPr>
          <a:xfrm>
            <a:off x="1304341" y="4061442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p58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58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7" name="Google Shape;2277;p58"/>
          <p:cNvSpPr txBox="1">
            <a:spLocks noGrp="1"/>
          </p:cNvSpPr>
          <p:nvPr>
            <p:ph type="subTitle" idx="1"/>
          </p:nvPr>
        </p:nvSpPr>
        <p:spPr>
          <a:xfrm>
            <a:off x="717391" y="2837544"/>
            <a:ext cx="10671969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</a:pPr>
            <a:r>
              <a:rPr lang="en-US"/>
              <a:t>화면설계서 표준화 작성</a:t>
            </a:r>
            <a:endParaRPr/>
          </a:p>
        </p:txBody>
      </p:sp>
      <p:sp>
        <p:nvSpPr>
          <p:cNvPr id="2278" name="Google Shape;2278;p58"/>
          <p:cNvSpPr txBox="1">
            <a:spLocks noGrp="1"/>
          </p:cNvSpPr>
          <p:nvPr>
            <p:ph type="ctrTitle"/>
          </p:nvPr>
        </p:nvSpPr>
        <p:spPr>
          <a:xfrm>
            <a:off x="717391" y="2344464"/>
            <a:ext cx="10671969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rPr lang="en-US"/>
              <a:t>화면설계서 작성가이드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5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59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4" name="Google Shape;2284;p59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문서 명명규칙</a:t>
            </a:r>
            <a:endParaRPr/>
          </a:p>
        </p:txBody>
      </p:sp>
      <p:graphicFrame>
        <p:nvGraphicFramePr>
          <p:cNvPr id="2285" name="Google Shape;2285;p59"/>
          <p:cNvGraphicFramePr/>
          <p:nvPr>
            <p:extLst>
              <p:ext uri="{D42A27DB-BD31-4B8C-83A1-F6EECF244321}">
                <p14:modId xmlns:p14="http://schemas.microsoft.com/office/powerpoint/2010/main" val="3830101655"/>
              </p:ext>
            </p:extLst>
          </p:nvPr>
        </p:nvGraphicFramePr>
        <p:xfrm>
          <a:off x="561958" y="1820381"/>
          <a:ext cx="8868925" cy="365136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124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5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 sz="1400" u="none" strike="noStrike" cap="none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유형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규칙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프로젝트</a:t>
                      </a:r>
                      <a:r>
                        <a:rPr lang="en-US" sz="9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번호</a:t>
                      </a:r>
                      <a:endParaRPr sz="1400" u="none" strike="noStrike" cap="none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제조사</a:t>
                      </a:r>
                      <a:endParaRPr sz="1400" u="none" strike="noStrike" cap="none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출시 국가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대한민국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KR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국가코드 2자리로 표기함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문서명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 정의서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요구사항정의서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띄어쓰기없이 표기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UI/UX 표준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화면설계가이드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띄어쓰기없이 표기 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정보구조도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정보구조도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띄어쓰기없이 표기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 정의서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콘텐츠정의서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띄어쓰기없이 표기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화면설계서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화면설계서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띄어쓰기없이 표기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43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채널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모바일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Mobile의 약어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PC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PC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Personal Computer의 약어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Back Office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Back Office의 약어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43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모듈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전시/상품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DP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주문/회원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v0.1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V0.1부터 </a:t>
                      </a:r>
                      <a:r>
                        <a:rPr lang="en-US" sz="9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리뷰</a:t>
                      </a:r>
                      <a:r>
                        <a:rPr lang="en-US" sz="9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후 0.1 Update, </a:t>
                      </a:r>
                      <a:r>
                        <a:rPr lang="en-US" sz="9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화면설계서</a:t>
                      </a:r>
                      <a:r>
                        <a:rPr lang="en-US" sz="9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9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완료</a:t>
                      </a:r>
                      <a:r>
                        <a:rPr lang="en-US" sz="9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시 v1.0부터 </a:t>
                      </a:r>
                      <a:r>
                        <a:rPr lang="en-US" sz="9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관리</a:t>
                      </a:r>
                      <a:endParaRPr sz="1400" u="none" strike="noStrike" cap="none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286" name="Google Shape;2286;p59"/>
          <p:cNvSpPr txBox="1"/>
          <p:nvPr/>
        </p:nvSpPr>
        <p:spPr>
          <a:xfrm>
            <a:off x="454383" y="932331"/>
            <a:ext cx="51126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lang="en-US" sz="120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프로젝트번호_제조사_출시국가_문서명_채널_모듈_버전_배포날짜</a:t>
            </a:r>
            <a:endParaRPr sz="1200" b="1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lang="en-US" sz="1200" b="1" i="0" u="none" strike="noStrike" cap="none" dirty="0" smtClean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P000000_000_KR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_화면설계서_MC_DP_v0.1_YYYYMMDD</a:t>
            </a:r>
            <a:endParaRPr sz="1200" b="1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p6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60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2" name="Google Shape;2292;p60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None/>
            </a:pPr>
            <a:r>
              <a:rPr lang="en-US"/>
              <a:t>화면 번호 명명규칙</a:t>
            </a:r>
            <a:endParaRPr/>
          </a:p>
        </p:txBody>
      </p:sp>
      <p:graphicFrame>
        <p:nvGraphicFramePr>
          <p:cNvPr id="2293" name="Google Shape;2293;p60"/>
          <p:cNvGraphicFramePr/>
          <p:nvPr>
            <p:extLst>
              <p:ext uri="{D42A27DB-BD31-4B8C-83A1-F6EECF244321}">
                <p14:modId xmlns:p14="http://schemas.microsoft.com/office/powerpoint/2010/main" val="1433069985"/>
              </p:ext>
            </p:extLst>
          </p:nvPr>
        </p:nvGraphicFramePr>
        <p:xfrm>
          <a:off x="561958" y="1820381"/>
          <a:ext cx="7721450" cy="56310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124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모듈명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규칙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 rowSpan="17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모듈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43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제조사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143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6262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294" name="Google Shape;2294;p60"/>
          <p:cNvSpPr txBox="1"/>
          <p:nvPr/>
        </p:nvSpPr>
        <p:spPr>
          <a:xfrm>
            <a:off x="454383" y="941296"/>
            <a:ext cx="51126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lang="en-US" sz="120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플랫폼명_모듈_제조사00000(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다섯자리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숫자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r>
              <a:rPr lang="en-US" sz="1200" b="1" i="0" u="none" strike="noStrike" cap="none" dirty="0" smtClean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000_ME_H00001 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기획은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H로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일원화함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200" b="1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61"/>
          <p:cNvSpPr txBox="1">
            <a:spLocks noGrp="1"/>
          </p:cNvSpPr>
          <p:nvPr>
            <p:ph type="ctrTitle"/>
          </p:nvPr>
        </p:nvSpPr>
        <p:spPr>
          <a:xfrm>
            <a:off x="3927564" y="42499"/>
            <a:ext cx="4615545" cy="2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rPr lang="en-US"/>
              <a:t>LIST</a:t>
            </a:r>
            <a:endParaRPr/>
          </a:p>
        </p:txBody>
      </p:sp>
      <p:sp>
        <p:nvSpPr>
          <p:cNvPr id="2300" name="Google Shape;2300;p61"/>
          <p:cNvSpPr txBox="1">
            <a:spLocks noGrp="1"/>
          </p:cNvSpPr>
          <p:nvPr>
            <p:ph type="subTitle" idx="1"/>
          </p:nvPr>
        </p:nvSpPr>
        <p:spPr>
          <a:xfrm>
            <a:off x="3936273" y="252549"/>
            <a:ext cx="4606836" cy="209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/>
              <a:t>홈&gt;LIST</a:t>
            </a:r>
            <a:endParaRPr/>
          </a:p>
        </p:txBody>
      </p:sp>
      <p:sp>
        <p:nvSpPr>
          <p:cNvPr id="2301" name="Google Shape;2301;p6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61</a:t>
            </a:fld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2" name="Google Shape;2302;p61"/>
          <p:cNvSpPr txBox="1">
            <a:spLocks noGrp="1"/>
          </p:cNvSpPr>
          <p:nvPr>
            <p:ph type="body" idx="2"/>
          </p:nvPr>
        </p:nvSpPr>
        <p:spPr>
          <a:xfrm>
            <a:off x="9261748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/>
              <a:t>Mobile</a:t>
            </a:r>
            <a:endParaRPr/>
          </a:p>
        </p:txBody>
      </p:sp>
      <p:sp>
        <p:nvSpPr>
          <p:cNvPr id="2303" name="Google Shape;2303;p61"/>
          <p:cNvSpPr txBox="1">
            <a:spLocks noGrp="1"/>
          </p:cNvSpPr>
          <p:nvPr>
            <p:ph type="body" idx="3"/>
          </p:nvPr>
        </p:nvSpPr>
        <p:spPr>
          <a:xfrm>
            <a:off x="9270457" y="260215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/>
              <a:t>N/A</a:t>
            </a:r>
            <a:endParaRPr/>
          </a:p>
        </p:txBody>
      </p:sp>
      <p:sp>
        <p:nvSpPr>
          <p:cNvPr id="2304" name="Google Shape;2304;p61"/>
          <p:cNvSpPr txBox="1">
            <a:spLocks noGrp="1"/>
          </p:cNvSpPr>
          <p:nvPr>
            <p:ph type="body" idx="4"/>
          </p:nvPr>
        </p:nvSpPr>
        <p:spPr>
          <a:xfrm>
            <a:off x="10872834" y="47397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/>
              <a:t>김현대</a:t>
            </a:r>
            <a:endParaRPr/>
          </a:p>
        </p:txBody>
      </p:sp>
      <p:sp>
        <p:nvSpPr>
          <p:cNvPr id="2305" name="Google Shape;2305;p61"/>
          <p:cNvSpPr txBox="1">
            <a:spLocks noGrp="1"/>
          </p:cNvSpPr>
          <p:nvPr>
            <p:ph type="body" idx="5"/>
          </p:nvPr>
        </p:nvSpPr>
        <p:spPr>
          <a:xfrm>
            <a:off x="10881543" y="260215"/>
            <a:ext cx="1310457" cy="20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/>
              <a:t>21.04.23</a:t>
            </a:r>
            <a:endParaRPr/>
          </a:p>
        </p:txBody>
      </p:sp>
      <p:sp>
        <p:nvSpPr>
          <p:cNvPr id="2306" name="Google Shape;2306;p61"/>
          <p:cNvSpPr txBox="1">
            <a:spLocks noGrp="1"/>
          </p:cNvSpPr>
          <p:nvPr>
            <p:ph type="body" idx="6"/>
          </p:nvPr>
        </p:nvSpPr>
        <p:spPr>
          <a:xfrm>
            <a:off x="2049387" y="251506"/>
            <a:ext cx="1319166" cy="2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dirty="0" smtClean="0"/>
              <a:t>000_PL_H00000</a:t>
            </a:r>
            <a:endParaRPr dirty="0"/>
          </a:p>
        </p:txBody>
      </p:sp>
      <p:graphicFrame>
        <p:nvGraphicFramePr>
          <p:cNvPr id="2307" name="Google Shape;2307;p61"/>
          <p:cNvGraphicFramePr/>
          <p:nvPr/>
        </p:nvGraphicFramePr>
        <p:xfrm>
          <a:off x="8549372" y="460507"/>
          <a:ext cx="3600875" cy="51270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2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Service Policy</a:t>
                      </a:r>
                      <a:endParaRPr sz="9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87313" marR="0" lvl="0" indent="-873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정책을 정의</a:t>
                      </a:r>
                      <a:endParaRPr sz="8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7313" marR="0" lvl="0" indent="-8731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정책을 정의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UI/UX 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상품목록</a:t>
                      </a:r>
                      <a:r>
                        <a:rPr lang="en-US" sz="8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</a:t>
                      </a:r>
                      <a:r>
                        <a:rPr lang="en-US" sz="8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바</a:t>
                      </a:r>
                      <a:endParaRPr sz="8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상품목록의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정렬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보기방식을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정의함</a:t>
                      </a:r>
                      <a:endParaRPr sz="8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AutoNum type="alphaLcPeriod"/>
                      </a:pP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sz="8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목록</a:t>
                      </a:r>
                      <a:r>
                        <a:rPr lang="en-US" sz="8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수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조건에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맞는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상품수를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노출함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천단위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‘,’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표시함</a:t>
                      </a:r>
                      <a:endParaRPr sz="8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AutoNum type="alphaLcPeriod"/>
                      </a:pP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정렬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인기순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최신순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낮은가격순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높은가격순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주행거리순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연식순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디폴트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인기순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탭하면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드롭다운으로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위의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정렬조건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선택가능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인기순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조회수가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많은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순</a:t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최신순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u="none" strike="noStrike" cap="none" dirty="0" smtClean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000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등록일이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최근인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순(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동일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시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인기순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적용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높은가격순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낮은가격순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최종가격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할인적용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주행거리순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주행거리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짧은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순(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동일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시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인기순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적용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연식순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연식이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최신인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순</a:t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상품상세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이동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후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진입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시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유지</a:t>
                      </a:r>
                      <a:endParaRPr sz="8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90488" marR="0" lvl="0" indent="-904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AutoNum type="alphaLcPeriod"/>
                      </a:pP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보기방식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리스트형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보기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썸네일형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보기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디폴트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썸네일형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보기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썸네일형일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경우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리스트형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아이콘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리스트형일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경우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썸네일형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아이콘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상품상세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이동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후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진입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시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유지</a:t>
                      </a:r>
                      <a:endParaRPr sz="8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396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396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396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396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396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396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39688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43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Note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8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308" name="Google Shape;2308;p61"/>
          <p:cNvSpPr txBox="1"/>
          <p:nvPr/>
        </p:nvSpPr>
        <p:spPr>
          <a:xfrm>
            <a:off x="5902895" y="759579"/>
            <a:ext cx="2413787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sng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 내용</a:t>
            </a:r>
            <a:endParaRPr sz="900" b="1" i="0" u="sng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</a:pP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영역에 대한 정의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영역 내 요소에 대한 정의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요소의 기능 및 전시 로직에 대한 정의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동작에 대한 정의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Data의 출처 정의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 흐름에 대한 동선 정의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3" marR="0" lvl="0" indent="-1825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Link되는 화면ID 혹은 URL 정의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9" name="Google Shape;2309;p61"/>
          <p:cNvGrpSpPr/>
          <p:nvPr/>
        </p:nvGrpSpPr>
        <p:grpSpPr>
          <a:xfrm>
            <a:off x="1555808" y="909591"/>
            <a:ext cx="2690948" cy="363954"/>
            <a:chOff x="1555808" y="2552523"/>
            <a:chExt cx="2690948" cy="363954"/>
          </a:xfrm>
        </p:grpSpPr>
        <p:sp>
          <p:nvSpPr>
            <p:cNvPr id="2310" name="Google Shape;2310;p61"/>
            <p:cNvSpPr/>
            <p:nvPr/>
          </p:nvSpPr>
          <p:spPr>
            <a:xfrm>
              <a:off x="1555808" y="2552523"/>
              <a:ext cx="269094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11" name="Google Shape;2311;p61"/>
            <p:cNvSpPr/>
            <p:nvPr/>
          </p:nvSpPr>
          <p:spPr>
            <a:xfrm flipH="1">
              <a:off x="1645444" y="2676741"/>
              <a:ext cx="57524" cy="117201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12" name="Google Shape;2312;p61"/>
            <p:cNvSpPr txBox="1"/>
            <p:nvPr/>
          </p:nvSpPr>
          <p:spPr>
            <a:xfrm>
              <a:off x="1794681" y="2552523"/>
              <a:ext cx="2224585" cy="363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LIST</a:t>
              </a:r>
              <a:endParaRPr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13" name="Google Shape;2313;p61"/>
            <p:cNvSpPr/>
            <p:nvPr/>
          </p:nvSpPr>
          <p:spPr>
            <a:xfrm>
              <a:off x="3916174" y="2606083"/>
              <a:ext cx="260090" cy="254295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4" name="Google Shape;2314;p61"/>
          <p:cNvGrpSpPr/>
          <p:nvPr/>
        </p:nvGrpSpPr>
        <p:grpSpPr>
          <a:xfrm>
            <a:off x="1554499" y="1269079"/>
            <a:ext cx="2939778" cy="360000"/>
            <a:chOff x="1554499" y="1936396"/>
            <a:chExt cx="2939778" cy="360000"/>
          </a:xfrm>
        </p:grpSpPr>
        <p:sp>
          <p:nvSpPr>
            <p:cNvPr id="2315" name="Google Shape;2315;p61"/>
            <p:cNvSpPr/>
            <p:nvPr/>
          </p:nvSpPr>
          <p:spPr>
            <a:xfrm>
              <a:off x="1554499" y="1936396"/>
              <a:ext cx="2691628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 </a:t>
              </a: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00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316" name="Google Shape;2316;p61"/>
            <p:cNvGrpSpPr/>
            <p:nvPr/>
          </p:nvGrpSpPr>
          <p:grpSpPr>
            <a:xfrm>
              <a:off x="3989070" y="2055436"/>
              <a:ext cx="134532" cy="121920"/>
              <a:chOff x="4335780" y="3314700"/>
              <a:chExt cx="266700" cy="220980"/>
            </a:xfrm>
          </p:grpSpPr>
          <p:sp>
            <p:nvSpPr>
              <p:cNvPr id="2317" name="Google Shape;2317;p61"/>
              <p:cNvSpPr/>
              <p:nvPr/>
            </p:nvSpPr>
            <p:spPr>
              <a:xfrm>
                <a:off x="4335780" y="331470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18" name="Google Shape;2318;p61"/>
              <p:cNvSpPr/>
              <p:nvPr/>
            </p:nvSpPr>
            <p:spPr>
              <a:xfrm>
                <a:off x="4335780" y="340233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19" name="Google Shape;2319;p61"/>
              <p:cNvSpPr/>
              <p:nvPr/>
            </p:nvSpPr>
            <p:spPr>
              <a:xfrm>
                <a:off x="4335780" y="3489960"/>
                <a:ext cx="266700" cy="4572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320" name="Google Shape;2320;p61"/>
            <p:cNvGrpSpPr/>
            <p:nvPr/>
          </p:nvGrpSpPr>
          <p:grpSpPr>
            <a:xfrm>
              <a:off x="4364737" y="2055436"/>
              <a:ext cx="129540" cy="121920"/>
              <a:chOff x="3328035" y="2152972"/>
              <a:chExt cx="184743" cy="121920"/>
            </a:xfrm>
          </p:grpSpPr>
          <p:grpSp>
            <p:nvGrpSpPr>
              <p:cNvPr id="2321" name="Google Shape;2321;p61"/>
              <p:cNvGrpSpPr/>
              <p:nvPr/>
            </p:nvGrpSpPr>
            <p:grpSpPr>
              <a:xfrm>
                <a:off x="3328035" y="2152972"/>
                <a:ext cx="45719" cy="121920"/>
                <a:chOff x="4335780" y="3314700"/>
                <a:chExt cx="266700" cy="220980"/>
              </a:xfrm>
            </p:grpSpPr>
            <p:sp>
              <p:nvSpPr>
                <p:cNvPr id="2322" name="Google Shape;2322;p61"/>
                <p:cNvSpPr/>
                <p:nvPr/>
              </p:nvSpPr>
              <p:spPr>
                <a:xfrm>
                  <a:off x="4335780" y="331470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23" name="Google Shape;2323;p61"/>
                <p:cNvSpPr/>
                <p:nvPr/>
              </p:nvSpPr>
              <p:spPr>
                <a:xfrm>
                  <a:off x="4335780" y="340233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24" name="Google Shape;2324;p61"/>
                <p:cNvSpPr/>
                <p:nvPr/>
              </p:nvSpPr>
              <p:spPr>
                <a:xfrm>
                  <a:off x="4335780" y="348996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325" name="Google Shape;2325;p61"/>
              <p:cNvGrpSpPr/>
              <p:nvPr/>
            </p:nvGrpSpPr>
            <p:grpSpPr>
              <a:xfrm>
                <a:off x="3398479" y="2152972"/>
                <a:ext cx="45719" cy="121920"/>
                <a:chOff x="4335780" y="3314700"/>
                <a:chExt cx="266700" cy="220980"/>
              </a:xfrm>
            </p:grpSpPr>
            <p:sp>
              <p:nvSpPr>
                <p:cNvPr id="2326" name="Google Shape;2326;p61"/>
                <p:cNvSpPr/>
                <p:nvPr/>
              </p:nvSpPr>
              <p:spPr>
                <a:xfrm>
                  <a:off x="4335780" y="331470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27" name="Google Shape;2327;p61"/>
                <p:cNvSpPr/>
                <p:nvPr/>
              </p:nvSpPr>
              <p:spPr>
                <a:xfrm>
                  <a:off x="4335780" y="340233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28" name="Google Shape;2328;p61"/>
                <p:cNvSpPr/>
                <p:nvPr/>
              </p:nvSpPr>
              <p:spPr>
                <a:xfrm>
                  <a:off x="4335780" y="348996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329" name="Google Shape;2329;p61"/>
              <p:cNvGrpSpPr/>
              <p:nvPr/>
            </p:nvGrpSpPr>
            <p:grpSpPr>
              <a:xfrm>
                <a:off x="3467059" y="2152972"/>
                <a:ext cx="45719" cy="121920"/>
                <a:chOff x="4335780" y="3314700"/>
                <a:chExt cx="266700" cy="220980"/>
              </a:xfrm>
            </p:grpSpPr>
            <p:sp>
              <p:nvSpPr>
                <p:cNvPr id="2330" name="Google Shape;2330;p61"/>
                <p:cNvSpPr/>
                <p:nvPr/>
              </p:nvSpPr>
              <p:spPr>
                <a:xfrm>
                  <a:off x="4335780" y="331470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31" name="Google Shape;2331;p61"/>
                <p:cNvSpPr/>
                <p:nvPr/>
              </p:nvSpPr>
              <p:spPr>
                <a:xfrm>
                  <a:off x="4335780" y="340233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32" name="Google Shape;2332;p61"/>
                <p:cNvSpPr/>
                <p:nvPr/>
              </p:nvSpPr>
              <p:spPr>
                <a:xfrm>
                  <a:off x="4335780" y="3489960"/>
                  <a:ext cx="266700" cy="4572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</p:grpSp>
      <p:sp>
        <p:nvSpPr>
          <p:cNvPr id="2333" name="Google Shape;2333;p61"/>
          <p:cNvSpPr/>
          <p:nvPr/>
        </p:nvSpPr>
        <p:spPr>
          <a:xfrm>
            <a:off x="4027216" y="960566"/>
            <a:ext cx="186284" cy="93682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4" name="Google Shape;2334;p61"/>
          <p:cNvSpPr/>
          <p:nvPr/>
        </p:nvSpPr>
        <p:spPr>
          <a:xfrm>
            <a:off x="1472310" y="1191554"/>
            <a:ext cx="165463" cy="165463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5" name="Google Shape;2335;p61"/>
          <p:cNvSpPr/>
          <p:nvPr/>
        </p:nvSpPr>
        <p:spPr>
          <a:xfrm>
            <a:off x="2139227" y="1365423"/>
            <a:ext cx="165463" cy="165463"/>
          </a:xfrm>
          <a:prstGeom prst="ellipse">
            <a:avLst/>
          </a:prstGeom>
          <a:solidFill>
            <a:srgbClr val="0070C0"/>
          </a:solidFill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1a</a:t>
            </a:r>
            <a:endParaRPr sz="7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6" name="Google Shape;2336;p61"/>
          <p:cNvSpPr/>
          <p:nvPr/>
        </p:nvSpPr>
        <p:spPr>
          <a:xfrm>
            <a:off x="4158651" y="1371289"/>
            <a:ext cx="165463" cy="165463"/>
          </a:xfrm>
          <a:prstGeom prst="ellipse">
            <a:avLst/>
          </a:prstGeom>
          <a:solidFill>
            <a:srgbClr val="0070C0"/>
          </a:solidFill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1c</a:t>
            </a:r>
            <a:endParaRPr sz="7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37" name="Google Shape;2337;p61"/>
          <p:cNvGrpSpPr/>
          <p:nvPr/>
        </p:nvGrpSpPr>
        <p:grpSpPr>
          <a:xfrm>
            <a:off x="3183045" y="1332991"/>
            <a:ext cx="707676" cy="221662"/>
            <a:chOff x="2149824" y="2537763"/>
            <a:chExt cx="707676" cy="221662"/>
          </a:xfrm>
        </p:grpSpPr>
        <p:sp>
          <p:nvSpPr>
            <p:cNvPr id="2338" name="Google Shape;2338;p61"/>
            <p:cNvSpPr/>
            <p:nvPr/>
          </p:nvSpPr>
          <p:spPr>
            <a:xfrm>
              <a:off x="2149824" y="2537763"/>
              <a:ext cx="707676" cy="221662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인기순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61"/>
            <p:cNvSpPr/>
            <p:nvPr/>
          </p:nvSpPr>
          <p:spPr>
            <a:xfrm rot="-5400000" flipH="1">
              <a:off x="2713602" y="2617666"/>
              <a:ext cx="37785" cy="69985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340" name="Google Shape;2340;p61"/>
          <p:cNvSpPr/>
          <p:nvPr/>
        </p:nvSpPr>
        <p:spPr>
          <a:xfrm>
            <a:off x="3061550" y="1372926"/>
            <a:ext cx="165463" cy="165463"/>
          </a:xfrm>
          <a:prstGeom prst="ellipse">
            <a:avLst/>
          </a:prstGeom>
          <a:solidFill>
            <a:srgbClr val="0070C0"/>
          </a:solidFill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1b</a:t>
            </a:r>
            <a:endParaRPr sz="7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g25512ed3510_0_0"/>
          <p:cNvSpPr txBox="1">
            <a:spLocks noGrp="1"/>
          </p:cNvSpPr>
          <p:nvPr>
            <p:ph type="ctrTitle"/>
          </p:nvPr>
        </p:nvSpPr>
        <p:spPr>
          <a:xfrm>
            <a:off x="3927564" y="42499"/>
            <a:ext cx="46155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algun Gothic"/>
              <a:buNone/>
            </a:pPr>
            <a:r>
              <a:rPr lang="en-US"/>
              <a:t>LIST</a:t>
            </a:r>
            <a:endParaRPr/>
          </a:p>
        </p:txBody>
      </p:sp>
      <p:sp>
        <p:nvSpPr>
          <p:cNvPr id="2346" name="Google Shape;2346;g25512ed3510_0_0"/>
          <p:cNvSpPr txBox="1">
            <a:spLocks noGrp="1"/>
          </p:cNvSpPr>
          <p:nvPr>
            <p:ph type="subTitle" idx="1"/>
          </p:nvPr>
        </p:nvSpPr>
        <p:spPr>
          <a:xfrm>
            <a:off x="3936273" y="252549"/>
            <a:ext cx="4606800" cy="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/>
              <a:t>홈&gt;LIST</a:t>
            </a:r>
            <a:endParaRPr/>
          </a:p>
        </p:txBody>
      </p:sp>
      <p:sp>
        <p:nvSpPr>
          <p:cNvPr id="2347" name="Google Shape;2347;g25512ed3510_0_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00" cy="1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62</a:t>
            </a:fld>
            <a:endParaRPr sz="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8" name="Google Shape;2348;g25512ed3510_0_0"/>
          <p:cNvSpPr txBox="1">
            <a:spLocks noGrp="1"/>
          </p:cNvSpPr>
          <p:nvPr>
            <p:ph type="body" idx="2"/>
          </p:nvPr>
        </p:nvSpPr>
        <p:spPr>
          <a:xfrm>
            <a:off x="9261748" y="47397"/>
            <a:ext cx="13191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/>
              <a:t>Mobile</a:t>
            </a:r>
            <a:endParaRPr/>
          </a:p>
        </p:txBody>
      </p:sp>
      <p:sp>
        <p:nvSpPr>
          <p:cNvPr id="2349" name="Google Shape;2349;g25512ed3510_0_0"/>
          <p:cNvSpPr txBox="1">
            <a:spLocks noGrp="1"/>
          </p:cNvSpPr>
          <p:nvPr>
            <p:ph type="body" idx="3"/>
          </p:nvPr>
        </p:nvSpPr>
        <p:spPr>
          <a:xfrm>
            <a:off x="9270457" y="260215"/>
            <a:ext cx="13191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/>
              <a:t>N/A</a:t>
            </a:r>
            <a:endParaRPr/>
          </a:p>
        </p:txBody>
      </p:sp>
      <p:sp>
        <p:nvSpPr>
          <p:cNvPr id="2350" name="Google Shape;2350;g25512ed3510_0_0"/>
          <p:cNvSpPr txBox="1">
            <a:spLocks noGrp="1"/>
          </p:cNvSpPr>
          <p:nvPr>
            <p:ph type="body" idx="4"/>
          </p:nvPr>
        </p:nvSpPr>
        <p:spPr>
          <a:xfrm>
            <a:off x="10872834" y="47397"/>
            <a:ext cx="13191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/>
              <a:t>김현대</a:t>
            </a:r>
            <a:endParaRPr/>
          </a:p>
        </p:txBody>
      </p:sp>
      <p:sp>
        <p:nvSpPr>
          <p:cNvPr id="2351" name="Google Shape;2351;g25512ed3510_0_0"/>
          <p:cNvSpPr txBox="1">
            <a:spLocks noGrp="1"/>
          </p:cNvSpPr>
          <p:nvPr>
            <p:ph type="body" idx="5"/>
          </p:nvPr>
        </p:nvSpPr>
        <p:spPr>
          <a:xfrm>
            <a:off x="10881543" y="260215"/>
            <a:ext cx="1310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/>
              <a:t>21.04.23</a:t>
            </a:r>
            <a:endParaRPr/>
          </a:p>
        </p:txBody>
      </p:sp>
      <p:sp>
        <p:nvSpPr>
          <p:cNvPr id="2352" name="Google Shape;2352;g25512ed3510_0_0"/>
          <p:cNvSpPr txBox="1">
            <a:spLocks noGrp="1"/>
          </p:cNvSpPr>
          <p:nvPr>
            <p:ph type="body" idx="6"/>
          </p:nvPr>
        </p:nvSpPr>
        <p:spPr>
          <a:xfrm>
            <a:off x="2049387" y="251506"/>
            <a:ext cx="13191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en-US" dirty="0" smtClean="0"/>
              <a:t>000_PL_H00000</a:t>
            </a:r>
            <a:endParaRPr dirty="0"/>
          </a:p>
        </p:txBody>
      </p:sp>
      <p:graphicFrame>
        <p:nvGraphicFramePr>
          <p:cNvPr id="2353" name="Google Shape;2353;g25512ed3510_0_0"/>
          <p:cNvGraphicFramePr/>
          <p:nvPr/>
        </p:nvGraphicFramePr>
        <p:xfrm>
          <a:off x="8549372" y="460507"/>
          <a:ext cx="3600875" cy="5127000"/>
        </p:xfrm>
        <a:graphic>
          <a:graphicData uri="http://schemas.openxmlformats.org/drawingml/2006/table">
            <a:tbl>
              <a:tblPr firstRow="1" bandRow="1">
                <a:noFill/>
                <a:tableStyleId>{3AE133EE-DB41-4125-A488-5C14177497C7}</a:tableStyleId>
              </a:tblPr>
              <a:tblGrid>
                <a:gridCol w="32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Service Policy</a:t>
                      </a:r>
                      <a:endParaRPr sz="9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 gridSpan="2">
                  <a:txBody>
                    <a:bodyPr/>
                    <a:lstStyle/>
                    <a:p>
                      <a:pPr marL="87312" marR="0" lvl="0" indent="-8731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정책을 정의</a:t>
                      </a:r>
                      <a:endParaRPr sz="8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87312" marR="0" lvl="0" indent="-87312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US" sz="800" b="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 정책을 정의</a:t>
                      </a:r>
                      <a:endParaRPr sz="1400" u="none" strike="noStrike" cap="none"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UI/UX Description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상품목록</a:t>
                      </a:r>
                      <a:r>
                        <a:rPr lang="en-US" sz="8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</a:t>
                      </a:r>
                      <a:r>
                        <a:rPr lang="en-US" sz="8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바</a:t>
                      </a:r>
                      <a:endParaRPr sz="8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상품목록의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정렬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보기방식을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정의함</a:t>
                      </a:r>
                      <a:endParaRPr sz="8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90487" marR="0" lvl="0" indent="-9048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AutoNum type="alphaLcPeriod"/>
                      </a:pP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sz="8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목록</a:t>
                      </a:r>
                      <a:r>
                        <a:rPr lang="en-US" sz="8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수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조건에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맞는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상품수를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노출함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천단위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‘,’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표시함</a:t>
                      </a:r>
                      <a:endParaRPr sz="8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90487" marR="0" lvl="0" indent="-9048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AutoNum type="alphaLcPeriod"/>
                      </a:pP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정렬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인기순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최신순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낮은가격순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높은가격순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주행거리순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연식순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디폴트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인기순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탭하면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드롭다운으로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위의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정렬조건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선택가능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인기순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조회수가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많은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순</a:t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최신순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u="none" strike="noStrike" cap="none" dirty="0" smtClean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000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등록일이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최근인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순(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동일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시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인기순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적용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높은가격순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낮은가격순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최종가격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할인적용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주행거리순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주행거리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짧은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순(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동일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시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인기순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적용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연식순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연식이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최신인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순</a:t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상품상세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이동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후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진입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시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유지</a:t>
                      </a:r>
                      <a:endParaRPr sz="8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90487" marR="0" lvl="0" indent="-90487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AutoNum type="alphaLcPeriod"/>
                      </a:pPr>
                      <a:r>
                        <a:rPr lang="en-US" sz="800" b="1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보기방식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리스트형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보기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썸네일형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보기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디폴트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썸네일형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보기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썸네일형일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경우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리스트형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아이콘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리스트형일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경우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썸네일형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아이콘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노출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/>
                      </a:r>
                      <a:b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상품상세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이동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후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진입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시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</a:t>
                      </a:r>
                      <a:r>
                        <a:rPr lang="en-US" sz="8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8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유지</a:t>
                      </a:r>
                      <a:endParaRPr sz="8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7" marR="0" lvl="0" indent="-3968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7" marR="0" lvl="0" indent="-3968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7" marR="0" lvl="0" indent="-3968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7" marR="0" lvl="0" indent="-3968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7" marR="0" lvl="0" indent="-3968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7" marR="0" lvl="0" indent="-3968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0487" marR="0" lvl="0" indent="-39686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43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Note</a:t>
                      </a:r>
                      <a:endParaRPr sz="9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8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C0C0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354" name="Google Shape;2354;g25512ed3510_0_0"/>
          <p:cNvSpPr txBox="1"/>
          <p:nvPr/>
        </p:nvSpPr>
        <p:spPr>
          <a:xfrm>
            <a:off x="5902895" y="759579"/>
            <a:ext cx="24138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lang="en-US" sz="900" b="1" i="0" u="sng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 내용</a:t>
            </a:r>
            <a:endParaRPr sz="900" b="1" i="0" u="sng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algun Gothic"/>
              <a:buNone/>
            </a:pP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2" marR="0" lvl="0" indent="-1825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영역에 대한 정의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2" marR="0" lvl="0" indent="-1825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영역 내 요소에 대한 정의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2" marR="0" lvl="0" indent="-1825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요소의 기능 및 전시 로직에 대한 정의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2" marR="0" lvl="0" indent="-1825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동작에 대한 정의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2" marR="0" lvl="0" indent="-1825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Data의 출처 정의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2" marR="0" lvl="0" indent="-1825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Process 흐름에 대한 동선 정의</a:t>
            </a:r>
            <a:endParaRPr sz="9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82562" marR="0" lvl="0" indent="-1825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AutoNum type="arabicPeriod"/>
            </a:pPr>
            <a:r>
              <a:rPr lang="en-US"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Link되는 화면ID 혹은 URL 정의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5" name="Google Shape;2355;g25512ed3510_0_0"/>
          <p:cNvGrpSpPr/>
          <p:nvPr/>
        </p:nvGrpSpPr>
        <p:grpSpPr>
          <a:xfrm>
            <a:off x="1555808" y="909591"/>
            <a:ext cx="2691000" cy="363900"/>
            <a:chOff x="1555808" y="2552523"/>
            <a:chExt cx="2691000" cy="363900"/>
          </a:xfrm>
        </p:grpSpPr>
        <p:sp>
          <p:nvSpPr>
            <p:cNvPr id="2356" name="Google Shape;2356;g25512ed3510_0_0"/>
            <p:cNvSpPr/>
            <p:nvPr/>
          </p:nvSpPr>
          <p:spPr>
            <a:xfrm>
              <a:off x="1555808" y="2552523"/>
              <a:ext cx="2691000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9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57" name="Google Shape;2357;g25512ed3510_0_0"/>
            <p:cNvSpPr/>
            <p:nvPr/>
          </p:nvSpPr>
          <p:spPr>
            <a:xfrm flipH="1">
              <a:off x="1645368" y="2676741"/>
              <a:ext cx="57600" cy="117300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58" name="Google Shape;2358;g25512ed3510_0_0"/>
            <p:cNvSpPr txBox="1"/>
            <p:nvPr/>
          </p:nvSpPr>
          <p:spPr>
            <a:xfrm>
              <a:off x="1794681" y="2552523"/>
              <a:ext cx="22245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Malgun Gothic"/>
                <a:buNone/>
              </a:pPr>
              <a:r>
                <a:rPr lang="en-US" sz="10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LIST</a:t>
              </a:r>
              <a:endParaRPr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59" name="Google Shape;2359;g25512ed3510_0_0"/>
            <p:cNvSpPr/>
            <p:nvPr/>
          </p:nvSpPr>
          <p:spPr>
            <a:xfrm>
              <a:off x="3916174" y="2606083"/>
              <a:ext cx="260100" cy="2544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700"/>
                <a:buFont typeface="Malgun Gothic"/>
                <a:buNone/>
              </a:pPr>
              <a:r>
                <a:rPr lang="en-US" sz="700" b="0" i="0" u="none" strike="noStrike" cap="none">
                  <a:solidFill>
                    <a:srgbClr val="BFBFB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0" name="Google Shape;2360;g25512ed3510_0_0"/>
          <p:cNvGrpSpPr/>
          <p:nvPr/>
        </p:nvGrpSpPr>
        <p:grpSpPr>
          <a:xfrm>
            <a:off x="1554499" y="1269079"/>
            <a:ext cx="2939732" cy="360000"/>
            <a:chOff x="1554499" y="1936396"/>
            <a:chExt cx="2939732" cy="360000"/>
          </a:xfrm>
        </p:grpSpPr>
        <p:sp>
          <p:nvSpPr>
            <p:cNvPr id="2361" name="Google Shape;2361;g25512ed3510_0_0"/>
            <p:cNvSpPr/>
            <p:nvPr/>
          </p:nvSpPr>
          <p:spPr>
            <a:xfrm>
              <a:off x="1554499" y="1936396"/>
              <a:ext cx="2691600" cy="360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 </a:t>
              </a:r>
              <a:r>
                <a:rPr lang="en-US" sz="8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00</a:t>
              </a: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</a:t>
              </a:r>
              <a:endParaRPr sz="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362" name="Google Shape;2362;g25512ed3510_0_0"/>
            <p:cNvGrpSpPr/>
            <p:nvPr/>
          </p:nvGrpSpPr>
          <p:grpSpPr>
            <a:xfrm>
              <a:off x="3988931" y="2055356"/>
              <a:ext cx="134523" cy="121848"/>
              <a:chOff x="4335780" y="3314700"/>
              <a:chExt cx="266700" cy="220860"/>
            </a:xfrm>
          </p:grpSpPr>
          <p:sp>
            <p:nvSpPr>
              <p:cNvPr id="2363" name="Google Shape;2363;g25512ed3510_0_0"/>
              <p:cNvSpPr/>
              <p:nvPr/>
            </p:nvSpPr>
            <p:spPr>
              <a:xfrm>
                <a:off x="4335780" y="3314700"/>
                <a:ext cx="266700" cy="4560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64" name="Google Shape;2364;g25512ed3510_0_0"/>
              <p:cNvSpPr/>
              <p:nvPr/>
            </p:nvSpPr>
            <p:spPr>
              <a:xfrm>
                <a:off x="4335780" y="3402330"/>
                <a:ext cx="266700" cy="4560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65" name="Google Shape;2365;g25512ed3510_0_0"/>
              <p:cNvSpPr/>
              <p:nvPr/>
            </p:nvSpPr>
            <p:spPr>
              <a:xfrm>
                <a:off x="4335780" y="3489960"/>
                <a:ext cx="266700" cy="45600"/>
              </a:xfrm>
              <a:prstGeom prst="rect">
                <a:avLst/>
              </a:prstGeom>
              <a:solidFill>
                <a:srgbClr val="3F3F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Malgun Gothic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366" name="Google Shape;2366;g25512ed3510_0_0"/>
            <p:cNvGrpSpPr/>
            <p:nvPr/>
          </p:nvGrpSpPr>
          <p:grpSpPr>
            <a:xfrm>
              <a:off x="4364694" y="2055356"/>
              <a:ext cx="129537" cy="121848"/>
              <a:chOff x="3327927" y="2152892"/>
              <a:chExt cx="184736" cy="121848"/>
            </a:xfrm>
          </p:grpSpPr>
          <p:grpSp>
            <p:nvGrpSpPr>
              <p:cNvPr id="2367" name="Google Shape;2367;g25512ed3510_0_0"/>
              <p:cNvGrpSpPr/>
              <p:nvPr/>
            </p:nvGrpSpPr>
            <p:grpSpPr>
              <a:xfrm>
                <a:off x="3327927" y="2152892"/>
                <a:ext cx="45712" cy="121848"/>
                <a:chOff x="4335780" y="3314700"/>
                <a:chExt cx="266700" cy="220860"/>
              </a:xfrm>
            </p:grpSpPr>
            <p:sp>
              <p:nvSpPr>
                <p:cNvPr id="2368" name="Google Shape;2368;g25512ed3510_0_0"/>
                <p:cNvSpPr/>
                <p:nvPr/>
              </p:nvSpPr>
              <p:spPr>
                <a:xfrm>
                  <a:off x="4335780" y="3314700"/>
                  <a:ext cx="266700" cy="4560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69" name="Google Shape;2369;g25512ed3510_0_0"/>
                <p:cNvSpPr/>
                <p:nvPr/>
              </p:nvSpPr>
              <p:spPr>
                <a:xfrm>
                  <a:off x="4335780" y="3402330"/>
                  <a:ext cx="266700" cy="4560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70" name="Google Shape;2370;g25512ed3510_0_0"/>
                <p:cNvSpPr/>
                <p:nvPr/>
              </p:nvSpPr>
              <p:spPr>
                <a:xfrm>
                  <a:off x="4335780" y="3489960"/>
                  <a:ext cx="266700" cy="4560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371" name="Google Shape;2371;g25512ed3510_0_0"/>
              <p:cNvGrpSpPr/>
              <p:nvPr/>
            </p:nvGrpSpPr>
            <p:grpSpPr>
              <a:xfrm>
                <a:off x="3398371" y="2152892"/>
                <a:ext cx="45712" cy="121848"/>
                <a:chOff x="4335780" y="3314700"/>
                <a:chExt cx="266700" cy="220860"/>
              </a:xfrm>
            </p:grpSpPr>
            <p:sp>
              <p:nvSpPr>
                <p:cNvPr id="2372" name="Google Shape;2372;g25512ed3510_0_0"/>
                <p:cNvSpPr/>
                <p:nvPr/>
              </p:nvSpPr>
              <p:spPr>
                <a:xfrm>
                  <a:off x="4335780" y="3314700"/>
                  <a:ext cx="266700" cy="4560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73" name="Google Shape;2373;g25512ed3510_0_0"/>
                <p:cNvSpPr/>
                <p:nvPr/>
              </p:nvSpPr>
              <p:spPr>
                <a:xfrm>
                  <a:off x="4335780" y="3402330"/>
                  <a:ext cx="266700" cy="4560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74" name="Google Shape;2374;g25512ed3510_0_0"/>
                <p:cNvSpPr/>
                <p:nvPr/>
              </p:nvSpPr>
              <p:spPr>
                <a:xfrm>
                  <a:off x="4335780" y="3489960"/>
                  <a:ext cx="266700" cy="4560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375" name="Google Shape;2375;g25512ed3510_0_0"/>
              <p:cNvGrpSpPr/>
              <p:nvPr/>
            </p:nvGrpSpPr>
            <p:grpSpPr>
              <a:xfrm>
                <a:off x="3466951" y="2152892"/>
                <a:ext cx="45712" cy="121848"/>
                <a:chOff x="4335780" y="3314700"/>
                <a:chExt cx="266700" cy="220860"/>
              </a:xfrm>
            </p:grpSpPr>
            <p:sp>
              <p:nvSpPr>
                <p:cNvPr id="2376" name="Google Shape;2376;g25512ed3510_0_0"/>
                <p:cNvSpPr/>
                <p:nvPr/>
              </p:nvSpPr>
              <p:spPr>
                <a:xfrm>
                  <a:off x="4335780" y="3314700"/>
                  <a:ext cx="266700" cy="4560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77" name="Google Shape;2377;g25512ed3510_0_0"/>
                <p:cNvSpPr/>
                <p:nvPr/>
              </p:nvSpPr>
              <p:spPr>
                <a:xfrm>
                  <a:off x="4335780" y="3402330"/>
                  <a:ext cx="266700" cy="4560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78" name="Google Shape;2378;g25512ed3510_0_0"/>
                <p:cNvSpPr/>
                <p:nvPr/>
              </p:nvSpPr>
              <p:spPr>
                <a:xfrm>
                  <a:off x="4335780" y="3489960"/>
                  <a:ext cx="266700" cy="45600"/>
                </a:xfrm>
                <a:prstGeom prst="rect">
                  <a:avLst/>
                </a:prstGeom>
                <a:solidFill>
                  <a:srgbClr val="3F3F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Malgun Gothic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</p:grpSp>
      <p:sp>
        <p:nvSpPr>
          <p:cNvPr id="2379" name="Google Shape;2379;g25512ed3510_0_0"/>
          <p:cNvSpPr/>
          <p:nvPr/>
        </p:nvSpPr>
        <p:spPr>
          <a:xfrm>
            <a:off x="4027216" y="960566"/>
            <a:ext cx="186300" cy="93600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Malgun Gothic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+99</a:t>
            </a:r>
            <a:endParaRPr sz="6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0" name="Google Shape;2380;g25512ed3510_0_0"/>
          <p:cNvSpPr/>
          <p:nvPr/>
        </p:nvSpPr>
        <p:spPr>
          <a:xfrm>
            <a:off x="1472310" y="1191554"/>
            <a:ext cx="165600" cy="1656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800" b="1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1" name="Google Shape;2381;g25512ed3510_0_0"/>
          <p:cNvSpPr/>
          <p:nvPr/>
        </p:nvSpPr>
        <p:spPr>
          <a:xfrm>
            <a:off x="2139227" y="1365423"/>
            <a:ext cx="165600" cy="165600"/>
          </a:xfrm>
          <a:prstGeom prst="ellipse">
            <a:avLst/>
          </a:prstGeom>
          <a:solidFill>
            <a:srgbClr val="0070C0"/>
          </a:solidFill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1a</a:t>
            </a:r>
            <a:endParaRPr sz="7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2" name="Google Shape;2382;g25512ed3510_0_0"/>
          <p:cNvSpPr/>
          <p:nvPr/>
        </p:nvSpPr>
        <p:spPr>
          <a:xfrm>
            <a:off x="4158651" y="1371289"/>
            <a:ext cx="165600" cy="165600"/>
          </a:xfrm>
          <a:prstGeom prst="ellipse">
            <a:avLst/>
          </a:prstGeom>
          <a:solidFill>
            <a:srgbClr val="0070C0"/>
          </a:solidFill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1c</a:t>
            </a:r>
            <a:endParaRPr sz="7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83" name="Google Shape;2383;g25512ed3510_0_0"/>
          <p:cNvGrpSpPr/>
          <p:nvPr/>
        </p:nvGrpSpPr>
        <p:grpSpPr>
          <a:xfrm>
            <a:off x="3183045" y="1332991"/>
            <a:ext cx="707700" cy="221700"/>
            <a:chOff x="2149824" y="2537763"/>
            <a:chExt cx="707700" cy="221700"/>
          </a:xfrm>
        </p:grpSpPr>
        <p:sp>
          <p:nvSpPr>
            <p:cNvPr id="2384" name="Google Shape;2384;g25512ed3510_0_0"/>
            <p:cNvSpPr/>
            <p:nvPr/>
          </p:nvSpPr>
          <p:spPr>
            <a:xfrm>
              <a:off x="2149824" y="2537763"/>
              <a:ext cx="707700" cy="2217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lang="en-US" sz="800" b="0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인기순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g25512ed3510_0_0"/>
            <p:cNvSpPr/>
            <p:nvPr/>
          </p:nvSpPr>
          <p:spPr>
            <a:xfrm rot="-5400000" flipH="1">
              <a:off x="2713552" y="2617716"/>
              <a:ext cx="37800" cy="69900"/>
            </a:xfrm>
            <a:prstGeom prst="chevron">
              <a:avLst>
                <a:gd name="adj" fmla="val 100000"/>
              </a:avLst>
            </a:prstGeom>
            <a:solidFill>
              <a:srgbClr val="0C0C0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algun Gothic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386" name="Google Shape;2386;g25512ed3510_0_0"/>
          <p:cNvSpPr/>
          <p:nvPr/>
        </p:nvSpPr>
        <p:spPr>
          <a:xfrm>
            <a:off x="3061550" y="1372926"/>
            <a:ext cx="165600" cy="165600"/>
          </a:xfrm>
          <a:prstGeom prst="ellipse">
            <a:avLst/>
          </a:prstGeom>
          <a:solidFill>
            <a:srgbClr val="0070C0"/>
          </a:solidFill>
          <a:ln w="952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algun Gothic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1b</a:t>
            </a:r>
            <a:endParaRPr sz="7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표지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7219</Words>
  <Application>Microsoft Office PowerPoint</Application>
  <PresentationFormat>와이드스크린</PresentationFormat>
  <Paragraphs>1956</Paragraphs>
  <Slides>62</Slides>
  <Notes>62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62</vt:i4>
      </vt:variant>
    </vt:vector>
  </HeadingPairs>
  <TitlesOfParts>
    <vt:vector size="68" baseType="lpstr">
      <vt:lpstr>Noto Sans Symbols</vt:lpstr>
      <vt:lpstr>Malgun Gothic</vt:lpstr>
      <vt:lpstr>Malgun Gothic</vt:lpstr>
      <vt:lpstr>Arial</vt:lpstr>
      <vt:lpstr>표지</vt:lpstr>
      <vt:lpstr>디자인 사용자 지정</vt:lpstr>
      <vt:lpstr>프로젝트명</vt:lpstr>
      <vt:lpstr>HISTORY OF DOCUMENT</vt:lpstr>
      <vt:lpstr>PowerPoint 프레젠테이션</vt:lpstr>
      <vt:lpstr>환경정의</vt:lpstr>
      <vt:lpstr>1) 사용자 화면 : 해상도</vt:lpstr>
      <vt:lpstr>1) 사용자 화면 : 그리드</vt:lpstr>
      <vt:lpstr>2) 서비스 커버리지(1/3)</vt:lpstr>
      <vt:lpstr>2) 서비스 커버리지(2/3)</vt:lpstr>
      <vt:lpstr>2) 서비스 커버리지(3/3)</vt:lpstr>
      <vt:lpstr>내비게이션</vt:lpstr>
      <vt:lpstr>1) 정보구조</vt:lpstr>
      <vt:lpstr>2) 메뉴</vt:lpstr>
      <vt:lpstr>3) 경로이동</vt:lpstr>
      <vt:lpstr>3) 경로이동</vt:lpstr>
      <vt:lpstr>레이아웃</vt:lpstr>
      <vt:lpstr>1) Header</vt:lpstr>
      <vt:lpstr>2) Tab Bar</vt:lpstr>
      <vt:lpstr>3) GNB Area</vt:lpstr>
      <vt:lpstr>4) Contents Area</vt:lpstr>
      <vt:lpstr>5) Footer</vt:lpstr>
      <vt:lpstr>6) Layer Pop-up(1/4)</vt:lpstr>
      <vt:lpstr>6) Layer Pop-up(2/4)</vt:lpstr>
      <vt:lpstr>6) Layer Pop-up(3/4)</vt:lpstr>
      <vt:lpstr>6) Layer Pop-up(3/4)</vt:lpstr>
      <vt:lpstr>7) Product Unit(1/3)</vt:lpstr>
      <vt:lpstr>7) Product Unit(2/3)</vt:lpstr>
      <vt:lpstr>7) Product Unit(3/3)</vt:lpstr>
      <vt:lpstr>용어정의</vt:lpstr>
      <vt:lpstr>1) Title</vt:lpstr>
      <vt:lpstr>2) Label(1/2)</vt:lpstr>
      <vt:lpstr>2) Label(2/2)</vt:lpstr>
      <vt:lpstr>3) Information</vt:lpstr>
      <vt:lpstr>4) Message(1/2)</vt:lpstr>
      <vt:lpstr>4) Message(2/2)</vt:lpstr>
      <vt:lpstr>UI요소 정의</vt:lpstr>
      <vt:lpstr>1) Tab</vt:lpstr>
      <vt:lpstr>2) Button</vt:lpstr>
      <vt:lpstr>3) Check Box &amp; Radio Button</vt:lpstr>
      <vt:lpstr>4) Drop Down</vt:lpstr>
      <vt:lpstr>5) Icon</vt:lpstr>
      <vt:lpstr>6) Input</vt:lpstr>
      <vt:lpstr>7) Calender</vt:lpstr>
      <vt:lpstr>8) Table</vt:lpstr>
      <vt:lpstr>9) Image &amp; Movie</vt:lpstr>
      <vt:lpstr>10) Progress Bar</vt:lpstr>
      <vt:lpstr>11) List &amp; Paging(1/2)</vt:lpstr>
      <vt:lpstr>11) List &amp; Paging(2/2)</vt:lpstr>
      <vt:lpstr>인터랙션</vt:lpstr>
      <vt:lpstr>1) Scroll</vt:lpstr>
      <vt:lpstr>2) Flicking</vt:lpstr>
      <vt:lpstr>3) Pinch</vt:lpstr>
      <vt:lpstr>3) Movie Play</vt:lpstr>
      <vt:lpstr>6) Agreement</vt:lpstr>
      <vt:lpstr>기타</vt:lpstr>
      <vt:lpstr>1) Error Page(1/3)</vt:lpstr>
      <vt:lpstr>1) Error Page(2/3)</vt:lpstr>
      <vt:lpstr>1) Error Page(3/3)</vt:lpstr>
      <vt:lpstr>화면설계서 작성가이드</vt:lpstr>
      <vt:lpstr>문서 명명규칙</vt:lpstr>
      <vt:lpstr>화면 번호 명명규칙</vt:lpstr>
      <vt:lpstr>LIST</vt:lpstr>
      <vt:lpstr>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프로젝트명</dc:title>
  <cp:lastModifiedBy>Empasy</cp:lastModifiedBy>
  <cp:revision>1</cp:revision>
  <dcterms:created xsi:type="dcterms:W3CDTF">2021-09-23T01:53:10Z</dcterms:created>
  <dcterms:modified xsi:type="dcterms:W3CDTF">2023-06-30T10:51:05Z</dcterms:modified>
</cp:coreProperties>
</file>