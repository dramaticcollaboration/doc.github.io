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3974">
          <p15:clr>
            <a:srgbClr val="A4A3A4"/>
          </p15:clr>
        </p15:guide>
        <p15:guide id="2" pos="347">
          <p15:clr>
            <a:srgbClr val="A4A3A4"/>
          </p15:clr>
        </p15:guide>
        <p15:guide id="3" orient="horz" pos="913">
          <p15:clr>
            <a:srgbClr val="A4A3A4"/>
          </p15:clr>
        </p15:guide>
        <p15:guide id="4" orient="horz" pos="2183">
          <p15:clr>
            <a:srgbClr val="A4A3A4"/>
          </p15:clr>
        </p15:guide>
        <p15:guide id="5" orient="horz" pos="3657">
          <p15:clr>
            <a:srgbClr val="A4A3A4"/>
          </p15:clr>
        </p15:guide>
        <p15:guide id="6" orient="horz" pos="3748">
          <p15:clr>
            <a:srgbClr val="A4A3A4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13" roundtripDataSignature="AMtx7mi83aXEf07EBFDhYhEkl7O1JSD7L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CF84172B-D96C-486F-86B3-8FE4519AAE3F}">
  <a:tblStyle styleId="{CF84172B-D96C-486F-86B3-8FE4519AAE3F}" styleName="Table_0">
    <a:wholeTbl>
      <a:tcTxStyle b="off" i="off">
        <a:font>
          <a:latin typeface="맑은 고딕"/>
          <a:ea typeface="맑은 고딕"/>
          <a:cs typeface="맑은 고딕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9EFF7"/>
          </a:solidFill>
        </a:fill>
      </a:tcStyle>
    </a:wholeTbl>
    <a:band1H>
      <a:tcTxStyle/>
      <a:tcStyle>
        <a:tcBdr/>
        <a:fill>
          <a:solidFill>
            <a:srgbClr val="D0DEEF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D0DEEF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맑은 고딕"/>
          <a:ea typeface="맑은 고딕"/>
          <a:cs typeface="맑은 고딕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맑은 고딕"/>
          <a:ea typeface="맑은 고딕"/>
          <a:cs typeface="맑은 고딕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맑은 고딕"/>
          <a:ea typeface="맑은 고딕"/>
          <a:cs typeface="맑은 고딕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맑은 고딕"/>
          <a:ea typeface="맑은 고딕"/>
          <a:cs typeface="맑은 고딕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12633658-39FB-4817-A113-8923954F37BE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284" y="72"/>
      </p:cViewPr>
      <p:guideLst>
        <p:guide orient="horz" pos="3974"/>
        <p:guide pos="347"/>
        <p:guide orient="horz" pos="913"/>
        <p:guide orient="horz" pos="2183"/>
        <p:guide orient="horz" pos="3657"/>
        <p:guide orient="horz" pos="374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customschemas.google.com/relationships/presentationmetadata" Target="metadata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4" Type="http://schemas.openxmlformats.org/officeDocument/2006/relationships/slide" Target="slides/slide3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" name="Google Shape;59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" name="Google Shape;67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" name="Google Shape;74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1" name="Google Shape;81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4" name="Google Shape;114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1" name="Google Shape;121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슬라이드">
  <p:cSld name="제목 슬라이드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169"/>
          <p:cNvSpPr/>
          <p:nvPr/>
        </p:nvSpPr>
        <p:spPr>
          <a:xfrm>
            <a:off x="0" y="6625087"/>
            <a:ext cx="12192000" cy="232913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Font typeface="Malgun Gothic"/>
              <a:buNone/>
            </a:pPr>
            <a:endParaRPr sz="6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" name="Google Shape;18;p169"/>
          <p:cNvSpPr txBox="1">
            <a:spLocks noGrp="1"/>
          </p:cNvSpPr>
          <p:nvPr>
            <p:ph type="ftr" idx="11"/>
          </p:nvPr>
        </p:nvSpPr>
        <p:spPr>
          <a:xfrm>
            <a:off x="79076" y="6678345"/>
            <a:ext cx="4114800" cy="1308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700"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169"/>
          <p:cNvSpPr txBox="1">
            <a:spLocks noGrp="1"/>
          </p:cNvSpPr>
          <p:nvPr>
            <p:ph type="sldNum" idx="12"/>
          </p:nvPr>
        </p:nvSpPr>
        <p:spPr>
          <a:xfrm>
            <a:off x="11389360" y="6675521"/>
            <a:ext cx="637298" cy="1337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spcBef>
                <a:spcPts val="0"/>
              </a:spcBef>
              <a:buNone/>
              <a:defRPr sz="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spcBef>
                <a:spcPts val="0"/>
              </a:spcBef>
              <a:buNone/>
              <a:defRPr sz="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spcBef>
                <a:spcPts val="0"/>
              </a:spcBef>
              <a:buNone/>
              <a:defRPr sz="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spcBef>
                <a:spcPts val="0"/>
              </a:spcBef>
              <a:buNone/>
              <a:defRPr sz="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spcBef>
                <a:spcPts val="0"/>
              </a:spcBef>
              <a:buNone/>
              <a:defRPr sz="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spcBef>
                <a:spcPts val="0"/>
              </a:spcBef>
              <a:buNone/>
              <a:defRPr sz="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spcBef>
                <a:spcPts val="0"/>
              </a:spcBef>
              <a:buNone/>
              <a:defRPr sz="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spcBef>
                <a:spcPts val="0"/>
              </a:spcBef>
              <a:buNone/>
              <a:defRPr sz="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spcBef>
                <a:spcPts val="0"/>
              </a:spcBef>
              <a:buNone/>
              <a:defRPr sz="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0" name="Google Shape;20;p169"/>
          <p:cNvSpPr txBox="1"/>
          <p:nvPr/>
        </p:nvSpPr>
        <p:spPr>
          <a:xfrm>
            <a:off x="9144720" y="6637705"/>
            <a:ext cx="2489200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800"/>
              <a:t>한빛글로벌 SyncFlow AI</a:t>
            </a:r>
            <a:r>
              <a:rPr lang="en-US"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l  Page</a:t>
            </a: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" name="Google Shape;21;p169"/>
          <p:cNvSpPr txBox="1">
            <a:spLocks noGrp="1"/>
          </p:cNvSpPr>
          <p:nvPr>
            <p:ph type="subTitle" idx="1"/>
          </p:nvPr>
        </p:nvSpPr>
        <p:spPr>
          <a:xfrm>
            <a:off x="420452" y="2738949"/>
            <a:ext cx="11309267" cy="4039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R="0" lv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95959"/>
              </a:buClr>
              <a:buSzPts val="2000"/>
              <a:buFont typeface="Arial"/>
              <a:buNone/>
              <a:defRPr sz="20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22" name="Google Shape;22;p169"/>
          <p:cNvSpPr txBox="1">
            <a:spLocks noGrp="1"/>
          </p:cNvSpPr>
          <p:nvPr>
            <p:ph type="ctrTitle"/>
          </p:nvPr>
        </p:nvSpPr>
        <p:spPr>
          <a:xfrm>
            <a:off x="420452" y="2150072"/>
            <a:ext cx="11309267" cy="4271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1"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cxnSp>
        <p:nvCxnSpPr>
          <p:cNvPr id="23" name="Google Shape;23;p169"/>
          <p:cNvCxnSpPr/>
          <p:nvPr/>
        </p:nvCxnSpPr>
        <p:spPr>
          <a:xfrm>
            <a:off x="403035" y="2634441"/>
            <a:ext cx="11326684" cy="0"/>
          </a:xfrm>
          <a:prstGeom prst="straightConnector1">
            <a:avLst/>
          </a:prstGeom>
          <a:noFill/>
          <a:ln w="28575" cap="flat" cmpd="sng">
            <a:solidFill>
              <a:srgbClr val="00458A"/>
            </a:solidFill>
            <a:prstDash val="solid"/>
            <a:miter lim="800000"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_제목 슬라이드">
  <p:cSld name="4_제목 슬라이드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170"/>
          <p:cNvSpPr/>
          <p:nvPr/>
        </p:nvSpPr>
        <p:spPr>
          <a:xfrm>
            <a:off x="0" y="6625087"/>
            <a:ext cx="12192000" cy="232913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Font typeface="Malgun Gothic"/>
              <a:buNone/>
            </a:pPr>
            <a:endParaRPr sz="6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" name="Google Shape;26;p170"/>
          <p:cNvSpPr txBox="1">
            <a:spLocks noGrp="1"/>
          </p:cNvSpPr>
          <p:nvPr>
            <p:ph type="ftr" idx="11"/>
          </p:nvPr>
        </p:nvSpPr>
        <p:spPr>
          <a:xfrm>
            <a:off x="79076" y="6678345"/>
            <a:ext cx="4114800" cy="1308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700"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170"/>
          <p:cNvSpPr txBox="1">
            <a:spLocks noGrp="1"/>
          </p:cNvSpPr>
          <p:nvPr>
            <p:ph type="sldNum" idx="12"/>
          </p:nvPr>
        </p:nvSpPr>
        <p:spPr>
          <a:xfrm>
            <a:off x="11389360" y="6675521"/>
            <a:ext cx="637298" cy="1337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spcBef>
                <a:spcPts val="0"/>
              </a:spcBef>
              <a:buNone/>
              <a:defRPr sz="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spcBef>
                <a:spcPts val="0"/>
              </a:spcBef>
              <a:buNone/>
              <a:defRPr sz="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spcBef>
                <a:spcPts val="0"/>
              </a:spcBef>
              <a:buNone/>
              <a:defRPr sz="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spcBef>
                <a:spcPts val="0"/>
              </a:spcBef>
              <a:buNone/>
              <a:defRPr sz="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spcBef>
                <a:spcPts val="0"/>
              </a:spcBef>
              <a:buNone/>
              <a:defRPr sz="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spcBef>
                <a:spcPts val="0"/>
              </a:spcBef>
              <a:buNone/>
              <a:defRPr sz="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spcBef>
                <a:spcPts val="0"/>
              </a:spcBef>
              <a:buNone/>
              <a:defRPr sz="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spcBef>
                <a:spcPts val="0"/>
              </a:spcBef>
              <a:buNone/>
              <a:defRPr sz="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spcBef>
                <a:spcPts val="0"/>
              </a:spcBef>
              <a:buNone/>
              <a:defRPr sz="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8" name="Google Shape;28;p170"/>
          <p:cNvSpPr txBox="1"/>
          <p:nvPr/>
        </p:nvSpPr>
        <p:spPr>
          <a:xfrm>
            <a:off x="9144720" y="6637705"/>
            <a:ext cx="2489200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800"/>
              <a:t>한빛글로벌 SyncFlow AI </a:t>
            </a:r>
            <a:r>
              <a:rPr lang="en-US"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l  Page</a:t>
            </a: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9" name="Google Shape;29;p170"/>
          <p:cNvCxnSpPr/>
          <p:nvPr/>
        </p:nvCxnSpPr>
        <p:spPr>
          <a:xfrm>
            <a:off x="403035" y="605345"/>
            <a:ext cx="11326684" cy="0"/>
          </a:xfrm>
          <a:prstGeom prst="straightConnector1">
            <a:avLst/>
          </a:prstGeom>
          <a:noFill/>
          <a:ln w="28575" cap="flat" cmpd="sng">
            <a:solidFill>
              <a:srgbClr val="00458A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30" name="Google Shape;30;p170"/>
          <p:cNvSpPr txBox="1">
            <a:spLocks noGrp="1"/>
          </p:cNvSpPr>
          <p:nvPr>
            <p:ph type="ctrTitle"/>
          </p:nvPr>
        </p:nvSpPr>
        <p:spPr>
          <a:xfrm>
            <a:off x="307239" y="255535"/>
            <a:ext cx="11309267" cy="28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제목 슬라이드">
  <p:cSld name="1_제목 슬라이드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171"/>
          <p:cNvSpPr/>
          <p:nvPr/>
        </p:nvSpPr>
        <p:spPr>
          <a:xfrm>
            <a:off x="0" y="6625087"/>
            <a:ext cx="12192000" cy="232913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Font typeface="Malgun Gothic"/>
              <a:buNone/>
            </a:pPr>
            <a:endParaRPr sz="6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" name="Google Shape;33;p171"/>
          <p:cNvSpPr txBox="1">
            <a:spLocks noGrp="1"/>
          </p:cNvSpPr>
          <p:nvPr>
            <p:ph type="ftr" idx="11"/>
          </p:nvPr>
        </p:nvSpPr>
        <p:spPr>
          <a:xfrm>
            <a:off x="79076" y="6678345"/>
            <a:ext cx="4114800" cy="1308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700"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171"/>
          <p:cNvSpPr txBox="1">
            <a:spLocks noGrp="1"/>
          </p:cNvSpPr>
          <p:nvPr>
            <p:ph type="sldNum" idx="12"/>
          </p:nvPr>
        </p:nvSpPr>
        <p:spPr>
          <a:xfrm>
            <a:off x="11389360" y="6675521"/>
            <a:ext cx="637298" cy="1337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spcBef>
                <a:spcPts val="0"/>
              </a:spcBef>
              <a:buNone/>
              <a:defRPr sz="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spcBef>
                <a:spcPts val="0"/>
              </a:spcBef>
              <a:buNone/>
              <a:defRPr sz="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spcBef>
                <a:spcPts val="0"/>
              </a:spcBef>
              <a:buNone/>
              <a:defRPr sz="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spcBef>
                <a:spcPts val="0"/>
              </a:spcBef>
              <a:buNone/>
              <a:defRPr sz="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spcBef>
                <a:spcPts val="0"/>
              </a:spcBef>
              <a:buNone/>
              <a:defRPr sz="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spcBef>
                <a:spcPts val="0"/>
              </a:spcBef>
              <a:buNone/>
              <a:defRPr sz="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spcBef>
                <a:spcPts val="0"/>
              </a:spcBef>
              <a:buNone/>
              <a:defRPr sz="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spcBef>
                <a:spcPts val="0"/>
              </a:spcBef>
              <a:buNone/>
              <a:defRPr sz="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spcBef>
                <a:spcPts val="0"/>
              </a:spcBef>
              <a:buNone/>
              <a:defRPr sz="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5" name="Google Shape;35;p171"/>
          <p:cNvSpPr txBox="1"/>
          <p:nvPr/>
        </p:nvSpPr>
        <p:spPr>
          <a:xfrm>
            <a:off x="9144720" y="6637705"/>
            <a:ext cx="2489200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800"/>
              <a:t>한빛글로벌 SyncFlow AI</a:t>
            </a:r>
            <a:r>
              <a:rPr lang="en-US"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l  Page</a:t>
            </a: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" name="Google Shape;36;p171"/>
          <p:cNvSpPr txBox="1">
            <a:spLocks noGrp="1"/>
          </p:cNvSpPr>
          <p:nvPr>
            <p:ph type="subTitle" idx="1"/>
          </p:nvPr>
        </p:nvSpPr>
        <p:spPr>
          <a:xfrm>
            <a:off x="420452" y="714301"/>
            <a:ext cx="11309267" cy="4039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Arial"/>
              <a:buNone/>
              <a:defRPr sz="14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cxnSp>
        <p:nvCxnSpPr>
          <p:cNvPr id="37" name="Google Shape;37;p171"/>
          <p:cNvCxnSpPr/>
          <p:nvPr/>
        </p:nvCxnSpPr>
        <p:spPr>
          <a:xfrm>
            <a:off x="403035" y="605345"/>
            <a:ext cx="11326684" cy="0"/>
          </a:xfrm>
          <a:prstGeom prst="straightConnector1">
            <a:avLst/>
          </a:prstGeom>
          <a:noFill/>
          <a:ln w="28575" cap="flat" cmpd="sng">
            <a:solidFill>
              <a:srgbClr val="00458A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38" name="Google Shape;38;p171"/>
          <p:cNvSpPr txBox="1">
            <a:spLocks noGrp="1"/>
          </p:cNvSpPr>
          <p:nvPr>
            <p:ph type="ctrTitle"/>
          </p:nvPr>
        </p:nvSpPr>
        <p:spPr>
          <a:xfrm>
            <a:off x="307239" y="255535"/>
            <a:ext cx="11309267" cy="28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제목 슬라이드">
  <p:cSld name="3_제목 슬라이드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178"/>
          <p:cNvSpPr/>
          <p:nvPr/>
        </p:nvSpPr>
        <p:spPr>
          <a:xfrm>
            <a:off x="0" y="6625087"/>
            <a:ext cx="12192000" cy="232913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Font typeface="Malgun Gothic"/>
              <a:buNone/>
            </a:pPr>
            <a:endParaRPr sz="6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" name="Google Shape;41;p178"/>
          <p:cNvSpPr txBox="1">
            <a:spLocks noGrp="1"/>
          </p:cNvSpPr>
          <p:nvPr>
            <p:ph type="ftr" idx="11"/>
          </p:nvPr>
        </p:nvSpPr>
        <p:spPr>
          <a:xfrm>
            <a:off x="79076" y="6678345"/>
            <a:ext cx="4114800" cy="1308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700"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178"/>
          <p:cNvSpPr txBox="1">
            <a:spLocks noGrp="1"/>
          </p:cNvSpPr>
          <p:nvPr>
            <p:ph type="sldNum" idx="12"/>
          </p:nvPr>
        </p:nvSpPr>
        <p:spPr>
          <a:xfrm>
            <a:off x="11389360" y="6675521"/>
            <a:ext cx="637298" cy="1337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spcBef>
                <a:spcPts val="0"/>
              </a:spcBef>
              <a:buNone/>
              <a:defRPr sz="8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spcBef>
                <a:spcPts val="0"/>
              </a:spcBef>
              <a:buNone/>
              <a:defRPr sz="8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spcBef>
                <a:spcPts val="0"/>
              </a:spcBef>
              <a:buNone/>
              <a:defRPr sz="8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spcBef>
                <a:spcPts val="0"/>
              </a:spcBef>
              <a:buNone/>
              <a:defRPr sz="8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spcBef>
                <a:spcPts val="0"/>
              </a:spcBef>
              <a:buNone/>
              <a:defRPr sz="8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spcBef>
                <a:spcPts val="0"/>
              </a:spcBef>
              <a:buNone/>
              <a:defRPr sz="8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spcBef>
                <a:spcPts val="0"/>
              </a:spcBef>
              <a:buNone/>
              <a:defRPr sz="8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spcBef>
                <a:spcPts val="0"/>
              </a:spcBef>
              <a:buNone/>
              <a:defRPr sz="8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spcBef>
                <a:spcPts val="0"/>
              </a:spcBef>
              <a:buNone/>
              <a:defRPr sz="8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3" name="Google Shape;43;p178"/>
          <p:cNvSpPr txBox="1"/>
          <p:nvPr/>
        </p:nvSpPr>
        <p:spPr>
          <a:xfrm>
            <a:off x="9144720" y="6637705"/>
            <a:ext cx="2489200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800"/>
              <a:t>한빛글로벌 SyncFlow AI</a:t>
            </a:r>
            <a:r>
              <a:rPr lang="en-US"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l  Page</a:t>
            </a: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" name="Google Shape;44;p178"/>
          <p:cNvSpPr txBox="1">
            <a:spLocks noGrp="1"/>
          </p:cNvSpPr>
          <p:nvPr>
            <p:ph type="subTitle" idx="1"/>
          </p:nvPr>
        </p:nvSpPr>
        <p:spPr>
          <a:xfrm>
            <a:off x="420452" y="714301"/>
            <a:ext cx="11309267" cy="4039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Arial"/>
              <a:buNone/>
              <a:defRPr sz="14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cxnSp>
        <p:nvCxnSpPr>
          <p:cNvPr id="45" name="Google Shape;45;p178"/>
          <p:cNvCxnSpPr/>
          <p:nvPr/>
        </p:nvCxnSpPr>
        <p:spPr>
          <a:xfrm>
            <a:off x="403035" y="605345"/>
            <a:ext cx="11326684" cy="0"/>
          </a:xfrm>
          <a:prstGeom prst="straightConnector1">
            <a:avLst/>
          </a:prstGeom>
          <a:noFill/>
          <a:ln w="28575" cap="flat" cmpd="sng">
            <a:solidFill>
              <a:srgbClr val="00458A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46" name="Google Shape;46;p178"/>
          <p:cNvSpPr/>
          <p:nvPr/>
        </p:nvSpPr>
        <p:spPr>
          <a:xfrm>
            <a:off x="420452" y="1323702"/>
            <a:ext cx="11309267" cy="5059684"/>
          </a:xfrm>
          <a:prstGeom prst="rect">
            <a:avLst/>
          </a:prstGeom>
          <a:noFill/>
          <a:ln w="12700" cap="flat" cmpd="sng">
            <a:solidFill>
              <a:srgbClr val="D8D8D8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algun Gothic"/>
              <a:buNone/>
            </a:pPr>
            <a:endParaRPr sz="18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" name="Google Shape;47;p178"/>
          <p:cNvSpPr txBox="1">
            <a:spLocks noGrp="1"/>
          </p:cNvSpPr>
          <p:nvPr>
            <p:ph type="ctrTitle"/>
          </p:nvPr>
        </p:nvSpPr>
        <p:spPr>
          <a:xfrm>
            <a:off x="307239" y="255535"/>
            <a:ext cx="11309267" cy="28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제목 슬라이드">
  <p:cSld name="2_제목 슬라이드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79"/>
          <p:cNvSpPr/>
          <p:nvPr/>
        </p:nvSpPr>
        <p:spPr>
          <a:xfrm>
            <a:off x="0" y="6625087"/>
            <a:ext cx="12192000" cy="232913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Font typeface="Malgun Gothic"/>
              <a:buNone/>
            </a:pPr>
            <a:endParaRPr sz="6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" name="Google Shape;51;p179"/>
          <p:cNvSpPr txBox="1">
            <a:spLocks noGrp="1"/>
          </p:cNvSpPr>
          <p:nvPr>
            <p:ph type="ftr" idx="11"/>
          </p:nvPr>
        </p:nvSpPr>
        <p:spPr>
          <a:xfrm>
            <a:off x="79076" y="6678345"/>
            <a:ext cx="4114800" cy="1308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700"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79"/>
          <p:cNvSpPr txBox="1">
            <a:spLocks noGrp="1"/>
          </p:cNvSpPr>
          <p:nvPr>
            <p:ph type="sldNum" idx="12"/>
          </p:nvPr>
        </p:nvSpPr>
        <p:spPr>
          <a:xfrm>
            <a:off x="11389360" y="6675521"/>
            <a:ext cx="637298" cy="1337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spcBef>
                <a:spcPts val="0"/>
              </a:spcBef>
              <a:buNone/>
              <a:defRPr sz="8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spcBef>
                <a:spcPts val="0"/>
              </a:spcBef>
              <a:buNone/>
              <a:defRPr sz="8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spcBef>
                <a:spcPts val="0"/>
              </a:spcBef>
              <a:buNone/>
              <a:defRPr sz="8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spcBef>
                <a:spcPts val="0"/>
              </a:spcBef>
              <a:buNone/>
              <a:defRPr sz="8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spcBef>
                <a:spcPts val="0"/>
              </a:spcBef>
              <a:buNone/>
              <a:defRPr sz="8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spcBef>
                <a:spcPts val="0"/>
              </a:spcBef>
              <a:buNone/>
              <a:defRPr sz="8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spcBef>
                <a:spcPts val="0"/>
              </a:spcBef>
              <a:buNone/>
              <a:defRPr sz="8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spcBef>
                <a:spcPts val="0"/>
              </a:spcBef>
              <a:buNone/>
              <a:defRPr sz="8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spcBef>
                <a:spcPts val="0"/>
              </a:spcBef>
              <a:buNone/>
              <a:defRPr sz="8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3" name="Google Shape;53;p179"/>
          <p:cNvSpPr txBox="1"/>
          <p:nvPr/>
        </p:nvSpPr>
        <p:spPr>
          <a:xfrm>
            <a:off x="9144720" y="6637705"/>
            <a:ext cx="2489200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800"/>
              <a:t>한빛글로벌 SyncFlow AI</a:t>
            </a:r>
            <a:r>
              <a:rPr lang="en-US"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l  Page</a:t>
            </a: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179"/>
          <p:cNvSpPr txBox="1">
            <a:spLocks noGrp="1"/>
          </p:cNvSpPr>
          <p:nvPr>
            <p:ph type="subTitle" idx="1"/>
          </p:nvPr>
        </p:nvSpPr>
        <p:spPr>
          <a:xfrm>
            <a:off x="717391" y="2837544"/>
            <a:ext cx="10671969" cy="4039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R="0" lv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95959"/>
              </a:buClr>
              <a:buSzPts val="2000"/>
              <a:buFont typeface="Arial"/>
              <a:buNone/>
              <a:defRPr sz="20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55" name="Google Shape;55;p179"/>
          <p:cNvSpPr txBox="1">
            <a:spLocks noGrp="1"/>
          </p:cNvSpPr>
          <p:nvPr>
            <p:ph type="ctrTitle"/>
          </p:nvPr>
        </p:nvSpPr>
        <p:spPr>
          <a:xfrm>
            <a:off x="717391" y="2344464"/>
            <a:ext cx="10671969" cy="4271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1"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79"/>
          <p:cNvSpPr/>
          <p:nvPr/>
        </p:nvSpPr>
        <p:spPr>
          <a:xfrm>
            <a:off x="420452" y="1045030"/>
            <a:ext cx="11309267" cy="5207726"/>
          </a:xfrm>
          <a:prstGeom prst="rect">
            <a:avLst/>
          </a:prstGeom>
          <a:noFill/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algun Gothic"/>
              <a:buNone/>
            </a:pPr>
            <a:endParaRPr sz="18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6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16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12" name="Google Shape;12;p16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13" name="Google Shape;13;p16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14" name="Google Shape;14;p16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"/>
          <p:cNvSpPr txBox="1">
            <a:spLocks noGrp="1"/>
          </p:cNvSpPr>
          <p:nvPr>
            <p:ph type="ctrTitle"/>
          </p:nvPr>
        </p:nvSpPr>
        <p:spPr>
          <a:xfrm>
            <a:off x="420452" y="2150072"/>
            <a:ext cx="11309267" cy="4271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-US"/>
              <a:t>한빛글로벌 SyncFlow AI</a:t>
            </a:r>
            <a:endParaRPr/>
          </a:p>
        </p:txBody>
      </p:sp>
      <p:sp>
        <p:nvSpPr>
          <p:cNvPr id="62" name="Google Shape;62;p1"/>
          <p:cNvSpPr txBox="1">
            <a:spLocks noGrp="1"/>
          </p:cNvSpPr>
          <p:nvPr>
            <p:ph type="subTitle" idx="1"/>
          </p:nvPr>
        </p:nvSpPr>
        <p:spPr>
          <a:xfrm>
            <a:off x="420452" y="2738949"/>
            <a:ext cx="11309267" cy="4039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2000"/>
              <a:buFont typeface="Arial"/>
              <a:buNone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공통 화면설계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63" name="Google Shape;63;p1"/>
          <p:cNvGraphicFramePr/>
          <p:nvPr/>
        </p:nvGraphicFramePr>
        <p:xfrm>
          <a:off x="403035" y="3762741"/>
          <a:ext cx="4064475" cy="1219250"/>
        </p:xfrm>
        <a:graphic>
          <a:graphicData uri="http://schemas.openxmlformats.org/drawingml/2006/table">
            <a:tbl>
              <a:tblPr firstRow="1" bandRow="1">
                <a:noFill/>
                <a:tableStyleId>{CF84172B-D96C-486F-86B3-8FE4519AAE3F}</a:tableStyleId>
              </a:tblPr>
              <a:tblGrid>
                <a:gridCol w="746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179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270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문서번호</a:t>
                      </a:r>
                      <a:endParaRPr/>
                    </a:p>
                  </a:txBody>
                  <a:tcPr marL="9145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화면설계</a:t>
                      </a:r>
                      <a:r>
                        <a:rPr lang="en-US" sz="10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서</a:t>
                      </a:r>
                      <a:endParaRPr/>
                    </a:p>
                  </a:txBody>
                  <a:tcPr marL="9145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70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단계기준</a:t>
                      </a:r>
                      <a:endParaRPr/>
                    </a:p>
                  </a:txBody>
                  <a:tcPr marL="9145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설계(Design)</a:t>
                      </a:r>
                      <a:endParaRPr sz="10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70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업무구분</a:t>
                      </a:r>
                      <a:endParaRPr/>
                    </a:p>
                  </a:txBody>
                  <a:tcPr marL="9145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공통</a:t>
                      </a:r>
                      <a:endParaRPr/>
                    </a:p>
                  </a:txBody>
                  <a:tcPr marL="9145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270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문서버전</a:t>
                      </a:r>
                      <a:endParaRPr/>
                    </a:p>
                  </a:txBody>
                  <a:tcPr marL="9145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v.1.0</a:t>
                      </a:r>
                      <a:endParaRPr/>
                    </a:p>
                  </a:txBody>
                  <a:tcPr marL="9145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270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담당부서</a:t>
                      </a:r>
                      <a:endParaRPr/>
                    </a:p>
                  </a:txBody>
                  <a:tcPr marL="9145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UX/UI 팀</a:t>
                      </a:r>
                      <a:endParaRPr sz="10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4" name="Google Shape;64;p1"/>
          <p:cNvSpPr txBox="1">
            <a:spLocks noGrp="1"/>
          </p:cNvSpPr>
          <p:nvPr>
            <p:ph type="sldNum" idx="12"/>
          </p:nvPr>
        </p:nvSpPr>
        <p:spPr>
          <a:xfrm>
            <a:off x="11389360" y="6675521"/>
            <a:ext cx="637298" cy="1337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800"/>
              <a:buFont typeface="Malgun Gothic"/>
              <a:buNone/>
            </a:pPr>
            <a:fld id="{00000000-1234-1234-1234-123412341234}" type="slidenum">
              <a:rPr lang="en-US" sz="8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rPr>
              <a:t>1</a:t>
            </a:fld>
            <a:endParaRPr sz="800" b="0" i="0" u="none" strike="noStrike" cap="none">
              <a:solidFill>
                <a:srgbClr val="888888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"/>
          <p:cNvSpPr txBox="1">
            <a:spLocks noGrp="1"/>
          </p:cNvSpPr>
          <p:nvPr>
            <p:ph type="ctrTitle"/>
          </p:nvPr>
        </p:nvSpPr>
        <p:spPr>
          <a:xfrm>
            <a:off x="307239" y="255535"/>
            <a:ext cx="11309267" cy="28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en-US"/>
              <a:t>HISTORY OF DOCUMENT</a:t>
            </a:r>
            <a:endParaRPr/>
          </a:p>
        </p:txBody>
      </p:sp>
      <p:sp>
        <p:nvSpPr>
          <p:cNvPr id="70" name="Google Shape;70;p2"/>
          <p:cNvSpPr txBox="1">
            <a:spLocks noGrp="1"/>
          </p:cNvSpPr>
          <p:nvPr>
            <p:ph type="sldNum" idx="12"/>
          </p:nvPr>
        </p:nvSpPr>
        <p:spPr>
          <a:xfrm>
            <a:off x="11389360" y="6675521"/>
            <a:ext cx="637298" cy="1337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800"/>
              <a:buFont typeface="Malgun Gothic"/>
              <a:buNone/>
            </a:pPr>
            <a:fld id="{00000000-1234-1234-1234-123412341234}" type="slidenum">
              <a:rPr lang="en-US" sz="8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rPr>
              <a:t>2</a:t>
            </a:fld>
            <a:endParaRPr sz="800" b="0" i="0" u="none" strike="noStrike" cap="none">
              <a:solidFill>
                <a:srgbClr val="888888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graphicFrame>
        <p:nvGraphicFramePr>
          <p:cNvPr id="71" name="Google Shape;71;p2"/>
          <p:cNvGraphicFramePr/>
          <p:nvPr/>
        </p:nvGraphicFramePr>
        <p:xfrm>
          <a:off x="417287" y="814330"/>
          <a:ext cx="11411025" cy="2268000"/>
        </p:xfrm>
        <a:graphic>
          <a:graphicData uri="http://schemas.openxmlformats.org/drawingml/2006/table">
            <a:tbl>
              <a:tblPr>
                <a:noFill/>
                <a:tableStyleId>{12633658-39FB-4817-A113-8923954F37BE}</a:tableStyleId>
              </a:tblPr>
              <a:tblGrid>
                <a:gridCol w="7838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14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04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04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24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Version</a:t>
                      </a:r>
                      <a:endParaRPr/>
                    </a:p>
                  </a:txBody>
                  <a:tcPr marL="82900" marR="82900" marT="41475" marB="41475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내용</a:t>
                      </a:r>
                      <a:endParaRPr sz="900" b="1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2900" marR="82900" marT="41475" marB="41475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작성날짜</a:t>
                      </a:r>
                      <a:endParaRPr sz="900" b="1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2900" marR="82900" marT="41475" marB="41475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작성자</a:t>
                      </a:r>
                      <a:endParaRPr sz="900" b="1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2900" marR="82900" marT="41475" marB="41475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확인자</a:t>
                      </a:r>
                      <a:endParaRPr sz="900" b="1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2900" marR="82900" marT="41475" marB="41475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0.1.0</a:t>
                      </a:r>
                      <a:endParaRPr/>
                    </a:p>
                  </a:txBody>
                  <a:tcPr marL="82925" marR="82925" marT="41450" marB="41450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Draft document</a:t>
                      </a:r>
                      <a:endParaRPr sz="800" b="0" i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2925" marR="82925" marT="41450" marB="41450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2026.06.15</a:t>
                      </a:r>
                      <a:endParaRPr/>
                    </a:p>
                  </a:txBody>
                  <a:tcPr marL="82925" marR="82925" marT="41450" marB="41450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>
                          <a:solidFill>
                            <a:schemeClr val="dk1"/>
                          </a:solidFill>
                        </a:rPr>
                        <a:t>-</a:t>
                      </a:r>
                      <a:endParaRPr sz="800" b="0" i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2925" marR="82925" marT="41450" marB="41450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endParaRPr sz="800" b="0" i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2900" marR="82900" marT="41475" marB="41475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0.6.0</a:t>
                      </a:r>
                      <a:endParaRPr/>
                    </a:p>
                  </a:txBody>
                  <a:tcPr marL="82925" marR="82925" marT="41450" marB="41450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82925" marR="82925" marT="41450" marB="41450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82925" marR="82925" marT="41450" marB="41450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82925" marR="82925" marT="41450" marB="41450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endParaRPr sz="800" b="0" i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2900" marR="82900" marT="41475" marB="41475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0.8.0</a:t>
                      </a:r>
                      <a:endParaRPr/>
                    </a:p>
                  </a:txBody>
                  <a:tcPr marL="82925" marR="82925" marT="41450" marB="41450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82925" marR="82925" marT="41450" marB="41450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82925" marR="82925" marT="41450" marB="41450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82925" marR="82925" marT="41450" marB="41450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endParaRPr sz="800" b="0" i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2900" marR="82900" marT="41475" marB="41475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0.8.1</a:t>
                      </a:r>
                      <a:endParaRPr/>
                    </a:p>
                  </a:txBody>
                  <a:tcPr marL="82925" marR="82925" marT="41450" marB="41450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82925" marR="82925" marT="41450" marB="41450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82925" marR="82925" marT="41450" marB="41450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82925" marR="82925" marT="41450" marB="41450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2900" marR="82900" marT="41475" marB="41475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0.8.2</a:t>
                      </a:r>
                      <a:endParaRPr/>
                    </a:p>
                  </a:txBody>
                  <a:tcPr marL="82925" marR="82925" marT="41450" marB="41450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82925" marR="82925" marT="41450" marB="41450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82925" marR="82925" marT="41450" marB="41450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82925" marR="82925" marT="41450" marB="41450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2900" marR="82900" marT="41475" marB="41475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0.8.3</a:t>
                      </a:r>
                      <a:endParaRPr/>
                    </a:p>
                  </a:txBody>
                  <a:tcPr marL="82900" marR="82900" marT="41475" marB="41475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82900" marR="82900" marT="41475" marB="41475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82900" marR="82900" marT="41475" marB="41475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82900" marR="82900" marT="41475" marB="41475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endParaRPr sz="8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2900" marR="82900" marT="41475" marB="41475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1"/>
          <p:cNvSpPr txBox="1">
            <a:spLocks noGrp="1"/>
          </p:cNvSpPr>
          <p:nvPr>
            <p:ph type="ctrTitle"/>
          </p:nvPr>
        </p:nvSpPr>
        <p:spPr>
          <a:xfrm>
            <a:off x="307239" y="255535"/>
            <a:ext cx="11309267" cy="28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정책 결정 필요사항</a:t>
            </a:r>
            <a:endParaRPr/>
          </a:p>
        </p:txBody>
      </p:sp>
      <p:sp>
        <p:nvSpPr>
          <p:cNvPr id="77" name="Google Shape;77;p11"/>
          <p:cNvSpPr txBox="1">
            <a:spLocks noGrp="1"/>
          </p:cNvSpPr>
          <p:nvPr>
            <p:ph type="sldNum" idx="12"/>
          </p:nvPr>
        </p:nvSpPr>
        <p:spPr>
          <a:xfrm>
            <a:off x="11389360" y="6675521"/>
            <a:ext cx="637298" cy="1337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800"/>
              <a:buFont typeface="Arial"/>
              <a:buNone/>
            </a:pPr>
            <a:fld id="{00000000-1234-1234-1234-123412341234}" type="slidenum">
              <a:rPr lang="en-US" sz="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3</a:t>
            </a:fld>
            <a:endParaRPr sz="800" b="0" i="0" u="none" strike="noStrike" cap="none">
              <a:solidFill>
                <a:srgbClr val="88888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78" name="Google Shape;78;p11"/>
          <p:cNvGraphicFramePr/>
          <p:nvPr/>
        </p:nvGraphicFramePr>
        <p:xfrm>
          <a:off x="417286" y="814330"/>
          <a:ext cx="11269375" cy="4683190"/>
        </p:xfrm>
        <a:graphic>
          <a:graphicData uri="http://schemas.openxmlformats.org/drawingml/2006/table">
            <a:tbl>
              <a:tblPr>
                <a:noFill/>
                <a:tableStyleId>{12633658-39FB-4817-A113-8923954F37BE}</a:tableStyleId>
              </a:tblPr>
              <a:tblGrid>
                <a:gridCol w="3286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93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379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778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778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778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7782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98217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50750">
                <a:tc row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No. </a:t>
                      </a:r>
                      <a:endParaRPr/>
                    </a:p>
                  </a:txBody>
                  <a:tcPr marL="82900" marR="82900" marT="41475" marB="41475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Page Name</a:t>
                      </a:r>
                      <a:endParaRPr/>
                    </a:p>
                  </a:txBody>
                  <a:tcPr marL="82900" marR="82900" marT="41475" marB="41475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정책 결정 필요사항</a:t>
                      </a:r>
                      <a:endParaRPr sz="900" b="1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2900" marR="82900" marT="41475" marB="41475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확인자</a:t>
                      </a:r>
                      <a:endParaRPr sz="900" b="1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2900" marR="82900" marT="41475" marB="41475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확정날짜</a:t>
                      </a:r>
                      <a:endParaRPr sz="900" b="1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2900" marR="82900" marT="41475" marB="41475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비고</a:t>
                      </a:r>
                      <a:endParaRPr sz="900" b="1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2900" marR="82900" marT="41475" marB="41475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1250"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퍼블리싱</a:t>
                      </a:r>
                      <a:endParaRPr sz="900" b="1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2900" marR="82900" marT="41475" marB="41475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개발</a:t>
                      </a:r>
                      <a:endParaRPr sz="900" b="1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2900" marR="82900" marT="41475" marB="41475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현업</a:t>
                      </a:r>
                      <a:endParaRPr sz="900" b="1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2900" marR="82900" marT="41475" marB="41475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/>
                    </a:p>
                  </a:txBody>
                  <a:tcPr marL="82925" marR="82925" marT="41450" marB="41450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화면 Navigation </a:t>
                      </a:r>
                      <a:endParaRPr/>
                    </a:p>
                  </a:txBody>
                  <a:tcPr marL="36000" marR="36000" marT="36000" marB="36000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Top 버튼 노출 규칙 정의 필요</a:t>
                      </a:r>
                      <a:endParaRPr sz="800" b="0" i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2925" marR="82925" marT="41450" marB="41450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-</a:t>
                      </a:r>
                      <a:endParaRPr sz="800" b="0" i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2925" marR="82925" marT="41450" marB="41450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-</a:t>
                      </a:r>
                      <a:endParaRPr sz="800" b="0" i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2925" marR="82925" marT="41450" marB="41450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○</a:t>
                      </a:r>
                      <a:endParaRPr/>
                    </a:p>
                  </a:txBody>
                  <a:tcPr marL="82925" marR="82925" marT="41450" marB="41450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endParaRPr sz="800" b="0" i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2925" marR="82925" marT="41450" marB="41450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endParaRPr sz="800" b="0" i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2925" marR="82925" marT="41450" marB="41450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7F7F7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</a:t>
                      </a:r>
                      <a:endParaRPr/>
                    </a:p>
                  </a:txBody>
                  <a:tcPr marL="82925" marR="82925" marT="41450" marB="41450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화면 Navigation </a:t>
                      </a:r>
                      <a:endParaRPr/>
                    </a:p>
                  </a:txBody>
                  <a:tcPr marL="36000" marR="36000" marT="36000" marB="36000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탭바에 해당하지 않는 메뉴에 탭바가 노출되었을 때(ex. 전시템플릿), 탭바 메뉴가 아무것도 선택되지 않은 상태로 노출되는지 여부 확인 필요</a:t>
                      </a:r>
                      <a:endParaRPr sz="800" b="0" i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2925" marR="82925" marT="41450" marB="41450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-</a:t>
                      </a:r>
                      <a:endParaRPr sz="8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2925" marR="82925" marT="41450" marB="41450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-</a:t>
                      </a:r>
                      <a:endParaRPr sz="8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2925" marR="82925" marT="41450" marB="41450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-</a:t>
                      </a:r>
                      <a:endParaRPr sz="8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2925" marR="82925" marT="41450" marB="41450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endParaRPr sz="800" b="0" i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2925" marR="82925" marT="41450" marB="41450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endParaRPr sz="800" b="0" i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2925" marR="82925" marT="41450" marB="41450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7F7F7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endParaRPr sz="800" b="0" i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2925" marR="82925" marT="41450" marB="41450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endParaRPr sz="800" b="0" i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endParaRPr sz="800" b="0" i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2925" marR="82925" marT="41450" marB="41450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endParaRPr sz="800" b="0" i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2925" marR="82925" marT="41450" marB="41450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endParaRPr sz="800" b="0" i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2925" marR="82925" marT="41450" marB="41450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endParaRPr sz="800" b="0" i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2925" marR="82925" marT="41450" marB="41450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endParaRPr sz="800" b="0" i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2925" marR="82925" marT="41450" marB="41450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endParaRPr sz="800" b="0" i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2925" marR="82925" marT="41450" marB="41450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endParaRPr sz="800" b="0" i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2925" marR="82925" marT="41450" marB="41450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endParaRPr sz="800" b="0" i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endParaRPr sz="800" b="0" i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2900" marR="82900" marT="41475" marB="41475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endParaRPr sz="800" b="0" i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2925" marR="82925" marT="41450" marB="41450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endParaRPr sz="800" b="0" i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2925" marR="82925" marT="41450" marB="41450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endParaRPr sz="800" b="0" i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2925" marR="82925" marT="41450" marB="41450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endParaRPr sz="800" b="0" i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2925" marR="82925" marT="41450" marB="41450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endParaRPr sz="800" b="0" i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2925" marR="82925" marT="41450" marB="41450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endParaRPr sz="800" b="0" i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2925" marR="82925" marT="41450" marB="41450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endParaRPr sz="800" b="0" i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b="0" i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2900" marR="82900" marT="41475" marB="41475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endParaRPr sz="800" b="0" i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2925" marR="82925" marT="41450" marB="41450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endParaRPr sz="800" b="0" i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2925" marR="82925" marT="41450" marB="41450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endParaRPr sz="800" b="0" i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2925" marR="82925" marT="41450" marB="41450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endParaRPr sz="800" b="0" i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2925" marR="82925" marT="41450" marB="41450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endParaRPr sz="800" b="0" i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2925" marR="82925" marT="41450" marB="41450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endParaRPr sz="800" b="0" i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2925" marR="82925" marT="41450" marB="41450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endParaRPr sz="800" b="0" i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endParaRPr sz="800" b="0" i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2900" marR="82900" marT="41475" marB="41475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endParaRPr sz="800" b="0" i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2925" marR="82925" marT="41450" marB="41450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endParaRPr sz="800" b="0" i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2925" marR="82925" marT="41450" marB="41450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endParaRPr sz="800" b="0" i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2925" marR="82925" marT="41450" marB="41450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endParaRPr sz="800" b="0" i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2925" marR="82925" marT="41450" marB="41450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endParaRPr sz="800" b="0" i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2925" marR="82925" marT="41450" marB="41450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endParaRPr sz="800" b="0" i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2925" marR="82925" marT="41450" marB="41450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endParaRPr sz="800" b="0" i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endParaRPr sz="800" b="0" i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2925" marR="82925" marT="41450" marB="41450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endParaRPr sz="800" b="0" i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2925" marR="82925" marT="41450" marB="41450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endParaRPr sz="800" b="0" i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2925" marR="82925" marT="41450" marB="41450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endParaRPr sz="800" b="0" i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2925" marR="82925" marT="41450" marB="41450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endParaRPr sz="800" b="0" i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2925" marR="82925" marT="41450" marB="41450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endParaRPr sz="800" b="0" i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2925" marR="82925" marT="41450" marB="41450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endParaRPr sz="800" b="0" i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2925" marR="82925" marT="41450" marB="41450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endParaRPr sz="800" b="0" i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2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endParaRPr sz="800" b="0" i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2925" marR="82925" marT="41450" marB="41450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endParaRPr sz="800" b="0" i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2925" marR="82925" marT="41450" marB="41450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endParaRPr sz="800" b="0" i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2925" marR="82925" marT="41450" marB="41450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endParaRPr sz="800" b="0" i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2925" marR="82925" marT="41450" marB="41450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endParaRPr sz="800" b="0" i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2925" marR="82925" marT="41450" marB="41450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endParaRPr sz="800" b="0" i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2925" marR="82925" marT="41450" marB="41450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endParaRPr sz="800" b="0" i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2925" marR="82925" marT="41450" marB="41450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endParaRPr sz="800" b="0" i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2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b="0" i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2925" marR="82925" marT="41450" marB="41450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endParaRPr sz="800" b="0" i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2925" marR="82925" marT="41450" marB="41450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endParaRPr sz="800" b="0" i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2925" marR="82925" marT="41450" marB="41450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endParaRPr sz="800" b="0" i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2925" marR="82925" marT="41450" marB="41450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endParaRPr sz="800" b="0" i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2925" marR="82925" marT="41450" marB="41450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endParaRPr sz="800" b="0" i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2925" marR="82925" marT="41450" marB="41450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endParaRPr sz="800" b="0" i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2925" marR="82925" marT="41450" marB="41450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endParaRPr sz="800" b="0" i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2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b="0" i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2925" marR="82925" marT="41450" marB="41450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endParaRPr sz="800" b="0" i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2925" marR="82925" marT="41450" marB="41450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endParaRPr sz="800" b="0" i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2925" marR="82925" marT="41450" marB="41450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endParaRPr sz="800" b="0" i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2925" marR="82925" marT="41450" marB="41450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endParaRPr sz="800" b="0" i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2925" marR="82925" marT="41450" marB="41450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endParaRPr sz="800" b="0" i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2925" marR="82925" marT="41450" marB="41450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endParaRPr sz="800" b="0" i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2925" marR="82925" marT="41450" marB="41450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endParaRPr sz="800" b="0" i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2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b="0" i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2925" marR="82925" marT="41450" marB="41450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endParaRPr sz="800" b="0" i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2925" marR="82925" marT="41450" marB="41450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endParaRPr sz="800" b="0" i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2925" marR="82925" marT="41450" marB="41450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endParaRPr sz="800" b="0" i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2925" marR="82925" marT="41450" marB="41450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endParaRPr sz="800" b="0" i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2925" marR="82925" marT="41450" marB="41450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endParaRPr sz="800" b="0" i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2925" marR="82925" marT="41450" marB="41450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204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endParaRPr sz="800" b="0" i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2925" marR="82925" marT="41450" marB="41450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endParaRPr sz="800" b="0" i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2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b="0" i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2925" marR="82925" marT="41450" marB="41450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endParaRPr sz="800" b="0" i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2925" marR="82925" marT="41450" marB="41450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endParaRPr sz="800" b="0" i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2925" marR="82925" marT="41450" marB="41450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endParaRPr sz="800" b="0" i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2925" marR="82925" marT="41450" marB="41450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endParaRPr sz="800" b="0" i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2925" marR="82925" marT="41450" marB="41450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endParaRPr sz="800" b="0" i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2925" marR="82925" marT="41450" marB="41450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endParaRPr sz="800" b="0" i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2925" marR="82925" marT="41450" marB="41450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endParaRPr sz="800" b="0" i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2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b="0" i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2925" marR="82925" marT="41450" marB="41450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endParaRPr sz="800" b="0" i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2925" marR="82925" marT="41450" marB="41450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endParaRPr sz="800" b="0" i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2925" marR="82925" marT="41450" marB="41450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endParaRPr sz="800" b="0" i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2925" marR="82925" marT="41450" marB="41450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endParaRPr sz="800" b="0" i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2925" marR="82925" marT="41450" marB="41450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endParaRPr sz="800" b="0" i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2925" marR="82925" marT="41450" marB="41450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2"/>
          <p:cNvSpPr txBox="1">
            <a:spLocks noGrp="1"/>
          </p:cNvSpPr>
          <p:nvPr>
            <p:ph type="ctrTitle"/>
          </p:nvPr>
        </p:nvSpPr>
        <p:spPr>
          <a:xfrm>
            <a:off x="307239" y="255535"/>
            <a:ext cx="11309267" cy="28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en-US"/>
              <a:t>Index</a:t>
            </a:r>
            <a:endParaRPr/>
          </a:p>
        </p:txBody>
      </p:sp>
      <p:sp>
        <p:nvSpPr>
          <p:cNvPr id="84" name="Google Shape;84;p12"/>
          <p:cNvSpPr txBox="1">
            <a:spLocks noGrp="1"/>
          </p:cNvSpPr>
          <p:nvPr>
            <p:ph type="sldNum" idx="12"/>
          </p:nvPr>
        </p:nvSpPr>
        <p:spPr>
          <a:xfrm>
            <a:off x="11389360" y="6675521"/>
            <a:ext cx="637298" cy="1337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800"/>
              <a:buFont typeface="Malgun Gothic"/>
              <a:buNone/>
            </a:pPr>
            <a:fld id="{00000000-1234-1234-1234-123412341234}" type="slidenum">
              <a:rPr lang="en-US" sz="8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rPr>
              <a:t>4</a:t>
            </a:fld>
            <a:endParaRPr sz="800" b="0" i="0" u="none" strike="noStrike" cap="none">
              <a:solidFill>
                <a:srgbClr val="888888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grpSp>
        <p:nvGrpSpPr>
          <p:cNvPr id="85" name="Google Shape;85;p12"/>
          <p:cNvGrpSpPr/>
          <p:nvPr/>
        </p:nvGrpSpPr>
        <p:grpSpPr>
          <a:xfrm>
            <a:off x="1166362" y="903232"/>
            <a:ext cx="5358324" cy="607818"/>
            <a:chOff x="1166362" y="1015319"/>
            <a:chExt cx="5358324" cy="607818"/>
          </a:xfrm>
        </p:grpSpPr>
        <p:sp>
          <p:nvSpPr>
            <p:cNvPr id="86" name="Google Shape;86;p12"/>
            <p:cNvSpPr txBox="1"/>
            <p:nvPr/>
          </p:nvSpPr>
          <p:spPr>
            <a:xfrm>
              <a:off x="1166362" y="1015319"/>
              <a:ext cx="2262638" cy="40390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Arial"/>
                <a:buNone/>
              </a:pPr>
              <a:r>
                <a:rPr lang="en-US" sz="1600" b="1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1. 화면 Navigation</a:t>
              </a:r>
              <a:endParaRPr sz="1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" name="Google Shape;87;p12"/>
            <p:cNvSpPr txBox="1"/>
            <p:nvPr/>
          </p:nvSpPr>
          <p:spPr>
            <a:xfrm>
              <a:off x="3805083" y="1015319"/>
              <a:ext cx="2719603" cy="60781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000"/>
                <a:buFont typeface="Arial"/>
                <a:buNone/>
              </a:pPr>
              <a:r>
                <a:rPr lang="en-US" sz="10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- 각 화면별 상,하 스크롤에 따른 인터랙션</a:t>
              </a:r>
              <a:br>
                <a:rPr lang="en-US" sz="10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</a:br>
              <a:r>
                <a:rPr lang="en-US" sz="10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- 각 화면별 필수 메뉴 및 요소 정의</a:t>
              </a:r>
              <a:endParaRPr/>
            </a:p>
          </p:txBody>
        </p:sp>
      </p:grpSp>
      <p:grpSp>
        <p:nvGrpSpPr>
          <p:cNvPr id="88" name="Google Shape;88;p12"/>
          <p:cNvGrpSpPr/>
          <p:nvPr/>
        </p:nvGrpSpPr>
        <p:grpSpPr>
          <a:xfrm>
            <a:off x="1166362" y="1683830"/>
            <a:ext cx="5611998" cy="891097"/>
            <a:chOff x="1166362" y="1868914"/>
            <a:chExt cx="5611998" cy="891097"/>
          </a:xfrm>
        </p:grpSpPr>
        <p:sp>
          <p:nvSpPr>
            <p:cNvPr id="89" name="Google Shape;89;p12"/>
            <p:cNvSpPr txBox="1"/>
            <p:nvPr/>
          </p:nvSpPr>
          <p:spPr>
            <a:xfrm>
              <a:off x="1166362" y="1868914"/>
              <a:ext cx="2091093" cy="40390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Arial"/>
                <a:buNone/>
              </a:pPr>
              <a:r>
                <a:rPr lang="en-US" sz="1600" b="1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2. Product Unit</a:t>
              </a:r>
              <a:endParaRPr sz="1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" name="Google Shape;90;p12"/>
            <p:cNvSpPr txBox="1"/>
            <p:nvPr/>
          </p:nvSpPr>
          <p:spPr>
            <a:xfrm>
              <a:off x="3805084" y="1868914"/>
              <a:ext cx="2973276" cy="89109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000"/>
                <a:buFont typeface="Arial"/>
                <a:buNone/>
              </a:pPr>
              <a:r>
                <a:rPr lang="en-US" sz="10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- 요소정의(플래그 정책, HMC,GHQ 메인 노출 로직)</a:t>
              </a:r>
              <a:br>
                <a:rPr lang="en-US" sz="10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</a:br>
              <a:r>
                <a:rPr lang="en-US" sz="10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- 각 화면별 상품 유닛 정의 </a:t>
              </a:r>
              <a:br>
                <a:rPr lang="en-US" sz="10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</a:br>
              <a:r>
                <a:rPr lang="en-US" sz="10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- 차량 이미지 썸네일 Crop &amp; Resize 정의</a:t>
              </a:r>
              <a:endParaRPr/>
            </a:p>
          </p:txBody>
        </p:sp>
      </p:grpSp>
      <p:grpSp>
        <p:nvGrpSpPr>
          <p:cNvPr id="91" name="Google Shape;91;p12"/>
          <p:cNvGrpSpPr/>
          <p:nvPr/>
        </p:nvGrpSpPr>
        <p:grpSpPr>
          <a:xfrm>
            <a:off x="1166362" y="2747707"/>
            <a:ext cx="4986666" cy="403905"/>
            <a:chOff x="1166362" y="3005788"/>
            <a:chExt cx="4986666" cy="403905"/>
          </a:xfrm>
        </p:grpSpPr>
        <p:sp>
          <p:nvSpPr>
            <p:cNvPr id="92" name="Google Shape;92;p12"/>
            <p:cNvSpPr txBox="1"/>
            <p:nvPr/>
          </p:nvSpPr>
          <p:spPr>
            <a:xfrm>
              <a:off x="3805084" y="3005788"/>
              <a:ext cx="2347944" cy="35900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000"/>
                <a:buFont typeface="Arial"/>
                <a:buNone/>
              </a:pPr>
              <a:r>
                <a:rPr lang="en-US" sz="10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- 페이지별, 용도에 따라 사용하도록 정의 </a:t>
              </a:r>
              <a:endPara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" name="Google Shape;93;p12"/>
            <p:cNvSpPr txBox="1"/>
            <p:nvPr/>
          </p:nvSpPr>
          <p:spPr>
            <a:xfrm>
              <a:off x="1166362" y="3005788"/>
              <a:ext cx="2262638" cy="40390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Arial"/>
                <a:buNone/>
              </a:pPr>
              <a:r>
                <a:rPr lang="en-US" sz="1600" b="1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3. Layer Pop-up</a:t>
              </a:r>
              <a:endParaRPr/>
            </a:p>
          </p:txBody>
        </p:sp>
      </p:grpSp>
      <p:grpSp>
        <p:nvGrpSpPr>
          <p:cNvPr id="94" name="Google Shape;94;p12"/>
          <p:cNvGrpSpPr/>
          <p:nvPr/>
        </p:nvGrpSpPr>
        <p:grpSpPr>
          <a:xfrm>
            <a:off x="1166362" y="3324392"/>
            <a:ext cx="6203496" cy="403905"/>
            <a:chOff x="1166362" y="3655470"/>
            <a:chExt cx="6203496" cy="403905"/>
          </a:xfrm>
        </p:grpSpPr>
        <p:sp>
          <p:nvSpPr>
            <p:cNvPr id="95" name="Google Shape;95;p12"/>
            <p:cNvSpPr txBox="1"/>
            <p:nvPr/>
          </p:nvSpPr>
          <p:spPr>
            <a:xfrm>
              <a:off x="3805083" y="3655470"/>
              <a:ext cx="3564775" cy="35593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000"/>
                <a:buFont typeface="Arial"/>
                <a:buNone/>
              </a:pPr>
              <a:r>
                <a:rPr lang="en-US" sz="10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- 사용자가 직접 작성하는 function의 경우 공통된 프로세스 정의 </a:t>
              </a:r>
              <a:endPara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" name="Google Shape;96;p12"/>
            <p:cNvSpPr txBox="1"/>
            <p:nvPr/>
          </p:nvSpPr>
          <p:spPr>
            <a:xfrm>
              <a:off x="1166362" y="3655470"/>
              <a:ext cx="2262638" cy="40390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Arial"/>
                <a:buNone/>
              </a:pPr>
              <a:r>
                <a:rPr lang="en-US" sz="1600" b="1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4. 등록/작성 프로세스</a:t>
              </a:r>
              <a:endParaRPr/>
            </a:p>
          </p:txBody>
        </p:sp>
      </p:grpSp>
      <p:grpSp>
        <p:nvGrpSpPr>
          <p:cNvPr id="97" name="Google Shape;97;p12"/>
          <p:cNvGrpSpPr/>
          <p:nvPr/>
        </p:nvGrpSpPr>
        <p:grpSpPr>
          <a:xfrm>
            <a:off x="1166362" y="3901077"/>
            <a:ext cx="6203496" cy="403905"/>
            <a:chOff x="1166362" y="4305152"/>
            <a:chExt cx="6203496" cy="403905"/>
          </a:xfrm>
        </p:grpSpPr>
        <p:sp>
          <p:nvSpPr>
            <p:cNvPr id="98" name="Google Shape;98;p12"/>
            <p:cNvSpPr txBox="1"/>
            <p:nvPr/>
          </p:nvSpPr>
          <p:spPr>
            <a:xfrm>
              <a:off x="1166362" y="4305152"/>
              <a:ext cx="2091093" cy="40390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Arial"/>
                <a:buNone/>
              </a:pPr>
              <a:r>
                <a:rPr lang="en-US" sz="1600" b="1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5. Loading Bar</a:t>
              </a:r>
              <a:endParaRPr/>
            </a:p>
          </p:txBody>
        </p:sp>
        <p:sp>
          <p:nvSpPr>
            <p:cNvPr id="99" name="Google Shape;99;p12"/>
            <p:cNvSpPr txBox="1"/>
            <p:nvPr/>
          </p:nvSpPr>
          <p:spPr>
            <a:xfrm>
              <a:off x="3805083" y="4305152"/>
              <a:ext cx="3564775" cy="40390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000"/>
                <a:buFont typeface="Arial"/>
                <a:buNone/>
              </a:pPr>
              <a:r>
                <a:rPr lang="en-US" sz="10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- Loading이 발생하는 페이지 및  구간에 맞춰서 사용하도록 정의 </a:t>
              </a:r>
              <a:endParaRPr/>
            </a:p>
          </p:txBody>
        </p:sp>
      </p:grpSp>
      <p:grpSp>
        <p:nvGrpSpPr>
          <p:cNvPr id="100" name="Google Shape;100;p12"/>
          <p:cNvGrpSpPr/>
          <p:nvPr/>
        </p:nvGrpSpPr>
        <p:grpSpPr>
          <a:xfrm>
            <a:off x="1166362" y="5054447"/>
            <a:ext cx="5063649" cy="403905"/>
            <a:chOff x="1166362" y="5604514"/>
            <a:chExt cx="5063649" cy="403905"/>
          </a:xfrm>
        </p:grpSpPr>
        <p:sp>
          <p:nvSpPr>
            <p:cNvPr id="101" name="Google Shape;101;p12"/>
            <p:cNvSpPr txBox="1"/>
            <p:nvPr/>
          </p:nvSpPr>
          <p:spPr>
            <a:xfrm>
              <a:off x="1166362" y="5604514"/>
              <a:ext cx="2091093" cy="40390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Arial"/>
                <a:buNone/>
              </a:pPr>
              <a:r>
                <a:rPr lang="en-US" sz="1600" b="1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7. 공통 운영(Native)</a:t>
              </a:r>
              <a:endParaRPr/>
            </a:p>
          </p:txBody>
        </p:sp>
        <p:sp>
          <p:nvSpPr>
            <p:cNvPr id="102" name="Google Shape;102;p12"/>
            <p:cNvSpPr txBox="1"/>
            <p:nvPr/>
          </p:nvSpPr>
          <p:spPr>
            <a:xfrm>
              <a:off x="3805084" y="5604514"/>
              <a:ext cx="2424927" cy="33593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000"/>
                <a:buFont typeface="Arial"/>
                <a:buNone/>
              </a:pPr>
              <a:r>
                <a:rPr lang="en-US" sz="10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- Native로 운영하는 영역에 대해 정의</a:t>
              </a:r>
              <a:endParaRPr/>
            </a:p>
          </p:txBody>
        </p:sp>
      </p:grpSp>
      <p:grpSp>
        <p:nvGrpSpPr>
          <p:cNvPr id="103" name="Google Shape;103;p12"/>
          <p:cNvGrpSpPr/>
          <p:nvPr/>
        </p:nvGrpSpPr>
        <p:grpSpPr>
          <a:xfrm>
            <a:off x="1166362" y="4477762"/>
            <a:ext cx="4597308" cy="403905"/>
            <a:chOff x="1166362" y="4954834"/>
            <a:chExt cx="4597308" cy="403905"/>
          </a:xfrm>
        </p:grpSpPr>
        <p:sp>
          <p:nvSpPr>
            <p:cNvPr id="104" name="Google Shape;104;p12"/>
            <p:cNvSpPr txBox="1"/>
            <p:nvPr/>
          </p:nvSpPr>
          <p:spPr>
            <a:xfrm>
              <a:off x="1166362" y="4954834"/>
              <a:ext cx="2091093" cy="40390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Arial"/>
                <a:buNone/>
              </a:pPr>
              <a:r>
                <a:rPr lang="en-US" sz="1600" b="1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6. 에러페이지</a:t>
              </a:r>
              <a:endParaRPr sz="1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" name="Google Shape;105;p12"/>
            <p:cNvSpPr txBox="1"/>
            <p:nvPr/>
          </p:nvSpPr>
          <p:spPr>
            <a:xfrm>
              <a:off x="3805083" y="4954834"/>
              <a:ext cx="1958587" cy="40390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000"/>
                <a:buFont typeface="Arial"/>
                <a:buNone/>
              </a:pPr>
              <a:r>
                <a:rPr lang="en-US" sz="10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- 에러 페이지에 대해 정의</a:t>
              </a:r>
              <a:endParaRPr/>
            </a:p>
          </p:txBody>
        </p:sp>
      </p:grpSp>
      <p:grpSp>
        <p:nvGrpSpPr>
          <p:cNvPr id="106" name="Google Shape;106;p12"/>
          <p:cNvGrpSpPr/>
          <p:nvPr/>
        </p:nvGrpSpPr>
        <p:grpSpPr>
          <a:xfrm>
            <a:off x="1166362" y="5631132"/>
            <a:ext cx="6361215" cy="403905"/>
            <a:chOff x="1166362" y="6135454"/>
            <a:chExt cx="6361215" cy="403905"/>
          </a:xfrm>
        </p:grpSpPr>
        <p:sp>
          <p:nvSpPr>
            <p:cNvPr id="107" name="Google Shape;107;p12"/>
            <p:cNvSpPr txBox="1"/>
            <p:nvPr/>
          </p:nvSpPr>
          <p:spPr>
            <a:xfrm>
              <a:off x="1166362" y="6135454"/>
              <a:ext cx="2091093" cy="40390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Arial"/>
                <a:buNone/>
              </a:pPr>
              <a:r>
                <a:rPr lang="en-US" sz="1600" b="1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8. Function</a:t>
              </a:r>
              <a:endParaRPr/>
            </a:p>
          </p:txBody>
        </p:sp>
        <p:sp>
          <p:nvSpPr>
            <p:cNvPr id="108" name="Google Shape;108;p12"/>
            <p:cNvSpPr txBox="1"/>
            <p:nvPr/>
          </p:nvSpPr>
          <p:spPr>
            <a:xfrm>
              <a:off x="3805084" y="6135454"/>
              <a:ext cx="3722493" cy="33593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000"/>
                <a:buFont typeface="Arial"/>
                <a:buNone/>
              </a:pPr>
              <a:r>
                <a:rPr lang="en-US" sz="10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- 게시글 타입의 목록 로딩, 사진 등록 등 공통 기능에 대해 정의</a:t>
              </a:r>
              <a:endParaRPr/>
            </a:p>
          </p:txBody>
        </p:sp>
      </p:grpSp>
      <p:grpSp>
        <p:nvGrpSpPr>
          <p:cNvPr id="109" name="Google Shape;109;p12"/>
          <p:cNvGrpSpPr/>
          <p:nvPr/>
        </p:nvGrpSpPr>
        <p:grpSpPr>
          <a:xfrm>
            <a:off x="1166362" y="6207817"/>
            <a:ext cx="6361215" cy="403905"/>
            <a:chOff x="1166362" y="6237312"/>
            <a:chExt cx="6361215" cy="403905"/>
          </a:xfrm>
        </p:grpSpPr>
        <p:sp>
          <p:nvSpPr>
            <p:cNvPr id="110" name="Google Shape;110;p12"/>
            <p:cNvSpPr txBox="1"/>
            <p:nvPr/>
          </p:nvSpPr>
          <p:spPr>
            <a:xfrm>
              <a:off x="1166362" y="6237312"/>
              <a:ext cx="2091093" cy="40390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Arial"/>
                <a:buNone/>
              </a:pPr>
              <a:r>
                <a:rPr lang="en-US" sz="1600" b="1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9. Form</a:t>
              </a:r>
              <a:endParaRPr/>
            </a:p>
          </p:txBody>
        </p:sp>
        <p:sp>
          <p:nvSpPr>
            <p:cNvPr id="111" name="Google Shape;111;p12"/>
            <p:cNvSpPr txBox="1"/>
            <p:nvPr/>
          </p:nvSpPr>
          <p:spPr>
            <a:xfrm>
              <a:off x="3805084" y="6237312"/>
              <a:ext cx="3722493" cy="33593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000"/>
                <a:buFont typeface="Arial"/>
                <a:buNone/>
              </a:pPr>
              <a:r>
                <a:rPr lang="en-US" sz="10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- Text Box, Text Area, Select Box 공통 기능에 대해 정의</a:t>
              </a:r>
              <a:endParaRPr/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3"/>
          <p:cNvSpPr txBox="1">
            <a:spLocks noGrp="1"/>
          </p:cNvSpPr>
          <p:nvPr>
            <p:ph type="sldNum" idx="12"/>
          </p:nvPr>
        </p:nvSpPr>
        <p:spPr>
          <a:xfrm>
            <a:off x="11389360" y="6675521"/>
            <a:ext cx="637298" cy="1337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solidFill>
                  <a:srgbClr val="888888"/>
                </a:solidFill>
              </a:rPr>
              <a:t>5</a:t>
            </a:fld>
            <a:endParaRPr>
              <a:solidFill>
                <a:srgbClr val="888888"/>
              </a:solidFill>
            </a:endParaRPr>
          </a:p>
        </p:txBody>
      </p:sp>
      <p:sp>
        <p:nvSpPr>
          <p:cNvPr id="117" name="Google Shape;117;p13"/>
          <p:cNvSpPr txBox="1"/>
          <p:nvPr/>
        </p:nvSpPr>
        <p:spPr>
          <a:xfrm>
            <a:off x="597525" y="2770118"/>
            <a:ext cx="3299561" cy="28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-US" sz="2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1. 화면 Navigation</a:t>
            </a:r>
            <a:endParaRPr sz="2800" b="1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" name="Google Shape;118;p13"/>
          <p:cNvSpPr txBox="1"/>
          <p:nvPr/>
        </p:nvSpPr>
        <p:spPr>
          <a:xfrm>
            <a:off x="962276" y="3429000"/>
            <a:ext cx="4357210" cy="760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 각 화면별 상,하 스크롤에 따른 인터랙션</a:t>
            </a:r>
            <a:br>
              <a:rPr lang="en-US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 각 화면별 필수 메뉴 및 요소 정의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4"/>
          <p:cNvSpPr txBox="1">
            <a:spLocks noGrp="1"/>
          </p:cNvSpPr>
          <p:nvPr>
            <p:ph type="sldNum" idx="12"/>
          </p:nvPr>
        </p:nvSpPr>
        <p:spPr>
          <a:xfrm>
            <a:off x="11389360" y="6675521"/>
            <a:ext cx="637298" cy="1337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solidFill>
                  <a:srgbClr val="888888"/>
                </a:solidFill>
              </a:rPr>
              <a:t>6</a:t>
            </a:fld>
            <a:endParaRPr>
              <a:solidFill>
                <a:srgbClr val="888888"/>
              </a:solidFill>
            </a:endParaRPr>
          </a:p>
        </p:txBody>
      </p:sp>
      <p:sp>
        <p:nvSpPr>
          <p:cNvPr id="124" name="Google Shape;124;p14"/>
          <p:cNvSpPr txBox="1">
            <a:spLocks noGrp="1"/>
          </p:cNvSpPr>
          <p:nvPr>
            <p:ph type="ctrTitle"/>
          </p:nvPr>
        </p:nvSpPr>
        <p:spPr>
          <a:xfrm>
            <a:off x="307239" y="255535"/>
            <a:ext cx="11309267" cy="28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en-US"/>
              <a:t>페이지별 탭바 노출여부 </a:t>
            </a:r>
            <a:r>
              <a:rPr lang="en-US">
                <a:solidFill>
                  <a:srgbClr val="FF0000"/>
                </a:solidFill>
              </a:rPr>
              <a:t>(TBD)</a:t>
            </a:r>
            <a:endParaRPr>
              <a:solidFill>
                <a:srgbClr val="FF0000"/>
              </a:solidFill>
            </a:endParaRPr>
          </a:p>
        </p:txBody>
      </p:sp>
      <p:sp>
        <p:nvSpPr>
          <p:cNvPr id="125" name="Google Shape;125;p14"/>
          <p:cNvSpPr/>
          <p:nvPr/>
        </p:nvSpPr>
        <p:spPr>
          <a:xfrm>
            <a:off x="460263" y="755293"/>
            <a:ext cx="7220062" cy="11653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2000" tIns="36000" rIns="72000" bIns="36000" anchor="t" anchorCtr="0">
            <a:spAutoFit/>
          </a:bodyPr>
          <a:lstStyle/>
          <a:p>
            <a:pPr marL="171450" marR="0" lvl="0" indent="-17145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Char char="-"/>
            </a:pPr>
            <a:r>
              <a:rPr lang="en-US"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HMC/GHQ 공통</a:t>
            </a: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714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Char char="-"/>
            </a:pPr>
            <a:r>
              <a:rPr lang="en-US"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일반 Static 페이지일 경우 탭바 노출</a:t>
            </a: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71450" algn="l" rtl="0"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Char char="-"/>
            </a:pPr>
            <a:r>
              <a:rPr lang="en-US"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레이어 팝업일 경우 탭바 비 노출</a:t>
            </a:r>
            <a:endParaRPr sz="800" b="0" i="0" u="none" strike="noStrike" cap="non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714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Char char="-"/>
            </a:pPr>
            <a:r>
              <a:rPr lang="en-US"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하단에 Sticky로 붙는 버튼이 있는 경우 탭바 비 노출</a:t>
            </a:r>
            <a:r>
              <a:rPr lang="en-US" sz="800" b="0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(TBD)</a:t>
            </a:r>
            <a:endParaRPr sz="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714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Char char="-"/>
            </a:pPr>
            <a:r>
              <a:rPr lang="en-US"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PDP에서는 페이지의 스크롤을 내리거나 올릴 때 숨김</a:t>
            </a:r>
            <a:r>
              <a:rPr lang="en-US" sz="800" b="0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(TBD)</a:t>
            </a:r>
            <a:endParaRPr sz="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714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Char char="-"/>
            </a:pPr>
            <a:r>
              <a:rPr lang="en-US"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장바구니, 주문, 결제와 같은 구매 프로세스에선 탭바 비 노출</a:t>
            </a:r>
            <a:r>
              <a:rPr lang="en-US" sz="800" b="0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(TBD)</a:t>
            </a:r>
            <a:endParaRPr sz="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714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Char char="-"/>
            </a:pPr>
            <a:r>
              <a:rPr lang="en-US"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입력 페이지일 경우 탭바 비노출</a:t>
            </a:r>
            <a:r>
              <a:rPr lang="en-US" sz="800" b="0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(TBD)</a:t>
            </a:r>
            <a:endParaRPr sz="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26" name="Google Shape;126;p14"/>
          <p:cNvGraphicFramePr/>
          <p:nvPr/>
        </p:nvGraphicFramePr>
        <p:xfrm>
          <a:off x="444500" y="3610734"/>
          <a:ext cx="11258450" cy="890655"/>
        </p:xfrm>
        <a:graphic>
          <a:graphicData uri="http://schemas.openxmlformats.org/drawingml/2006/table">
            <a:tbl>
              <a:tblPr firstRow="1" bandRow="1">
                <a:noFill/>
                <a:tableStyleId>{CF84172B-D96C-486F-86B3-8FE4519AAE3F}</a:tableStyleId>
              </a:tblPr>
              <a:tblGrid>
                <a:gridCol w="8041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041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041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041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041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041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0417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80417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80417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80417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804175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804175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804175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804175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</a:tblGrid>
              <a:tr h="39792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탭바 사용</a:t>
                      </a:r>
                      <a:endParaRPr sz="90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VOD 커머스</a:t>
                      </a:r>
                      <a:endParaRPr sz="90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인덱스</a:t>
                      </a:r>
                      <a:endParaRPr/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VOD 커머스 실행화면</a:t>
                      </a:r>
                      <a:endParaRPr/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장바구니</a:t>
                      </a:r>
                      <a:endParaRPr/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비교차량 선택</a:t>
                      </a:r>
                      <a:endParaRPr/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마이페이지 </a:t>
                      </a:r>
                      <a:endParaRPr sz="90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인덱스</a:t>
                      </a:r>
                      <a:endParaRPr sz="90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앱설정</a:t>
                      </a:r>
                      <a:endParaRPr sz="90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앱알림</a:t>
                      </a:r>
                      <a:endParaRPr sz="900" b="1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회원정보</a:t>
                      </a:r>
                      <a:endParaRPr/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서비스해지</a:t>
                      </a:r>
                      <a:endParaRPr/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포인트내역</a:t>
                      </a:r>
                      <a:endParaRPr/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보유차량 </a:t>
                      </a:r>
                      <a:endParaRPr sz="90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(목록/상세)</a:t>
                      </a:r>
                      <a:endParaRPr sz="90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찜한상품</a:t>
                      </a:r>
                      <a:endParaRPr sz="90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최근본상품</a:t>
                      </a:r>
                      <a:endParaRPr/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772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탭바 사용</a:t>
                      </a:r>
                      <a:endParaRPr/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●</a:t>
                      </a:r>
                      <a:endParaRPr/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X</a:t>
                      </a:r>
                      <a:endParaRPr sz="9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X</a:t>
                      </a:r>
                      <a:endParaRPr sz="9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X</a:t>
                      </a:r>
                      <a:endParaRPr sz="9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●</a:t>
                      </a:r>
                      <a:endParaRPr/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X</a:t>
                      </a:r>
                      <a:endParaRPr sz="9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X</a:t>
                      </a:r>
                      <a:endParaRPr sz="9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X</a:t>
                      </a:r>
                      <a:endParaRPr sz="9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X</a:t>
                      </a:r>
                      <a:endParaRPr sz="9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X</a:t>
                      </a:r>
                      <a:endParaRPr sz="9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X</a:t>
                      </a:r>
                      <a:endParaRPr sz="9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X</a:t>
                      </a:r>
                      <a:endParaRPr sz="9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X</a:t>
                      </a:r>
                      <a:endParaRPr sz="9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27" name="Google Shape;127;p14"/>
          <p:cNvGraphicFramePr/>
          <p:nvPr/>
        </p:nvGraphicFramePr>
        <p:xfrm>
          <a:off x="444500" y="2609206"/>
          <a:ext cx="11258450" cy="785650"/>
        </p:xfrm>
        <a:graphic>
          <a:graphicData uri="http://schemas.openxmlformats.org/drawingml/2006/table">
            <a:tbl>
              <a:tblPr firstRow="1" bandRow="1">
                <a:noFill/>
                <a:tableStyleId>{CF84172B-D96C-486F-86B3-8FE4519AAE3F}</a:tableStyleId>
              </a:tblPr>
              <a:tblGrid>
                <a:gridCol w="8041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041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041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041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041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041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0417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80417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80417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80417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804175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804175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804175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804175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</a:tblGrid>
              <a:tr h="39792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탭바 사용</a:t>
                      </a:r>
                      <a:endParaRPr sz="90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메인</a:t>
                      </a:r>
                      <a:endParaRPr/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상품상세</a:t>
                      </a:r>
                      <a:endParaRPr/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모델 별 목록</a:t>
                      </a:r>
                      <a:endParaRPr/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판매 준비 </a:t>
                      </a:r>
                      <a:endParaRPr sz="90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차량목록</a:t>
                      </a:r>
                      <a:endParaRPr/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기획전</a:t>
                      </a:r>
                      <a:endParaRPr sz="90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(목록/상세)</a:t>
                      </a:r>
                      <a:endParaRPr sz="90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검색</a:t>
                      </a:r>
                      <a:endParaRPr/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검색 결과</a:t>
                      </a:r>
                      <a:endParaRPr/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로그인</a:t>
                      </a:r>
                      <a:endParaRPr/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내차팔기</a:t>
                      </a:r>
                      <a:endParaRPr/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고객센터</a:t>
                      </a:r>
                      <a:endParaRPr sz="90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자주묻는질문</a:t>
                      </a:r>
                      <a:endParaRPr/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나의문의</a:t>
                      </a:r>
                      <a:endParaRPr sz="90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1:1문의등록</a:t>
                      </a:r>
                      <a:endParaRPr/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772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탭바 사용</a:t>
                      </a:r>
                      <a:endParaRPr/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●</a:t>
                      </a:r>
                      <a:endParaRPr/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X</a:t>
                      </a:r>
                      <a:endParaRPr sz="9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●</a:t>
                      </a:r>
                      <a:endParaRPr/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●</a:t>
                      </a:r>
                      <a:endParaRPr/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●</a:t>
                      </a:r>
                      <a:endParaRPr/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X</a:t>
                      </a:r>
                      <a:endParaRPr sz="9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●</a:t>
                      </a:r>
                      <a:endParaRPr/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X</a:t>
                      </a:r>
                      <a:endParaRPr sz="9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X</a:t>
                      </a:r>
                      <a:endParaRPr sz="9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●</a:t>
                      </a:r>
                      <a:endParaRPr/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●</a:t>
                      </a:r>
                      <a:endParaRPr/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X</a:t>
                      </a:r>
                      <a:endParaRPr sz="9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X</a:t>
                      </a:r>
                      <a:endParaRPr sz="9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28" name="Google Shape;128;p14"/>
          <p:cNvGraphicFramePr/>
          <p:nvPr/>
        </p:nvGraphicFramePr>
        <p:xfrm>
          <a:off x="444500" y="4612262"/>
          <a:ext cx="10454275" cy="785650"/>
        </p:xfrm>
        <a:graphic>
          <a:graphicData uri="http://schemas.openxmlformats.org/drawingml/2006/table">
            <a:tbl>
              <a:tblPr firstRow="1" bandRow="1">
                <a:noFill/>
                <a:tableStyleId>{CF84172B-D96C-486F-86B3-8FE4519AAE3F}</a:tableStyleId>
              </a:tblPr>
              <a:tblGrid>
                <a:gridCol w="8041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041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041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041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041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041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0417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80417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80417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80417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804175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804175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804175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</a:tblGrid>
              <a:tr h="39792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탭바 사용</a:t>
                      </a:r>
                      <a:endParaRPr sz="90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양산발주</a:t>
                      </a:r>
                      <a:endParaRPr sz="90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승인내역</a:t>
                      </a:r>
                      <a:endParaRPr sz="90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나의리뷰</a:t>
                      </a:r>
                      <a:endParaRPr sz="90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입고알림신청</a:t>
                      </a:r>
                      <a:endParaRPr sz="90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공지사항</a:t>
                      </a:r>
                      <a:endParaRPr sz="90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목록</a:t>
                      </a:r>
                      <a:endParaRPr/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계약</a:t>
                      </a:r>
                      <a:endParaRPr/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주문</a:t>
                      </a:r>
                      <a:endParaRPr/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결제</a:t>
                      </a:r>
                      <a:endParaRPr/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내차사기</a:t>
                      </a:r>
                      <a:endParaRPr sz="90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(목록/상세)</a:t>
                      </a:r>
                      <a:endParaRPr/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내차팔기</a:t>
                      </a:r>
                      <a:endParaRPr sz="900" b="1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(목록/상세)</a:t>
                      </a:r>
                      <a:endParaRPr sz="900" b="1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Static</a:t>
                      </a:r>
                      <a:endParaRPr sz="90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레이어 팝업</a:t>
                      </a:r>
                      <a:endParaRPr/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772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탭바 사용</a:t>
                      </a:r>
                      <a:endParaRPr/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X</a:t>
                      </a:r>
                      <a:endParaRPr sz="9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X</a:t>
                      </a:r>
                      <a:endParaRPr sz="9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X</a:t>
                      </a:r>
                      <a:endParaRPr sz="9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X</a:t>
                      </a:r>
                      <a:endParaRPr sz="9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X</a:t>
                      </a:r>
                      <a:endParaRPr sz="9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X</a:t>
                      </a:r>
                      <a:endParaRPr sz="9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X</a:t>
                      </a:r>
                      <a:endParaRPr sz="9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X</a:t>
                      </a:r>
                      <a:endParaRPr sz="9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X</a:t>
                      </a:r>
                      <a:endParaRPr sz="9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X</a:t>
                      </a:r>
                      <a:endParaRPr sz="9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●</a:t>
                      </a:r>
                      <a:endParaRPr/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X</a:t>
                      </a:r>
                      <a:endParaRPr sz="9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표지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456</Words>
  <Application>Microsoft Office PowerPoint</Application>
  <PresentationFormat>와이드스크린</PresentationFormat>
  <Paragraphs>174</Paragraphs>
  <Slides>6</Slides>
  <Notes>6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6</vt:i4>
      </vt:variant>
    </vt:vector>
  </HeadingPairs>
  <TitlesOfParts>
    <vt:vector size="10" baseType="lpstr">
      <vt:lpstr>Malgun Gothic</vt:lpstr>
      <vt:lpstr>Malgun Gothic</vt:lpstr>
      <vt:lpstr>Arial</vt:lpstr>
      <vt:lpstr>표지</vt:lpstr>
      <vt:lpstr>한빛글로벌 SyncFlow AI</vt:lpstr>
      <vt:lpstr>HISTORY OF DOCUMENT</vt:lpstr>
      <vt:lpstr>정책 결정 필요사항</vt:lpstr>
      <vt:lpstr>Index</vt:lpstr>
      <vt:lpstr>PowerPoint 프레젠테이션</vt:lpstr>
      <vt:lpstr>페이지별 탭바 노출여부 (TBD)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한빛글로벌 SyncFlow AI</dc:title>
  <cp:lastModifiedBy>주식회사 엠파시 (Empasy Inc.)</cp:lastModifiedBy>
  <cp:revision>1</cp:revision>
  <dcterms:created xsi:type="dcterms:W3CDTF">2021-06-10T02:36:11Z</dcterms:created>
  <dcterms:modified xsi:type="dcterms:W3CDTF">2023-06-30T10:47:40Z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0x01010037E5E33BE9BA5A4198FA61C07CED3664</vt:lpwstr>
  </property>
</Properties>
</file>