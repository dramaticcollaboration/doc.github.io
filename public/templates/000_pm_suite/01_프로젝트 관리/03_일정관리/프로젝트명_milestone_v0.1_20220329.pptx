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:go="http://customooxmlschemas.google.com/" r:id="rId13" roundtripDataSignature="AMtx7mhU2dhEl8qPxg0QsFA1L86L3OHMa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customschemas.google.com/relationships/presentationmetadata" Target="metadata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3" name="Google Shape;193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8" name="Google Shape;308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22" name="Google Shape;422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44" name="Google Shape;544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4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66" name="Google Shape;666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6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88" name="Google Shape;788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9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9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구역 머리글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1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1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콘텐츠 2개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2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2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비교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3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3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13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3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13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만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화면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콘텐츠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6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6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6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그림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7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7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세로 텍스트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8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세로 제목 및 텍스트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9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b="0" i="0" sz="4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8" name="Google Shape;8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9" name="Google Shape;9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0" name="Google Shape;10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10057653" y="1013803"/>
            <a:ext cx="671400" cy="5447995"/>
            <a:chOff x="1198761" y="1013803"/>
            <a:chExt cx="671400" cy="5447995"/>
          </a:xfrm>
        </p:grpSpPr>
        <p:sp>
          <p:nvSpPr>
            <p:cNvPr id="85" name="Google Shape;85;p1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86" name="Google Shape;86;p1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87" name="Google Shape;87;p1"/>
          <p:cNvSpPr txBox="1"/>
          <p:nvPr/>
        </p:nvSpPr>
        <p:spPr>
          <a:xfrm>
            <a:off x="2000538" y="467418"/>
            <a:ext cx="1774500" cy="3182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b="1" baseline="30000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st</a:t>
            </a: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 Sign off</a:t>
            </a:r>
            <a:endParaRPr b="1" i="0" sz="8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8" name="Google Shape;88;p1"/>
          <p:cNvGrpSpPr/>
          <p:nvPr/>
        </p:nvGrpSpPr>
        <p:grpSpPr>
          <a:xfrm>
            <a:off x="1420234" y="1013803"/>
            <a:ext cx="671400" cy="5447995"/>
            <a:chOff x="1198761" y="1013803"/>
            <a:chExt cx="671400" cy="5447995"/>
          </a:xfrm>
        </p:grpSpPr>
        <p:sp>
          <p:nvSpPr>
            <p:cNvPr id="89" name="Google Shape;89;p1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10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0" name="Google Shape;90;p1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91" name="Google Shape;91;p1"/>
          <p:cNvSpPr/>
          <p:nvPr/>
        </p:nvSpPr>
        <p:spPr>
          <a:xfrm>
            <a:off x="2437003" y="697138"/>
            <a:ext cx="888548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화면설계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2" name="Google Shape;92;p1"/>
          <p:cNvGrpSpPr/>
          <p:nvPr/>
        </p:nvGrpSpPr>
        <p:grpSpPr>
          <a:xfrm>
            <a:off x="9933481" y="358555"/>
            <a:ext cx="1606439" cy="393288"/>
            <a:chOff x="9933481" y="358555"/>
            <a:chExt cx="1606439" cy="393288"/>
          </a:xfrm>
        </p:grpSpPr>
        <p:sp>
          <p:nvSpPr>
            <p:cNvPr id="93" name="Google Shape;93;p1"/>
            <p:cNvSpPr txBox="1"/>
            <p:nvPr/>
          </p:nvSpPr>
          <p:spPr>
            <a:xfrm>
              <a:off x="9933481" y="358555"/>
              <a:ext cx="1606439" cy="21110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rPr>
                <a:t>P2 Launch</a:t>
              </a:r>
              <a:endParaRPr b="1" i="0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" name="Google Shape;94;p1"/>
            <p:cNvSpPr/>
            <p:nvPr/>
          </p:nvSpPr>
          <p:spPr>
            <a:xfrm rot="10800000">
              <a:off x="10667534" y="573943"/>
              <a:ext cx="228600" cy="177900"/>
            </a:xfrm>
            <a:prstGeom prst="triangle">
              <a:avLst>
                <a:gd fmla="val 50000" name="adj"/>
              </a:avLst>
            </a:prstGeom>
            <a:solidFill>
              <a:schemeClr val="accen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1" i="0" sz="14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95" name="Google Shape;95;p1"/>
          <p:cNvCxnSpPr>
            <a:stCxn id="96" idx="2"/>
          </p:cNvCxnSpPr>
          <p:nvPr/>
        </p:nvCxnSpPr>
        <p:spPr>
          <a:xfrm>
            <a:off x="10818246" y="1034378"/>
            <a:ext cx="0" cy="54909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97" name="Google Shape;97;p1"/>
          <p:cNvGrpSpPr/>
          <p:nvPr/>
        </p:nvGrpSpPr>
        <p:grpSpPr>
          <a:xfrm>
            <a:off x="554184" y="1219080"/>
            <a:ext cx="1201750" cy="246300"/>
            <a:chOff x="554184" y="1219080"/>
            <a:chExt cx="1201750" cy="246300"/>
          </a:xfrm>
        </p:grpSpPr>
        <p:cxnSp>
          <p:nvCxnSpPr>
            <p:cNvPr id="98" name="Google Shape;98;p1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99" name="Google Shape;99;p1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1M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0" name="Google Shape;100;p1"/>
          <p:cNvGrpSpPr/>
          <p:nvPr/>
        </p:nvGrpSpPr>
        <p:grpSpPr>
          <a:xfrm>
            <a:off x="186317" y="1013803"/>
            <a:ext cx="671400" cy="5447995"/>
            <a:chOff x="186317" y="1013803"/>
            <a:chExt cx="671400" cy="5447995"/>
          </a:xfrm>
        </p:grpSpPr>
        <p:sp>
          <p:nvSpPr>
            <p:cNvPr id="101" name="Google Shape;101;p1"/>
            <p:cNvSpPr txBox="1"/>
            <p:nvPr/>
          </p:nvSpPr>
          <p:spPr>
            <a:xfrm>
              <a:off x="186317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02" name="Google Shape;102;p1"/>
            <p:cNvCxnSpPr/>
            <p:nvPr/>
          </p:nvCxnSpPr>
          <p:spPr>
            <a:xfrm>
              <a:off x="522017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103" name="Google Shape;103;p1"/>
          <p:cNvGrpSpPr/>
          <p:nvPr/>
        </p:nvGrpSpPr>
        <p:grpSpPr>
          <a:xfrm>
            <a:off x="3888068" y="1013803"/>
            <a:ext cx="671400" cy="5447995"/>
            <a:chOff x="1198761" y="1013803"/>
            <a:chExt cx="671400" cy="5447995"/>
          </a:xfrm>
        </p:grpSpPr>
        <p:sp>
          <p:nvSpPr>
            <p:cNvPr id="104" name="Google Shape;104;p1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12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05" name="Google Shape;105;p1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106" name="Google Shape;106;p1"/>
          <p:cNvGrpSpPr/>
          <p:nvPr/>
        </p:nvGrpSpPr>
        <p:grpSpPr>
          <a:xfrm>
            <a:off x="2654151" y="1013803"/>
            <a:ext cx="671400" cy="5447995"/>
            <a:chOff x="186317" y="1013803"/>
            <a:chExt cx="671400" cy="5447995"/>
          </a:xfrm>
        </p:grpSpPr>
        <p:sp>
          <p:nvSpPr>
            <p:cNvPr id="107" name="Google Shape;107;p1"/>
            <p:cNvSpPr txBox="1"/>
            <p:nvPr/>
          </p:nvSpPr>
          <p:spPr>
            <a:xfrm>
              <a:off x="186317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11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08" name="Google Shape;108;p1"/>
            <p:cNvCxnSpPr/>
            <p:nvPr/>
          </p:nvCxnSpPr>
          <p:spPr>
            <a:xfrm>
              <a:off x="522017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109" name="Google Shape;109;p1"/>
          <p:cNvGrpSpPr/>
          <p:nvPr/>
        </p:nvGrpSpPr>
        <p:grpSpPr>
          <a:xfrm>
            <a:off x="6355902" y="1013803"/>
            <a:ext cx="671400" cy="5447995"/>
            <a:chOff x="1198761" y="1013803"/>
            <a:chExt cx="671400" cy="5447995"/>
          </a:xfrm>
        </p:grpSpPr>
        <p:sp>
          <p:nvSpPr>
            <p:cNvPr id="110" name="Google Shape;110;p1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11" name="Google Shape;111;p1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112" name="Google Shape;112;p1"/>
          <p:cNvGrpSpPr/>
          <p:nvPr/>
        </p:nvGrpSpPr>
        <p:grpSpPr>
          <a:xfrm>
            <a:off x="5121985" y="1013803"/>
            <a:ext cx="671400" cy="5447995"/>
            <a:chOff x="186317" y="1013803"/>
            <a:chExt cx="671400" cy="5447995"/>
          </a:xfrm>
        </p:grpSpPr>
        <p:sp>
          <p:nvSpPr>
            <p:cNvPr id="113" name="Google Shape;113;p1"/>
            <p:cNvSpPr txBox="1"/>
            <p:nvPr/>
          </p:nvSpPr>
          <p:spPr>
            <a:xfrm>
              <a:off x="186317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14" name="Google Shape;114;p1"/>
            <p:cNvCxnSpPr/>
            <p:nvPr/>
          </p:nvCxnSpPr>
          <p:spPr>
            <a:xfrm>
              <a:off x="522017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115" name="Google Shape;115;p1"/>
          <p:cNvGrpSpPr/>
          <p:nvPr/>
        </p:nvGrpSpPr>
        <p:grpSpPr>
          <a:xfrm>
            <a:off x="7589819" y="1013803"/>
            <a:ext cx="671400" cy="5447995"/>
            <a:chOff x="1198761" y="1013803"/>
            <a:chExt cx="671400" cy="5447995"/>
          </a:xfrm>
        </p:grpSpPr>
        <p:sp>
          <p:nvSpPr>
            <p:cNvPr id="116" name="Google Shape;116;p1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17" name="Google Shape;117;p1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118" name="Google Shape;118;p1"/>
          <p:cNvGrpSpPr/>
          <p:nvPr/>
        </p:nvGrpSpPr>
        <p:grpSpPr>
          <a:xfrm>
            <a:off x="8823736" y="1013803"/>
            <a:ext cx="671400" cy="5447995"/>
            <a:chOff x="1198761" y="1013803"/>
            <a:chExt cx="671400" cy="5447995"/>
          </a:xfrm>
        </p:grpSpPr>
        <p:sp>
          <p:nvSpPr>
            <p:cNvPr id="119" name="Google Shape;119;p1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20" name="Google Shape;120;p1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121" name="Google Shape;121;p1"/>
          <p:cNvGrpSpPr/>
          <p:nvPr/>
        </p:nvGrpSpPr>
        <p:grpSpPr>
          <a:xfrm>
            <a:off x="11291567" y="1013803"/>
            <a:ext cx="671400" cy="5447995"/>
            <a:chOff x="1198761" y="1013803"/>
            <a:chExt cx="671400" cy="5447995"/>
          </a:xfrm>
        </p:grpSpPr>
        <p:sp>
          <p:nvSpPr>
            <p:cNvPr id="122" name="Google Shape;122;p1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6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23" name="Google Shape;123;p1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124" name="Google Shape;124;p1"/>
          <p:cNvGrpSpPr/>
          <p:nvPr/>
        </p:nvGrpSpPr>
        <p:grpSpPr>
          <a:xfrm>
            <a:off x="7073100" y="357751"/>
            <a:ext cx="1643400" cy="394092"/>
            <a:chOff x="6958531" y="516325"/>
            <a:chExt cx="1643400" cy="394092"/>
          </a:xfrm>
        </p:grpSpPr>
        <p:sp>
          <p:nvSpPr>
            <p:cNvPr id="125" name="Google Shape;125;p1"/>
            <p:cNvSpPr/>
            <p:nvPr/>
          </p:nvSpPr>
          <p:spPr>
            <a:xfrm rot="10800000">
              <a:off x="7653176" y="732517"/>
              <a:ext cx="228600" cy="177900"/>
            </a:xfrm>
            <a:prstGeom prst="triangle">
              <a:avLst>
                <a:gd fmla="val 50000" name="adj"/>
              </a:avLst>
            </a:prstGeom>
            <a:solidFill>
              <a:schemeClr val="accen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1" i="0" sz="14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1"/>
            <p:cNvSpPr txBox="1"/>
            <p:nvPr/>
          </p:nvSpPr>
          <p:spPr>
            <a:xfrm>
              <a:off x="6958531" y="516325"/>
              <a:ext cx="1643400" cy="24629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rPr>
                <a:t>P1 Launch</a:t>
              </a:r>
              <a:endParaRPr b="1" i="0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7" name="Google Shape;127;p1"/>
          <p:cNvSpPr txBox="1"/>
          <p:nvPr/>
        </p:nvSpPr>
        <p:spPr>
          <a:xfrm>
            <a:off x="7546345" y="788078"/>
            <a:ext cx="67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2/28</a:t>
            </a:r>
            <a:endParaRPr b="1" i="0" sz="10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8" name="Google Shape;128;p1"/>
          <p:cNvCxnSpPr>
            <a:stCxn id="127" idx="2"/>
          </p:cNvCxnSpPr>
          <p:nvPr/>
        </p:nvCxnSpPr>
        <p:spPr>
          <a:xfrm>
            <a:off x="7882045" y="1034378"/>
            <a:ext cx="15900" cy="54909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96" name="Google Shape;96;p1"/>
          <p:cNvSpPr txBox="1"/>
          <p:nvPr/>
        </p:nvSpPr>
        <p:spPr>
          <a:xfrm>
            <a:off x="10482546" y="788078"/>
            <a:ext cx="67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5/17</a:t>
            </a:r>
            <a:endParaRPr b="1" i="0" sz="10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"/>
          <p:cNvSpPr txBox="1"/>
          <p:nvPr/>
        </p:nvSpPr>
        <p:spPr>
          <a:xfrm>
            <a:off x="10704224" y="467418"/>
            <a:ext cx="1774500" cy="3182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종료</a:t>
            </a:r>
            <a:endParaRPr b="1" i="0" sz="8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"/>
          <p:cNvSpPr/>
          <p:nvPr/>
        </p:nvSpPr>
        <p:spPr>
          <a:xfrm>
            <a:off x="11141987" y="697138"/>
            <a:ext cx="888548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완료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"/>
          <p:cNvSpPr/>
          <p:nvPr/>
        </p:nvSpPr>
        <p:spPr>
          <a:xfrm>
            <a:off x="657914" y="697138"/>
            <a:ext cx="888548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착수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2" name="Google Shape;132;p1"/>
          <p:cNvGrpSpPr/>
          <p:nvPr/>
        </p:nvGrpSpPr>
        <p:grpSpPr>
          <a:xfrm>
            <a:off x="1788101" y="1219080"/>
            <a:ext cx="1201750" cy="246300"/>
            <a:chOff x="554184" y="1219080"/>
            <a:chExt cx="1201750" cy="246300"/>
          </a:xfrm>
        </p:grpSpPr>
        <p:cxnSp>
          <p:nvCxnSpPr>
            <p:cNvPr id="133" name="Google Shape;133;p1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134" name="Google Shape;134;p1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2M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5" name="Google Shape;135;p1"/>
          <p:cNvGrpSpPr/>
          <p:nvPr/>
        </p:nvGrpSpPr>
        <p:grpSpPr>
          <a:xfrm>
            <a:off x="3022018" y="1219080"/>
            <a:ext cx="1201750" cy="246300"/>
            <a:chOff x="554184" y="1219080"/>
            <a:chExt cx="1201750" cy="246300"/>
          </a:xfrm>
        </p:grpSpPr>
        <p:cxnSp>
          <p:nvCxnSpPr>
            <p:cNvPr id="136" name="Google Shape;136;p1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137" name="Google Shape;137;p1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3M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8" name="Google Shape;138;p1"/>
          <p:cNvGrpSpPr/>
          <p:nvPr/>
        </p:nvGrpSpPr>
        <p:grpSpPr>
          <a:xfrm>
            <a:off x="4255935" y="1219080"/>
            <a:ext cx="1201750" cy="246300"/>
            <a:chOff x="554184" y="1219080"/>
            <a:chExt cx="1201750" cy="246300"/>
          </a:xfrm>
        </p:grpSpPr>
        <p:cxnSp>
          <p:nvCxnSpPr>
            <p:cNvPr id="139" name="Google Shape;139;p1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140" name="Google Shape;140;p1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4M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41" name="Google Shape;141;p1"/>
          <p:cNvGrpSpPr/>
          <p:nvPr/>
        </p:nvGrpSpPr>
        <p:grpSpPr>
          <a:xfrm>
            <a:off x="5489852" y="1219080"/>
            <a:ext cx="1201750" cy="246300"/>
            <a:chOff x="554184" y="1219080"/>
            <a:chExt cx="1201750" cy="246300"/>
          </a:xfrm>
        </p:grpSpPr>
        <p:cxnSp>
          <p:nvCxnSpPr>
            <p:cNvPr id="142" name="Google Shape;142;p1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143" name="Google Shape;143;p1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5M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44" name="Google Shape;144;p1"/>
          <p:cNvGrpSpPr/>
          <p:nvPr/>
        </p:nvGrpSpPr>
        <p:grpSpPr>
          <a:xfrm>
            <a:off x="6723769" y="1219080"/>
            <a:ext cx="1201750" cy="246300"/>
            <a:chOff x="554184" y="1219080"/>
            <a:chExt cx="1201750" cy="246300"/>
          </a:xfrm>
        </p:grpSpPr>
        <p:cxnSp>
          <p:nvCxnSpPr>
            <p:cNvPr id="145" name="Google Shape;145;p1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146" name="Google Shape;146;p1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6M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47" name="Google Shape;147;p1"/>
          <p:cNvGrpSpPr/>
          <p:nvPr/>
        </p:nvGrpSpPr>
        <p:grpSpPr>
          <a:xfrm>
            <a:off x="7957686" y="1219080"/>
            <a:ext cx="1201750" cy="246300"/>
            <a:chOff x="554184" y="1219080"/>
            <a:chExt cx="1201750" cy="246300"/>
          </a:xfrm>
        </p:grpSpPr>
        <p:cxnSp>
          <p:nvCxnSpPr>
            <p:cNvPr id="148" name="Google Shape;148;p1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149" name="Google Shape;149;p1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7M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50" name="Google Shape;150;p1"/>
          <p:cNvGrpSpPr/>
          <p:nvPr/>
        </p:nvGrpSpPr>
        <p:grpSpPr>
          <a:xfrm>
            <a:off x="9191603" y="1219080"/>
            <a:ext cx="1201750" cy="246300"/>
            <a:chOff x="554184" y="1219080"/>
            <a:chExt cx="1201750" cy="246300"/>
          </a:xfrm>
        </p:grpSpPr>
        <p:cxnSp>
          <p:nvCxnSpPr>
            <p:cNvPr id="151" name="Google Shape;151;p1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152" name="Google Shape;152;p1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8M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53" name="Google Shape;153;p1"/>
          <p:cNvGrpSpPr/>
          <p:nvPr/>
        </p:nvGrpSpPr>
        <p:grpSpPr>
          <a:xfrm>
            <a:off x="10425517" y="1219080"/>
            <a:ext cx="1201750" cy="246300"/>
            <a:chOff x="554184" y="1219080"/>
            <a:chExt cx="1201750" cy="246300"/>
          </a:xfrm>
        </p:grpSpPr>
        <p:cxnSp>
          <p:nvCxnSpPr>
            <p:cNvPr id="154" name="Google Shape;154;p1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155" name="Google Shape;155;p1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9M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56" name="Google Shape;156;p1"/>
          <p:cNvSpPr/>
          <p:nvPr/>
        </p:nvSpPr>
        <p:spPr>
          <a:xfrm>
            <a:off x="542760" y="1426772"/>
            <a:ext cx="877474" cy="4940414"/>
          </a:xfrm>
          <a:prstGeom prst="roundRect">
            <a:avLst>
              <a:gd fmla="val 1119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Requirement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(3주)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1"/>
          <p:cNvSpPr/>
          <p:nvPr/>
        </p:nvSpPr>
        <p:spPr>
          <a:xfrm>
            <a:off x="1145457" y="1599281"/>
            <a:ext cx="1820695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컨텐츠, 테이블 구조 분석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1"/>
          <p:cNvSpPr/>
          <p:nvPr/>
        </p:nvSpPr>
        <p:spPr>
          <a:xfrm>
            <a:off x="1137754" y="1973855"/>
            <a:ext cx="1823173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정책 정의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1"/>
          <p:cNvSpPr/>
          <p:nvPr/>
        </p:nvSpPr>
        <p:spPr>
          <a:xfrm>
            <a:off x="3013550" y="3091157"/>
            <a:ext cx="4107348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P1 오픈 범위 개발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1"/>
          <p:cNvSpPr/>
          <p:nvPr/>
        </p:nvSpPr>
        <p:spPr>
          <a:xfrm>
            <a:off x="10947151" y="1426771"/>
            <a:ext cx="655730" cy="4449672"/>
          </a:xfrm>
          <a:prstGeom prst="roundRect">
            <a:avLst>
              <a:gd fmla="val 1380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안정화 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(2주)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1"/>
          <p:cNvSpPr/>
          <p:nvPr/>
        </p:nvSpPr>
        <p:spPr>
          <a:xfrm>
            <a:off x="9940579" y="1426771"/>
            <a:ext cx="794460" cy="4437040"/>
          </a:xfrm>
          <a:prstGeom prst="roundRect">
            <a:avLst>
              <a:gd fmla="val 1119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테스트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단위/통합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(3주)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"/>
          <p:cNvSpPr/>
          <p:nvPr/>
        </p:nvSpPr>
        <p:spPr>
          <a:xfrm>
            <a:off x="10651664" y="5961230"/>
            <a:ext cx="947542" cy="287988"/>
          </a:xfrm>
          <a:prstGeom prst="roundRect">
            <a:avLst>
              <a:gd fmla="val 50000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인수인계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1"/>
          <p:cNvSpPr/>
          <p:nvPr/>
        </p:nvSpPr>
        <p:spPr>
          <a:xfrm>
            <a:off x="10634099" y="6334005"/>
            <a:ext cx="993793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프로젝트 검수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1"/>
          <p:cNvSpPr/>
          <p:nvPr/>
        </p:nvSpPr>
        <p:spPr>
          <a:xfrm>
            <a:off x="3048204" y="3496277"/>
            <a:ext cx="4063890" cy="288000"/>
          </a:xfrm>
          <a:prstGeom prst="roundRect">
            <a:avLst>
              <a:gd fmla="val 50000" name="adj"/>
            </a:avLst>
          </a:prstGeom>
          <a:solidFill>
            <a:srgbClr val="B3C6E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SyncFlow BO 어드민</a:t>
            </a:r>
            <a:endParaRPr b="1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1"/>
          <p:cNvSpPr/>
          <p:nvPr/>
        </p:nvSpPr>
        <p:spPr>
          <a:xfrm>
            <a:off x="1886514" y="2374302"/>
            <a:ext cx="1106272" cy="288000"/>
          </a:xfrm>
          <a:prstGeom prst="roundRect">
            <a:avLst>
              <a:gd fmla="val 50000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시연 준비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1"/>
          <p:cNvSpPr/>
          <p:nvPr/>
        </p:nvSpPr>
        <p:spPr>
          <a:xfrm>
            <a:off x="1904304" y="2746714"/>
            <a:ext cx="3521215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페이지 화면설계 / 디자인 / 퍼블리싱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1"/>
          <p:cNvSpPr/>
          <p:nvPr/>
        </p:nvSpPr>
        <p:spPr>
          <a:xfrm>
            <a:off x="7181270" y="1426772"/>
            <a:ext cx="671890" cy="4437040"/>
          </a:xfrm>
          <a:prstGeom prst="roundRect">
            <a:avLst>
              <a:gd fmla="val 1119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테스트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단위/통합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(3주)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1"/>
          <p:cNvSpPr/>
          <p:nvPr/>
        </p:nvSpPr>
        <p:spPr>
          <a:xfrm>
            <a:off x="3048205" y="3885771"/>
            <a:ext cx="4074086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투토리얼/메인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1"/>
          <p:cNvSpPr/>
          <p:nvPr/>
        </p:nvSpPr>
        <p:spPr>
          <a:xfrm>
            <a:off x="3048205" y="4265726"/>
            <a:ext cx="4074086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오늘의 운동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1"/>
          <p:cNvSpPr/>
          <p:nvPr/>
        </p:nvSpPr>
        <p:spPr>
          <a:xfrm>
            <a:off x="7960848" y="3091157"/>
            <a:ext cx="1896524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P2 오픈 범위 개발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1"/>
          <p:cNvSpPr/>
          <p:nvPr/>
        </p:nvSpPr>
        <p:spPr>
          <a:xfrm>
            <a:off x="3031120" y="4653249"/>
            <a:ext cx="4108336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인솔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1"/>
          <p:cNvSpPr/>
          <p:nvPr/>
        </p:nvSpPr>
        <p:spPr>
          <a:xfrm>
            <a:off x="3031120" y="5009197"/>
            <a:ext cx="4108336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스케쥴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1"/>
          <p:cNvSpPr/>
          <p:nvPr/>
        </p:nvSpPr>
        <p:spPr>
          <a:xfrm>
            <a:off x="3031120" y="5386766"/>
            <a:ext cx="4108336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설정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1"/>
          <p:cNvSpPr/>
          <p:nvPr/>
        </p:nvSpPr>
        <p:spPr>
          <a:xfrm>
            <a:off x="9777944" y="6334005"/>
            <a:ext cx="812195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현업 검수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1"/>
          <p:cNvSpPr/>
          <p:nvPr/>
        </p:nvSpPr>
        <p:spPr>
          <a:xfrm>
            <a:off x="9789663" y="5961230"/>
            <a:ext cx="792582" cy="287988"/>
          </a:xfrm>
          <a:prstGeom prst="roundRect">
            <a:avLst>
              <a:gd fmla="val 50000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보안점검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1"/>
          <p:cNvSpPr/>
          <p:nvPr/>
        </p:nvSpPr>
        <p:spPr>
          <a:xfrm>
            <a:off x="1904304" y="6079186"/>
            <a:ext cx="7767429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SyncFlow BO 어드민 개발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1"/>
          <p:cNvSpPr/>
          <p:nvPr/>
        </p:nvSpPr>
        <p:spPr>
          <a:xfrm>
            <a:off x="6761022" y="6332724"/>
            <a:ext cx="966778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현업 검수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1"/>
          <p:cNvSpPr/>
          <p:nvPr/>
        </p:nvSpPr>
        <p:spPr>
          <a:xfrm>
            <a:off x="6782196" y="5950882"/>
            <a:ext cx="918576" cy="287988"/>
          </a:xfrm>
          <a:prstGeom prst="roundRect">
            <a:avLst>
              <a:gd fmla="val 50000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보안점검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1"/>
          <p:cNvSpPr txBox="1"/>
          <p:nvPr/>
        </p:nvSpPr>
        <p:spPr>
          <a:xfrm>
            <a:off x="2990632" y="2350556"/>
            <a:ext cx="1896327" cy="333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 멀티모달 검증포털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3단계 AI 추론 파이프라인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1"/>
          <p:cNvSpPr txBox="1"/>
          <p:nvPr/>
        </p:nvSpPr>
        <p:spPr>
          <a:xfrm>
            <a:off x="3998014" y="467418"/>
            <a:ext cx="1774500" cy="3182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r>
              <a:rPr b="1" baseline="30000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 Sign off</a:t>
            </a:r>
            <a:endParaRPr b="1" i="0" sz="8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1"/>
          <p:cNvSpPr/>
          <p:nvPr/>
        </p:nvSpPr>
        <p:spPr>
          <a:xfrm>
            <a:off x="4259091" y="697138"/>
            <a:ext cx="1218208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화면설계/디자인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1"/>
          <p:cNvSpPr/>
          <p:nvPr/>
        </p:nvSpPr>
        <p:spPr>
          <a:xfrm>
            <a:off x="7958367" y="3496277"/>
            <a:ext cx="1899006" cy="288000"/>
          </a:xfrm>
          <a:prstGeom prst="roundRect">
            <a:avLst>
              <a:gd fmla="val 50000" name="adj"/>
            </a:avLst>
          </a:prstGeom>
          <a:solidFill>
            <a:srgbClr val="B3C6E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SyncFlow BO 어드민</a:t>
            </a:r>
            <a:endParaRPr b="1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"/>
          <p:cNvSpPr/>
          <p:nvPr/>
        </p:nvSpPr>
        <p:spPr>
          <a:xfrm>
            <a:off x="8008727" y="3885771"/>
            <a:ext cx="1804152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원격진료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1"/>
          <p:cNvSpPr/>
          <p:nvPr/>
        </p:nvSpPr>
        <p:spPr>
          <a:xfrm>
            <a:off x="8008727" y="4265726"/>
            <a:ext cx="1804152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프로그램 관리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1"/>
          <p:cNvSpPr/>
          <p:nvPr/>
        </p:nvSpPr>
        <p:spPr>
          <a:xfrm>
            <a:off x="8009917" y="4653249"/>
            <a:ext cx="1819319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설정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86" name="Google Shape;186;p1"/>
          <p:cNvGrpSpPr/>
          <p:nvPr/>
        </p:nvGrpSpPr>
        <p:grpSpPr>
          <a:xfrm>
            <a:off x="1225280" y="357751"/>
            <a:ext cx="1643400" cy="394092"/>
            <a:chOff x="6958531" y="516325"/>
            <a:chExt cx="1643400" cy="394092"/>
          </a:xfrm>
        </p:grpSpPr>
        <p:sp>
          <p:nvSpPr>
            <p:cNvPr id="187" name="Google Shape;187;p1"/>
            <p:cNvSpPr/>
            <p:nvPr/>
          </p:nvSpPr>
          <p:spPr>
            <a:xfrm rot="10800000">
              <a:off x="7653176" y="732517"/>
              <a:ext cx="228600" cy="177900"/>
            </a:xfrm>
            <a:prstGeom prst="triangle">
              <a:avLst>
                <a:gd fmla="val 50000" name="adj"/>
              </a:avLst>
            </a:prstGeom>
            <a:solidFill>
              <a:schemeClr val="accen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1" i="0" sz="14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" name="Google Shape;188;p1"/>
            <p:cNvSpPr txBox="1"/>
            <p:nvPr/>
          </p:nvSpPr>
          <p:spPr>
            <a:xfrm>
              <a:off x="6958531" y="516325"/>
              <a:ext cx="1643400" cy="24629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rPr>
                <a:t>SyncFlow AI App Launch</a:t>
              </a:r>
              <a:endParaRPr b="1" i="0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89" name="Google Shape;189;p1"/>
          <p:cNvSpPr txBox="1"/>
          <p:nvPr/>
        </p:nvSpPr>
        <p:spPr>
          <a:xfrm>
            <a:off x="1696485" y="788078"/>
            <a:ext cx="67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b="1" i="0" sz="10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1"/>
          <p:cNvSpPr txBox="1"/>
          <p:nvPr/>
        </p:nvSpPr>
        <p:spPr>
          <a:xfrm>
            <a:off x="2978979" y="2218531"/>
            <a:ext cx="661831" cy="3182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시연 범위</a:t>
            </a:r>
            <a:endParaRPr b="1" i="0" sz="8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5" name="Google Shape;195;p2"/>
          <p:cNvGrpSpPr/>
          <p:nvPr/>
        </p:nvGrpSpPr>
        <p:grpSpPr>
          <a:xfrm>
            <a:off x="277339" y="175754"/>
            <a:ext cx="11626196" cy="6273469"/>
            <a:chOff x="277339" y="175754"/>
            <a:chExt cx="11626196" cy="6273469"/>
          </a:xfrm>
        </p:grpSpPr>
        <p:grpSp>
          <p:nvGrpSpPr>
            <p:cNvPr id="196" name="Google Shape;196;p2"/>
            <p:cNvGrpSpPr/>
            <p:nvPr/>
          </p:nvGrpSpPr>
          <p:grpSpPr>
            <a:xfrm>
              <a:off x="9930653" y="937603"/>
              <a:ext cx="671400" cy="5447995"/>
              <a:chOff x="1198761" y="1013803"/>
              <a:chExt cx="671400" cy="5447995"/>
            </a:xfrm>
          </p:grpSpPr>
          <p:sp>
            <p:nvSpPr>
              <p:cNvPr id="197" name="Google Shape;197;p2"/>
              <p:cNvSpPr txBox="1"/>
              <p:nvPr/>
            </p:nvSpPr>
            <p:spPr>
              <a:xfrm>
                <a:off x="1198761" y="1013803"/>
                <a:ext cx="671400" cy="246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Arial"/>
                  <a:buNone/>
                </a:pPr>
                <a:r>
                  <a:rPr b="1" i="0" lang="en-US" sz="10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5</a:t>
                </a:r>
                <a:endParaRPr b="1" i="0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198" name="Google Shape;198;p2"/>
              <p:cNvCxnSpPr/>
              <p:nvPr/>
            </p:nvCxnSpPr>
            <p:spPr>
              <a:xfrm>
                <a:off x="1534461" y="1260098"/>
                <a:ext cx="0" cy="52017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BFBFBF"/>
                </a:solidFill>
                <a:prstDash val="dash"/>
                <a:miter lim="800000"/>
                <a:headEnd len="sm" w="sm" type="none"/>
                <a:tailEnd len="sm" w="sm" type="none"/>
              </a:ln>
            </p:spPr>
          </p:cxnSp>
        </p:grpSp>
        <p:sp>
          <p:nvSpPr>
            <p:cNvPr id="199" name="Google Shape;199;p2"/>
            <p:cNvSpPr txBox="1"/>
            <p:nvPr/>
          </p:nvSpPr>
          <p:spPr>
            <a:xfrm>
              <a:off x="1873538" y="391218"/>
              <a:ext cx="1774500" cy="31829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r>
                <a:rPr b="1" baseline="30000" i="0" lang="en-US" sz="8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rPr>
                <a:t>st</a:t>
              </a:r>
              <a:r>
                <a:rPr b="1" i="0" lang="en-US" sz="8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rPr>
                <a:t> Sign off</a:t>
              </a:r>
              <a:endParaRPr b="1" i="0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00" name="Google Shape;200;p2"/>
            <p:cNvGrpSpPr/>
            <p:nvPr/>
          </p:nvGrpSpPr>
          <p:grpSpPr>
            <a:xfrm>
              <a:off x="1293234" y="937603"/>
              <a:ext cx="671400" cy="5447995"/>
              <a:chOff x="1198761" y="1013803"/>
              <a:chExt cx="671400" cy="5447995"/>
            </a:xfrm>
          </p:grpSpPr>
          <p:sp>
            <p:nvSpPr>
              <p:cNvPr id="201" name="Google Shape;201;p2"/>
              <p:cNvSpPr txBox="1"/>
              <p:nvPr/>
            </p:nvSpPr>
            <p:spPr>
              <a:xfrm>
                <a:off x="1198761" y="1013803"/>
                <a:ext cx="671400" cy="246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Arial"/>
                  <a:buNone/>
                </a:pPr>
                <a:r>
                  <a:rPr b="1" i="0" lang="en-US" sz="10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10</a:t>
                </a:r>
                <a:endParaRPr b="1" i="0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202" name="Google Shape;202;p2"/>
              <p:cNvCxnSpPr/>
              <p:nvPr/>
            </p:nvCxnSpPr>
            <p:spPr>
              <a:xfrm>
                <a:off x="1534461" y="1260098"/>
                <a:ext cx="0" cy="52017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BFBFBF"/>
                </a:solidFill>
                <a:prstDash val="dash"/>
                <a:miter lim="800000"/>
                <a:headEnd len="sm" w="sm" type="none"/>
                <a:tailEnd len="sm" w="sm" type="none"/>
              </a:ln>
            </p:spPr>
          </p:cxnSp>
        </p:grpSp>
        <p:sp>
          <p:nvSpPr>
            <p:cNvPr id="203" name="Google Shape;203;p2"/>
            <p:cNvSpPr/>
            <p:nvPr/>
          </p:nvSpPr>
          <p:spPr>
            <a:xfrm>
              <a:off x="2310003" y="620938"/>
              <a:ext cx="888548" cy="288000"/>
            </a:xfrm>
            <a:prstGeom prst="roundRect">
              <a:avLst>
                <a:gd fmla="val 50000" name="adj"/>
              </a:avLst>
            </a:prstGeom>
            <a:solidFill>
              <a:srgbClr val="C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화면설계</a:t>
              </a:r>
              <a:endParaRPr b="1" i="0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04" name="Google Shape;204;p2"/>
            <p:cNvGrpSpPr/>
            <p:nvPr/>
          </p:nvGrpSpPr>
          <p:grpSpPr>
            <a:xfrm>
              <a:off x="9806481" y="282355"/>
              <a:ext cx="1606439" cy="393288"/>
              <a:chOff x="9933481" y="358555"/>
              <a:chExt cx="1606439" cy="393288"/>
            </a:xfrm>
          </p:grpSpPr>
          <p:sp>
            <p:nvSpPr>
              <p:cNvPr id="205" name="Google Shape;205;p2"/>
              <p:cNvSpPr txBox="1"/>
              <p:nvPr/>
            </p:nvSpPr>
            <p:spPr>
              <a:xfrm>
                <a:off x="9933481" y="358555"/>
                <a:ext cx="1606439" cy="2111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Arial"/>
                  <a:buNone/>
                </a:pPr>
                <a:r>
                  <a:rPr b="1" i="0" lang="en-US" sz="800" u="none" cap="none" strike="noStrike">
                    <a:solidFill>
                      <a:schemeClr val="accent2"/>
                    </a:solidFill>
                    <a:latin typeface="Arial"/>
                    <a:ea typeface="Arial"/>
                    <a:cs typeface="Arial"/>
                    <a:sym typeface="Arial"/>
                  </a:rPr>
                  <a:t>P2 Launch</a:t>
                </a:r>
                <a:endParaRPr b="1" i="0" sz="8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" name="Google Shape;206;p2"/>
              <p:cNvSpPr/>
              <p:nvPr/>
            </p:nvSpPr>
            <p:spPr>
              <a:xfrm rot="10800000">
                <a:off x="10667534" y="573943"/>
                <a:ext cx="228600" cy="177900"/>
              </a:xfrm>
              <a:prstGeom prst="triangle">
                <a:avLst>
                  <a:gd fmla="val 50000" name="adj"/>
                </a:avLst>
              </a:prstGeom>
              <a:solidFill>
                <a:schemeClr val="accent2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cxnSp>
          <p:nvCxnSpPr>
            <p:cNvPr id="207" name="Google Shape;207;p2"/>
            <p:cNvCxnSpPr>
              <a:stCxn id="208" idx="2"/>
            </p:cNvCxnSpPr>
            <p:nvPr/>
          </p:nvCxnSpPr>
          <p:spPr>
            <a:xfrm>
              <a:off x="10691246" y="958178"/>
              <a:ext cx="0" cy="5490900"/>
            </a:xfrm>
            <a:prstGeom prst="straightConnector1">
              <a:avLst/>
            </a:prstGeom>
            <a:noFill/>
            <a:ln cap="flat" cmpd="sng" w="9525">
              <a:solidFill>
                <a:srgbClr val="FF0000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  <p:grpSp>
          <p:nvGrpSpPr>
            <p:cNvPr id="209" name="Google Shape;209;p2"/>
            <p:cNvGrpSpPr/>
            <p:nvPr/>
          </p:nvGrpSpPr>
          <p:grpSpPr>
            <a:xfrm>
              <a:off x="427184" y="1142880"/>
              <a:ext cx="1201750" cy="246300"/>
              <a:chOff x="554184" y="1219080"/>
              <a:chExt cx="1201750" cy="246300"/>
            </a:xfrm>
          </p:grpSpPr>
          <p:cxnSp>
            <p:nvCxnSpPr>
              <p:cNvPr id="210" name="Google Shape;210;p2"/>
              <p:cNvCxnSpPr/>
              <p:nvPr/>
            </p:nvCxnSpPr>
            <p:spPr>
              <a:xfrm>
                <a:off x="554184" y="1342184"/>
                <a:ext cx="120175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miter lim="800000"/>
                <a:headEnd len="med" w="med" type="triangle"/>
                <a:tailEnd len="med" w="med" type="triangle"/>
              </a:ln>
            </p:spPr>
          </p:cxnSp>
          <p:sp>
            <p:nvSpPr>
              <p:cNvPr id="211" name="Google Shape;211;p2"/>
              <p:cNvSpPr txBox="1"/>
              <p:nvPr/>
            </p:nvSpPr>
            <p:spPr>
              <a:xfrm>
                <a:off x="942509" y="1219080"/>
                <a:ext cx="425100" cy="246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Arial"/>
                  <a:buNone/>
                </a:pPr>
                <a:r>
                  <a:rPr b="1" i="0" lang="en-US" sz="1000" u="none" cap="none" strike="noStrike">
                    <a:solidFill>
                      <a:srgbClr val="C00000"/>
                    </a:solidFill>
                    <a:latin typeface="Arial"/>
                    <a:ea typeface="Arial"/>
                    <a:cs typeface="Arial"/>
                    <a:sym typeface="Arial"/>
                  </a:rPr>
                  <a:t>1M</a:t>
                </a:r>
                <a:endParaRPr b="1" i="0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212" name="Google Shape;212;p2"/>
            <p:cNvSpPr txBox="1"/>
            <p:nvPr/>
          </p:nvSpPr>
          <p:spPr>
            <a:xfrm>
              <a:off x="277339" y="937603"/>
              <a:ext cx="260059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13" name="Google Shape;213;p2"/>
            <p:cNvCxnSpPr/>
            <p:nvPr/>
          </p:nvCxnSpPr>
          <p:spPr>
            <a:xfrm>
              <a:off x="395017" y="11838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  <p:grpSp>
          <p:nvGrpSpPr>
            <p:cNvPr id="214" name="Google Shape;214;p2"/>
            <p:cNvGrpSpPr/>
            <p:nvPr/>
          </p:nvGrpSpPr>
          <p:grpSpPr>
            <a:xfrm>
              <a:off x="3761068" y="937603"/>
              <a:ext cx="671400" cy="5447995"/>
              <a:chOff x="1198761" y="1013803"/>
              <a:chExt cx="671400" cy="5447995"/>
            </a:xfrm>
          </p:grpSpPr>
          <p:sp>
            <p:nvSpPr>
              <p:cNvPr id="215" name="Google Shape;215;p2"/>
              <p:cNvSpPr txBox="1"/>
              <p:nvPr/>
            </p:nvSpPr>
            <p:spPr>
              <a:xfrm>
                <a:off x="1198761" y="1013803"/>
                <a:ext cx="671400" cy="246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Arial"/>
                  <a:buNone/>
                </a:pPr>
                <a:r>
                  <a:rPr b="1" i="0" lang="en-US" sz="10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12</a:t>
                </a:r>
                <a:endParaRPr b="1" i="0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216" name="Google Shape;216;p2"/>
              <p:cNvCxnSpPr/>
              <p:nvPr/>
            </p:nvCxnSpPr>
            <p:spPr>
              <a:xfrm>
                <a:off x="1534461" y="1260098"/>
                <a:ext cx="0" cy="52017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BFBFBF"/>
                </a:solidFill>
                <a:prstDash val="dash"/>
                <a:miter lim="800000"/>
                <a:headEnd len="sm" w="sm" type="none"/>
                <a:tailEnd len="sm" w="sm" type="none"/>
              </a:ln>
            </p:spPr>
          </p:cxnSp>
        </p:grpSp>
        <p:grpSp>
          <p:nvGrpSpPr>
            <p:cNvPr id="217" name="Google Shape;217;p2"/>
            <p:cNvGrpSpPr/>
            <p:nvPr/>
          </p:nvGrpSpPr>
          <p:grpSpPr>
            <a:xfrm>
              <a:off x="2527151" y="937603"/>
              <a:ext cx="671400" cy="5447995"/>
              <a:chOff x="186317" y="1013803"/>
              <a:chExt cx="671400" cy="5447995"/>
            </a:xfrm>
          </p:grpSpPr>
          <p:sp>
            <p:nvSpPr>
              <p:cNvPr id="218" name="Google Shape;218;p2"/>
              <p:cNvSpPr txBox="1"/>
              <p:nvPr/>
            </p:nvSpPr>
            <p:spPr>
              <a:xfrm>
                <a:off x="186317" y="1013803"/>
                <a:ext cx="671400" cy="246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Arial"/>
                  <a:buNone/>
                </a:pPr>
                <a:r>
                  <a:rPr b="1" i="0" lang="en-US" sz="10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11</a:t>
                </a:r>
                <a:endParaRPr b="1" i="0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219" name="Google Shape;219;p2"/>
              <p:cNvCxnSpPr/>
              <p:nvPr/>
            </p:nvCxnSpPr>
            <p:spPr>
              <a:xfrm>
                <a:off x="522017" y="1260098"/>
                <a:ext cx="0" cy="52017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BFBFBF"/>
                </a:solidFill>
                <a:prstDash val="dash"/>
                <a:miter lim="800000"/>
                <a:headEnd len="sm" w="sm" type="none"/>
                <a:tailEnd len="sm" w="sm" type="none"/>
              </a:ln>
            </p:spPr>
          </p:cxnSp>
        </p:grpSp>
        <p:grpSp>
          <p:nvGrpSpPr>
            <p:cNvPr id="220" name="Google Shape;220;p2"/>
            <p:cNvGrpSpPr/>
            <p:nvPr/>
          </p:nvGrpSpPr>
          <p:grpSpPr>
            <a:xfrm>
              <a:off x="6228902" y="937603"/>
              <a:ext cx="671400" cy="5447995"/>
              <a:chOff x="1198761" y="1013803"/>
              <a:chExt cx="671400" cy="5447995"/>
            </a:xfrm>
          </p:grpSpPr>
          <p:sp>
            <p:nvSpPr>
              <p:cNvPr id="221" name="Google Shape;221;p2"/>
              <p:cNvSpPr txBox="1"/>
              <p:nvPr/>
            </p:nvSpPr>
            <p:spPr>
              <a:xfrm>
                <a:off x="1198761" y="1013803"/>
                <a:ext cx="671400" cy="246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Arial"/>
                  <a:buNone/>
                </a:pPr>
                <a:r>
                  <a:rPr b="1" i="0" lang="en-US" sz="10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2</a:t>
                </a:r>
                <a:endParaRPr b="1" i="0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222" name="Google Shape;222;p2"/>
              <p:cNvCxnSpPr/>
              <p:nvPr/>
            </p:nvCxnSpPr>
            <p:spPr>
              <a:xfrm>
                <a:off x="1534461" y="1260098"/>
                <a:ext cx="0" cy="52017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BFBFBF"/>
                </a:solidFill>
                <a:prstDash val="dash"/>
                <a:miter lim="800000"/>
                <a:headEnd len="sm" w="sm" type="none"/>
                <a:tailEnd len="sm" w="sm" type="none"/>
              </a:ln>
            </p:spPr>
          </p:cxnSp>
        </p:grpSp>
        <p:grpSp>
          <p:nvGrpSpPr>
            <p:cNvPr id="223" name="Google Shape;223;p2"/>
            <p:cNvGrpSpPr/>
            <p:nvPr/>
          </p:nvGrpSpPr>
          <p:grpSpPr>
            <a:xfrm>
              <a:off x="4994985" y="937603"/>
              <a:ext cx="671400" cy="5447995"/>
              <a:chOff x="186317" y="1013803"/>
              <a:chExt cx="671400" cy="5447995"/>
            </a:xfrm>
          </p:grpSpPr>
          <p:sp>
            <p:nvSpPr>
              <p:cNvPr id="224" name="Google Shape;224;p2"/>
              <p:cNvSpPr txBox="1"/>
              <p:nvPr/>
            </p:nvSpPr>
            <p:spPr>
              <a:xfrm>
                <a:off x="186317" y="1013803"/>
                <a:ext cx="671400" cy="246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Arial"/>
                  <a:buNone/>
                </a:pPr>
                <a:r>
                  <a:rPr b="1" i="0" lang="en-US" sz="10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1</a:t>
                </a:r>
                <a:endParaRPr b="1" i="0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225" name="Google Shape;225;p2"/>
              <p:cNvCxnSpPr/>
              <p:nvPr/>
            </p:nvCxnSpPr>
            <p:spPr>
              <a:xfrm>
                <a:off x="522017" y="1260098"/>
                <a:ext cx="0" cy="52017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BFBFBF"/>
                </a:solidFill>
                <a:prstDash val="dash"/>
                <a:miter lim="800000"/>
                <a:headEnd len="sm" w="sm" type="none"/>
                <a:tailEnd len="sm" w="sm" type="none"/>
              </a:ln>
            </p:spPr>
          </p:cxnSp>
        </p:grpSp>
        <p:grpSp>
          <p:nvGrpSpPr>
            <p:cNvPr id="226" name="Google Shape;226;p2"/>
            <p:cNvGrpSpPr/>
            <p:nvPr/>
          </p:nvGrpSpPr>
          <p:grpSpPr>
            <a:xfrm>
              <a:off x="7462819" y="937603"/>
              <a:ext cx="671400" cy="5447995"/>
              <a:chOff x="1198761" y="1013803"/>
              <a:chExt cx="671400" cy="5447995"/>
            </a:xfrm>
          </p:grpSpPr>
          <p:sp>
            <p:nvSpPr>
              <p:cNvPr id="227" name="Google Shape;227;p2"/>
              <p:cNvSpPr txBox="1"/>
              <p:nvPr/>
            </p:nvSpPr>
            <p:spPr>
              <a:xfrm>
                <a:off x="1198761" y="1013803"/>
                <a:ext cx="671400" cy="246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Arial"/>
                  <a:buNone/>
                </a:pPr>
                <a:r>
                  <a:rPr b="1" i="0" lang="en-US" sz="10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3</a:t>
                </a:r>
                <a:endParaRPr b="1" i="0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228" name="Google Shape;228;p2"/>
              <p:cNvCxnSpPr/>
              <p:nvPr/>
            </p:nvCxnSpPr>
            <p:spPr>
              <a:xfrm>
                <a:off x="1534461" y="1260098"/>
                <a:ext cx="0" cy="52017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BFBFBF"/>
                </a:solidFill>
                <a:prstDash val="dash"/>
                <a:miter lim="800000"/>
                <a:headEnd len="sm" w="sm" type="none"/>
                <a:tailEnd len="sm" w="sm" type="none"/>
              </a:ln>
            </p:spPr>
          </p:cxnSp>
        </p:grpSp>
        <p:grpSp>
          <p:nvGrpSpPr>
            <p:cNvPr id="229" name="Google Shape;229;p2"/>
            <p:cNvGrpSpPr/>
            <p:nvPr/>
          </p:nvGrpSpPr>
          <p:grpSpPr>
            <a:xfrm>
              <a:off x="8696736" y="937603"/>
              <a:ext cx="671400" cy="5447995"/>
              <a:chOff x="1198761" y="1013803"/>
              <a:chExt cx="671400" cy="5447995"/>
            </a:xfrm>
          </p:grpSpPr>
          <p:sp>
            <p:nvSpPr>
              <p:cNvPr id="230" name="Google Shape;230;p2"/>
              <p:cNvSpPr txBox="1"/>
              <p:nvPr/>
            </p:nvSpPr>
            <p:spPr>
              <a:xfrm>
                <a:off x="1198761" y="1013803"/>
                <a:ext cx="671400" cy="246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Arial"/>
                  <a:buNone/>
                </a:pPr>
                <a:r>
                  <a:rPr b="1" i="0" lang="en-US" sz="10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4</a:t>
                </a:r>
                <a:endParaRPr b="1" i="0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231" name="Google Shape;231;p2"/>
              <p:cNvCxnSpPr/>
              <p:nvPr/>
            </p:nvCxnSpPr>
            <p:spPr>
              <a:xfrm>
                <a:off x="1534461" y="1260098"/>
                <a:ext cx="0" cy="52017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BFBFBF"/>
                </a:solidFill>
                <a:prstDash val="dash"/>
                <a:miter lim="800000"/>
                <a:headEnd len="sm" w="sm" type="none"/>
                <a:tailEnd len="sm" w="sm" type="none"/>
              </a:ln>
            </p:spPr>
          </p:cxnSp>
        </p:grpSp>
        <p:grpSp>
          <p:nvGrpSpPr>
            <p:cNvPr id="232" name="Google Shape;232;p2"/>
            <p:cNvGrpSpPr/>
            <p:nvPr/>
          </p:nvGrpSpPr>
          <p:grpSpPr>
            <a:xfrm>
              <a:off x="11164567" y="937603"/>
              <a:ext cx="671400" cy="5447995"/>
              <a:chOff x="1198761" y="1013803"/>
              <a:chExt cx="671400" cy="5447995"/>
            </a:xfrm>
          </p:grpSpPr>
          <p:sp>
            <p:nvSpPr>
              <p:cNvPr id="233" name="Google Shape;233;p2"/>
              <p:cNvSpPr txBox="1"/>
              <p:nvPr/>
            </p:nvSpPr>
            <p:spPr>
              <a:xfrm>
                <a:off x="1198761" y="1013803"/>
                <a:ext cx="671400" cy="246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Arial"/>
                  <a:buNone/>
                </a:pPr>
                <a:r>
                  <a:rPr b="1" i="0" lang="en-US" sz="10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6</a:t>
                </a:r>
                <a:endParaRPr b="1" i="0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234" name="Google Shape;234;p2"/>
              <p:cNvCxnSpPr/>
              <p:nvPr/>
            </p:nvCxnSpPr>
            <p:spPr>
              <a:xfrm>
                <a:off x="1534461" y="1260098"/>
                <a:ext cx="0" cy="52017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BFBFBF"/>
                </a:solidFill>
                <a:prstDash val="dash"/>
                <a:miter lim="800000"/>
                <a:headEnd len="sm" w="sm" type="none"/>
                <a:tailEnd len="sm" w="sm" type="none"/>
              </a:ln>
            </p:spPr>
          </p:cxnSp>
        </p:grpSp>
        <p:grpSp>
          <p:nvGrpSpPr>
            <p:cNvPr id="235" name="Google Shape;235;p2"/>
            <p:cNvGrpSpPr/>
            <p:nvPr/>
          </p:nvGrpSpPr>
          <p:grpSpPr>
            <a:xfrm>
              <a:off x="7129282" y="189937"/>
              <a:ext cx="1040478" cy="485706"/>
              <a:chOff x="7210075" y="424711"/>
              <a:chExt cx="1040478" cy="485706"/>
            </a:xfrm>
          </p:grpSpPr>
          <p:sp>
            <p:nvSpPr>
              <p:cNvPr id="236" name="Google Shape;236;p2"/>
              <p:cNvSpPr/>
              <p:nvPr/>
            </p:nvSpPr>
            <p:spPr>
              <a:xfrm rot="10800000">
                <a:off x="7653176" y="732517"/>
                <a:ext cx="228600" cy="177900"/>
              </a:xfrm>
              <a:prstGeom prst="triangle">
                <a:avLst>
                  <a:gd fmla="val 50000" name="adj"/>
                </a:avLst>
              </a:prstGeom>
              <a:solidFill>
                <a:schemeClr val="accent2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7" name="Google Shape;237;p2"/>
              <p:cNvSpPr txBox="1"/>
              <p:nvPr/>
            </p:nvSpPr>
            <p:spPr>
              <a:xfrm>
                <a:off x="7210075" y="424711"/>
                <a:ext cx="1040478" cy="33791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Arial"/>
                  <a:buNone/>
                </a:pPr>
                <a:r>
                  <a:rPr b="1" i="0" lang="en-US" sz="800" u="none" cap="none" strike="noStrike">
                    <a:solidFill>
                      <a:schemeClr val="accent2"/>
                    </a:solidFill>
                    <a:latin typeface="Arial"/>
                    <a:ea typeface="Arial"/>
                    <a:cs typeface="Arial"/>
                    <a:sym typeface="Arial"/>
                  </a:rPr>
                  <a:t>Patient App Launch</a:t>
                </a:r>
                <a:endParaRPr b="1" i="0" sz="8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238" name="Google Shape;238;p2"/>
            <p:cNvSpPr txBox="1"/>
            <p:nvPr/>
          </p:nvSpPr>
          <p:spPr>
            <a:xfrm>
              <a:off x="7350983" y="711878"/>
              <a:ext cx="6714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FF0000"/>
                  </a:solidFill>
                  <a:latin typeface="Arial"/>
                  <a:ea typeface="Arial"/>
                  <a:cs typeface="Arial"/>
                  <a:sym typeface="Arial"/>
                </a:rPr>
                <a:t>2/28</a:t>
              </a:r>
              <a:endParaRPr b="1" i="0" sz="1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39" name="Google Shape;239;p2"/>
            <p:cNvCxnSpPr>
              <a:stCxn id="238" idx="2"/>
            </p:cNvCxnSpPr>
            <p:nvPr/>
          </p:nvCxnSpPr>
          <p:spPr>
            <a:xfrm>
              <a:off x="7686683" y="958178"/>
              <a:ext cx="15900" cy="5490900"/>
            </a:xfrm>
            <a:prstGeom prst="straightConnector1">
              <a:avLst/>
            </a:prstGeom>
            <a:noFill/>
            <a:ln cap="flat" cmpd="sng" w="9525">
              <a:solidFill>
                <a:srgbClr val="FF0000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  <p:sp>
          <p:nvSpPr>
            <p:cNvPr id="208" name="Google Shape;208;p2"/>
            <p:cNvSpPr txBox="1"/>
            <p:nvPr/>
          </p:nvSpPr>
          <p:spPr>
            <a:xfrm>
              <a:off x="10355546" y="711878"/>
              <a:ext cx="6714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FF0000"/>
                  </a:solidFill>
                  <a:latin typeface="Arial"/>
                  <a:ea typeface="Arial"/>
                  <a:cs typeface="Arial"/>
                  <a:sym typeface="Arial"/>
                </a:rPr>
                <a:t>5/16</a:t>
              </a:r>
              <a:endParaRPr b="1" i="0" sz="1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" name="Google Shape;240;p2"/>
            <p:cNvSpPr txBox="1"/>
            <p:nvPr/>
          </p:nvSpPr>
          <p:spPr>
            <a:xfrm>
              <a:off x="11159269" y="404699"/>
              <a:ext cx="585140" cy="31829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rPr>
                <a:t>종료</a:t>
              </a:r>
              <a:endParaRPr b="1" i="0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" name="Google Shape;241;p2"/>
            <p:cNvSpPr/>
            <p:nvPr/>
          </p:nvSpPr>
          <p:spPr>
            <a:xfrm>
              <a:off x="11014987" y="620938"/>
              <a:ext cx="888548" cy="288000"/>
            </a:xfrm>
            <a:prstGeom prst="roundRect">
              <a:avLst>
                <a:gd fmla="val 50000" name="adj"/>
              </a:avLst>
            </a:prstGeom>
            <a:solidFill>
              <a:srgbClr val="C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완료</a:t>
              </a:r>
              <a:endParaRPr b="1" i="0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" name="Google Shape;242;p2"/>
            <p:cNvSpPr/>
            <p:nvPr/>
          </p:nvSpPr>
          <p:spPr>
            <a:xfrm>
              <a:off x="410206" y="620938"/>
              <a:ext cx="888548" cy="288000"/>
            </a:xfrm>
            <a:prstGeom prst="roundRect">
              <a:avLst>
                <a:gd fmla="val 50000" name="adj"/>
              </a:avLst>
            </a:prstGeom>
            <a:solidFill>
              <a:srgbClr val="C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착수</a:t>
              </a:r>
              <a:endParaRPr b="1" i="0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43" name="Google Shape;243;p2"/>
            <p:cNvGrpSpPr/>
            <p:nvPr/>
          </p:nvGrpSpPr>
          <p:grpSpPr>
            <a:xfrm>
              <a:off x="1661101" y="1142880"/>
              <a:ext cx="1201750" cy="246300"/>
              <a:chOff x="554184" y="1219080"/>
              <a:chExt cx="1201750" cy="246300"/>
            </a:xfrm>
          </p:grpSpPr>
          <p:cxnSp>
            <p:nvCxnSpPr>
              <p:cNvPr id="244" name="Google Shape;244;p2"/>
              <p:cNvCxnSpPr/>
              <p:nvPr/>
            </p:nvCxnSpPr>
            <p:spPr>
              <a:xfrm>
                <a:off x="554184" y="1342184"/>
                <a:ext cx="120175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miter lim="800000"/>
                <a:headEnd len="med" w="med" type="triangle"/>
                <a:tailEnd len="med" w="med" type="triangle"/>
              </a:ln>
            </p:spPr>
          </p:cxnSp>
          <p:sp>
            <p:nvSpPr>
              <p:cNvPr id="245" name="Google Shape;245;p2"/>
              <p:cNvSpPr txBox="1"/>
              <p:nvPr/>
            </p:nvSpPr>
            <p:spPr>
              <a:xfrm>
                <a:off x="942509" y="1219080"/>
                <a:ext cx="425100" cy="246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Arial"/>
                  <a:buNone/>
                </a:pPr>
                <a:r>
                  <a:rPr b="1" i="0" lang="en-US" sz="1000" u="none" cap="none" strike="noStrike">
                    <a:solidFill>
                      <a:srgbClr val="C00000"/>
                    </a:solidFill>
                    <a:latin typeface="Arial"/>
                    <a:ea typeface="Arial"/>
                    <a:cs typeface="Arial"/>
                    <a:sym typeface="Arial"/>
                  </a:rPr>
                  <a:t>2M</a:t>
                </a:r>
                <a:endParaRPr b="1" i="0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46" name="Google Shape;246;p2"/>
            <p:cNvGrpSpPr/>
            <p:nvPr/>
          </p:nvGrpSpPr>
          <p:grpSpPr>
            <a:xfrm>
              <a:off x="2895018" y="1142880"/>
              <a:ext cx="1201750" cy="246300"/>
              <a:chOff x="554184" y="1219080"/>
              <a:chExt cx="1201750" cy="246300"/>
            </a:xfrm>
          </p:grpSpPr>
          <p:cxnSp>
            <p:nvCxnSpPr>
              <p:cNvPr id="247" name="Google Shape;247;p2"/>
              <p:cNvCxnSpPr/>
              <p:nvPr/>
            </p:nvCxnSpPr>
            <p:spPr>
              <a:xfrm>
                <a:off x="554184" y="1342184"/>
                <a:ext cx="120175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miter lim="800000"/>
                <a:headEnd len="med" w="med" type="triangle"/>
                <a:tailEnd len="med" w="med" type="triangle"/>
              </a:ln>
            </p:spPr>
          </p:cxnSp>
          <p:sp>
            <p:nvSpPr>
              <p:cNvPr id="248" name="Google Shape;248;p2"/>
              <p:cNvSpPr txBox="1"/>
              <p:nvPr/>
            </p:nvSpPr>
            <p:spPr>
              <a:xfrm>
                <a:off x="942509" y="1219080"/>
                <a:ext cx="425100" cy="246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Arial"/>
                  <a:buNone/>
                </a:pPr>
                <a:r>
                  <a:rPr b="1" i="0" lang="en-US" sz="1000" u="none" cap="none" strike="noStrike">
                    <a:solidFill>
                      <a:srgbClr val="C00000"/>
                    </a:solidFill>
                    <a:latin typeface="Arial"/>
                    <a:ea typeface="Arial"/>
                    <a:cs typeface="Arial"/>
                    <a:sym typeface="Arial"/>
                  </a:rPr>
                  <a:t>3M</a:t>
                </a:r>
                <a:endParaRPr b="1" i="0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49" name="Google Shape;249;p2"/>
            <p:cNvGrpSpPr/>
            <p:nvPr/>
          </p:nvGrpSpPr>
          <p:grpSpPr>
            <a:xfrm>
              <a:off x="4128935" y="1142880"/>
              <a:ext cx="1201750" cy="246300"/>
              <a:chOff x="554184" y="1219080"/>
              <a:chExt cx="1201750" cy="246300"/>
            </a:xfrm>
          </p:grpSpPr>
          <p:cxnSp>
            <p:nvCxnSpPr>
              <p:cNvPr id="250" name="Google Shape;250;p2"/>
              <p:cNvCxnSpPr/>
              <p:nvPr/>
            </p:nvCxnSpPr>
            <p:spPr>
              <a:xfrm>
                <a:off x="554184" y="1342184"/>
                <a:ext cx="120175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miter lim="800000"/>
                <a:headEnd len="med" w="med" type="triangle"/>
                <a:tailEnd len="med" w="med" type="triangle"/>
              </a:ln>
            </p:spPr>
          </p:cxnSp>
          <p:sp>
            <p:nvSpPr>
              <p:cNvPr id="251" name="Google Shape;251;p2"/>
              <p:cNvSpPr txBox="1"/>
              <p:nvPr/>
            </p:nvSpPr>
            <p:spPr>
              <a:xfrm>
                <a:off x="942509" y="1219080"/>
                <a:ext cx="425100" cy="246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Arial"/>
                  <a:buNone/>
                </a:pPr>
                <a:r>
                  <a:rPr b="1" i="0" lang="en-US" sz="1000" u="none" cap="none" strike="noStrike">
                    <a:solidFill>
                      <a:srgbClr val="C00000"/>
                    </a:solidFill>
                    <a:latin typeface="Arial"/>
                    <a:ea typeface="Arial"/>
                    <a:cs typeface="Arial"/>
                    <a:sym typeface="Arial"/>
                  </a:rPr>
                  <a:t>4M</a:t>
                </a:r>
                <a:endParaRPr b="1" i="0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2" name="Google Shape;252;p2"/>
            <p:cNvGrpSpPr/>
            <p:nvPr/>
          </p:nvGrpSpPr>
          <p:grpSpPr>
            <a:xfrm>
              <a:off x="5362852" y="1142880"/>
              <a:ext cx="1201750" cy="246300"/>
              <a:chOff x="554184" y="1219080"/>
              <a:chExt cx="1201750" cy="246300"/>
            </a:xfrm>
          </p:grpSpPr>
          <p:cxnSp>
            <p:nvCxnSpPr>
              <p:cNvPr id="253" name="Google Shape;253;p2"/>
              <p:cNvCxnSpPr/>
              <p:nvPr/>
            </p:nvCxnSpPr>
            <p:spPr>
              <a:xfrm>
                <a:off x="554184" y="1342184"/>
                <a:ext cx="120175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miter lim="800000"/>
                <a:headEnd len="med" w="med" type="triangle"/>
                <a:tailEnd len="med" w="med" type="triangle"/>
              </a:ln>
            </p:spPr>
          </p:cxnSp>
          <p:sp>
            <p:nvSpPr>
              <p:cNvPr id="254" name="Google Shape;254;p2"/>
              <p:cNvSpPr txBox="1"/>
              <p:nvPr/>
            </p:nvSpPr>
            <p:spPr>
              <a:xfrm>
                <a:off x="942509" y="1219080"/>
                <a:ext cx="425100" cy="246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Arial"/>
                  <a:buNone/>
                </a:pPr>
                <a:r>
                  <a:rPr b="1" i="0" lang="en-US" sz="1000" u="none" cap="none" strike="noStrike">
                    <a:solidFill>
                      <a:srgbClr val="C00000"/>
                    </a:solidFill>
                    <a:latin typeface="Arial"/>
                    <a:ea typeface="Arial"/>
                    <a:cs typeface="Arial"/>
                    <a:sym typeface="Arial"/>
                  </a:rPr>
                  <a:t>5M</a:t>
                </a:r>
                <a:endParaRPr b="1" i="0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5" name="Google Shape;255;p2"/>
            <p:cNvGrpSpPr/>
            <p:nvPr/>
          </p:nvGrpSpPr>
          <p:grpSpPr>
            <a:xfrm>
              <a:off x="6596769" y="1142880"/>
              <a:ext cx="1201750" cy="246300"/>
              <a:chOff x="554184" y="1219080"/>
              <a:chExt cx="1201750" cy="246300"/>
            </a:xfrm>
          </p:grpSpPr>
          <p:cxnSp>
            <p:nvCxnSpPr>
              <p:cNvPr id="256" name="Google Shape;256;p2"/>
              <p:cNvCxnSpPr/>
              <p:nvPr/>
            </p:nvCxnSpPr>
            <p:spPr>
              <a:xfrm>
                <a:off x="554184" y="1342184"/>
                <a:ext cx="120175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miter lim="800000"/>
                <a:headEnd len="med" w="med" type="triangle"/>
                <a:tailEnd len="med" w="med" type="triangle"/>
              </a:ln>
            </p:spPr>
          </p:cxnSp>
          <p:sp>
            <p:nvSpPr>
              <p:cNvPr id="257" name="Google Shape;257;p2"/>
              <p:cNvSpPr txBox="1"/>
              <p:nvPr/>
            </p:nvSpPr>
            <p:spPr>
              <a:xfrm>
                <a:off x="942509" y="1219080"/>
                <a:ext cx="425100" cy="246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Arial"/>
                  <a:buNone/>
                </a:pPr>
                <a:r>
                  <a:rPr b="1" i="0" lang="en-US" sz="1000" u="none" cap="none" strike="noStrike">
                    <a:solidFill>
                      <a:srgbClr val="C00000"/>
                    </a:solidFill>
                    <a:latin typeface="Arial"/>
                    <a:ea typeface="Arial"/>
                    <a:cs typeface="Arial"/>
                    <a:sym typeface="Arial"/>
                  </a:rPr>
                  <a:t>6M</a:t>
                </a:r>
                <a:endParaRPr b="1" i="0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8" name="Google Shape;258;p2"/>
            <p:cNvGrpSpPr/>
            <p:nvPr/>
          </p:nvGrpSpPr>
          <p:grpSpPr>
            <a:xfrm>
              <a:off x="7830686" y="1142880"/>
              <a:ext cx="1201750" cy="246300"/>
              <a:chOff x="554184" y="1219080"/>
              <a:chExt cx="1201750" cy="246300"/>
            </a:xfrm>
          </p:grpSpPr>
          <p:cxnSp>
            <p:nvCxnSpPr>
              <p:cNvPr id="259" name="Google Shape;259;p2"/>
              <p:cNvCxnSpPr/>
              <p:nvPr/>
            </p:nvCxnSpPr>
            <p:spPr>
              <a:xfrm>
                <a:off x="554184" y="1342184"/>
                <a:ext cx="120175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miter lim="800000"/>
                <a:headEnd len="med" w="med" type="triangle"/>
                <a:tailEnd len="med" w="med" type="triangle"/>
              </a:ln>
            </p:spPr>
          </p:cxnSp>
          <p:sp>
            <p:nvSpPr>
              <p:cNvPr id="260" name="Google Shape;260;p2"/>
              <p:cNvSpPr txBox="1"/>
              <p:nvPr/>
            </p:nvSpPr>
            <p:spPr>
              <a:xfrm>
                <a:off x="942509" y="1219080"/>
                <a:ext cx="425100" cy="246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Arial"/>
                  <a:buNone/>
                </a:pPr>
                <a:r>
                  <a:rPr b="1" i="0" lang="en-US" sz="1000" u="none" cap="none" strike="noStrike">
                    <a:solidFill>
                      <a:srgbClr val="C00000"/>
                    </a:solidFill>
                    <a:latin typeface="Arial"/>
                    <a:ea typeface="Arial"/>
                    <a:cs typeface="Arial"/>
                    <a:sym typeface="Arial"/>
                  </a:rPr>
                  <a:t>7M</a:t>
                </a:r>
                <a:endParaRPr b="1" i="0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61" name="Google Shape;261;p2"/>
            <p:cNvGrpSpPr/>
            <p:nvPr/>
          </p:nvGrpSpPr>
          <p:grpSpPr>
            <a:xfrm>
              <a:off x="9064603" y="1142880"/>
              <a:ext cx="1201750" cy="246300"/>
              <a:chOff x="554184" y="1219080"/>
              <a:chExt cx="1201750" cy="246300"/>
            </a:xfrm>
          </p:grpSpPr>
          <p:cxnSp>
            <p:nvCxnSpPr>
              <p:cNvPr id="262" name="Google Shape;262;p2"/>
              <p:cNvCxnSpPr/>
              <p:nvPr/>
            </p:nvCxnSpPr>
            <p:spPr>
              <a:xfrm>
                <a:off x="554184" y="1342184"/>
                <a:ext cx="120175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miter lim="800000"/>
                <a:headEnd len="med" w="med" type="triangle"/>
                <a:tailEnd len="med" w="med" type="triangle"/>
              </a:ln>
            </p:spPr>
          </p:cxnSp>
          <p:sp>
            <p:nvSpPr>
              <p:cNvPr id="263" name="Google Shape;263;p2"/>
              <p:cNvSpPr txBox="1"/>
              <p:nvPr/>
            </p:nvSpPr>
            <p:spPr>
              <a:xfrm>
                <a:off x="942509" y="1219080"/>
                <a:ext cx="425100" cy="246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Arial"/>
                  <a:buNone/>
                </a:pPr>
                <a:r>
                  <a:rPr b="1" i="0" lang="en-US" sz="1000" u="none" cap="none" strike="noStrike">
                    <a:solidFill>
                      <a:srgbClr val="C00000"/>
                    </a:solidFill>
                    <a:latin typeface="Arial"/>
                    <a:ea typeface="Arial"/>
                    <a:cs typeface="Arial"/>
                    <a:sym typeface="Arial"/>
                  </a:rPr>
                  <a:t>8M</a:t>
                </a:r>
                <a:endParaRPr b="1" i="0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64" name="Google Shape;264;p2"/>
            <p:cNvGrpSpPr/>
            <p:nvPr/>
          </p:nvGrpSpPr>
          <p:grpSpPr>
            <a:xfrm>
              <a:off x="10298517" y="1142880"/>
              <a:ext cx="1201750" cy="246300"/>
              <a:chOff x="554184" y="1219080"/>
              <a:chExt cx="1201750" cy="246300"/>
            </a:xfrm>
          </p:grpSpPr>
          <p:cxnSp>
            <p:nvCxnSpPr>
              <p:cNvPr id="265" name="Google Shape;265;p2"/>
              <p:cNvCxnSpPr/>
              <p:nvPr/>
            </p:nvCxnSpPr>
            <p:spPr>
              <a:xfrm>
                <a:off x="554184" y="1342184"/>
                <a:ext cx="120175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miter lim="800000"/>
                <a:headEnd len="med" w="med" type="triangle"/>
                <a:tailEnd len="med" w="med" type="triangle"/>
              </a:ln>
            </p:spPr>
          </p:cxnSp>
          <p:sp>
            <p:nvSpPr>
              <p:cNvPr id="266" name="Google Shape;266;p2"/>
              <p:cNvSpPr txBox="1"/>
              <p:nvPr/>
            </p:nvSpPr>
            <p:spPr>
              <a:xfrm>
                <a:off x="942509" y="1219080"/>
                <a:ext cx="425100" cy="246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Arial"/>
                  <a:buNone/>
                </a:pPr>
                <a:r>
                  <a:rPr b="1" i="0" lang="en-US" sz="1000" u="none" cap="none" strike="noStrike">
                    <a:solidFill>
                      <a:srgbClr val="C00000"/>
                    </a:solidFill>
                    <a:latin typeface="Arial"/>
                    <a:ea typeface="Arial"/>
                    <a:cs typeface="Arial"/>
                    <a:sym typeface="Arial"/>
                  </a:rPr>
                  <a:t>9M</a:t>
                </a:r>
                <a:endParaRPr b="1" i="0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267" name="Google Shape;267;p2"/>
            <p:cNvSpPr/>
            <p:nvPr/>
          </p:nvSpPr>
          <p:spPr>
            <a:xfrm>
              <a:off x="415760" y="1350572"/>
              <a:ext cx="877474" cy="4940414"/>
            </a:xfrm>
            <a:prstGeom prst="roundRect">
              <a:avLst>
                <a:gd fmla="val 11190" name="adj"/>
              </a:avLst>
            </a:prstGeom>
            <a:solidFill>
              <a:srgbClr val="F4B08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Requirement</a:t>
              </a:r>
              <a:endParaRPr b="1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(3주)</a:t>
              </a:r>
              <a:endPara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" name="Google Shape;268;p2"/>
            <p:cNvSpPr/>
            <p:nvPr/>
          </p:nvSpPr>
          <p:spPr>
            <a:xfrm>
              <a:off x="1018457" y="1523081"/>
              <a:ext cx="1820695" cy="288000"/>
            </a:xfrm>
            <a:prstGeom prst="roundRect">
              <a:avLst>
                <a:gd fmla="val 50000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서비스 분석</a:t>
              </a:r>
              <a:endParaRPr b="1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2"/>
            <p:cNvSpPr/>
            <p:nvPr/>
          </p:nvSpPr>
          <p:spPr>
            <a:xfrm>
              <a:off x="1010754" y="1897655"/>
              <a:ext cx="1823173" cy="288000"/>
            </a:xfrm>
            <a:prstGeom prst="roundRect">
              <a:avLst>
                <a:gd fmla="val 50000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정책 정의</a:t>
              </a:r>
              <a:endParaRPr b="1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2"/>
            <p:cNvSpPr/>
            <p:nvPr/>
          </p:nvSpPr>
          <p:spPr>
            <a:xfrm>
              <a:off x="10820151" y="3420077"/>
              <a:ext cx="655730" cy="1029984"/>
            </a:xfrm>
            <a:prstGeom prst="roundRect">
              <a:avLst>
                <a:gd fmla="val 13800" name="adj"/>
              </a:avLst>
            </a:prstGeom>
            <a:solidFill>
              <a:srgbClr val="F4B08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안정화 </a:t>
              </a:r>
              <a:endParaRPr b="1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1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(2주)</a:t>
              </a:r>
              <a:endParaRPr b="1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2"/>
            <p:cNvSpPr/>
            <p:nvPr/>
          </p:nvSpPr>
          <p:spPr>
            <a:xfrm>
              <a:off x="9813578" y="3420077"/>
              <a:ext cx="801921" cy="1029984"/>
            </a:xfrm>
            <a:prstGeom prst="roundRect">
              <a:avLst>
                <a:gd fmla="val 11190" name="adj"/>
              </a:avLst>
            </a:prstGeom>
            <a:solidFill>
              <a:srgbClr val="F4B08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테스트</a:t>
              </a:r>
              <a:endParaRPr b="1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단위/통합</a:t>
              </a:r>
              <a:endPara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2"/>
            <p:cNvSpPr/>
            <p:nvPr/>
          </p:nvSpPr>
          <p:spPr>
            <a:xfrm>
              <a:off x="10524664" y="5663658"/>
              <a:ext cx="947542" cy="287988"/>
            </a:xfrm>
            <a:prstGeom prst="roundRect">
              <a:avLst>
                <a:gd fmla="val 50000" name="adj"/>
              </a:avLst>
            </a:prstGeom>
            <a:solidFill>
              <a:srgbClr val="7F7F7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인수인계</a:t>
              </a:r>
              <a:endParaRPr b="1" i="0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2"/>
            <p:cNvSpPr/>
            <p:nvPr/>
          </p:nvSpPr>
          <p:spPr>
            <a:xfrm>
              <a:off x="10507099" y="6036433"/>
              <a:ext cx="993793" cy="288000"/>
            </a:xfrm>
            <a:prstGeom prst="roundRect">
              <a:avLst>
                <a:gd fmla="val 50000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프로젝트 검수</a:t>
              </a:r>
              <a:endParaRPr b="1" i="0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2"/>
            <p:cNvSpPr/>
            <p:nvPr/>
          </p:nvSpPr>
          <p:spPr>
            <a:xfrm>
              <a:off x="1759514" y="2298102"/>
              <a:ext cx="1106272" cy="288000"/>
            </a:xfrm>
            <a:prstGeom prst="roundRect">
              <a:avLst>
                <a:gd fmla="val 50000" name="adj"/>
              </a:avLst>
            </a:prstGeom>
            <a:solidFill>
              <a:srgbClr val="7F7F7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시연 준비</a:t>
              </a:r>
              <a:endParaRPr b="1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2"/>
            <p:cNvSpPr/>
            <p:nvPr/>
          </p:nvSpPr>
          <p:spPr>
            <a:xfrm>
              <a:off x="1777304" y="2670514"/>
              <a:ext cx="3521215" cy="288000"/>
            </a:xfrm>
            <a:prstGeom prst="roundRect">
              <a:avLst>
                <a:gd fmla="val 50000" name="adj"/>
              </a:avLst>
            </a:prstGeom>
            <a:solidFill>
              <a:srgbClr val="C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페이지 화면설계 / 디자인 / 퍼블리싱</a:t>
              </a:r>
              <a:endParaRPr b="1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2"/>
            <p:cNvSpPr/>
            <p:nvPr/>
          </p:nvSpPr>
          <p:spPr>
            <a:xfrm>
              <a:off x="7044421" y="4189526"/>
              <a:ext cx="718770" cy="288000"/>
            </a:xfrm>
            <a:prstGeom prst="roundRect">
              <a:avLst>
                <a:gd fmla="val 11190" name="adj"/>
              </a:avLst>
            </a:prstGeom>
            <a:solidFill>
              <a:srgbClr val="F4B08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테스트</a:t>
              </a:r>
              <a:endParaRPr b="1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단위/통합</a:t>
              </a:r>
              <a:endPara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2"/>
            <p:cNvSpPr/>
            <p:nvPr/>
          </p:nvSpPr>
          <p:spPr>
            <a:xfrm>
              <a:off x="9830585" y="5362792"/>
              <a:ext cx="777140" cy="288000"/>
            </a:xfrm>
            <a:prstGeom prst="roundRect">
              <a:avLst>
                <a:gd fmla="val 50000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현업 검수</a:t>
              </a:r>
              <a:endParaRPr b="1" i="0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2"/>
            <p:cNvSpPr/>
            <p:nvPr/>
          </p:nvSpPr>
          <p:spPr>
            <a:xfrm>
              <a:off x="9841457" y="4990017"/>
              <a:ext cx="758374" cy="287988"/>
            </a:xfrm>
            <a:prstGeom prst="roundRect">
              <a:avLst>
                <a:gd fmla="val 50000" name="adj"/>
              </a:avLst>
            </a:prstGeom>
            <a:solidFill>
              <a:srgbClr val="7F7F7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보안점검</a:t>
              </a:r>
              <a:endParaRPr b="1" i="0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" name="Google Shape;279;p2"/>
            <p:cNvSpPr/>
            <p:nvPr/>
          </p:nvSpPr>
          <p:spPr>
            <a:xfrm>
              <a:off x="6810491" y="5371859"/>
              <a:ext cx="966778" cy="288000"/>
            </a:xfrm>
            <a:prstGeom prst="roundRect">
              <a:avLst>
                <a:gd fmla="val 50000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현업 검수</a:t>
              </a:r>
              <a:endParaRPr b="1" i="0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" name="Google Shape;280;p2"/>
            <p:cNvSpPr/>
            <p:nvPr/>
          </p:nvSpPr>
          <p:spPr>
            <a:xfrm>
              <a:off x="6831665" y="4990017"/>
              <a:ext cx="918576" cy="287988"/>
            </a:xfrm>
            <a:prstGeom prst="roundRect">
              <a:avLst>
                <a:gd fmla="val 50000" name="adj"/>
              </a:avLst>
            </a:prstGeom>
            <a:solidFill>
              <a:srgbClr val="7F7F7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보안점검</a:t>
              </a:r>
              <a:endParaRPr b="1" i="0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" name="Google Shape;281;p2"/>
            <p:cNvSpPr txBox="1"/>
            <p:nvPr/>
          </p:nvSpPr>
          <p:spPr>
            <a:xfrm>
              <a:off x="2863632" y="2274356"/>
              <a:ext cx="1896327" cy="3331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US" sz="800" u="sng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FO 멀티모달 검증포털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US" sz="800" u="sng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3단계 AI 추론 파이프라인</a:t>
              </a:r>
              <a:endParaRPr b="1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" name="Google Shape;282;p2"/>
            <p:cNvSpPr txBox="1"/>
            <p:nvPr/>
          </p:nvSpPr>
          <p:spPr>
            <a:xfrm>
              <a:off x="3986734" y="391218"/>
              <a:ext cx="880115" cy="31829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r>
                <a:rPr b="1" baseline="30000" i="0" lang="en-US" sz="8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rPr>
                <a:t>nd</a:t>
              </a:r>
              <a:r>
                <a:rPr b="1" i="0" lang="en-US" sz="8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rPr>
                <a:t> Sign off</a:t>
              </a:r>
              <a:endParaRPr b="1" i="0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" name="Google Shape;283;p2"/>
            <p:cNvSpPr/>
            <p:nvPr/>
          </p:nvSpPr>
          <p:spPr>
            <a:xfrm>
              <a:off x="4007184" y="620938"/>
              <a:ext cx="837465" cy="288000"/>
            </a:xfrm>
            <a:prstGeom prst="roundRect">
              <a:avLst>
                <a:gd fmla="val 50000" name="adj"/>
              </a:avLst>
            </a:prstGeom>
            <a:solidFill>
              <a:srgbClr val="C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디자인</a:t>
              </a:r>
              <a:endParaRPr b="1" i="0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" name="Google Shape;284;p2"/>
            <p:cNvSpPr txBox="1"/>
            <p:nvPr/>
          </p:nvSpPr>
          <p:spPr>
            <a:xfrm>
              <a:off x="2851979" y="2142331"/>
              <a:ext cx="661831" cy="31829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rPr>
                <a:t>시연 범위</a:t>
              </a:r>
              <a:endParaRPr b="1" i="0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85" name="Google Shape;285;p2"/>
            <p:cNvGrpSpPr/>
            <p:nvPr/>
          </p:nvGrpSpPr>
          <p:grpSpPr>
            <a:xfrm>
              <a:off x="4852249" y="175754"/>
              <a:ext cx="731553" cy="778939"/>
              <a:chOff x="5608628" y="251954"/>
              <a:chExt cx="731553" cy="778939"/>
            </a:xfrm>
          </p:grpSpPr>
          <p:grpSp>
            <p:nvGrpSpPr>
              <p:cNvPr id="286" name="Google Shape;286;p2"/>
              <p:cNvGrpSpPr/>
              <p:nvPr/>
            </p:nvGrpSpPr>
            <p:grpSpPr>
              <a:xfrm>
                <a:off x="5608628" y="251954"/>
                <a:ext cx="731553" cy="496404"/>
                <a:chOff x="7401699" y="414013"/>
                <a:chExt cx="731553" cy="496404"/>
              </a:xfrm>
            </p:grpSpPr>
            <p:sp>
              <p:nvSpPr>
                <p:cNvPr id="287" name="Google Shape;287;p2"/>
                <p:cNvSpPr/>
                <p:nvPr/>
              </p:nvSpPr>
              <p:spPr>
                <a:xfrm rot="10800000">
                  <a:off x="7653176" y="732517"/>
                  <a:ext cx="228600" cy="177900"/>
                </a:xfrm>
                <a:prstGeom prst="triangle">
                  <a:avLst>
                    <a:gd fmla="val 50000" name="adj"/>
                  </a:avLst>
                </a:prstGeom>
                <a:solidFill>
                  <a:schemeClr val="accent2"/>
                </a:solidFill>
                <a:ln cap="flat" cmpd="sng" w="9525">
                  <a:solidFill>
                    <a:schemeClr val="dk2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1" i="0" sz="1400" u="none" cap="none" strike="noStrike">
                    <a:solidFill>
                      <a:schemeClr val="accent2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88" name="Google Shape;288;p2"/>
                <p:cNvSpPr txBox="1"/>
                <p:nvPr/>
              </p:nvSpPr>
              <p:spPr>
                <a:xfrm>
                  <a:off x="7401699" y="414013"/>
                  <a:ext cx="731553" cy="24629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000"/>
                    <a:buFont typeface="Arial"/>
                    <a:buNone/>
                  </a:pPr>
                  <a:r>
                    <a:rPr b="1" i="0" lang="en-US" sz="800" u="none" cap="none" strike="noStrike">
                      <a:solidFill>
                        <a:schemeClr val="accent2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HCP App</a:t>
                  </a:r>
                  <a:br>
                    <a:rPr b="1" i="0" lang="en-US" sz="800" u="none" cap="none" strike="noStrike">
                      <a:solidFill>
                        <a:schemeClr val="accent2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</a:br>
                  <a:r>
                    <a:rPr b="1" i="0" lang="en-US" sz="800" u="none" cap="none" strike="noStrike">
                      <a:solidFill>
                        <a:schemeClr val="accent2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Launch</a:t>
                  </a:r>
                  <a:endParaRPr b="1" i="0" sz="800" u="none" cap="none" strike="noStrike">
                    <a:solidFill>
                      <a:schemeClr val="accent2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289" name="Google Shape;289;p2"/>
              <p:cNvSpPr txBox="1"/>
              <p:nvPr/>
            </p:nvSpPr>
            <p:spPr>
              <a:xfrm>
                <a:off x="5638705" y="784593"/>
                <a:ext cx="671400" cy="246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Arial"/>
                  <a:buNone/>
                </a:pPr>
                <a:r>
                  <a:rPr b="1" i="0" lang="en-US" sz="1000" u="none" cap="none" strike="noStrike">
                    <a:solidFill>
                      <a:srgbClr val="FF0000"/>
                    </a:solidFill>
                    <a:latin typeface="Arial"/>
                    <a:ea typeface="Arial"/>
                    <a:cs typeface="Arial"/>
                    <a:sym typeface="Arial"/>
                  </a:rPr>
                  <a:t>12/27</a:t>
                </a:r>
                <a:endParaRPr b="1" i="0" sz="1000" u="none" cap="none" strike="noStrike">
                  <a:solidFill>
                    <a:srgbClr val="FF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290" name="Google Shape;290;p2"/>
            <p:cNvSpPr/>
            <p:nvPr/>
          </p:nvSpPr>
          <p:spPr>
            <a:xfrm>
              <a:off x="7772328" y="4567181"/>
              <a:ext cx="718770" cy="288000"/>
            </a:xfrm>
            <a:prstGeom prst="roundRect">
              <a:avLst>
                <a:gd fmla="val 11190" name="adj"/>
              </a:avLst>
            </a:prstGeom>
            <a:solidFill>
              <a:srgbClr val="F4B08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테스트</a:t>
              </a:r>
              <a:endParaRPr b="1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단위/통합</a:t>
              </a:r>
              <a:endPara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91" name="Google Shape;291;p2"/>
            <p:cNvGrpSpPr/>
            <p:nvPr/>
          </p:nvGrpSpPr>
          <p:grpSpPr>
            <a:xfrm>
              <a:off x="8082575" y="189937"/>
              <a:ext cx="697971" cy="485706"/>
              <a:chOff x="7391073" y="424711"/>
              <a:chExt cx="697971" cy="485706"/>
            </a:xfrm>
          </p:grpSpPr>
          <p:sp>
            <p:nvSpPr>
              <p:cNvPr id="292" name="Google Shape;292;p2"/>
              <p:cNvSpPr/>
              <p:nvPr/>
            </p:nvSpPr>
            <p:spPr>
              <a:xfrm rot="10800000">
                <a:off x="7653176" y="732517"/>
                <a:ext cx="228600" cy="177900"/>
              </a:xfrm>
              <a:prstGeom prst="triangle">
                <a:avLst>
                  <a:gd fmla="val 50000" name="adj"/>
                </a:avLst>
              </a:prstGeom>
              <a:solidFill>
                <a:schemeClr val="accent2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3" name="Google Shape;293;p2"/>
              <p:cNvSpPr txBox="1"/>
              <p:nvPr/>
            </p:nvSpPr>
            <p:spPr>
              <a:xfrm>
                <a:off x="7391073" y="424711"/>
                <a:ext cx="697971" cy="33791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Arial"/>
                  <a:buNone/>
                </a:pPr>
                <a:r>
                  <a:rPr b="1" i="0" lang="en-US" sz="800" u="none" cap="none" strike="noStrike">
                    <a:solidFill>
                      <a:schemeClr val="accent2"/>
                    </a:solidFill>
                    <a:latin typeface="Arial"/>
                    <a:ea typeface="Arial"/>
                    <a:cs typeface="Arial"/>
                    <a:sym typeface="Arial"/>
                  </a:rPr>
                  <a:t>HCP Web Launch</a:t>
                </a:r>
                <a:endParaRPr b="1" i="0" sz="8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294" name="Google Shape;294;p2"/>
            <p:cNvSpPr txBox="1"/>
            <p:nvPr/>
          </p:nvSpPr>
          <p:spPr>
            <a:xfrm>
              <a:off x="8123278" y="711878"/>
              <a:ext cx="6714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FF0000"/>
                  </a:solidFill>
                  <a:latin typeface="Arial"/>
                  <a:ea typeface="Arial"/>
                  <a:cs typeface="Arial"/>
                  <a:sym typeface="Arial"/>
                </a:rPr>
                <a:t>3/21</a:t>
              </a:r>
              <a:endParaRPr b="1" i="0" sz="1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95" name="Google Shape;295;p2"/>
            <p:cNvCxnSpPr/>
            <p:nvPr/>
          </p:nvCxnSpPr>
          <p:spPr>
            <a:xfrm>
              <a:off x="5287207" y="958178"/>
              <a:ext cx="16018" cy="5491045"/>
            </a:xfrm>
            <a:prstGeom prst="straightConnector1">
              <a:avLst/>
            </a:prstGeom>
            <a:noFill/>
            <a:ln cap="flat" cmpd="sng" w="9525">
              <a:solidFill>
                <a:srgbClr val="FF0000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  <p:cxnSp>
          <p:nvCxnSpPr>
            <p:cNvPr id="296" name="Google Shape;296;p2"/>
            <p:cNvCxnSpPr/>
            <p:nvPr/>
          </p:nvCxnSpPr>
          <p:spPr>
            <a:xfrm>
              <a:off x="8494559" y="958178"/>
              <a:ext cx="16018" cy="5491045"/>
            </a:xfrm>
            <a:prstGeom prst="straightConnector1">
              <a:avLst/>
            </a:prstGeom>
            <a:noFill/>
            <a:ln cap="flat" cmpd="sng" w="9525">
              <a:solidFill>
                <a:srgbClr val="FF0000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  <p:sp>
          <p:nvSpPr>
            <p:cNvPr id="297" name="Google Shape;297;p2"/>
            <p:cNvSpPr/>
            <p:nvPr/>
          </p:nvSpPr>
          <p:spPr>
            <a:xfrm>
              <a:off x="2886549" y="3014957"/>
              <a:ext cx="4876641" cy="288000"/>
            </a:xfrm>
            <a:prstGeom prst="roundRect">
              <a:avLst>
                <a:gd fmla="val 50000" name="adj"/>
              </a:avLst>
            </a:prstGeom>
            <a:solidFill>
              <a:srgbClr val="C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P1 오픈 범위 개발 (연구소 버전 &amp; 국문)</a:t>
              </a:r>
              <a:endParaRPr b="1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" name="Google Shape;298;p2"/>
            <p:cNvSpPr/>
            <p:nvPr/>
          </p:nvSpPr>
          <p:spPr>
            <a:xfrm>
              <a:off x="6563978" y="3420077"/>
              <a:ext cx="3242502" cy="288000"/>
            </a:xfrm>
            <a:prstGeom prst="roundRect">
              <a:avLst>
                <a:gd fmla="val 50000" name="adj"/>
              </a:avLst>
            </a:prstGeom>
            <a:solidFill>
              <a:srgbClr val="B3C6E7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SyncFlow BO 어드민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" name="Google Shape;299;p2"/>
            <p:cNvSpPr/>
            <p:nvPr/>
          </p:nvSpPr>
          <p:spPr>
            <a:xfrm>
              <a:off x="2921206" y="3809571"/>
              <a:ext cx="1739680" cy="288000"/>
            </a:xfrm>
            <a:prstGeom prst="roundRect">
              <a:avLst>
                <a:gd fmla="val 50000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HCP App</a:t>
              </a:r>
              <a:endParaRPr b="1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" name="Google Shape;300;p2"/>
            <p:cNvSpPr/>
            <p:nvPr/>
          </p:nvSpPr>
          <p:spPr>
            <a:xfrm>
              <a:off x="2921204" y="4189526"/>
              <a:ext cx="4132441" cy="288000"/>
            </a:xfrm>
            <a:prstGeom prst="roundRect">
              <a:avLst>
                <a:gd fmla="val 50000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Patient App, Patient App (Offlien)</a:t>
              </a:r>
              <a:endParaRPr b="1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" name="Google Shape;301;p2"/>
            <p:cNvSpPr/>
            <p:nvPr/>
          </p:nvSpPr>
          <p:spPr>
            <a:xfrm>
              <a:off x="7833847" y="3014957"/>
              <a:ext cx="2781652" cy="288000"/>
            </a:xfrm>
            <a:prstGeom prst="roundRect">
              <a:avLst>
                <a:gd fmla="val 50000" name="adj"/>
              </a:avLst>
            </a:prstGeom>
            <a:solidFill>
              <a:srgbClr val="C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P2 오픈 범위 개발 (원격진료 &amp; 글로벌)</a:t>
              </a:r>
              <a:endParaRPr b="1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" name="Google Shape;302;p2"/>
            <p:cNvSpPr/>
            <p:nvPr/>
          </p:nvSpPr>
          <p:spPr>
            <a:xfrm>
              <a:off x="4586435" y="4577049"/>
              <a:ext cx="3184627" cy="288000"/>
            </a:xfrm>
            <a:prstGeom prst="roundRect">
              <a:avLst>
                <a:gd fmla="val 50000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HCP Web</a:t>
              </a:r>
              <a:endParaRPr b="1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" name="Google Shape;303;p2"/>
            <p:cNvSpPr/>
            <p:nvPr/>
          </p:nvSpPr>
          <p:spPr>
            <a:xfrm>
              <a:off x="4654139" y="3809571"/>
              <a:ext cx="641218" cy="285344"/>
            </a:xfrm>
            <a:prstGeom prst="roundRect">
              <a:avLst>
                <a:gd fmla="val 11190" name="adj"/>
              </a:avLst>
            </a:prstGeom>
            <a:solidFill>
              <a:srgbClr val="F4B08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테스트</a:t>
              </a:r>
              <a:endParaRPr b="1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단위/통합</a:t>
              </a:r>
              <a:endPara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" name="Google Shape;304;p2"/>
            <p:cNvSpPr/>
            <p:nvPr/>
          </p:nvSpPr>
          <p:spPr>
            <a:xfrm>
              <a:off x="7881727" y="3782106"/>
              <a:ext cx="1899688" cy="288000"/>
            </a:xfrm>
            <a:prstGeom prst="roundRect">
              <a:avLst>
                <a:gd fmla="val 50000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원격진료</a:t>
              </a:r>
              <a:endParaRPr b="1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" name="Google Shape;305;p2"/>
            <p:cNvSpPr/>
            <p:nvPr/>
          </p:nvSpPr>
          <p:spPr>
            <a:xfrm>
              <a:off x="7881727" y="4162061"/>
              <a:ext cx="1899688" cy="288000"/>
            </a:xfrm>
            <a:prstGeom prst="roundRect">
              <a:avLst>
                <a:gd fmla="val 50000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다국어</a:t>
              </a:r>
              <a:endParaRPr b="1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0" name="Google Shape;310;p3"/>
          <p:cNvGrpSpPr/>
          <p:nvPr/>
        </p:nvGrpSpPr>
        <p:grpSpPr>
          <a:xfrm>
            <a:off x="9930653" y="937603"/>
            <a:ext cx="671400" cy="5447995"/>
            <a:chOff x="1198761" y="1013803"/>
            <a:chExt cx="671400" cy="5447995"/>
          </a:xfrm>
        </p:grpSpPr>
        <p:sp>
          <p:nvSpPr>
            <p:cNvPr id="311" name="Google Shape;311;p3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12" name="Google Shape;312;p3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3" name="Google Shape;313;p3"/>
          <p:cNvSpPr txBox="1"/>
          <p:nvPr/>
        </p:nvSpPr>
        <p:spPr>
          <a:xfrm>
            <a:off x="1873538" y="391218"/>
            <a:ext cx="1774500" cy="3182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b="1" baseline="30000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st</a:t>
            </a: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 Sign off</a:t>
            </a:r>
            <a:endParaRPr b="1" i="0" sz="8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4" name="Google Shape;314;p3"/>
          <p:cNvGrpSpPr/>
          <p:nvPr/>
        </p:nvGrpSpPr>
        <p:grpSpPr>
          <a:xfrm>
            <a:off x="1293234" y="937603"/>
            <a:ext cx="671400" cy="5447995"/>
            <a:chOff x="1198761" y="1013803"/>
            <a:chExt cx="671400" cy="5447995"/>
          </a:xfrm>
        </p:grpSpPr>
        <p:sp>
          <p:nvSpPr>
            <p:cNvPr id="315" name="Google Shape;315;p3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10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16" name="Google Shape;316;p3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7" name="Google Shape;317;p3"/>
          <p:cNvSpPr/>
          <p:nvPr/>
        </p:nvSpPr>
        <p:spPr>
          <a:xfrm>
            <a:off x="2310003" y="620938"/>
            <a:ext cx="888548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화면설계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8" name="Google Shape;318;p3"/>
          <p:cNvGrpSpPr/>
          <p:nvPr/>
        </p:nvGrpSpPr>
        <p:grpSpPr>
          <a:xfrm>
            <a:off x="9806481" y="282355"/>
            <a:ext cx="1606439" cy="393288"/>
            <a:chOff x="9933481" y="358555"/>
            <a:chExt cx="1606439" cy="393288"/>
          </a:xfrm>
        </p:grpSpPr>
        <p:sp>
          <p:nvSpPr>
            <p:cNvPr id="319" name="Google Shape;319;p3"/>
            <p:cNvSpPr txBox="1"/>
            <p:nvPr/>
          </p:nvSpPr>
          <p:spPr>
            <a:xfrm>
              <a:off x="9933481" y="358555"/>
              <a:ext cx="1606439" cy="21110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rPr>
                <a:t>P2 Launch</a:t>
              </a:r>
              <a:endParaRPr b="1" i="0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" name="Google Shape;320;p3"/>
            <p:cNvSpPr/>
            <p:nvPr/>
          </p:nvSpPr>
          <p:spPr>
            <a:xfrm rot="10800000">
              <a:off x="10667534" y="573943"/>
              <a:ext cx="228600" cy="177900"/>
            </a:xfrm>
            <a:prstGeom prst="triangle">
              <a:avLst>
                <a:gd fmla="val 50000" name="adj"/>
              </a:avLst>
            </a:prstGeom>
            <a:solidFill>
              <a:schemeClr val="accen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1" i="0" sz="14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21" name="Google Shape;321;p3"/>
          <p:cNvCxnSpPr>
            <a:stCxn id="322" idx="2"/>
          </p:cNvCxnSpPr>
          <p:nvPr/>
        </p:nvCxnSpPr>
        <p:spPr>
          <a:xfrm>
            <a:off x="10691246" y="958178"/>
            <a:ext cx="0" cy="54909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323" name="Google Shape;323;p3"/>
          <p:cNvGrpSpPr/>
          <p:nvPr/>
        </p:nvGrpSpPr>
        <p:grpSpPr>
          <a:xfrm>
            <a:off x="427184" y="1142880"/>
            <a:ext cx="1201750" cy="246300"/>
            <a:chOff x="554184" y="1219080"/>
            <a:chExt cx="1201750" cy="246300"/>
          </a:xfrm>
        </p:grpSpPr>
        <p:cxnSp>
          <p:nvCxnSpPr>
            <p:cNvPr id="324" name="Google Shape;324;p3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325" name="Google Shape;325;p3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1M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26" name="Google Shape;326;p3"/>
          <p:cNvSpPr txBox="1"/>
          <p:nvPr/>
        </p:nvSpPr>
        <p:spPr>
          <a:xfrm>
            <a:off x="277339" y="937603"/>
            <a:ext cx="260059" cy="246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1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27" name="Google Shape;327;p3"/>
          <p:cNvCxnSpPr/>
          <p:nvPr/>
        </p:nvCxnSpPr>
        <p:spPr>
          <a:xfrm>
            <a:off x="395017" y="1183898"/>
            <a:ext cx="0" cy="520170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328" name="Google Shape;328;p3"/>
          <p:cNvGrpSpPr/>
          <p:nvPr/>
        </p:nvGrpSpPr>
        <p:grpSpPr>
          <a:xfrm>
            <a:off x="3761068" y="937603"/>
            <a:ext cx="671400" cy="5447995"/>
            <a:chOff x="1198761" y="1013803"/>
            <a:chExt cx="671400" cy="5447995"/>
          </a:xfrm>
        </p:grpSpPr>
        <p:sp>
          <p:nvSpPr>
            <p:cNvPr id="329" name="Google Shape;329;p3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12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30" name="Google Shape;330;p3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331" name="Google Shape;331;p3"/>
          <p:cNvGrpSpPr/>
          <p:nvPr/>
        </p:nvGrpSpPr>
        <p:grpSpPr>
          <a:xfrm>
            <a:off x="2527151" y="937603"/>
            <a:ext cx="671400" cy="5447995"/>
            <a:chOff x="186317" y="1013803"/>
            <a:chExt cx="671400" cy="5447995"/>
          </a:xfrm>
        </p:grpSpPr>
        <p:sp>
          <p:nvSpPr>
            <p:cNvPr id="332" name="Google Shape;332;p3"/>
            <p:cNvSpPr txBox="1"/>
            <p:nvPr/>
          </p:nvSpPr>
          <p:spPr>
            <a:xfrm>
              <a:off x="186317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11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33" name="Google Shape;333;p3"/>
            <p:cNvCxnSpPr/>
            <p:nvPr/>
          </p:nvCxnSpPr>
          <p:spPr>
            <a:xfrm>
              <a:off x="522017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334" name="Google Shape;334;p3"/>
          <p:cNvGrpSpPr/>
          <p:nvPr/>
        </p:nvGrpSpPr>
        <p:grpSpPr>
          <a:xfrm>
            <a:off x="6228902" y="937603"/>
            <a:ext cx="671400" cy="5447995"/>
            <a:chOff x="1198761" y="1013803"/>
            <a:chExt cx="671400" cy="5447995"/>
          </a:xfrm>
        </p:grpSpPr>
        <p:sp>
          <p:nvSpPr>
            <p:cNvPr id="335" name="Google Shape;335;p3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36" name="Google Shape;336;p3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337" name="Google Shape;337;p3"/>
          <p:cNvGrpSpPr/>
          <p:nvPr/>
        </p:nvGrpSpPr>
        <p:grpSpPr>
          <a:xfrm>
            <a:off x="4994985" y="937603"/>
            <a:ext cx="671400" cy="5447995"/>
            <a:chOff x="186317" y="1013803"/>
            <a:chExt cx="671400" cy="5447995"/>
          </a:xfrm>
        </p:grpSpPr>
        <p:sp>
          <p:nvSpPr>
            <p:cNvPr id="338" name="Google Shape;338;p3"/>
            <p:cNvSpPr txBox="1"/>
            <p:nvPr/>
          </p:nvSpPr>
          <p:spPr>
            <a:xfrm>
              <a:off x="186317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39" name="Google Shape;339;p3"/>
            <p:cNvCxnSpPr/>
            <p:nvPr/>
          </p:nvCxnSpPr>
          <p:spPr>
            <a:xfrm>
              <a:off x="522017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340" name="Google Shape;340;p3"/>
          <p:cNvGrpSpPr/>
          <p:nvPr/>
        </p:nvGrpSpPr>
        <p:grpSpPr>
          <a:xfrm>
            <a:off x="7462819" y="937603"/>
            <a:ext cx="671400" cy="5447995"/>
            <a:chOff x="1198761" y="1013803"/>
            <a:chExt cx="671400" cy="5447995"/>
          </a:xfrm>
        </p:grpSpPr>
        <p:sp>
          <p:nvSpPr>
            <p:cNvPr id="341" name="Google Shape;341;p3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42" name="Google Shape;342;p3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343" name="Google Shape;343;p3"/>
          <p:cNvGrpSpPr/>
          <p:nvPr/>
        </p:nvGrpSpPr>
        <p:grpSpPr>
          <a:xfrm>
            <a:off x="8696736" y="937603"/>
            <a:ext cx="671400" cy="5447995"/>
            <a:chOff x="1198761" y="1013803"/>
            <a:chExt cx="671400" cy="5447995"/>
          </a:xfrm>
        </p:grpSpPr>
        <p:sp>
          <p:nvSpPr>
            <p:cNvPr id="344" name="Google Shape;344;p3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45" name="Google Shape;345;p3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346" name="Google Shape;346;p3"/>
          <p:cNvGrpSpPr/>
          <p:nvPr/>
        </p:nvGrpSpPr>
        <p:grpSpPr>
          <a:xfrm>
            <a:off x="11164567" y="937603"/>
            <a:ext cx="671400" cy="5447995"/>
            <a:chOff x="1198761" y="1013803"/>
            <a:chExt cx="671400" cy="5447995"/>
          </a:xfrm>
        </p:grpSpPr>
        <p:sp>
          <p:nvSpPr>
            <p:cNvPr id="347" name="Google Shape;347;p3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6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48" name="Google Shape;348;p3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349" name="Google Shape;349;p3"/>
          <p:cNvGrpSpPr/>
          <p:nvPr/>
        </p:nvGrpSpPr>
        <p:grpSpPr>
          <a:xfrm>
            <a:off x="7129282" y="189937"/>
            <a:ext cx="1040478" cy="485706"/>
            <a:chOff x="7210075" y="424711"/>
            <a:chExt cx="1040478" cy="485706"/>
          </a:xfrm>
        </p:grpSpPr>
        <p:sp>
          <p:nvSpPr>
            <p:cNvPr id="350" name="Google Shape;350;p3"/>
            <p:cNvSpPr/>
            <p:nvPr/>
          </p:nvSpPr>
          <p:spPr>
            <a:xfrm rot="10800000">
              <a:off x="7653176" y="732517"/>
              <a:ext cx="228600" cy="177900"/>
            </a:xfrm>
            <a:prstGeom prst="triangle">
              <a:avLst>
                <a:gd fmla="val 50000" name="adj"/>
              </a:avLst>
            </a:prstGeom>
            <a:solidFill>
              <a:schemeClr val="accen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1" i="0" sz="14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" name="Google Shape;351;p3"/>
            <p:cNvSpPr txBox="1"/>
            <p:nvPr/>
          </p:nvSpPr>
          <p:spPr>
            <a:xfrm>
              <a:off x="7210075" y="424711"/>
              <a:ext cx="1040478" cy="33791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rPr>
                <a:t>Patient App Launch</a:t>
              </a:r>
              <a:endParaRPr b="1" i="0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52" name="Google Shape;352;p3"/>
          <p:cNvSpPr txBox="1"/>
          <p:nvPr/>
        </p:nvSpPr>
        <p:spPr>
          <a:xfrm>
            <a:off x="7350983" y="711878"/>
            <a:ext cx="67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2/28</a:t>
            </a:r>
            <a:endParaRPr b="1" i="0" sz="10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53" name="Google Shape;353;p3"/>
          <p:cNvCxnSpPr>
            <a:stCxn id="352" idx="2"/>
          </p:cNvCxnSpPr>
          <p:nvPr/>
        </p:nvCxnSpPr>
        <p:spPr>
          <a:xfrm>
            <a:off x="7686683" y="958178"/>
            <a:ext cx="15900" cy="54909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22" name="Google Shape;322;p3"/>
          <p:cNvSpPr txBox="1"/>
          <p:nvPr/>
        </p:nvSpPr>
        <p:spPr>
          <a:xfrm>
            <a:off x="10355546" y="711878"/>
            <a:ext cx="67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5/16</a:t>
            </a:r>
            <a:endParaRPr b="1" i="0" sz="10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3"/>
          <p:cNvSpPr txBox="1"/>
          <p:nvPr/>
        </p:nvSpPr>
        <p:spPr>
          <a:xfrm>
            <a:off x="11159269" y="404699"/>
            <a:ext cx="585140" cy="3182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종료</a:t>
            </a:r>
            <a:endParaRPr b="1" i="0" sz="8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3"/>
          <p:cNvSpPr/>
          <p:nvPr/>
        </p:nvSpPr>
        <p:spPr>
          <a:xfrm>
            <a:off x="11014987" y="620938"/>
            <a:ext cx="888548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완료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3"/>
          <p:cNvSpPr/>
          <p:nvPr/>
        </p:nvSpPr>
        <p:spPr>
          <a:xfrm>
            <a:off x="410206" y="620938"/>
            <a:ext cx="888548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착수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57" name="Google Shape;357;p3"/>
          <p:cNvGrpSpPr/>
          <p:nvPr/>
        </p:nvGrpSpPr>
        <p:grpSpPr>
          <a:xfrm>
            <a:off x="1661101" y="1142880"/>
            <a:ext cx="1201750" cy="246300"/>
            <a:chOff x="554184" y="1219080"/>
            <a:chExt cx="1201750" cy="246300"/>
          </a:xfrm>
        </p:grpSpPr>
        <p:cxnSp>
          <p:nvCxnSpPr>
            <p:cNvPr id="358" name="Google Shape;358;p3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359" name="Google Shape;359;p3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2M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60" name="Google Shape;360;p3"/>
          <p:cNvGrpSpPr/>
          <p:nvPr/>
        </p:nvGrpSpPr>
        <p:grpSpPr>
          <a:xfrm>
            <a:off x="2895018" y="1142880"/>
            <a:ext cx="1201750" cy="246300"/>
            <a:chOff x="554184" y="1219080"/>
            <a:chExt cx="1201750" cy="246300"/>
          </a:xfrm>
        </p:grpSpPr>
        <p:cxnSp>
          <p:nvCxnSpPr>
            <p:cNvPr id="361" name="Google Shape;361;p3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362" name="Google Shape;362;p3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3M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63" name="Google Shape;363;p3"/>
          <p:cNvGrpSpPr/>
          <p:nvPr/>
        </p:nvGrpSpPr>
        <p:grpSpPr>
          <a:xfrm>
            <a:off x="4128935" y="1142880"/>
            <a:ext cx="1201750" cy="246300"/>
            <a:chOff x="554184" y="1219080"/>
            <a:chExt cx="1201750" cy="246300"/>
          </a:xfrm>
        </p:grpSpPr>
        <p:cxnSp>
          <p:nvCxnSpPr>
            <p:cNvPr id="364" name="Google Shape;364;p3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365" name="Google Shape;365;p3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4M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66" name="Google Shape;366;p3"/>
          <p:cNvGrpSpPr/>
          <p:nvPr/>
        </p:nvGrpSpPr>
        <p:grpSpPr>
          <a:xfrm>
            <a:off x="5362852" y="1142880"/>
            <a:ext cx="1201750" cy="246300"/>
            <a:chOff x="554184" y="1219080"/>
            <a:chExt cx="1201750" cy="246300"/>
          </a:xfrm>
        </p:grpSpPr>
        <p:cxnSp>
          <p:nvCxnSpPr>
            <p:cNvPr id="367" name="Google Shape;367;p3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368" name="Google Shape;368;p3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5M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69" name="Google Shape;369;p3"/>
          <p:cNvGrpSpPr/>
          <p:nvPr/>
        </p:nvGrpSpPr>
        <p:grpSpPr>
          <a:xfrm>
            <a:off x="6596769" y="1142880"/>
            <a:ext cx="1201750" cy="246300"/>
            <a:chOff x="554184" y="1219080"/>
            <a:chExt cx="1201750" cy="246300"/>
          </a:xfrm>
        </p:grpSpPr>
        <p:cxnSp>
          <p:nvCxnSpPr>
            <p:cNvPr id="370" name="Google Shape;370;p3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371" name="Google Shape;371;p3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6M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72" name="Google Shape;372;p3"/>
          <p:cNvGrpSpPr/>
          <p:nvPr/>
        </p:nvGrpSpPr>
        <p:grpSpPr>
          <a:xfrm>
            <a:off x="7830686" y="1142880"/>
            <a:ext cx="1201750" cy="246300"/>
            <a:chOff x="554184" y="1219080"/>
            <a:chExt cx="1201750" cy="246300"/>
          </a:xfrm>
        </p:grpSpPr>
        <p:cxnSp>
          <p:nvCxnSpPr>
            <p:cNvPr id="373" name="Google Shape;373;p3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374" name="Google Shape;374;p3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7M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75" name="Google Shape;375;p3"/>
          <p:cNvGrpSpPr/>
          <p:nvPr/>
        </p:nvGrpSpPr>
        <p:grpSpPr>
          <a:xfrm>
            <a:off x="9064603" y="1142880"/>
            <a:ext cx="1201750" cy="246300"/>
            <a:chOff x="554184" y="1219080"/>
            <a:chExt cx="1201750" cy="246300"/>
          </a:xfrm>
        </p:grpSpPr>
        <p:cxnSp>
          <p:nvCxnSpPr>
            <p:cNvPr id="376" name="Google Shape;376;p3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377" name="Google Shape;377;p3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8M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78" name="Google Shape;378;p3"/>
          <p:cNvGrpSpPr/>
          <p:nvPr/>
        </p:nvGrpSpPr>
        <p:grpSpPr>
          <a:xfrm>
            <a:off x="10298517" y="1142880"/>
            <a:ext cx="1201750" cy="246300"/>
            <a:chOff x="554184" y="1219080"/>
            <a:chExt cx="1201750" cy="246300"/>
          </a:xfrm>
        </p:grpSpPr>
        <p:cxnSp>
          <p:nvCxnSpPr>
            <p:cNvPr id="379" name="Google Shape;379;p3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380" name="Google Shape;380;p3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9M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81" name="Google Shape;381;p3"/>
          <p:cNvSpPr/>
          <p:nvPr/>
        </p:nvSpPr>
        <p:spPr>
          <a:xfrm>
            <a:off x="415760" y="1350572"/>
            <a:ext cx="877474" cy="4940414"/>
          </a:xfrm>
          <a:prstGeom prst="roundRect">
            <a:avLst>
              <a:gd fmla="val 1119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Requirement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(3주)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3"/>
          <p:cNvSpPr/>
          <p:nvPr/>
        </p:nvSpPr>
        <p:spPr>
          <a:xfrm>
            <a:off x="1018457" y="1523081"/>
            <a:ext cx="1820695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서비스 분석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3"/>
          <p:cNvSpPr/>
          <p:nvPr/>
        </p:nvSpPr>
        <p:spPr>
          <a:xfrm>
            <a:off x="1010754" y="1897655"/>
            <a:ext cx="1823173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정책 정의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3"/>
          <p:cNvSpPr/>
          <p:nvPr/>
        </p:nvSpPr>
        <p:spPr>
          <a:xfrm>
            <a:off x="10820151" y="3420077"/>
            <a:ext cx="655730" cy="1029984"/>
          </a:xfrm>
          <a:prstGeom prst="roundRect">
            <a:avLst>
              <a:gd fmla="val 1380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안정화 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(2주)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3"/>
          <p:cNvSpPr/>
          <p:nvPr/>
        </p:nvSpPr>
        <p:spPr>
          <a:xfrm>
            <a:off x="9813578" y="3420077"/>
            <a:ext cx="801921" cy="1029984"/>
          </a:xfrm>
          <a:prstGeom prst="roundRect">
            <a:avLst>
              <a:gd fmla="val 1119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테스트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단위/통합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3"/>
          <p:cNvSpPr/>
          <p:nvPr/>
        </p:nvSpPr>
        <p:spPr>
          <a:xfrm>
            <a:off x="10524664" y="5663658"/>
            <a:ext cx="947542" cy="287988"/>
          </a:xfrm>
          <a:prstGeom prst="roundRect">
            <a:avLst>
              <a:gd fmla="val 50000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인수인계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3"/>
          <p:cNvSpPr/>
          <p:nvPr/>
        </p:nvSpPr>
        <p:spPr>
          <a:xfrm>
            <a:off x="10507099" y="6036433"/>
            <a:ext cx="993793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프로젝트 검수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3"/>
          <p:cNvSpPr/>
          <p:nvPr/>
        </p:nvSpPr>
        <p:spPr>
          <a:xfrm>
            <a:off x="1759514" y="2298102"/>
            <a:ext cx="1106272" cy="288000"/>
          </a:xfrm>
          <a:prstGeom prst="roundRect">
            <a:avLst>
              <a:gd fmla="val 50000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시연 준비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3"/>
          <p:cNvSpPr/>
          <p:nvPr/>
        </p:nvSpPr>
        <p:spPr>
          <a:xfrm>
            <a:off x="1777304" y="2670514"/>
            <a:ext cx="3521215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페이지 화면설계 / 디자인 / 퍼블리싱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3"/>
          <p:cNvSpPr/>
          <p:nvPr/>
        </p:nvSpPr>
        <p:spPr>
          <a:xfrm>
            <a:off x="7044421" y="4189526"/>
            <a:ext cx="718770" cy="288000"/>
          </a:xfrm>
          <a:prstGeom prst="roundRect">
            <a:avLst>
              <a:gd fmla="val 1119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테스트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단위/통합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3"/>
          <p:cNvSpPr/>
          <p:nvPr/>
        </p:nvSpPr>
        <p:spPr>
          <a:xfrm>
            <a:off x="9830585" y="5362792"/>
            <a:ext cx="777140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현업 검수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3"/>
          <p:cNvSpPr/>
          <p:nvPr/>
        </p:nvSpPr>
        <p:spPr>
          <a:xfrm>
            <a:off x="9841457" y="4990017"/>
            <a:ext cx="758374" cy="287988"/>
          </a:xfrm>
          <a:prstGeom prst="roundRect">
            <a:avLst>
              <a:gd fmla="val 50000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보안점검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3"/>
          <p:cNvSpPr/>
          <p:nvPr/>
        </p:nvSpPr>
        <p:spPr>
          <a:xfrm>
            <a:off x="6810491" y="5371859"/>
            <a:ext cx="966778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현업 검수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3"/>
          <p:cNvSpPr/>
          <p:nvPr/>
        </p:nvSpPr>
        <p:spPr>
          <a:xfrm>
            <a:off x="6831665" y="4990017"/>
            <a:ext cx="918576" cy="287988"/>
          </a:xfrm>
          <a:prstGeom prst="roundRect">
            <a:avLst>
              <a:gd fmla="val 50000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보안점검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3"/>
          <p:cNvSpPr txBox="1"/>
          <p:nvPr/>
        </p:nvSpPr>
        <p:spPr>
          <a:xfrm>
            <a:off x="2863632" y="2274356"/>
            <a:ext cx="1896327" cy="333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 멀티모달 검증포털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3단계 AI 추론 파이프라인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3"/>
          <p:cNvSpPr txBox="1"/>
          <p:nvPr/>
        </p:nvSpPr>
        <p:spPr>
          <a:xfrm>
            <a:off x="3986734" y="391218"/>
            <a:ext cx="880115" cy="3182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r>
              <a:rPr b="1" baseline="30000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 Sign off</a:t>
            </a:r>
            <a:endParaRPr b="1" i="0" sz="8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3"/>
          <p:cNvSpPr/>
          <p:nvPr/>
        </p:nvSpPr>
        <p:spPr>
          <a:xfrm>
            <a:off x="4007184" y="620938"/>
            <a:ext cx="837465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디자인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3"/>
          <p:cNvSpPr txBox="1"/>
          <p:nvPr/>
        </p:nvSpPr>
        <p:spPr>
          <a:xfrm>
            <a:off x="2851979" y="2142331"/>
            <a:ext cx="661831" cy="3182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시연 범위</a:t>
            </a:r>
            <a:endParaRPr b="1" i="0" sz="8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99" name="Google Shape;399;p3"/>
          <p:cNvGrpSpPr/>
          <p:nvPr/>
        </p:nvGrpSpPr>
        <p:grpSpPr>
          <a:xfrm>
            <a:off x="5202429" y="175754"/>
            <a:ext cx="731553" cy="778939"/>
            <a:chOff x="5608628" y="251954"/>
            <a:chExt cx="731553" cy="778939"/>
          </a:xfrm>
        </p:grpSpPr>
        <p:grpSp>
          <p:nvGrpSpPr>
            <p:cNvPr id="400" name="Google Shape;400;p3"/>
            <p:cNvGrpSpPr/>
            <p:nvPr/>
          </p:nvGrpSpPr>
          <p:grpSpPr>
            <a:xfrm>
              <a:off x="5608628" y="251954"/>
              <a:ext cx="731553" cy="496404"/>
              <a:chOff x="7401699" y="414013"/>
              <a:chExt cx="731553" cy="496404"/>
            </a:xfrm>
          </p:grpSpPr>
          <p:sp>
            <p:nvSpPr>
              <p:cNvPr id="401" name="Google Shape;401;p3"/>
              <p:cNvSpPr/>
              <p:nvPr/>
            </p:nvSpPr>
            <p:spPr>
              <a:xfrm rot="10800000">
                <a:off x="7653176" y="732517"/>
                <a:ext cx="228600" cy="177900"/>
              </a:xfrm>
              <a:prstGeom prst="triangle">
                <a:avLst>
                  <a:gd fmla="val 50000" name="adj"/>
                </a:avLst>
              </a:prstGeom>
              <a:solidFill>
                <a:schemeClr val="accent2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2" name="Google Shape;402;p3"/>
              <p:cNvSpPr txBox="1"/>
              <p:nvPr/>
            </p:nvSpPr>
            <p:spPr>
              <a:xfrm>
                <a:off x="7401699" y="414013"/>
                <a:ext cx="731553" cy="24629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Arial"/>
                  <a:buNone/>
                </a:pPr>
                <a:r>
                  <a:rPr b="1" i="0" lang="en-US" sz="800" u="none" cap="none" strike="noStrike">
                    <a:solidFill>
                      <a:schemeClr val="accent2"/>
                    </a:solidFill>
                    <a:latin typeface="Arial"/>
                    <a:ea typeface="Arial"/>
                    <a:cs typeface="Arial"/>
                    <a:sym typeface="Arial"/>
                  </a:rPr>
                  <a:t>HCP App</a:t>
                </a:r>
                <a:br>
                  <a:rPr b="1" i="0" lang="en-US" sz="800" u="none" cap="none" strike="noStrike">
                    <a:solidFill>
                      <a:schemeClr val="accent2"/>
                    </a:solidFill>
                    <a:latin typeface="Arial"/>
                    <a:ea typeface="Arial"/>
                    <a:cs typeface="Arial"/>
                    <a:sym typeface="Arial"/>
                  </a:rPr>
                </a:br>
                <a:r>
                  <a:rPr b="1" i="0" lang="en-US" sz="800" u="none" cap="none" strike="noStrike">
                    <a:solidFill>
                      <a:schemeClr val="accent2"/>
                    </a:solidFill>
                    <a:latin typeface="Arial"/>
                    <a:ea typeface="Arial"/>
                    <a:cs typeface="Arial"/>
                    <a:sym typeface="Arial"/>
                  </a:rPr>
                  <a:t>Launch</a:t>
                </a:r>
                <a:endParaRPr b="1" i="0" sz="8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03" name="Google Shape;403;p3"/>
            <p:cNvSpPr txBox="1"/>
            <p:nvPr/>
          </p:nvSpPr>
          <p:spPr>
            <a:xfrm>
              <a:off x="5638705" y="784593"/>
              <a:ext cx="6714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FF0000"/>
                  </a:solidFill>
                  <a:latin typeface="Arial"/>
                  <a:ea typeface="Arial"/>
                  <a:cs typeface="Arial"/>
                  <a:sym typeface="Arial"/>
                </a:rPr>
                <a:t>1/7</a:t>
              </a:r>
              <a:endParaRPr b="1" i="0" sz="1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04" name="Google Shape;404;p3"/>
          <p:cNvSpPr/>
          <p:nvPr/>
        </p:nvSpPr>
        <p:spPr>
          <a:xfrm>
            <a:off x="7772328" y="4567181"/>
            <a:ext cx="718770" cy="288000"/>
          </a:xfrm>
          <a:prstGeom prst="roundRect">
            <a:avLst>
              <a:gd fmla="val 1119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테스트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단위/통합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05" name="Google Shape;405;p3"/>
          <p:cNvGrpSpPr/>
          <p:nvPr/>
        </p:nvGrpSpPr>
        <p:grpSpPr>
          <a:xfrm>
            <a:off x="8082575" y="189937"/>
            <a:ext cx="697971" cy="485706"/>
            <a:chOff x="7391073" y="424711"/>
            <a:chExt cx="697971" cy="485706"/>
          </a:xfrm>
        </p:grpSpPr>
        <p:sp>
          <p:nvSpPr>
            <p:cNvPr id="406" name="Google Shape;406;p3"/>
            <p:cNvSpPr/>
            <p:nvPr/>
          </p:nvSpPr>
          <p:spPr>
            <a:xfrm rot="10800000">
              <a:off x="7653176" y="732517"/>
              <a:ext cx="228600" cy="177900"/>
            </a:xfrm>
            <a:prstGeom prst="triangle">
              <a:avLst>
                <a:gd fmla="val 50000" name="adj"/>
              </a:avLst>
            </a:prstGeom>
            <a:solidFill>
              <a:schemeClr val="accen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1" i="0" sz="14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7" name="Google Shape;407;p3"/>
            <p:cNvSpPr txBox="1"/>
            <p:nvPr/>
          </p:nvSpPr>
          <p:spPr>
            <a:xfrm>
              <a:off x="7391073" y="424711"/>
              <a:ext cx="697971" cy="33791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rPr>
                <a:t>HCP Web Launch</a:t>
              </a:r>
              <a:endParaRPr b="1" i="0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08" name="Google Shape;408;p3"/>
          <p:cNvSpPr txBox="1"/>
          <p:nvPr/>
        </p:nvSpPr>
        <p:spPr>
          <a:xfrm>
            <a:off x="8123278" y="711878"/>
            <a:ext cx="67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3/21</a:t>
            </a:r>
            <a:endParaRPr b="1" i="0" sz="10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09" name="Google Shape;409;p3"/>
          <p:cNvCxnSpPr/>
          <p:nvPr/>
        </p:nvCxnSpPr>
        <p:spPr>
          <a:xfrm>
            <a:off x="5546049" y="958178"/>
            <a:ext cx="16018" cy="5491045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10" name="Google Shape;410;p3"/>
          <p:cNvCxnSpPr/>
          <p:nvPr/>
        </p:nvCxnSpPr>
        <p:spPr>
          <a:xfrm>
            <a:off x="8494559" y="958178"/>
            <a:ext cx="16018" cy="5491045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11" name="Google Shape;411;p3"/>
          <p:cNvSpPr/>
          <p:nvPr/>
        </p:nvSpPr>
        <p:spPr>
          <a:xfrm>
            <a:off x="2886549" y="3014957"/>
            <a:ext cx="4876641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P1 오픈 범위 개발 (연구소 버전 &amp; 국문)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3"/>
          <p:cNvSpPr/>
          <p:nvPr/>
        </p:nvSpPr>
        <p:spPr>
          <a:xfrm>
            <a:off x="6563978" y="3420077"/>
            <a:ext cx="3242502" cy="288000"/>
          </a:xfrm>
          <a:prstGeom prst="roundRect">
            <a:avLst>
              <a:gd fmla="val 50000" name="adj"/>
            </a:avLst>
          </a:prstGeom>
          <a:solidFill>
            <a:srgbClr val="B3C6E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SyncFlow BO 어드민</a:t>
            </a:r>
            <a:endParaRPr b="1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3"/>
          <p:cNvSpPr/>
          <p:nvPr/>
        </p:nvSpPr>
        <p:spPr>
          <a:xfrm>
            <a:off x="2921206" y="3809571"/>
            <a:ext cx="1878806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HCP App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3"/>
          <p:cNvSpPr/>
          <p:nvPr/>
        </p:nvSpPr>
        <p:spPr>
          <a:xfrm>
            <a:off x="2921204" y="4189526"/>
            <a:ext cx="4132441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Patient App, Patient App (Offlien)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3"/>
          <p:cNvSpPr/>
          <p:nvPr/>
        </p:nvSpPr>
        <p:spPr>
          <a:xfrm>
            <a:off x="7833847" y="3014957"/>
            <a:ext cx="2781652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P2 오픈 범위 개발 (원격진료 &amp; 글로벌)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3"/>
          <p:cNvSpPr/>
          <p:nvPr/>
        </p:nvSpPr>
        <p:spPr>
          <a:xfrm>
            <a:off x="4586435" y="4577049"/>
            <a:ext cx="3184627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HCP Web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3"/>
          <p:cNvSpPr/>
          <p:nvPr/>
        </p:nvSpPr>
        <p:spPr>
          <a:xfrm>
            <a:off x="4827468" y="3809571"/>
            <a:ext cx="490105" cy="285344"/>
          </a:xfrm>
          <a:prstGeom prst="roundRect">
            <a:avLst>
              <a:gd fmla="val 1119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테스트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단위/통합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3"/>
          <p:cNvSpPr/>
          <p:nvPr/>
        </p:nvSpPr>
        <p:spPr>
          <a:xfrm>
            <a:off x="7881727" y="3782106"/>
            <a:ext cx="1899688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원격진료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"/>
          <p:cNvSpPr/>
          <p:nvPr/>
        </p:nvSpPr>
        <p:spPr>
          <a:xfrm>
            <a:off x="7881727" y="4162061"/>
            <a:ext cx="1899688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다국어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4" name="Google Shape;424;p4"/>
          <p:cNvCxnSpPr/>
          <p:nvPr/>
        </p:nvCxnSpPr>
        <p:spPr>
          <a:xfrm>
            <a:off x="8176479" y="958178"/>
            <a:ext cx="16018" cy="5491045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425" name="Google Shape;425;p4"/>
          <p:cNvGrpSpPr/>
          <p:nvPr/>
        </p:nvGrpSpPr>
        <p:grpSpPr>
          <a:xfrm>
            <a:off x="9930653" y="937603"/>
            <a:ext cx="671400" cy="5447995"/>
            <a:chOff x="1198761" y="1013803"/>
            <a:chExt cx="671400" cy="5447995"/>
          </a:xfrm>
        </p:grpSpPr>
        <p:sp>
          <p:nvSpPr>
            <p:cNvPr id="426" name="Google Shape;426;p4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427" name="Google Shape;427;p4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8" name="Google Shape;428;p4"/>
          <p:cNvSpPr txBox="1"/>
          <p:nvPr/>
        </p:nvSpPr>
        <p:spPr>
          <a:xfrm>
            <a:off x="1873538" y="391218"/>
            <a:ext cx="1774500" cy="3182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b="1" baseline="30000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st</a:t>
            </a: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 Sign off</a:t>
            </a:r>
            <a:endParaRPr b="1" i="0" sz="8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29" name="Google Shape;429;p4"/>
          <p:cNvGrpSpPr/>
          <p:nvPr/>
        </p:nvGrpSpPr>
        <p:grpSpPr>
          <a:xfrm>
            <a:off x="1293234" y="937603"/>
            <a:ext cx="671400" cy="5447995"/>
            <a:chOff x="1198761" y="1013803"/>
            <a:chExt cx="671400" cy="5447995"/>
          </a:xfrm>
        </p:grpSpPr>
        <p:sp>
          <p:nvSpPr>
            <p:cNvPr id="430" name="Google Shape;430;p4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10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431" name="Google Shape;431;p4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2" name="Google Shape;432;p4"/>
          <p:cNvSpPr/>
          <p:nvPr/>
        </p:nvSpPr>
        <p:spPr>
          <a:xfrm>
            <a:off x="2310003" y="620938"/>
            <a:ext cx="888548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화면설계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3" name="Google Shape;433;p4"/>
          <p:cNvGrpSpPr/>
          <p:nvPr/>
        </p:nvGrpSpPr>
        <p:grpSpPr>
          <a:xfrm>
            <a:off x="9806481" y="282355"/>
            <a:ext cx="1606439" cy="393288"/>
            <a:chOff x="9933481" y="358555"/>
            <a:chExt cx="1606439" cy="393288"/>
          </a:xfrm>
        </p:grpSpPr>
        <p:sp>
          <p:nvSpPr>
            <p:cNvPr id="434" name="Google Shape;434;p4"/>
            <p:cNvSpPr txBox="1"/>
            <p:nvPr/>
          </p:nvSpPr>
          <p:spPr>
            <a:xfrm>
              <a:off x="9933481" y="358555"/>
              <a:ext cx="1606439" cy="21110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rPr>
                <a:t>P2 Launch</a:t>
              </a:r>
              <a:endParaRPr b="1" i="0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5" name="Google Shape;435;p4"/>
            <p:cNvSpPr/>
            <p:nvPr/>
          </p:nvSpPr>
          <p:spPr>
            <a:xfrm rot="10800000">
              <a:off x="10667534" y="573943"/>
              <a:ext cx="228600" cy="177900"/>
            </a:xfrm>
            <a:prstGeom prst="triangle">
              <a:avLst>
                <a:gd fmla="val 50000" name="adj"/>
              </a:avLst>
            </a:prstGeom>
            <a:solidFill>
              <a:schemeClr val="accen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1" i="0" sz="14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436" name="Google Shape;436;p4"/>
          <p:cNvCxnSpPr>
            <a:stCxn id="437" idx="2"/>
          </p:cNvCxnSpPr>
          <p:nvPr/>
        </p:nvCxnSpPr>
        <p:spPr>
          <a:xfrm>
            <a:off x="10691246" y="958178"/>
            <a:ext cx="0" cy="54909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438" name="Google Shape;438;p4"/>
          <p:cNvGrpSpPr/>
          <p:nvPr/>
        </p:nvGrpSpPr>
        <p:grpSpPr>
          <a:xfrm>
            <a:off x="427184" y="1142880"/>
            <a:ext cx="1201750" cy="246300"/>
            <a:chOff x="554184" y="1219080"/>
            <a:chExt cx="1201750" cy="246300"/>
          </a:xfrm>
        </p:grpSpPr>
        <p:cxnSp>
          <p:nvCxnSpPr>
            <p:cNvPr id="439" name="Google Shape;439;p4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440" name="Google Shape;440;p4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1M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41" name="Google Shape;441;p4"/>
          <p:cNvSpPr txBox="1"/>
          <p:nvPr/>
        </p:nvSpPr>
        <p:spPr>
          <a:xfrm>
            <a:off x="277339" y="937603"/>
            <a:ext cx="260059" cy="246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1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42" name="Google Shape;442;p4"/>
          <p:cNvCxnSpPr/>
          <p:nvPr/>
        </p:nvCxnSpPr>
        <p:spPr>
          <a:xfrm>
            <a:off x="395017" y="1183898"/>
            <a:ext cx="0" cy="520170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443" name="Google Shape;443;p4"/>
          <p:cNvGrpSpPr/>
          <p:nvPr/>
        </p:nvGrpSpPr>
        <p:grpSpPr>
          <a:xfrm>
            <a:off x="3761068" y="937603"/>
            <a:ext cx="671400" cy="5447995"/>
            <a:chOff x="1198761" y="1013803"/>
            <a:chExt cx="671400" cy="5447995"/>
          </a:xfrm>
        </p:grpSpPr>
        <p:sp>
          <p:nvSpPr>
            <p:cNvPr id="444" name="Google Shape;444;p4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12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445" name="Google Shape;445;p4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446" name="Google Shape;446;p4"/>
          <p:cNvGrpSpPr/>
          <p:nvPr/>
        </p:nvGrpSpPr>
        <p:grpSpPr>
          <a:xfrm>
            <a:off x="2527151" y="937603"/>
            <a:ext cx="671400" cy="5447995"/>
            <a:chOff x="186317" y="1013803"/>
            <a:chExt cx="671400" cy="5447995"/>
          </a:xfrm>
        </p:grpSpPr>
        <p:sp>
          <p:nvSpPr>
            <p:cNvPr id="447" name="Google Shape;447;p4"/>
            <p:cNvSpPr txBox="1"/>
            <p:nvPr/>
          </p:nvSpPr>
          <p:spPr>
            <a:xfrm>
              <a:off x="186317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11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448" name="Google Shape;448;p4"/>
            <p:cNvCxnSpPr/>
            <p:nvPr/>
          </p:nvCxnSpPr>
          <p:spPr>
            <a:xfrm>
              <a:off x="522017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449" name="Google Shape;449;p4"/>
          <p:cNvGrpSpPr/>
          <p:nvPr/>
        </p:nvGrpSpPr>
        <p:grpSpPr>
          <a:xfrm>
            <a:off x="6228902" y="937603"/>
            <a:ext cx="671400" cy="5447995"/>
            <a:chOff x="1198761" y="1013803"/>
            <a:chExt cx="671400" cy="5447995"/>
          </a:xfrm>
        </p:grpSpPr>
        <p:sp>
          <p:nvSpPr>
            <p:cNvPr id="450" name="Google Shape;450;p4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451" name="Google Shape;451;p4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452" name="Google Shape;452;p4"/>
          <p:cNvGrpSpPr/>
          <p:nvPr/>
        </p:nvGrpSpPr>
        <p:grpSpPr>
          <a:xfrm>
            <a:off x="4994985" y="937603"/>
            <a:ext cx="671400" cy="5447995"/>
            <a:chOff x="186317" y="1013803"/>
            <a:chExt cx="671400" cy="5447995"/>
          </a:xfrm>
        </p:grpSpPr>
        <p:sp>
          <p:nvSpPr>
            <p:cNvPr id="453" name="Google Shape;453;p4"/>
            <p:cNvSpPr txBox="1"/>
            <p:nvPr/>
          </p:nvSpPr>
          <p:spPr>
            <a:xfrm>
              <a:off x="186317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454" name="Google Shape;454;p4"/>
            <p:cNvCxnSpPr/>
            <p:nvPr/>
          </p:nvCxnSpPr>
          <p:spPr>
            <a:xfrm>
              <a:off x="522017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455" name="Google Shape;455;p4"/>
          <p:cNvGrpSpPr/>
          <p:nvPr/>
        </p:nvGrpSpPr>
        <p:grpSpPr>
          <a:xfrm>
            <a:off x="7462819" y="937603"/>
            <a:ext cx="671400" cy="5447995"/>
            <a:chOff x="1198761" y="1013803"/>
            <a:chExt cx="671400" cy="5447995"/>
          </a:xfrm>
        </p:grpSpPr>
        <p:cxnSp>
          <p:nvCxnSpPr>
            <p:cNvPr id="456" name="Google Shape;456;p4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  <p:sp>
          <p:nvSpPr>
            <p:cNvPr id="457" name="Google Shape;457;p4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58" name="Google Shape;458;p4"/>
          <p:cNvGrpSpPr/>
          <p:nvPr/>
        </p:nvGrpSpPr>
        <p:grpSpPr>
          <a:xfrm>
            <a:off x="8696736" y="937603"/>
            <a:ext cx="671400" cy="5447995"/>
            <a:chOff x="1198761" y="1013803"/>
            <a:chExt cx="671400" cy="5447995"/>
          </a:xfrm>
        </p:grpSpPr>
        <p:sp>
          <p:nvSpPr>
            <p:cNvPr id="459" name="Google Shape;459;p4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460" name="Google Shape;460;p4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461" name="Google Shape;461;p4"/>
          <p:cNvGrpSpPr/>
          <p:nvPr/>
        </p:nvGrpSpPr>
        <p:grpSpPr>
          <a:xfrm>
            <a:off x="11164567" y="937603"/>
            <a:ext cx="671400" cy="5447995"/>
            <a:chOff x="1198761" y="1013803"/>
            <a:chExt cx="671400" cy="5447995"/>
          </a:xfrm>
        </p:grpSpPr>
        <p:sp>
          <p:nvSpPr>
            <p:cNvPr id="462" name="Google Shape;462;p4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6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463" name="Google Shape;463;p4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7" name="Google Shape;437;p4"/>
          <p:cNvSpPr txBox="1"/>
          <p:nvPr/>
        </p:nvSpPr>
        <p:spPr>
          <a:xfrm>
            <a:off x="10355546" y="711878"/>
            <a:ext cx="67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5/16</a:t>
            </a:r>
            <a:endParaRPr b="1" i="0" sz="10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4"/>
          <p:cNvSpPr txBox="1"/>
          <p:nvPr/>
        </p:nvSpPr>
        <p:spPr>
          <a:xfrm>
            <a:off x="11159269" y="404699"/>
            <a:ext cx="585140" cy="3182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종료</a:t>
            </a:r>
            <a:endParaRPr b="1" i="0" sz="8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5" name="Google Shape;465;p4"/>
          <p:cNvSpPr/>
          <p:nvPr/>
        </p:nvSpPr>
        <p:spPr>
          <a:xfrm>
            <a:off x="11014987" y="620938"/>
            <a:ext cx="888548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완료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4"/>
          <p:cNvSpPr/>
          <p:nvPr/>
        </p:nvSpPr>
        <p:spPr>
          <a:xfrm>
            <a:off x="410206" y="620938"/>
            <a:ext cx="888548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착수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67" name="Google Shape;467;p4"/>
          <p:cNvGrpSpPr/>
          <p:nvPr/>
        </p:nvGrpSpPr>
        <p:grpSpPr>
          <a:xfrm>
            <a:off x="1661101" y="1142880"/>
            <a:ext cx="1201750" cy="246300"/>
            <a:chOff x="554184" y="1219080"/>
            <a:chExt cx="1201750" cy="246300"/>
          </a:xfrm>
        </p:grpSpPr>
        <p:cxnSp>
          <p:nvCxnSpPr>
            <p:cNvPr id="468" name="Google Shape;468;p4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469" name="Google Shape;469;p4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2M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70" name="Google Shape;470;p4"/>
          <p:cNvGrpSpPr/>
          <p:nvPr/>
        </p:nvGrpSpPr>
        <p:grpSpPr>
          <a:xfrm>
            <a:off x="2895018" y="1142880"/>
            <a:ext cx="1201750" cy="246300"/>
            <a:chOff x="554184" y="1219080"/>
            <a:chExt cx="1201750" cy="246300"/>
          </a:xfrm>
        </p:grpSpPr>
        <p:cxnSp>
          <p:nvCxnSpPr>
            <p:cNvPr id="471" name="Google Shape;471;p4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472" name="Google Shape;472;p4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3M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73" name="Google Shape;473;p4"/>
          <p:cNvGrpSpPr/>
          <p:nvPr/>
        </p:nvGrpSpPr>
        <p:grpSpPr>
          <a:xfrm>
            <a:off x="4128935" y="1142880"/>
            <a:ext cx="1201750" cy="246300"/>
            <a:chOff x="554184" y="1219080"/>
            <a:chExt cx="1201750" cy="246300"/>
          </a:xfrm>
        </p:grpSpPr>
        <p:cxnSp>
          <p:nvCxnSpPr>
            <p:cNvPr id="474" name="Google Shape;474;p4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475" name="Google Shape;475;p4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4M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76" name="Google Shape;476;p4"/>
          <p:cNvGrpSpPr/>
          <p:nvPr/>
        </p:nvGrpSpPr>
        <p:grpSpPr>
          <a:xfrm>
            <a:off x="5362852" y="1142880"/>
            <a:ext cx="1201750" cy="246300"/>
            <a:chOff x="554184" y="1219080"/>
            <a:chExt cx="1201750" cy="246300"/>
          </a:xfrm>
        </p:grpSpPr>
        <p:cxnSp>
          <p:nvCxnSpPr>
            <p:cNvPr id="477" name="Google Shape;477;p4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478" name="Google Shape;478;p4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5M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79" name="Google Shape;479;p4"/>
          <p:cNvGrpSpPr/>
          <p:nvPr/>
        </p:nvGrpSpPr>
        <p:grpSpPr>
          <a:xfrm>
            <a:off x="6596769" y="1142880"/>
            <a:ext cx="1201750" cy="246300"/>
            <a:chOff x="554184" y="1219080"/>
            <a:chExt cx="1201750" cy="246300"/>
          </a:xfrm>
        </p:grpSpPr>
        <p:cxnSp>
          <p:nvCxnSpPr>
            <p:cNvPr id="480" name="Google Shape;480;p4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481" name="Google Shape;481;p4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6M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82" name="Google Shape;482;p4"/>
          <p:cNvGrpSpPr/>
          <p:nvPr/>
        </p:nvGrpSpPr>
        <p:grpSpPr>
          <a:xfrm>
            <a:off x="7830686" y="1142880"/>
            <a:ext cx="1201750" cy="246300"/>
            <a:chOff x="554184" y="1219080"/>
            <a:chExt cx="1201750" cy="246300"/>
          </a:xfrm>
        </p:grpSpPr>
        <p:cxnSp>
          <p:nvCxnSpPr>
            <p:cNvPr id="483" name="Google Shape;483;p4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484" name="Google Shape;484;p4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7M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85" name="Google Shape;485;p4"/>
          <p:cNvGrpSpPr/>
          <p:nvPr/>
        </p:nvGrpSpPr>
        <p:grpSpPr>
          <a:xfrm>
            <a:off x="9064603" y="1142880"/>
            <a:ext cx="1201750" cy="246300"/>
            <a:chOff x="554184" y="1219080"/>
            <a:chExt cx="1201750" cy="246300"/>
          </a:xfrm>
        </p:grpSpPr>
        <p:cxnSp>
          <p:nvCxnSpPr>
            <p:cNvPr id="486" name="Google Shape;486;p4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487" name="Google Shape;487;p4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8M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88" name="Google Shape;488;p4"/>
          <p:cNvGrpSpPr/>
          <p:nvPr/>
        </p:nvGrpSpPr>
        <p:grpSpPr>
          <a:xfrm>
            <a:off x="10298517" y="1142880"/>
            <a:ext cx="1201750" cy="246300"/>
            <a:chOff x="554184" y="1219080"/>
            <a:chExt cx="1201750" cy="246300"/>
          </a:xfrm>
        </p:grpSpPr>
        <p:cxnSp>
          <p:nvCxnSpPr>
            <p:cNvPr id="489" name="Google Shape;489;p4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490" name="Google Shape;490;p4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9M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91" name="Google Shape;491;p4"/>
          <p:cNvSpPr/>
          <p:nvPr/>
        </p:nvSpPr>
        <p:spPr>
          <a:xfrm>
            <a:off x="415760" y="1350572"/>
            <a:ext cx="877474" cy="4940414"/>
          </a:xfrm>
          <a:prstGeom prst="roundRect">
            <a:avLst>
              <a:gd fmla="val 1119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Requirement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(3주)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4"/>
          <p:cNvSpPr/>
          <p:nvPr/>
        </p:nvSpPr>
        <p:spPr>
          <a:xfrm>
            <a:off x="1018457" y="1523081"/>
            <a:ext cx="1820695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서비스 분석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4"/>
          <p:cNvSpPr/>
          <p:nvPr/>
        </p:nvSpPr>
        <p:spPr>
          <a:xfrm>
            <a:off x="1010754" y="1897655"/>
            <a:ext cx="1823173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정책 정의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4"/>
          <p:cNvSpPr/>
          <p:nvPr/>
        </p:nvSpPr>
        <p:spPr>
          <a:xfrm>
            <a:off x="10507099" y="6054490"/>
            <a:ext cx="993793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프로젝트 검수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4"/>
          <p:cNvSpPr txBox="1"/>
          <p:nvPr/>
        </p:nvSpPr>
        <p:spPr>
          <a:xfrm>
            <a:off x="3986734" y="391218"/>
            <a:ext cx="880115" cy="3182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r>
              <a:rPr b="1" baseline="30000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 Sign off</a:t>
            </a:r>
            <a:endParaRPr b="1" i="0" sz="8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4"/>
          <p:cNvSpPr/>
          <p:nvPr/>
        </p:nvSpPr>
        <p:spPr>
          <a:xfrm>
            <a:off x="4007184" y="620938"/>
            <a:ext cx="837465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디자인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97" name="Google Shape;497;p4"/>
          <p:cNvGrpSpPr/>
          <p:nvPr/>
        </p:nvGrpSpPr>
        <p:grpSpPr>
          <a:xfrm>
            <a:off x="5202429" y="175754"/>
            <a:ext cx="731553" cy="778939"/>
            <a:chOff x="5608628" y="251954"/>
            <a:chExt cx="731553" cy="778939"/>
          </a:xfrm>
        </p:grpSpPr>
        <p:grpSp>
          <p:nvGrpSpPr>
            <p:cNvPr id="498" name="Google Shape;498;p4"/>
            <p:cNvGrpSpPr/>
            <p:nvPr/>
          </p:nvGrpSpPr>
          <p:grpSpPr>
            <a:xfrm>
              <a:off x="5608628" y="251954"/>
              <a:ext cx="731553" cy="496404"/>
              <a:chOff x="7401699" y="414013"/>
              <a:chExt cx="731553" cy="496404"/>
            </a:xfrm>
          </p:grpSpPr>
          <p:sp>
            <p:nvSpPr>
              <p:cNvPr id="499" name="Google Shape;499;p4"/>
              <p:cNvSpPr/>
              <p:nvPr/>
            </p:nvSpPr>
            <p:spPr>
              <a:xfrm rot="10800000">
                <a:off x="7653176" y="732517"/>
                <a:ext cx="228600" cy="177900"/>
              </a:xfrm>
              <a:prstGeom prst="triangle">
                <a:avLst>
                  <a:gd fmla="val 50000" name="adj"/>
                </a:avLst>
              </a:prstGeom>
              <a:solidFill>
                <a:schemeClr val="accent2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4"/>
              <p:cNvSpPr txBox="1"/>
              <p:nvPr/>
            </p:nvSpPr>
            <p:spPr>
              <a:xfrm>
                <a:off x="7401699" y="414013"/>
                <a:ext cx="731553" cy="24629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Arial"/>
                  <a:buNone/>
                </a:pPr>
                <a:r>
                  <a:rPr b="1" i="0" lang="en-US" sz="800" u="none" cap="none" strike="noStrike">
                    <a:solidFill>
                      <a:schemeClr val="accent2"/>
                    </a:solidFill>
                    <a:latin typeface="Arial"/>
                    <a:ea typeface="Arial"/>
                    <a:cs typeface="Arial"/>
                    <a:sym typeface="Arial"/>
                  </a:rPr>
                  <a:t>HCP App</a:t>
                </a:r>
                <a:br>
                  <a:rPr b="1" i="0" lang="en-US" sz="800" u="none" cap="none" strike="noStrike">
                    <a:solidFill>
                      <a:schemeClr val="accent2"/>
                    </a:solidFill>
                    <a:latin typeface="Arial"/>
                    <a:ea typeface="Arial"/>
                    <a:cs typeface="Arial"/>
                    <a:sym typeface="Arial"/>
                  </a:rPr>
                </a:br>
                <a:r>
                  <a:rPr b="1" i="0" lang="en-US" sz="800" u="none" cap="none" strike="noStrike">
                    <a:solidFill>
                      <a:schemeClr val="accent2"/>
                    </a:solidFill>
                    <a:latin typeface="Arial"/>
                    <a:ea typeface="Arial"/>
                    <a:cs typeface="Arial"/>
                    <a:sym typeface="Arial"/>
                  </a:rPr>
                  <a:t>Launch</a:t>
                </a:r>
                <a:endParaRPr b="1" i="0" sz="8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501" name="Google Shape;501;p4"/>
            <p:cNvSpPr txBox="1"/>
            <p:nvPr/>
          </p:nvSpPr>
          <p:spPr>
            <a:xfrm>
              <a:off x="5638705" y="784593"/>
              <a:ext cx="6714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FF0000"/>
                  </a:solidFill>
                  <a:latin typeface="Arial"/>
                  <a:ea typeface="Arial"/>
                  <a:cs typeface="Arial"/>
                  <a:sym typeface="Arial"/>
                </a:rPr>
                <a:t>1/7</a:t>
              </a:r>
              <a:endParaRPr b="1" i="0" sz="1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02" name="Google Shape;502;p4"/>
          <p:cNvGrpSpPr/>
          <p:nvPr/>
        </p:nvGrpSpPr>
        <p:grpSpPr>
          <a:xfrm>
            <a:off x="9248745" y="189937"/>
            <a:ext cx="697971" cy="485706"/>
            <a:chOff x="7391073" y="424711"/>
            <a:chExt cx="697971" cy="485706"/>
          </a:xfrm>
        </p:grpSpPr>
        <p:sp>
          <p:nvSpPr>
            <p:cNvPr id="503" name="Google Shape;503;p4"/>
            <p:cNvSpPr/>
            <p:nvPr/>
          </p:nvSpPr>
          <p:spPr>
            <a:xfrm rot="10800000">
              <a:off x="7653176" y="732517"/>
              <a:ext cx="228600" cy="177900"/>
            </a:xfrm>
            <a:prstGeom prst="triangle">
              <a:avLst>
                <a:gd fmla="val 50000" name="adj"/>
              </a:avLst>
            </a:prstGeom>
            <a:solidFill>
              <a:schemeClr val="accen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1" i="0" sz="14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4" name="Google Shape;504;p4"/>
            <p:cNvSpPr txBox="1"/>
            <p:nvPr/>
          </p:nvSpPr>
          <p:spPr>
            <a:xfrm>
              <a:off x="7391073" y="424711"/>
              <a:ext cx="697971" cy="33791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rPr>
                <a:t>HCP Web Launch</a:t>
              </a:r>
              <a:endParaRPr b="1" i="0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05" name="Google Shape;505;p4"/>
          <p:cNvSpPr txBox="1"/>
          <p:nvPr/>
        </p:nvSpPr>
        <p:spPr>
          <a:xfrm>
            <a:off x="9289448" y="711878"/>
            <a:ext cx="67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4/15</a:t>
            </a:r>
            <a:endParaRPr b="1" i="0" sz="10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6" name="Google Shape;506;p4"/>
          <p:cNvCxnSpPr/>
          <p:nvPr/>
        </p:nvCxnSpPr>
        <p:spPr>
          <a:xfrm>
            <a:off x="5546049" y="958178"/>
            <a:ext cx="16018" cy="5491045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507" name="Google Shape;507;p4"/>
          <p:cNvCxnSpPr/>
          <p:nvPr/>
        </p:nvCxnSpPr>
        <p:spPr>
          <a:xfrm>
            <a:off x="9660729" y="958178"/>
            <a:ext cx="16018" cy="5491045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508" name="Google Shape;508;p4"/>
          <p:cNvGrpSpPr/>
          <p:nvPr/>
        </p:nvGrpSpPr>
        <p:grpSpPr>
          <a:xfrm>
            <a:off x="7664249" y="189937"/>
            <a:ext cx="1040478" cy="485706"/>
            <a:chOff x="7210075" y="424711"/>
            <a:chExt cx="1040478" cy="485706"/>
          </a:xfrm>
        </p:grpSpPr>
        <p:sp>
          <p:nvSpPr>
            <p:cNvPr id="509" name="Google Shape;509;p4"/>
            <p:cNvSpPr/>
            <p:nvPr/>
          </p:nvSpPr>
          <p:spPr>
            <a:xfrm rot="10800000">
              <a:off x="7653176" y="732517"/>
              <a:ext cx="228600" cy="177900"/>
            </a:xfrm>
            <a:prstGeom prst="triangle">
              <a:avLst>
                <a:gd fmla="val 50000" name="adj"/>
              </a:avLst>
            </a:prstGeom>
            <a:solidFill>
              <a:schemeClr val="accen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1" i="0" sz="14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0" name="Google Shape;510;p4"/>
            <p:cNvSpPr txBox="1"/>
            <p:nvPr/>
          </p:nvSpPr>
          <p:spPr>
            <a:xfrm>
              <a:off x="7210075" y="424711"/>
              <a:ext cx="1040478" cy="33791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rPr>
                <a:t>HCP/ Patient App Launch</a:t>
              </a:r>
              <a:endParaRPr b="1" i="0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11" name="Google Shape;511;p4"/>
          <p:cNvSpPr txBox="1"/>
          <p:nvPr/>
        </p:nvSpPr>
        <p:spPr>
          <a:xfrm>
            <a:off x="7848788" y="711878"/>
            <a:ext cx="67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3/4</a:t>
            </a:r>
            <a:endParaRPr b="1" i="0" sz="10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2" name="Google Shape;512;p4"/>
          <p:cNvSpPr/>
          <p:nvPr/>
        </p:nvSpPr>
        <p:spPr>
          <a:xfrm>
            <a:off x="10820151" y="3768015"/>
            <a:ext cx="655730" cy="1029984"/>
          </a:xfrm>
          <a:prstGeom prst="roundRect">
            <a:avLst>
              <a:gd fmla="val 1380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안정화 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(2주)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4"/>
          <p:cNvSpPr/>
          <p:nvPr/>
        </p:nvSpPr>
        <p:spPr>
          <a:xfrm>
            <a:off x="9813578" y="3768015"/>
            <a:ext cx="801921" cy="1029984"/>
          </a:xfrm>
          <a:prstGeom prst="roundRect">
            <a:avLst>
              <a:gd fmla="val 1119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테스트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단위/통합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p4"/>
          <p:cNvSpPr/>
          <p:nvPr/>
        </p:nvSpPr>
        <p:spPr>
          <a:xfrm>
            <a:off x="10524664" y="5681715"/>
            <a:ext cx="947542" cy="287988"/>
          </a:xfrm>
          <a:prstGeom prst="roundRect">
            <a:avLst>
              <a:gd fmla="val 50000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인수인계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p4"/>
          <p:cNvSpPr/>
          <p:nvPr/>
        </p:nvSpPr>
        <p:spPr>
          <a:xfrm>
            <a:off x="1759514" y="2298102"/>
            <a:ext cx="1106272" cy="288000"/>
          </a:xfrm>
          <a:prstGeom prst="roundRect">
            <a:avLst>
              <a:gd fmla="val 50000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시연 준비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6" name="Google Shape;516;p4"/>
          <p:cNvSpPr/>
          <p:nvPr/>
        </p:nvSpPr>
        <p:spPr>
          <a:xfrm>
            <a:off x="1777304" y="2670514"/>
            <a:ext cx="3521215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페이지 화면설계 / 디자인 / 퍼블리싱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p4"/>
          <p:cNvSpPr/>
          <p:nvPr/>
        </p:nvSpPr>
        <p:spPr>
          <a:xfrm>
            <a:off x="8899607" y="5663960"/>
            <a:ext cx="777140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현업 검수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p4"/>
          <p:cNvSpPr/>
          <p:nvPr/>
        </p:nvSpPr>
        <p:spPr>
          <a:xfrm>
            <a:off x="8898856" y="5322872"/>
            <a:ext cx="758374" cy="287988"/>
          </a:xfrm>
          <a:prstGeom prst="roundRect">
            <a:avLst>
              <a:gd fmla="val 50000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보안점검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519;p4"/>
          <p:cNvSpPr/>
          <p:nvPr/>
        </p:nvSpPr>
        <p:spPr>
          <a:xfrm>
            <a:off x="7252233" y="5655292"/>
            <a:ext cx="966778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현업 검수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4"/>
          <p:cNvSpPr/>
          <p:nvPr/>
        </p:nvSpPr>
        <p:spPr>
          <a:xfrm>
            <a:off x="7273407" y="5322872"/>
            <a:ext cx="918576" cy="287988"/>
          </a:xfrm>
          <a:prstGeom prst="roundRect">
            <a:avLst>
              <a:gd fmla="val 50000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보안점검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1" name="Google Shape;521;p4"/>
          <p:cNvSpPr txBox="1"/>
          <p:nvPr/>
        </p:nvSpPr>
        <p:spPr>
          <a:xfrm>
            <a:off x="2863632" y="2274356"/>
            <a:ext cx="1896327" cy="333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 멀티모달 검증포털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3단계 AI 추론 파이프라인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2" name="Google Shape;522;p4"/>
          <p:cNvSpPr txBox="1"/>
          <p:nvPr/>
        </p:nvSpPr>
        <p:spPr>
          <a:xfrm>
            <a:off x="2851979" y="2142331"/>
            <a:ext cx="661831" cy="3182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시연 범위</a:t>
            </a:r>
            <a:endParaRPr b="1" i="0" sz="8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3" name="Google Shape;523;p4"/>
          <p:cNvSpPr/>
          <p:nvPr/>
        </p:nvSpPr>
        <p:spPr>
          <a:xfrm>
            <a:off x="8932366" y="4915119"/>
            <a:ext cx="718770" cy="288000"/>
          </a:xfrm>
          <a:prstGeom prst="roundRect">
            <a:avLst>
              <a:gd fmla="val 1119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테스트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단위/통합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4" name="Google Shape;524;p4"/>
          <p:cNvSpPr/>
          <p:nvPr/>
        </p:nvSpPr>
        <p:spPr>
          <a:xfrm>
            <a:off x="2886550" y="3014957"/>
            <a:ext cx="2658876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P1 오픈 범위 개발 (연구소 버전 &amp; 국문)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525;p4"/>
          <p:cNvSpPr/>
          <p:nvPr/>
        </p:nvSpPr>
        <p:spPr>
          <a:xfrm>
            <a:off x="6563978" y="3768015"/>
            <a:ext cx="3242502" cy="288000"/>
          </a:xfrm>
          <a:prstGeom prst="roundRect">
            <a:avLst>
              <a:gd fmla="val 50000" name="adj"/>
            </a:avLst>
          </a:prstGeom>
          <a:solidFill>
            <a:srgbClr val="B3C6E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SyncFlow BO 어드민</a:t>
            </a:r>
            <a:endParaRPr b="1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6" name="Google Shape;526;p4"/>
          <p:cNvSpPr/>
          <p:nvPr/>
        </p:nvSpPr>
        <p:spPr>
          <a:xfrm>
            <a:off x="2921206" y="4157509"/>
            <a:ext cx="1878806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HCP App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7" name="Google Shape;527;p4"/>
          <p:cNvSpPr/>
          <p:nvPr/>
        </p:nvSpPr>
        <p:spPr>
          <a:xfrm>
            <a:off x="2921205" y="4537464"/>
            <a:ext cx="3608070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Patient App, Patient App (Offlien)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8" name="Google Shape;528;p4"/>
          <p:cNvSpPr/>
          <p:nvPr/>
        </p:nvSpPr>
        <p:spPr>
          <a:xfrm>
            <a:off x="4586435" y="4924987"/>
            <a:ext cx="4336338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HCP Web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9" name="Google Shape;529;p4"/>
          <p:cNvSpPr/>
          <p:nvPr/>
        </p:nvSpPr>
        <p:spPr>
          <a:xfrm>
            <a:off x="4827468" y="4157509"/>
            <a:ext cx="490105" cy="285344"/>
          </a:xfrm>
          <a:prstGeom prst="roundRect">
            <a:avLst>
              <a:gd fmla="val 1119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테스트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단위/통합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p4"/>
          <p:cNvSpPr/>
          <p:nvPr/>
        </p:nvSpPr>
        <p:spPr>
          <a:xfrm>
            <a:off x="8223411" y="4130044"/>
            <a:ext cx="1558003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원격진료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4"/>
          <p:cNvSpPr/>
          <p:nvPr/>
        </p:nvSpPr>
        <p:spPr>
          <a:xfrm>
            <a:off x="5590127" y="3426960"/>
            <a:ext cx="2173064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고대/아산 병원 수정사항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2" name="Google Shape;532;p4"/>
          <p:cNvSpPr/>
          <p:nvPr/>
        </p:nvSpPr>
        <p:spPr>
          <a:xfrm>
            <a:off x="5577592" y="3014957"/>
            <a:ext cx="986386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P1 추가 개발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3" name="Google Shape;533;p4"/>
          <p:cNvSpPr/>
          <p:nvPr/>
        </p:nvSpPr>
        <p:spPr>
          <a:xfrm>
            <a:off x="6529275" y="4157509"/>
            <a:ext cx="1090796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고대/아산 병원 수정사항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4" name="Google Shape;534;p4"/>
          <p:cNvSpPr/>
          <p:nvPr/>
        </p:nvSpPr>
        <p:spPr>
          <a:xfrm>
            <a:off x="7620696" y="4157509"/>
            <a:ext cx="531751" cy="285344"/>
          </a:xfrm>
          <a:prstGeom prst="roundRect">
            <a:avLst>
              <a:gd fmla="val 1119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테스트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단위/통합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4"/>
          <p:cNvSpPr/>
          <p:nvPr/>
        </p:nvSpPr>
        <p:spPr>
          <a:xfrm>
            <a:off x="7620696" y="4538792"/>
            <a:ext cx="531751" cy="285344"/>
          </a:xfrm>
          <a:prstGeom prst="roundRect">
            <a:avLst>
              <a:gd fmla="val 1119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테스트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단위/통합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4"/>
          <p:cNvSpPr/>
          <p:nvPr/>
        </p:nvSpPr>
        <p:spPr>
          <a:xfrm>
            <a:off x="8223411" y="4503969"/>
            <a:ext cx="1558003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다국어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7" name="Google Shape;537;p4"/>
          <p:cNvSpPr/>
          <p:nvPr/>
        </p:nvSpPr>
        <p:spPr>
          <a:xfrm>
            <a:off x="9892632" y="5266087"/>
            <a:ext cx="777140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현업 검수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p4"/>
          <p:cNvSpPr/>
          <p:nvPr/>
        </p:nvSpPr>
        <p:spPr>
          <a:xfrm>
            <a:off x="9891881" y="4924999"/>
            <a:ext cx="758374" cy="287988"/>
          </a:xfrm>
          <a:prstGeom prst="roundRect">
            <a:avLst>
              <a:gd fmla="val 50000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보안점검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9" name="Google Shape;539;p4"/>
          <p:cNvSpPr/>
          <p:nvPr/>
        </p:nvSpPr>
        <p:spPr>
          <a:xfrm>
            <a:off x="7833847" y="3014957"/>
            <a:ext cx="2781652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P2 오픈 범위 개발 (원격진료 &amp; 글로벌)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p4"/>
          <p:cNvSpPr/>
          <p:nvPr/>
        </p:nvSpPr>
        <p:spPr>
          <a:xfrm>
            <a:off x="6529275" y="4534808"/>
            <a:ext cx="1090796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고대/아산 병원 수정사항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1" name="Google Shape;541;p4"/>
          <p:cNvSpPr/>
          <p:nvPr/>
        </p:nvSpPr>
        <p:spPr>
          <a:xfrm>
            <a:off x="5375450" y="4157509"/>
            <a:ext cx="1090796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추가 개발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5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46" name="Google Shape;546;p5"/>
          <p:cNvCxnSpPr/>
          <p:nvPr/>
        </p:nvCxnSpPr>
        <p:spPr>
          <a:xfrm>
            <a:off x="8301290" y="958178"/>
            <a:ext cx="16018" cy="5491045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547" name="Google Shape;547;p5"/>
          <p:cNvGrpSpPr/>
          <p:nvPr/>
        </p:nvGrpSpPr>
        <p:grpSpPr>
          <a:xfrm>
            <a:off x="9930653" y="937603"/>
            <a:ext cx="671400" cy="5447995"/>
            <a:chOff x="1198761" y="1013803"/>
            <a:chExt cx="671400" cy="5447995"/>
          </a:xfrm>
        </p:grpSpPr>
        <p:sp>
          <p:nvSpPr>
            <p:cNvPr id="548" name="Google Shape;548;p5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549" name="Google Shape;549;p5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550" name="Google Shape;550;p5"/>
          <p:cNvSpPr txBox="1"/>
          <p:nvPr/>
        </p:nvSpPr>
        <p:spPr>
          <a:xfrm>
            <a:off x="1873538" y="391218"/>
            <a:ext cx="1774500" cy="3182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b="1" baseline="30000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st</a:t>
            </a: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 Sign off</a:t>
            </a:r>
            <a:endParaRPr b="1" i="0" sz="8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51" name="Google Shape;551;p5"/>
          <p:cNvGrpSpPr/>
          <p:nvPr/>
        </p:nvGrpSpPr>
        <p:grpSpPr>
          <a:xfrm>
            <a:off x="1293234" y="937603"/>
            <a:ext cx="671400" cy="5447995"/>
            <a:chOff x="1198761" y="1013803"/>
            <a:chExt cx="671400" cy="5447995"/>
          </a:xfrm>
        </p:grpSpPr>
        <p:sp>
          <p:nvSpPr>
            <p:cNvPr id="552" name="Google Shape;552;p5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10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553" name="Google Shape;553;p5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554" name="Google Shape;554;p5"/>
          <p:cNvSpPr/>
          <p:nvPr/>
        </p:nvSpPr>
        <p:spPr>
          <a:xfrm>
            <a:off x="2310003" y="620938"/>
            <a:ext cx="888548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화면설계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55" name="Google Shape;555;p5"/>
          <p:cNvGrpSpPr/>
          <p:nvPr/>
        </p:nvGrpSpPr>
        <p:grpSpPr>
          <a:xfrm>
            <a:off x="9806481" y="282355"/>
            <a:ext cx="1606439" cy="393288"/>
            <a:chOff x="9933481" y="358555"/>
            <a:chExt cx="1606439" cy="393288"/>
          </a:xfrm>
        </p:grpSpPr>
        <p:sp>
          <p:nvSpPr>
            <p:cNvPr id="556" name="Google Shape;556;p5"/>
            <p:cNvSpPr txBox="1"/>
            <p:nvPr/>
          </p:nvSpPr>
          <p:spPr>
            <a:xfrm>
              <a:off x="9933481" y="358555"/>
              <a:ext cx="1606439" cy="21110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rPr>
                <a:t>P2 Launch</a:t>
              </a:r>
              <a:endParaRPr b="1" i="0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7" name="Google Shape;557;p5"/>
            <p:cNvSpPr/>
            <p:nvPr/>
          </p:nvSpPr>
          <p:spPr>
            <a:xfrm rot="10800000">
              <a:off x="10667534" y="573943"/>
              <a:ext cx="228600" cy="177900"/>
            </a:xfrm>
            <a:prstGeom prst="triangle">
              <a:avLst>
                <a:gd fmla="val 50000" name="adj"/>
              </a:avLst>
            </a:prstGeom>
            <a:solidFill>
              <a:schemeClr val="accen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1" i="0" sz="14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58" name="Google Shape;558;p5"/>
          <p:cNvCxnSpPr>
            <a:stCxn id="559" idx="2"/>
          </p:cNvCxnSpPr>
          <p:nvPr/>
        </p:nvCxnSpPr>
        <p:spPr>
          <a:xfrm>
            <a:off x="10691246" y="958178"/>
            <a:ext cx="0" cy="54909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560" name="Google Shape;560;p5"/>
          <p:cNvGrpSpPr/>
          <p:nvPr/>
        </p:nvGrpSpPr>
        <p:grpSpPr>
          <a:xfrm>
            <a:off x="427184" y="1142880"/>
            <a:ext cx="1201750" cy="246300"/>
            <a:chOff x="554184" y="1219080"/>
            <a:chExt cx="1201750" cy="246300"/>
          </a:xfrm>
        </p:grpSpPr>
        <p:cxnSp>
          <p:nvCxnSpPr>
            <p:cNvPr id="561" name="Google Shape;561;p5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562" name="Google Shape;562;p5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1M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3" name="Google Shape;563;p5"/>
          <p:cNvSpPr txBox="1"/>
          <p:nvPr/>
        </p:nvSpPr>
        <p:spPr>
          <a:xfrm>
            <a:off x="277339" y="937603"/>
            <a:ext cx="260059" cy="246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1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4" name="Google Shape;564;p5"/>
          <p:cNvCxnSpPr/>
          <p:nvPr/>
        </p:nvCxnSpPr>
        <p:spPr>
          <a:xfrm>
            <a:off x="395017" y="1183898"/>
            <a:ext cx="0" cy="520170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565" name="Google Shape;565;p5"/>
          <p:cNvGrpSpPr/>
          <p:nvPr/>
        </p:nvGrpSpPr>
        <p:grpSpPr>
          <a:xfrm>
            <a:off x="3761068" y="937603"/>
            <a:ext cx="671400" cy="5447995"/>
            <a:chOff x="1198761" y="1013803"/>
            <a:chExt cx="671400" cy="5447995"/>
          </a:xfrm>
        </p:grpSpPr>
        <p:sp>
          <p:nvSpPr>
            <p:cNvPr id="566" name="Google Shape;566;p5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12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567" name="Google Shape;567;p5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568" name="Google Shape;568;p5"/>
          <p:cNvGrpSpPr/>
          <p:nvPr/>
        </p:nvGrpSpPr>
        <p:grpSpPr>
          <a:xfrm>
            <a:off x="2527151" y="937603"/>
            <a:ext cx="671400" cy="5447995"/>
            <a:chOff x="186317" y="1013803"/>
            <a:chExt cx="671400" cy="5447995"/>
          </a:xfrm>
        </p:grpSpPr>
        <p:sp>
          <p:nvSpPr>
            <p:cNvPr id="569" name="Google Shape;569;p5"/>
            <p:cNvSpPr txBox="1"/>
            <p:nvPr/>
          </p:nvSpPr>
          <p:spPr>
            <a:xfrm>
              <a:off x="186317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11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570" name="Google Shape;570;p5"/>
            <p:cNvCxnSpPr/>
            <p:nvPr/>
          </p:nvCxnSpPr>
          <p:spPr>
            <a:xfrm>
              <a:off x="522017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571" name="Google Shape;571;p5"/>
          <p:cNvGrpSpPr/>
          <p:nvPr/>
        </p:nvGrpSpPr>
        <p:grpSpPr>
          <a:xfrm>
            <a:off x="6228902" y="937603"/>
            <a:ext cx="671400" cy="5447995"/>
            <a:chOff x="1198761" y="1013803"/>
            <a:chExt cx="671400" cy="5447995"/>
          </a:xfrm>
        </p:grpSpPr>
        <p:sp>
          <p:nvSpPr>
            <p:cNvPr id="572" name="Google Shape;572;p5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573" name="Google Shape;573;p5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574" name="Google Shape;574;p5"/>
          <p:cNvGrpSpPr/>
          <p:nvPr/>
        </p:nvGrpSpPr>
        <p:grpSpPr>
          <a:xfrm>
            <a:off x="4994985" y="937603"/>
            <a:ext cx="671400" cy="5447995"/>
            <a:chOff x="186317" y="1013803"/>
            <a:chExt cx="671400" cy="5447995"/>
          </a:xfrm>
        </p:grpSpPr>
        <p:sp>
          <p:nvSpPr>
            <p:cNvPr id="575" name="Google Shape;575;p5"/>
            <p:cNvSpPr txBox="1"/>
            <p:nvPr/>
          </p:nvSpPr>
          <p:spPr>
            <a:xfrm>
              <a:off x="186317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576" name="Google Shape;576;p5"/>
            <p:cNvCxnSpPr/>
            <p:nvPr/>
          </p:nvCxnSpPr>
          <p:spPr>
            <a:xfrm>
              <a:off x="522017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577" name="Google Shape;577;p5"/>
          <p:cNvGrpSpPr/>
          <p:nvPr/>
        </p:nvGrpSpPr>
        <p:grpSpPr>
          <a:xfrm>
            <a:off x="7462819" y="937603"/>
            <a:ext cx="671400" cy="5447995"/>
            <a:chOff x="1198761" y="1013803"/>
            <a:chExt cx="671400" cy="5447995"/>
          </a:xfrm>
        </p:grpSpPr>
        <p:cxnSp>
          <p:nvCxnSpPr>
            <p:cNvPr id="578" name="Google Shape;578;p5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  <p:sp>
          <p:nvSpPr>
            <p:cNvPr id="579" name="Google Shape;579;p5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0" name="Google Shape;580;p5"/>
          <p:cNvGrpSpPr/>
          <p:nvPr/>
        </p:nvGrpSpPr>
        <p:grpSpPr>
          <a:xfrm>
            <a:off x="8696736" y="937603"/>
            <a:ext cx="671400" cy="5447995"/>
            <a:chOff x="1198761" y="1013803"/>
            <a:chExt cx="671400" cy="5447995"/>
          </a:xfrm>
        </p:grpSpPr>
        <p:sp>
          <p:nvSpPr>
            <p:cNvPr id="581" name="Google Shape;581;p5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582" name="Google Shape;582;p5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583" name="Google Shape;583;p5"/>
          <p:cNvGrpSpPr/>
          <p:nvPr/>
        </p:nvGrpSpPr>
        <p:grpSpPr>
          <a:xfrm>
            <a:off x="11164567" y="937603"/>
            <a:ext cx="671400" cy="5447995"/>
            <a:chOff x="1198761" y="1013803"/>
            <a:chExt cx="671400" cy="5447995"/>
          </a:xfrm>
        </p:grpSpPr>
        <p:sp>
          <p:nvSpPr>
            <p:cNvPr id="584" name="Google Shape;584;p5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6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585" name="Google Shape;585;p5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559" name="Google Shape;559;p5"/>
          <p:cNvSpPr txBox="1"/>
          <p:nvPr/>
        </p:nvSpPr>
        <p:spPr>
          <a:xfrm>
            <a:off x="10355546" y="711878"/>
            <a:ext cx="67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5/16</a:t>
            </a:r>
            <a:endParaRPr b="1" i="0" sz="10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6" name="Google Shape;586;p5"/>
          <p:cNvSpPr txBox="1"/>
          <p:nvPr/>
        </p:nvSpPr>
        <p:spPr>
          <a:xfrm>
            <a:off x="11159269" y="404699"/>
            <a:ext cx="585140" cy="3182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종료</a:t>
            </a:r>
            <a:endParaRPr b="1" i="0" sz="8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" name="Google Shape;587;p5"/>
          <p:cNvSpPr/>
          <p:nvPr/>
        </p:nvSpPr>
        <p:spPr>
          <a:xfrm>
            <a:off x="11014987" y="620938"/>
            <a:ext cx="888548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완료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8" name="Google Shape;588;p5"/>
          <p:cNvSpPr/>
          <p:nvPr/>
        </p:nvSpPr>
        <p:spPr>
          <a:xfrm>
            <a:off x="410206" y="620938"/>
            <a:ext cx="888548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착수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9" name="Google Shape;589;p5"/>
          <p:cNvGrpSpPr/>
          <p:nvPr/>
        </p:nvGrpSpPr>
        <p:grpSpPr>
          <a:xfrm>
            <a:off x="1661101" y="1142880"/>
            <a:ext cx="1201750" cy="246300"/>
            <a:chOff x="554184" y="1219080"/>
            <a:chExt cx="1201750" cy="246300"/>
          </a:xfrm>
        </p:grpSpPr>
        <p:cxnSp>
          <p:nvCxnSpPr>
            <p:cNvPr id="590" name="Google Shape;590;p5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591" name="Google Shape;591;p5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2M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92" name="Google Shape;592;p5"/>
          <p:cNvGrpSpPr/>
          <p:nvPr/>
        </p:nvGrpSpPr>
        <p:grpSpPr>
          <a:xfrm>
            <a:off x="2895018" y="1142880"/>
            <a:ext cx="1201750" cy="246300"/>
            <a:chOff x="554184" y="1219080"/>
            <a:chExt cx="1201750" cy="246300"/>
          </a:xfrm>
        </p:grpSpPr>
        <p:cxnSp>
          <p:nvCxnSpPr>
            <p:cNvPr id="593" name="Google Shape;593;p5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594" name="Google Shape;594;p5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3M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95" name="Google Shape;595;p5"/>
          <p:cNvGrpSpPr/>
          <p:nvPr/>
        </p:nvGrpSpPr>
        <p:grpSpPr>
          <a:xfrm>
            <a:off x="4128935" y="1142880"/>
            <a:ext cx="1201750" cy="246300"/>
            <a:chOff x="554184" y="1219080"/>
            <a:chExt cx="1201750" cy="246300"/>
          </a:xfrm>
        </p:grpSpPr>
        <p:cxnSp>
          <p:nvCxnSpPr>
            <p:cNvPr id="596" name="Google Shape;596;p5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597" name="Google Shape;597;p5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4M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98" name="Google Shape;598;p5"/>
          <p:cNvGrpSpPr/>
          <p:nvPr/>
        </p:nvGrpSpPr>
        <p:grpSpPr>
          <a:xfrm>
            <a:off x="5362852" y="1142880"/>
            <a:ext cx="1201750" cy="246300"/>
            <a:chOff x="554184" y="1219080"/>
            <a:chExt cx="1201750" cy="246300"/>
          </a:xfrm>
        </p:grpSpPr>
        <p:cxnSp>
          <p:nvCxnSpPr>
            <p:cNvPr id="599" name="Google Shape;599;p5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600" name="Google Shape;600;p5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5M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01" name="Google Shape;601;p5"/>
          <p:cNvGrpSpPr/>
          <p:nvPr/>
        </p:nvGrpSpPr>
        <p:grpSpPr>
          <a:xfrm>
            <a:off x="6596769" y="1142880"/>
            <a:ext cx="1201750" cy="246300"/>
            <a:chOff x="554184" y="1219080"/>
            <a:chExt cx="1201750" cy="246300"/>
          </a:xfrm>
        </p:grpSpPr>
        <p:cxnSp>
          <p:nvCxnSpPr>
            <p:cNvPr id="602" name="Google Shape;602;p5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603" name="Google Shape;603;p5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6M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04" name="Google Shape;604;p5"/>
          <p:cNvGrpSpPr/>
          <p:nvPr/>
        </p:nvGrpSpPr>
        <p:grpSpPr>
          <a:xfrm>
            <a:off x="7830686" y="1142880"/>
            <a:ext cx="1201750" cy="246300"/>
            <a:chOff x="554184" y="1219080"/>
            <a:chExt cx="1201750" cy="246300"/>
          </a:xfrm>
        </p:grpSpPr>
        <p:cxnSp>
          <p:nvCxnSpPr>
            <p:cNvPr id="605" name="Google Shape;605;p5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606" name="Google Shape;606;p5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7M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07" name="Google Shape;607;p5"/>
          <p:cNvGrpSpPr/>
          <p:nvPr/>
        </p:nvGrpSpPr>
        <p:grpSpPr>
          <a:xfrm>
            <a:off x="9064603" y="1142880"/>
            <a:ext cx="1201750" cy="246300"/>
            <a:chOff x="554184" y="1219080"/>
            <a:chExt cx="1201750" cy="246300"/>
          </a:xfrm>
        </p:grpSpPr>
        <p:cxnSp>
          <p:nvCxnSpPr>
            <p:cNvPr id="608" name="Google Shape;608;p5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609" name="Google Shape;609;p5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8M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10" name="Google Shape;610;p5"/>
          <p:cNvGrpSpPr/>
          <p:nvPr/>
        </p:nvGrpSpPr>
        <p:grpSpPr>
          <a:xfrm>
            <a:off x="10298517" y="1142880"/>
            <a:ext cx="1201750" cy="246300"/>
            <a:chOff x="554184" y="1219080"/>
            <a:chExt cx="1201750" cy="246300"/>
          </a:xfrm>
        </p:grpSpPr>
        <p:cxnSp>
          <p:nvCxnSpPr>
            <p:cNvPr id="611" name="Google Shape;611;p5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612" name="Google Shape;612;p5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9M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13" name="Google Shape;613;p5"/>
          <p:cNvSpPr/>
          <p:nvPr/>
        </p:nvSpPr>
        <p:spPr>
          <a:xfrm>
            <a:off x="415760" y="1350572"/>
            <a:ext cx="877474" cy="4940414"/>
          </a:xfrm>
          <a:prstGeom prst="roundRect">
            <a:avLst>
              <a:gd fmla="val 1119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Requirement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(3주)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4" name="Google Shape;614;p5"/>
          <p:cNvSpPr/>
          <p:nvPr/>
        </p:nvSpPr>
        <p:spPr>
          <a:xfrm>
            <a:off x="1018457" y="1523081"/>
            <a:ext cx="1820695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서비스 분석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5" name="Google Shape;615;p5"/>
          <p:cNvSpPr/>
          <p:nvPr/>
        </p:nvSpPr>
        <p:spPr>
          <a:xfrm>
            <a:off x="1010754" y="1897655"/>
            <a:ext cx="1823173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정책 정의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6" name="Google Shape;616;p5"/>
          <p:cNvSpPr/>
          <p:nvPr/>
        </p:nvSpPr>
        <p:spPr>
          <a:xfrm>
            <a:off x="10726227" y="5899560"/>
            <a:ext cx="774665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프로젝트 검수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7" name="Google Shape;617;p5"/>
          <p:cNvSpPr txBox="1"/>
          <p:nvPr/>
        </p:nvSpPr>
        <p:spPr>
          <a:xfrm>
            <a:off x="3986734" y="391218"/>
            <a:ext cx="880115" cy="3182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r>
              <a:rPr b="1" baseline="30000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 Sign off</a:t>
            </a:r>
            <a:endParaRPr b="1" i="0" sz="8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8" name="Google Shape;618;p5"/>
          <p:cNvSpPr/>
          <p:nvPr/>
        </p:nvSpPr>
        <p:spPr>
          <a:xfrm>
            <a:off x="4007184" y="620938"/>
            <a:ext cx="837465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디자인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19" name="Google Shape;619;p5"/>
          <p:cNvGrpSpPr/>
          <p:nvPr/>
        </p:nvGrpSpPr>
        <p:grpSpPr>
          <a:xfrm>
            <a:off x="5202429" y="175754"/>
            <a:ext cx="731553" cy="778939"/>
            <a:chOff x="5608628" y="251954"/>
            <a:chExt cx="731553" cy="778939"/>
          </a:xfrm>
        </p:grpSpPr>
        <p:grpSp>
          <p:nvGrpSpPr>
            <p:cNvPr id="620" name="Google Shape;620;p5"/>
            <p:cNvGrpSpPr/>
            <p:nvPr/>
          </p:nvGrpSpPr>
          <p:grpSpPr>
            <a:xfrm>
              <a:off x="5608628" y="251954"/>
              <a:ext cx="731553" cy="496404"/>
              <a:chOff x="7401699" y="414013"/>
              <a:chExt cx="731553" cy="496404"/>
            </a:xfrm>
          </p:grpSpPr>
          <p:sp>
            <p:nvSpPr>
              <p:cNvPr id="621" name="Google Shape;621;p5"/>
              <p:cNvSpPr/>
              <p:nvPr/>
            </p:nvSpPr>
            <p:spPr>
              <a:xfrm rot="10800000">
                <a:off x="7653176" y="732517"/>
                <a:ext cx="228600" cy="177900"/>
              </a:xfrm>
              <a:prstGeom prst="triangle">
                <a:avLst>
                  <a:gd fmla="val 50000" name="adj"/>
                </a:avLst>
              </a:prstGeom>
              <a:solidFill>
                <a:schemeClr val="accent2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2" name="Google Shape;622;p5"/>
              <p:cNvSpPr txBox="1"/>
              <p:nvPr/>
            </p:nvSpPr>
            <p:spPr>
              <a:xfrm>
                <a:off x="7401699" y="414013"/>
                <a:ext cx="731553" cy="24629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Arial"/>
                  <a:buNone/>
                </a:pPr>
                <a:r>
                  <a:rPr b="1" i="0" lang="en-US" sz="800" u="none" cap="none" strike="noStrike">
                    <a:solidFill>
                      <a:schemeClr val="accent2"/>
                    </a:solidFill>
                    <a:latin typeface="Arial"/>
                    <a:ea typeface="Arial"/>
                    <a:cs typeface="Arial"/>
                    <a:sym typeface="Arial"/>
                  </a:rPr>
                  <a:t>HCP App</a:t>
                </a:r>
                <a:br>
                  <a:rPr b="1" i="0" lang="en-US" sz="800" u="none" cap="none" strike="noStrike">
                    <a:solidFill>
                      <a:schemeClr val="accent2"/>
                    </a:solidFill>
                    <a:latin typeface="Arial"/>
                    <a:ea typeface="Arial"/>
                    <a:cs typeface="Arial"/>
                    <a:sym typeface="Arial"/>
                  </a:rPr>
                </a:br>
                <a:r>
                  <a:rPr b="1" i="0" lang="en-US" sz="800" u="none" cap="none" strike="noStrike">
                    <a:solidFill>
                      <a:schemeClr val="accent2"/>
                    </a:solidFill>
                    <a:latin typeface="Arial"/>
                    <a:ea typeface="Arial"/>
                    <a:cs typeface="Arial"/>
                    <a:sym typeface="Arial"/>
                  </a:rPr>
                  <a:t>Launch</a:t>
                </a:r>
                <a:endParaRPr b="1" i="0" sz="8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23" name="Google Shape;623;p5"/>
            <p:cNvSpPr txBox="1"/>
            <p:nvPr/>
          </p:nvSpPr>
          <p:spPr>
            <a:xfrm>
              <a:off x="5638705" y="784593"/>
              <a:ext cx="6714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FF0000"/>
                  </a:solidFill>
                  <a:latin typeface="Arial"/>
                  <a:ea typeface="Arial"/>
                  <a:cs typeface="Arial"/>
                  <a:sym typeface="Arial"/>
                </a:rPr>
                <a:t>1/7</a:t>
              </a:r>
              <a:endParaRPr b="1" i="0" sz="1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24" name="Google Shape;624;p5"/>
          <p:cNvGrpSpPr/>
          <p:nvPr/>
        </p:nvGrpSpPr>
        <p:grpSpPr>
          <a:xfrm>
            <a:off x="9248745" y="189937"/>
            <a:ext cx="697971" cy="485706"/>
            <a:chOff x="7391073" y="424711"/>
            <a:chExt cx="697971" cy="485706"/>
          </a:xfrm>
        </p:grpSpPr>
        <p:sp>
          <p:nvSpPr>
            <p:cNvPr id="625" name="Google Shape;625;p5"/>
            <p:cNvSpPr/>
            <p:nvPr/>
          </p:nvSpPr>
          <p:spPr>
            <a:xfrm rot="10800000">
              <a:off x="7653176" y="732517"/>
              <a:ext cx="228600" cy="177900"/>
            </a:xfrm>
            <a:prstGeom prst="triangle">
              <a:avLst>
                <a:gd fmla="val 50000" name="adj"/>
              </a:avLst>
            </a:prstGeom>
            <a:solidFill>
              <a:schemeClr val="accen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1" i="0" sz="14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6" name="Google Shape;626;p5"/>
            <p:cNvSpPr txBox="1"/>
            <p:nvPr/>
          </p:nvSpPr>
          <p:spPr>
            <a:xfrm>
              <a:off x="7391073" y="424711"/>
              <a:ext cx="697971" cy="33791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rPr>
                <a:t>HCP Web Launch</a:t>
              </a:r>
              <a:endParaRPr b="1" i="0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27" name="Google Shape;627;p5"/>
          <p:cNvSpPr txBox="1"/>
          <p:nvPr/>
        </p:nvSpPr>
        <p:spPr>
          <a:xfrm>
            <a:off x="9289448" y="711878"/>
            <a:ext cx="67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4/15</a:t>
            </a:r>
            <a:endParaRPr b="1" i="0" sz="10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28" name="Google Shape;628;p5"/>
          <p:cNvCxnSpPr/>
          <p:nvPr/>
        </p:nvCxnSpPr>
        <p:spPr>
          <a:xfrm>
            <a:off x="5546049" y="958178"/>
            <a:ext cx="16018" cy="5491045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629" name="Google Shape;629;p5"/>
          <p:cNvCxnSpPr/>
          <p:nvPr/>
        </p:nvCxnSpPr>
        <p:spPr>
          <a:xfrm>
            <a:off x="9660729" y="958178"/>
            <a:ext cx="16018" cy="5491045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630" name="Google Shape;630;p5"/>
          <p:cNvGrpSpPr/>
          <p:nvPr/>
        </p:nvGrpSpPr>
        <p:grpSpPr>
          <a:xfrm>
            <a:off x="7783374" y="189937"/>
            <a:ext cx="1040478" cy="485706"/>
            <a:chOff x="7210075" y="424711"/>
            <a:chExt cx="1040478" cy="485706"/>
          </a:xfrm>
        </p:grpSpPr>
        <p:sp>
          <p:nvSpPr>
            <p:cNvPr id="631" name="Google Shape;631;p5"/>
            <p:cNvSpPr/>
            <p:nvPr/>
          </p:nvSpPr>
          <p:spPr>
            <a:xfrm rot="10800000">
              <a:off x="7653176" y="732517"/>
              <a:ext cx="228600" cy="177900"/>
            </a:xfrm>
            <a:prstGeom prst="triangle">
              <a:avLst>
                <a:gd fmla="val 50000" name="adj"/>
              </a:avLst>
            </a:prstGeom>
            <a:solidFill>
              <a:schemeClr val="accen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1" i="0" sz="14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2" name="Google Shape;632;p5"/>
            <p:cNvSpPr txBox="1"/>
            <p:nvPr/>
          </p:nvSpPr>
          <p:spPr>
            <a:xfrm>
              <a:off x="7210075" y="424711"/>
              <a:ext cx="1040478" cy="33791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rPr>
                <a:t>HCP/ Patient App Launch</a:t>
              </a:r>
              <a:endParaRPr b="1" i="0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33" name="Google Shape;633;p5"/>
          <p:cNvSpPr txBox="1"/>
          <p:nvPr/>
        </p:nvSpPr>
        <p:spPr>
          <a:xfrm>
            <a:off x="7967913" y="711878"/>
            <a:ext cx="67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3/11</a:t>
            </a:r>
            <a:endParaRPr b="1" i="0" sz="10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4" name="Google Shape;634;p5"/>
          <p:cNvSpPr/>
          <p:nvPr/>
        </p:nvSpPr>
        <p:spPr>
          <a:xfrm>
            <a:off x="10820151" y="3768015"/>
            <a:ext cx="655730" cy="1029984"/>
          </a:xfrm>
          <a:prstGeom prst="roundRect">
            <a:avLst>
              <a:gd fmla="val 1380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안정화 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(2주)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5" name="Google Shape;635;p5"/>
          <p:cNvSpPr/>
          <p:nvPr/>
        </p:nvSpPr>
        <p:spPr>
          <a:xfrm>
            <a:off x="9813578" y="3768015"/>
            <a:ext cx="801921" cy="1029984"/>
          </a:xfrm>
          <a:prstGeom prst="roundRect">
            <a:avLst>
              <a:gd fmla="val 1119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테스트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단위/통합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p5"/>
          <p:cNvSpPr/>
          <p:nvPr/>
        </p:nvSpPr>
        <p:spPr>
          <a:xfrm>
            <a:off x="10719128" y="5589746"/>
            <a:ext cx="753077" cy="287988"/>
          </a:xfrm>
          <a:prstGeom prst="roundRect">
            <a:avLst>
              <a:gd fmla="val 50000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인수인계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7" name="Google Shape;637;p5"/>
          <p:cNvSpPr/>
          <p:nvPr/>
        </p:nvSpPr>
        <p:spPr>
          <a:xfrm>
            <a:off x="1759514" y="2298102"/>
            <a:ext cx="1106272" cy="288000"/>
          </a:xfrm>
          <a:prstGeom prst="roundRect">
            <a:avLst>
              <a:gd fmla="val 50000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시연 준비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5"/>
          <p:cNvSpPr/>
          <p:nvPr/>
        </p:nvSpPr>
        <p:spPr>
          <a:xfrm>
            <a:off x="1777304" y="2670514"/>
            <a:ext cx="3521215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페이지 화면설계 / 디자인 / 퍼블리싱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p5"/>
          <p:cNvSpPr/>
          <p:nvPr/>
        </p:nvSpPr>
        <p:spPr>
          <a:xfrm>
            <a:off x="8899607" y="5930834"/>
            <a:ext cx="777140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현업 검수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5"/>
          <p:cNvSpPr/>
          <p:nvPr/>
        </p:nvSpPr>
        <p:spPr>
          <a:xfrm>
            <a:off x="8898856" y="5589746"/>
            <a:ext cx="758374" cy="287988"/>
          </a:xfrm>
          <a:prstGeom prst="roundRect">
            <a:avLst>
              <a:gd fmla="val 50000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보안점검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p5"/>
          <p:cNvSpPr/>
          <p:nvPr/>
        </p:nvSpPr>
        <p:spPr>
          <a:xfrm>
            <a:off x="7252233" y="5922166"/>
            <a:ext cx="966778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현업 검수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2" name="Google Shape;642;p5"/>
          <p:cNvSpPr/>
          <p:nvPr/>
        </p:nvSpPr>
        <p:spPr>
          <a:xfrm>
            <a:off x="7273407" y="5589746"/>
            <a:ext cx="918576" cy="287988"/>
          </a:xfrm>
          <a:prstGeom prst="roundRect">
            <a:avLst>
              <a:gd fmla="val 50000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보안점검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3" name="Google Shape;643;p5"/>
          <p:cNvSpPr txBox="1"/>
          <p:nvPr/>
        </p:nvSpPr>
        <p:spPr>
          <a:xfrm>
            <a:off x="2863632" y="2274356"/>
            <a:ext cx="1896327" cy="333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 멀티모달 검증포털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3단계 AI 추론 파이프라인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4" name="Google Shape;644;p5"/>
          <p:cNvSpPr txBox="1"/>
          <p:nvPr/>
        </p:nvSpPr>
        <p:spPr>
          <a:xfrm>
            <a:off x="2851979" y="2142331"/>
            <a:ext cx="661831" cy="3182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시연 범위</a:t>
            </a:r>
            <a:endParaRPr b="1" i="0" sz="8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5" name="Google Shape;645;p5"/>
          <p:cNvSpPr/>
          <p:nvPr/>
        </p:nvSpPr>
        <p:spPr>
          <a:xfrm>
            <a:off x="8932366" y="5181993"/>
            <a:ext cx="718770" cy="288000"/>
          </a:xfrm>
          <a:prstGeom prst="roundRect">
            <a:avLst>
              <a:gd fmla="val 1119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테스트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단위/통합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6" name="Google Shape;646;p5"/>
          <p:cNvSpPr/>
          <p:nvPr/>
        </p:nvSpPr>
        <p:spPr>
          <a:xfrm>
            <a:off x="2886550" y="3014957"/>
            <a:ext cx="2658876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P1 오픈 범위 개발 (연구소 버전 &amp; 국문)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7" name="Google Shape;647;p5"/>
          <p:cNvSpPr/>
          <p:nvPr/>
        </p:nvSpPr>
        <p:spPr>
          <a:xfrm>
            <a:off x="6563978" y="3768015"/>
            <a:ext cx="3242502" cy="288000"/>
          </a:xfrm>
          <a:prstGeom prst="roundRect">
            <a:avLst>
              <a:gd fmla="val 50000" name="adj"/>
            </a:avLst>
          </a:prstGeom>
          <a:solidFill>
            <a:srgbClr val="B3C6E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SyncFlow BO 어드민</a:t>
            </a:r>
            <a:endParaRPr b="1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8" name="Google Shape;648;p5"/>
          <p:cNvSpPr/>
          <p:nvPr/>
        </p:nvSpPr>
        <p:spPr>
          <a:xfrm>
            <a:off x="2921206" y="4157509"/>
            <a:ext cx="1878806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HCP App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9" name="Google Shape;649;p5"/>
          <p:cNvSpPr/>
          <p:nvPr/>
        </p:nvSpPr>
        <p:spPr>
          <a:xfrm>
            <a:off x="2921204" y="4537464"/>
            <a:ext cx="3682855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Patient App, Patient App (Offlien)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0" name="Google Shape;650;p5"/>
          <p:cNvSpPr/>
          <p:nvPr/>
        </p:nvSpPr>
        <p:spPr>
          <a:xfrm>
            <a:off x="4586435" y="5191861"/>
            <a:ext cx="4336338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HCP Web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1" name="Google Shape;651;p5"/>
          <p:cNvSpPr/>
          <p:nvPr/>
        </p:nvSpPr>
        <p:spPr>
          <a:xfrm>
            <a:off x="4827468" y="4157509"/>
            <a:ext cx="490105" cy="285344"/>
          </a:xfrm>
          <a:prstGeom prst="roundRect">
            <a:avLst>
              <a:gd fmla="val 1119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테스트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단위/통합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2" name="Google Shape;652;p5"/>
          <p:cNvSpPr/>
          <p:nvPr/>
        </p:nvSpPr>
        <p:spPr>
          <a:xfrm>
            <a:off x="8317308" y="4130044"/>
            <a:ext cx="1464106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원격진료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3" name="Google Shape;653;p5"/>
          <p:cNvSpPr/>
          <p:nvPr/>
        </p:nvSpPr>
        <p:spPr>
          <a:xfrm>
            <a:off x="5590127" y="3426960"/>
            <a:ext cx="2173064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고대/아산 병원 수정사항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4" name="Google Shape;654;p5"/>
          <p:cNvSpPr/>
          <p:nvPr/>
        </p:nvSpPr>
        <p:spPr>
          <a:xfrm>
            <a:off x="5577592" y="3014957"/>
            <a:ext cx="986386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P1 추가 개발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5" name="Google Shape;655;p5"/>
          <p:cNvSpPr/>
          <p:nvPr/>
        </p:nvSpPr>
        <p:spPr>
          <a:xfrm>
            <a:off x="6667432" y="4157509"/>
            <a:ext cx="1090796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고대/아산 병원 수정사항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6" name="Google Shape;656;p5"/>
          <p:cNvSpPr/>
          <p:nvPr/>
        </p:nvSpPr>
        <p:spPr>
          <a:xfrm>
            <a:off x="7761270" y="4157509"/>
            <a:ext cx="531751" cy="285344"/>
          </a:xfrm>
          <a:prstGeom prst="roundRect">
            <a:avLst>
              <a:gd fmla="val 1119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테스트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단위/통합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7" name="Google Shape;657;p5"/>
          <p:cNvSpPr/>
          <p:nvPr/>
        </p:nvSpPr>
        <p:spPr>
          <a:xfrm>
            <a:off x="7761270" y="4538792"/>
            <a:ext cx="531751" cy="285344"/>
          </a:xfrm>
          <a:prstGeom prst="roundRect">
            <a:avLst>
              <a:gd fmla="val 1119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테스트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단위/통합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8" name="Google Shape;658;p5"/>
          <p:cNvSpPr/>
          <p:nvPr/>
        </p:nvSpPr>
        <p:spPr>
          <a:xfrm>
            <a:off x="9892632" y="5532961"/>
            <a:ext cx="777140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현업 검수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9" name="Google Shape;659;p5"/>
          <p:cNvSpPr/>
          <p:nvPr/>
        </p:nvSpPr>
        <p:spPr>
          <a:xfrm>
            <a:off x="9891881" y="5191873"/>
            <a:ext cx="758374" cy="287988"/>
          </a:xfrm>
          <a:prstGeom prst="roundRect">
            <a:avLst>
              <a:gd fmla="val 50000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보안점검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0" name="Google Shape;660;p5"/>
          <p:cNvSpPr/>
          <p:nvPr/>
        </p:nvSpPr>
        <p:spPr>
          <a:xfrm>
            <a:off x="7833847" y="3014957"/>
            <a:ext cx="2781652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P2 오픈 범위 개발 (원격진료 &amp; 글로벌)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1" name="Google Shape;661;p5"/>
          <p:cNvSpPr/>
          <p:nvPr/>
        </p:nvSpPr>
        <p:spPr>
          <a:xfrm>
            <a:off x="6667432" y="4534808"/>
            <a:ext cx="1090796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고대/아산 병원 수정사항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2" name="Google Shape;662;p5"/>
          <p:cNvSpPr/>
          <p:nvPr/>
        </p:nvSpPr>
        <p:spPr>
          <a:xfrm>
            <a:off x="5375449" y="4157509"/>
            <a:ext cx="1228610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추가 개발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3" name="Google Shape;663;p5"/>
          <p:cNvSpPr/>
          <p:nvPr/>
        </p:nvSpPr>
        <p:spPr>
          <a:xfrm>
            <a:off x="6863473" y="4858165"/>
            <a:ext cx="1450519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다국어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7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8" name="Google Shape;668;p6"/>
          <p:cNvCxnSpPr/>
          <p:nvPr/>
        </p:nvCxnSpPr>
        <p:spPr>
          <a:xfrm>
            <a:off x="8301290" y="958178"/>
            <a:ext cx="16018" cy="5491045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669" name="Google Shape;669;p6"/>
          <p:cNvGrpSpPr/>
          <p:nvPr/>
        </p:nvGrpSpPr>
        <p:grpSpPr>
          <a:xfrm>
            <a:off x="9930653" y="937603"/>
            <a:ext cx="671400" cy="5447995"/>
            <a:chOff x="1198761" y="1013803"/>
            <a:chExt cx="671400" cy="5447995"/>
          </a:xfrm>
        </p:grpSpPr>
        <p:sp>
          <p:nvSpPr>
            <p:cNvPr id="670" name="Google Shape;670;p6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671" name="Google Shape;671;p6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672" name="Google Shape;672;p6"/>
          <p:cNvSpPr txBox="1"/>
          <p:nvPr/>
        </p:nvSpPr>
        <p:spPr>
          <a:xfrm>
            <a:off x="1873538" y="391218"/>
            <a:ext cx="1774500" cy="3182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b="1" baseline="30000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st</a:t>
            </a: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 Sign off</a:t>
            </a:r>
            <a:endParaRPr b="1" i="0" sz="8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73" name="Google Shape;673;p6"/>
          <p:cNvGrpSpPr/>
          <p:nvPr/>
        </p:nvGrpSpPr>
        <p:grpSpPr>
          <a:xfrm>
            <a:off x="1293234" y="937603"/>
            <a:ext cx="671400" cy="5447995"/>
            <a:chOff x="1198761" y="1013803"/>
            <a:chExt cx="671400" cy="5447995"/>
          </a:xfrm>
        </p:grpSpPr>
        <p:sp>
          <p:nvSpPr>
            <p:cNvPr id="674" name="Google Shape;674;p6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10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675" name="Google Shape;675;p6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676" name="Google Shape;676;p6"/>
          <p:cNvSpPr/>
          <p:nvPr/>
        </p:nvSpPr>
        <p:spPr>
          <a:xfrm>
            <a:off x="2310003" y="620938"/>
            <a:ext cx="888548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화면설계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77" name="Google Shape;677;p6"/>
          <p:cNvGrpSpPr/>
          <p:nvPr/>
        </p:nvGrpSpPr>
        <p:grpSpPr>
          <a:xfrm>
            <a:off x="10763511" y="282355"/>
            <a:ext cx="884140" cy="393288"/>
            <a:chOff x="10306525" y="358555"/>
            <a:chExt cx="884140" cy="393288"/>
          </a:xfrm>
        </p:grpSpPr>
        <p:sp>
          <p:nvSpPr>
            <p:cNvPr id="678" name="Google Shape;678;p6"/>
            <p:cNvSpPr txBox="1"/>
            <p:nvPr/>
          </p:nvSpPr>
          <p:spPr>
            <a:xfrm>
              <a:off x="10306525" y="358555"/>
              <a:ext cx="884140" cy="24482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rPr>
                <a:t>P2 Launch</a:t>
              </a:r>
              <a:endParaRPr b="1" i="0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9" name="Google Shape;679;p6"/>
            <p:cNvSpPr/>
            <p:nvPr/>
          </p:nvSpPr>
          <p:spPr>
            <a:xfrm rot="10800000">
              <a:off x="10667534" y="573943"/>
              <a:ext cx="228600" cy="177900"/>
            </a:xfrm>
            <a:prstGeom prst="triangle">
              <a:avLst>
                <a:gd fmla="val 50000" name="adj"/>
              </a:avLst>
            </a:prstGeom>
            <a:solidFill>
              <a:schemeClr val="accen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1" i="0" sz="14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680" name="Google Shape;680;p6"/>
          <p:cNvCxnSpPr>
            <a:stCxn id="681" idx="2"/>
          </p:cNvCxnSpPr>
          <p:nvPr/>
        </p:nvCxnSpPr>
        <p:spPr>
          <a:xfrm>
            <a:off x="11251988" y="958178"/>
            <a:ext cx="0" cy="54909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682" name="Google Shape;682;p6"/>
          <p:cNvGrpSpPr/>
          <p:nvPr/>
        </p:nvGrpSpPr>
        <p:grpSpPr>
          <a:xfrm>
            <a:off x="427184" y="1142880"/>
            <a:ext cx="1201750" cy="246300"/>
            <a:chOff x="554184" y="1219080"/>
            <a:chExt cx="1201750" cy="246300"/>
          </a:xfrm>
        </p:grpSpPr>
        <p:cxnSp>
          <p:nvCxnSpPr>
            <p:cNvPr id="683" name="Google Shape;683;p6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684" name="Google Shape;684;p6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1M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85" name="Google Shape;685;p6"/>
          <p:cNvSpPr txBox="1"/>
          <p:nvPr/>
        </p:nvSpPr>
        <p:spPr>
          <a:xfrm>
            <a:off x="277339" y="937603"/>
            <a:ext cx="260059" cy="246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1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86" name="Google Shape;686;p6"/>
          <p:cNvCxnSpPr/>
          <p:nvPr/>
        </p:nvCxnSpPr>
        <p:spPr>
          <a:xfrm>
            <a:off x="395017" y="1183898"/>
            <a:ext cx="0" cy="520170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687" name="Google Shape;687;p6"/>
          <p:cNvGrpSpPr/>
          <p:nvPr/>
        </p:nvGrpSpPr>
        <p:grpSpPr>
          <a:xfrm>
            <a:off x="3761068" y="937603"/>
            <a:ext cx="671400" cy="5447995"/>
            <a:chOff x="1198761" y="1013803"/>
            <a:chExt cx="671400" cy="5447995"/>
          </a:xfrm>
        </p:grpSpPr>
        <p:sp>
          <p:nvSpPr>
            <p:cNvPr id="688" name="Google Shape;688;p6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12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689" name="Google Shape;689;p6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690" name="Google Shape;690;p6"/>
          <p:cNvGrpSpPr/>
          <p:nvPr/>
        </p:nvGrpSpPr>
        <p:grpSpPr>
          <a:xfrm>
            <a:off x="2527151" y="937603"/>
            <a:ext cx="671400" cy="5447995"/>
            <a:chOff x="186317" y="1013803"/>
            <a:chExt cx="671400" cy="5447995"/>
          </a:xfrm>
        </p:grpSpPr>
        <p:sp>
          <p:nvSpPr>
            <p:cNvPr id="691" name="Google Shape;691;p6"/>
            <p:cNvSpPr txBox="1"/>
            <p:nvPr/>
          </p:nvSpPr>
          <p:spPr>
            <a:xfrm>
              <a:off x="186317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11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692" name="Google Shape;692;p6"/>
            <p:cNvCxnSpPr/>
            <p:nvPr/>
          </p:nvCxnSpPr>
          <p:spPr>
            <a:xfrm>
              <a:off x="522017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693" name="Google Shape;693;p6"/>
          <p:cNvGrpSpPr/>
          <p:nvPr/>
        </p:nvGrpSpPr>
        <p:grpSpPr>
          <a:xfrm>
            <a:off x="6228902" y="937603"/>
            <a:ext cx="671400" cy="5447995"/>
            <a:chOff x="1198761" y="1013803"/>
            <a:chExt cx="671400" cy="5447995"/>
          </a:xfrm>
        </p:grpSpPr>
        <p:sp>
          <p:nvSpPr>
            <p:cNvPr id="694" name="Google Shape;694;p6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695" name="Google Shape;695;p6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696" name="Google Shape;696;p6"/>
          <p:cNvGrpSpPr/>
          <p:nvPr/>
        </p:nvGrpSpPr>
        <p:grpSpPr>
          <a:xfrm>
            <a:off x="4994985" y="937603"/>
            <a:ext cx="671400" cy="5447995"/>
            <a:chOff x="186317" y="1013803"/>
            <a:chExt cx="671400" cy="5447995"/>
          </a:xfrm>
        </p:grpSpPr>
        <p:sp>
          <p:nvSpPr>
            <p:cNvPr id="697" name="Google Shape;697;p6"/>
            <p:cNvSpPr txBox="1"/>
            <p:nvPr/>
          </p:nvSpPr>
          <p:spPr>
            <a:xfrm>
              <a:off x="186317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698" name="Google Shape;698;p6"/>
            <p:cNvCxnSpPr/>
            <p:nvPr/>
          </p:nvCxnSpPr>
          <p:spPr>
            <a:xfrm>
              <a:off x="522017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699" name="Google Shape;699;p6"/>
          <p:cNvGrpSpPr/>
          <p:nvPr/>
        </p:nvGrpSpPr>
        <p:grpSpPr>
          <a:xfrm>
            <a:off x="7462819" y="937603"/>
            <a:ext cx="671400" cy="5447995"/>
            <a:chOff x="1198761" y="1013803"/>
            <a:chExt cx="671400" cy="5447995"/>
          </a:xfrm>
        </p:grpSpPr>
        <p:cxnSp>
          <p:nvCxnSpPr>
            <p:cNvPr id="700" name="Google Shape;700;p6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  <p:sp>
          <p:nvSpPr>
            <p:cNvPr id="701" name="Google Shape;701;p6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02" name="Google Shape;702;p6"/>
          <p:cNvGrpSpPr/>
          <p:nvPr/>
        </p:nvGrpSpPr>
        <p:grpSpPr>
          <a:xfrm>
            <a:off x="8696736" y="937603"/>
            <a:ext cx="671400" cy="5447995"/>
            <a:chOff x="1198761" y="1013803"/>
            <a:chExt cx="671400" cy="5447995"/>
          </a:xfrm>
        </p:grpSpPr>
        <p:sp>
          <p:nvSpPr>
            <p:cNvPr id="703" name="Google Shape;703;p6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704" name="Google Shape;704;p6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705" name="Google Shape;705;p6"/>
          <p:cNvGrpSpPr/>
          <p:nvPr/>
        </p:nvGrpSpPr>
        <p:grpSpPr>
          <a:xfrm>
            <a:off x="11164567" y="937603"/>
            <a:ext cx="671400" cy="5447995"/>
            <a:chOff x="1198761" y="1013803"/>
            <a:chExt cx="671400" cy="5447995"/>
          </a:xfrm>
        </p:grpSpPr>
        <p:sp>
          <p:nvSpPr>
            <p:cNvPr id="706" name="Google Shape;706;p6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6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707" name="Google Shape;707;p6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681" name="Google Shape;681;p6"/>
          <p:cNvSpPr txBox="1"/>
          <p:nvPr/>
        </p:nvSpPr>
        <p:spPr>
          <a:xfrm>
            <a:off x="10916288" y="711878"/>
            <a:ext cx="67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5/27</a:t>
            </a:r>
            <a:endParaRPr b="1" i="0" sz="10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8" name="Google Shape;708;p6"/>
          <p:cNvSpPr txBox="1"/>
          <p:nvPr/>
        </p:nvSpPr>
        <p:spPr>
          <a:xfrm>
            <a:off x="11156676" y="404699"/>
            <a:ext cx="585140" cy="3182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종료</a:t>
            </a:r>
            <a:endParaRPr b="1" i="0" sz="8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6"/>
          <p:cNvSpPr/>
          <p:nvPr/>
        </p:nvSpPr>
        <p:spPr>
          <a:xfrm>
            <a:off x="10806186" y="21972"/>
            <a:ext cx="888548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완료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0" name="Google Shape;710;p6"/>
          <p:cNvSpPr/>
          <p:nvPr/>
        </p:nvSpPr>
        <p:spPr>
          <a:xfrm>
            <a:off x="410206" y="620938"/>
            <a:ext cx="888548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착수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11" name="Google Shape;711;p6"/>
          <p:cNvGrpSpPr/>
          <p:nvPr/>
        </p:nvGrpSpPr>
        <p:grpSpPr>
          <a:xfrm>
            <a:off x="1661101" y="1142880"/>
            <a:ext cx="1201750" cy="246300"/>
            <a:chOff x="554184" y="1219080"/>
            <a:chExt cx="1201750" cy="246300"/>
          </a:xfrm>
        </p:grpSpPr>
        <p:cxnSp>
          <p:nvCxnSpPr>
            <p:cNvPr id="712" name="Google Shape;712;p6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713" name="Google Shape;713;p6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2M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14" name="Google Shape;714;p6"/>
          <p:cNvGrpSpPr/>
          <p:nvPr/>
        </p:nvGrpSpPr>
        <p:grpSpPr>
          <a:xfrm>
            <a:off x="2895018" y="1142880"/>
            <a:ext cx="1201750" cy="246300"/>
            <a:chOff x="554184" y="1219080"/>
            <a:chExt cx="1201750" cy="246300"/>
          </a:xfrm>
        </p:grpSpPr>
        <p:cxnSp>
          <p:nvCxnSpPr>
            <p:cNvPr id="715" name="Google Shape;715;p6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716" name="Google Shape;716;p6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3M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17" name="Google Shape;717;p6"/>
          <p:cNvGrpSpPr/>
          <p:nvPr/>
        </p:nvGrpSpPr>
        <p:grpSpPr>
          <a:xfrm>
            <a:off x="4128935" y="1142880"/>
            <a:ext cx="1201750" cy="246300"/>
            <a:chOff x="554184" y="1219080"/>
            <a:chExt cx="1201750" cy="246300"/>
          </a:xfrm>
        </p:grpSpPr>
        <p:cxnSp>
          <p:nvCxnSpPr>
            <p:cNvPr id="718" name="Google Shape;718;p6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719" name="Google Shape;719;p6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4M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20" name="Google Shape;720;p6"/>
          <p:cNvGrpSpPr/>
          <p:nvPr/>
        </p:nvGrpSpPr>
        <p:grpSpPr>
          <a:xfrm>
            <a:off x="5362852" y="1142880"/>
            <a:ext cx="1201750" cy="246300"/>
            <a:chOff x="554184" y="1219080"/>
            <a:chExt cx="1201750" cy="246300"/>
          </a:xfrm>
        </p:grpSpPr>
        <p:cxnSp>
          <p:nvCxnSpPr>
            <p:cNvPr id="721" name="Google Shape;721;p6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722" name="Google Shape;722;p6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5M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23" name="Google Shape;723;p6"/>
          <p:cNvGrpSpPr/>
          <p:nvPr/>
        </p:nvGrpSpPr>
        <p:grpSpPr>
          <a:xfrm>
            <a:off x="6596769" y="1142880"/>
            <a:ext cx="1201750" cy="246300"/>
            <a:chOff x="554184" y="1219080"/>
            <a:chExt cx="1201750" cy="246300"/>
          </a:xfrm>
        </p:grpSpPr>
        <p:cxnSp>
          <p:nvCxnSpPr>
            <p:cNvPr id="724" name="Google Shape;724;p6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725" name="Google Shape;725;p6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6M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26" name="Google Shape;726;p6"/>
          <p:cNvGrpSpPr/>
          <p:nvPr/>
        </p:nvGrpSpPr>
        <p:grpSpPr>
          <a:xfrm>
            <a:off x="7830686" y="1142880"/>
            <a:ext cx="1201750" cy="246300"/>
            <a:chOff x="554184" y="1219080"/>
            <a:chExt cx="1201750" cy="246300"/>
          </a:xfrm>
        </p:grpSpPr>
        <p:cxnSp>
          <p:nvCxnSpPr>
            <p:cNvPr id="727" name="Google Shape;727;p6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728" name="Google Shape;728;p6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7M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29" name="Google Shape;729;p6"/>
          <p:cNvGrpSpPr/>
          <p:nvPr/>
        </p:nvGrpSpPr>
        <p:grpSpPr>
          <a:xfrm>
            <a:off x="9064603" y="1142880"/>
            <a:ext cx="1201750" cy="246300"/>
            <a:chOff x="554184" y="1219080"/>
            <a:chExt cx="1201750" cy="246300"/>
          </a:xfrm>
        </p:grpSpPr>
        <p:cxnSp>
          <p:nvCxnSpPr>
            <p:cNvPr id="730" name="Google Shape;730;p6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731" name="Google Shape;731;p6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8M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32" name="Google Shape;732;p6"/>
          <p:cNvGrpSpPr/>
          <p:nvPr/>
        </p:nvGrpSpPr>
        <p:grpSpPr>
          <a:xfrm>
            <a:off x="10298517" y="1142880"/>
            <a:ext cx="1201750" cy="246300"/>
            <a:chOff x="554184" y="1219080"/>
            <a:chExt cx="1201750" cy="246300"/>
          </a:xfrm>
        </p:grpSpPr>
        <p:cxnSp>
          <p:nvCxnSpPr>
            <p:cNvPr id="733" name="Google Shape;733;p6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734" name="Google Shape;734;p6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9M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35" name="Google Shape;735;p6"/>
          <p:cNvSpPr/>
          <p:nvPr/>
        </p:nvSpPr>
        <p:spPr>
          <a:xfrm>
            <a:off x="415760" y="1350572"/>
            <a:ext cx="877474" cy="4940414"/>
          </a:xfrm>
          <a:prstGeom prst="roundRect">
            <a:avLst>
              <a:gd fmla="val 1119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Requirement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(3주)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6" name="Google Shape;736;p6"/>
          <p:cNvSpPr/>
          <p:nvPr/>
        </p:nvSpPr>
        <p:spPr>
          <a:xfrm>
            <a:off x="1018457" y="1523081"/>
            <a:ext cx="1820695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서비스 분석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7" name="Google Shape;737;p6"/>
          <p:cNvSpPr/>
          <p:nvPr/>
        </p:nvSpPr>
        <p:spPr>
          <a:xfrm>
            <a:off x="1010754" y="1897655"/>
            <a:ext cx="1823173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정책 정의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8" name="Google Shape;738;p6"/>
          <p:cNvSpPr/>
          <p:nvPr/>
        </p:nvSpPr>
        <p:spPr>
          <a:xfrm>
            <a:off x="10726227" y="5899560"/>
            <a:ext cx="774665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프로젝트 검수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9" name="Google Shape;739;p6"/>
          <p:cNvSpPr txBox="1"/>
          <p:nvPr/>
        </p:nvSpPr>
        <p:spPr>
          <a:xfrm>
            <a:off x="3986734" y="391218"/>
            <a:ext cx="880115" cy="3182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r>
              <a:rPr b="1" baseline="30000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 Sign off</a:t>
            </a:r>
            <a:endParaRPr b="1" i="0" sz="8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0" name="Google Shape;740;p6"/>
          <p:cNvSpPr/>
          <p:nvPr/>
        </p:nvSpPr>
        <p:spPr>
          <a:xfrm>
            <a:off x="4007184" y="620938"/>
            <a:ext cx="837465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디자인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41" name="Google Shape;741;p6"/>
          <p:cNvGrpSpPr/>
          <p:nvPr/>
        </p:nvGrpSpPr>
        <p:grpSpPr>
          <a:xfrm>
            <a:off x="5202429" y="175754"/>
            <a:ext cx="731553" cy="778939"/>
            <a:chOff x="5608628" y="251954"/>
            <a:chExt cx="731553" cy="778939"/>
          </a:xfrm>
        </p:grpSpPr>
        <p:grpSp>
          <p:nvGrpSpPr>
            <p:cNvPr id="742" name="Google Shape;742;p6"/>
            <p:cNvGrpSpPr/>
            <p:nvPr/>
          </p:nvGrpSpPr>
          <p:grpSpPr>
            <a:xfrm>
              <a:off x="5608628" y="251954"/>
              <a:ext cx="731553" cy="496404"/>
              <a:chOff x="7401699" y="414013"/>
              <a:chExt cx="731553" cy="496404"/>
            </a:xfrm>
          </p:grpSpPr>
          <p:sp>
            <p:nvSpPr>
              <p:cNvPr id="743" name="Google Shape;743;p6"/>
              <p:cNvSpPr/>
              <p:nvPr/>
            </p:nvSpPr>
            <p:spPr>
              <a:xfrm rot="10800000">
                <a:off x="7653176" y="732517"/>
                <a:ext cx="228600" cy="177900"/>
              </a:xfrm>
              <a:prstGeom prst="triangle">
                <a:avLst>
                  <a:gd fmla="val 50000" name="adj"/>
                </a:avLst>
              </a:prstGeom>
              <a:solidFill>
                <a:schemeClr val="accent2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44" name="Google Shape;744;p6"/>
              <p:cNvSpPr txBox="1"/>
              <p:nvPr/>
            </p:nvSpPr>
            <p:spPr>
              <a:xfrm>
                <a:off x="7401699" y="414013"/>
                <a:ext cx="731553" cy="24629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Arial"/>
                  <a:buNone/>
                </a:pPr>
                <a:r>
                  <a:rPr b="1" i="0" lang="en-US" sz="800" u="none" cap="none" strike="noStrike">
                    <a:solidFill>
                      <a:schemeClr val="accent2"/>
                    </a:solidFill>
                    <a:latin typeface="Arial"/>
                    <a:ea typeface="Arial"/>
                    <a:cs typeface="Arial"/>
                    <a:sym typeface="Arial"/>
                  </a:rPr>
                  <a:t>HCP App</a:t>
                </a:r>
                <a:br>
                  <a:rPr b="1" i="0" lang="en-US" sz="800" u="none" cap="none" strike="noStrike">
                    <a:solidFill>
                      <a:schemeClr val="accent2"/>
                    </a:solidFill>
                    <a:latin typeface="Arial"/>
                    <a:ea typeface="Arial"/>
                    <a:cs typeface="Arial"/>
                    <a:sym typeface="Arial"/>
                  </a:rPr>
                </a:br>
                <a:r>
                  <a:rPr b="1" i="0" lang="en-US" sz="800" u="none" cap="none" strike="noStrike">
                    <a:solidFill>
                      <a:schemeClr val="accent2"/>
                    </a:solidFill>
                    <a:latin typeface="Arial"/>
                    <a:ea typeface="Arial"/>
                    <a:cs typeface="Arial"/>
                    <a:sym typeface="Arial"/>
                  </a:rPr>
                  <a:t>Launch</a:t>
                </a:r>
                <a:endParaRPr b="1" i="0" sz="8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745" name="Google Shape;745;p6"/>
            <p:cNvSpPr txBox="1"/>
            <p:nvPr/>
          </p:nvSpPr>
          <p:spPr>
            <a:xfrm>
              <a:off x="5638705" y="784593"/>
              <a:ext cx="6714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FF0000"/>
                  </a:solidFill>
                  <a:latin typeface="Arial"/>
                  <a:ea typeface="Arial"/>
                  <a:cs typeface="Arial"/>
                  <a:sym typeface="Arial"/>
                </a:rPr>
                <a:t>1/7</a:t>
              </a:r>
              <a:endParaRPr b="1" i="0" sz="1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46" name="Google Shape;746;p6"/>
          <p:cNvGrpSpPr/>
          <p:nvPr/>
        </p:nvGrpSpPr>
        <p:grpSpPr>
          <a:xfrm>
            <a:off x="9248745" y="189937"/>
            <a:ext cx="697971" cy="485706"/>
            <a:chOff x="7391073" y="424711"/>
            <a:chExt cx="697971" cy="485706"/>
          </a:xfrm>
        </p:grpSpPr>
        <p:sp>
          <p:nvSpPr>
            <p:cNvPr id="747" name="Google Shape;747;p6"/>
            <p:cNvSpPr/>
            <p:nvPr/>
          </p:nvSpPr>
          <p:spPr>
            <a:xfrm rot="10800000">
              <a:off x="7653176" y="732517"/>
              <a:ext cx="228600" cy="177900"/>
            </a:xfrm>
            <a:prstGeom prst="triangle">
              <a:avLst>
                <a:gd fmla="val 50000" name="adj"/>
              </a:avLst>
            </a:prstGeom>
            <a:solidFill>
              <a:schemeClr val="accen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1" i="0" sz="14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8" name="Google Shape;748;p6"/>
            <p:cNvSpPr txBox="1"/>
            <p:nvPr/>
          </p:nvSpPr>
          <p:spPr>
            <a:xfrm>
              <a:off x="7391073" y="424711"/>
              <a:ext cx="697971" cy="33791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rPr>
                <a:t>HCP Web Launch</a:t>
              </a:r>
              <a:endParaRPr b="1" i="0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49" name="Google Shape;749;p6"/>
          <p:cNvSpPr txBox="1"/>
          <p:nvPr/>
        </p:nvSpPr>
        <p:spPr>
          <a:xfrm>
            <a:off x="9289448" y="711878"/>
            <a:ext cx="67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4/15</a:t>
            </a:r>
            <a:endParaRPr b="1" i="0" sz="10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50" name="Google Shape;750;p6"/>
          <p:cNvCxnSpPr/>
          <p:nvPr/>
        </p:nvCxnSpPr>
        <p:spPr>
          <a:xfrm>
            <a:off x="5546049" y="958178"/>
            <a:ext cx="16018" cy="5491045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751" name="Google Shape;751;p6"/>
          <p:cNvCxnSpPr/>
          <p:nvPr/>
        </p:nvCxnSpPr>
        <p:spPr>
          <a:xfrm>
            <a:off x="9660729" y="958178"/>
            <a:ext cx="16018" cy="5491045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752" name="Google Shape;752;p6"/>
          <p:cNvGrpSpPr/>
          <p:nvPr/>
        </p:nvGrpSpPr>
        <p:grpSpPr>
          <a:xfrm>
            <a:off x="7783374" y="189937"/>
            <a:ext cx="1040478" cy="485706"/>
            <a:chOff x="7210075" y="424711"/>
            <a:chExt cx="1040478" cy="485706"/>
          </a:xfrm>
        </p:grpSpPr>
        <p:sp>
          <p:nvSpPr>
            <p:cNvPr id="753" name="Google Shape;753;p6"/>
            <p:cNvSpPr/>
            <p:nvPr/>
          </p:nvSpPr>
          <p:spPr>
            <a:xfrm rot="10800000">
              <a:off x="7653176" y="732517"/>
              <a:ext cx="228600" cy="177900"/>
            </a:xfrm>
            <a:prstGeom prst="triangle">
              <a:avLst>
                <a:gd fmla="val 50000" name="adj"/>
              </a:avLst>
            </a:prstGeom>
            <a:solidFill>
              <a:schemeClr val="accen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1" i="0" sz="14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4" name="Google Shape;754;p6"/>
            <p:cNvSpPr txBox="1"/>
            <p:nvPr/>
          </p:nvSpPr>
          <p:spPr>
            <a:xfrm>
              <a:off x="7210075" y="424711"/>
              <a:ext cx="1040478" cy="33791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rPr>
                <a:t>HCP/ Patient App Launch</a:t>
              </a:r>
              <a:endParaRPr b="1" i="0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55" name="Google Shape;755;p6"/>
          <p:cNvSpPr txBox="1"/>
          <p:nvPr/>
        </p:nvSpPr>
        <p:spPr>
          <a:xfrm>
            <a:off x="7967913" y="711878"/>
            <a:ext cx="67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3/11</a:t>
            </a:r>
            <a:endParaRPr b="1" i="0" sz="10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6" name="Google Shape;756;p6"/>
          <p:cNvSpPr/>
          <p:nvPr/>
        </p:nvSpPr>
        <p:spPr>
          <a:xfrm>
            <a:off x="11251363" y="3768015"/>
            <a:ext cx="224517" cy="1029984"/>
          </a:xfrm>
          <a:prstGeom prst="roundRect">
            <a:avLst>
              <a:gd fmla="val 1380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안정화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7" name="Google Shape;757;p6"/>
          <p:cNvSpPr/>
          <p:nvPr/>
        </p:nvSpPr>
        <p:spPr>
          <a:xfrm>
            <a:off x="10417903" y="3768015"/>
            <a:ext cx="801921" cy="1029984"/>
          </a:xfrm>
          <a:prstGeom prst="roundRect">
            <a:avLst>
              <a:gd fmla="val 1119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테스트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단위/통합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QA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8" name="Google Shape;758;p6"/>
          <p:cNvSpPr/>
          <p:nvPr/>
        </p:nvSpPr>
        <p:spPr>
          <a:xfrm>
            <a:off x="10719128" y="5589746"/>
            <a:ext cx="753077" cy="287988"/>
          </a:xfrm>
          <a:prstGeom prst="roundRect">
            <a:avLst>
              <a:gd fmla="val 50000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인수인계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9" name="Google Shape;759;p6"/>
          <p:cNvSpPr/>
          <p:nvPr/>
        </p:nvSpPr>
        <p:spPr>
          <a:xfrm>
            <a:off x="1759514" y="2298102"/>
            <a:ext cx="1106272" cy="288000"/>
          </a:xfrm>
          <a:prstGeom prst="roundRect">
            <a:avLst>
              <a:gd fmla="val 50000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시연 준비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0" name="Google Shape;760;p6"/>
          <p:cNvSpPr/>
          <p:nvPr/>
        </p:nvSpPr>
        <p:spPr>
          <a:xfrm>
            <a:off x="1777304" y="2670514"/>
            <a:ext cx="3521215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페이지 화면설계 / 디자인 / 퍼블리싱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1" name="Google Shape;761;p6"/>
          <p:cNvSpPr/>
          <p:nvPr/>
        </p:nvSpPr>
        <p:spPr>
          <a:xfrm>
            <a:off x="8899607" y="5930834"/>
            <a:ext cx="777140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현업 검수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2" name="Google Shape;762;p6"/>
          <p:cNvSpPr/>
          <p:nvPr/>
        </p:nvSpPr>
        <p:spPr>
          <a:xfrm>
            <a:off x="8898856" y="5589746"/>
            <a:ext cx="758374" cy="287988"/>
          </a:xfrm>
          <a:prstGeom prst="roundRect">
            <a:avLst>
              <a:gd fmla="val 50000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보안점검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3" name="Google Shape;763;p6"/>
          <p:cNvSpPr/>
          <p:nvPr/>
        </p:nvSpPr>
        <p:spPr>
          <a:xfrm>
            <a:off x="7252233" y="5922166"/>
            <a:ext cx="966778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현업 검수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4" name="Google Shape;764;p6"/>
          <p:cNvSpPr/>
          <p:nvPr/>
        </p:nvSpPr>
        <p:spPr>
          <a:xfrm>
            <a:off x="7273407" y="5589746"/>
            <a:ext cx="918576" cy="287988"/>
          </a:xfrm>
          <a:prstGeom prst="roundRect">
            <a:avLst>
              <a:gd fmla="val 50000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보안점검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Google Shape;765;p6"/>
          <p:cNvSpPr txBox="1"/>
          <p:nvPr/>
        </p:nvSpPr>
        <p:spPr>
          <a:xfrm>
            <a:off x="2863632" y="2274356"/>
            <a:ext cx="1896327" cy="333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 멀티모달 검증포털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3단계 AI 추론 파이프라인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6" name="Google Shape;766;p6"/>
          <p:cNvSpPr txBox="1"/>
          <p:nvPr/>
        </p:nvSpPr>
        <p:spPr>
          <a:xfrm>
            <a:off x="2851979" y="2142331"/>
            <a:ext cx="661831" cy="3182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시연 범위</a:t>
            </a:r>
            <a:endParaRPr b="1" i="0" sz="8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7" name="Google Shape;767;p6"/>
          <p:cNvSpPr/>
          <p:nvPr/>
        </p:nvSpPr>
        <p:spPr>
          <a:xfrm>
            <a:off x="8932366" y="5181993"/>
            <a:ext cx="718770" cy="288000"/>
          </a:xfrm>
          <a:prstGeom prst="roundRect">
            <a:avLst>
              <a:gd fmla="val 1119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테스트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단위/통합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8" name="Google Shape;768;p6"/>
          <p:cNvSpPr/>
          <p:nvPr/>
        </p:nvSpPr>
        <p:spPr>
          <a:xfrm>
            <a:off x="2886550" y="3014957"/>
            <a:ext cx="2658876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P1 오픈 범위 개발 (연구소 버전 &amp; 국문)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9" name="Google Shape;769;p6"/>
          <p:cNvSpPr/>
          <p:nvPr/>
        </p:nvSpPr>
        <p:spPr>
          <a:xfrm>
            <a:off x="6563978" y="3768015"/>
            <a:ext cx="3822386" cy="288000"/>
          </a:xfrm>
          <a:prstGeom prst="roundRect">
            <a:avLst>
              <a:gd fmla="val 50000" name="adj"/>
            </a:avLst>
          </a:prstGeom>
          <a:solidFill>
            <a:srgbClr val="B3C6E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SyncFlow BO 어드민</a:t>
            </a:r>
            <a:endParaRPr b="1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0" name="Google Shape;770;p6"/>
          <p:cNvSpPr/>
          <p:nvPr/>
        </p:nvSpPr>
        <p:spPr>
          <a:xfrm>
            <a:off x="2921206" y="4157509"/>
            <a:ext cx="1878806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HCP App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1" name="Google Shape;771;p6"/>
          <p:cNvSpPr/>
          <p:nvPr/>
        </p:nvSpPr>
        <p:spPr>
          <a:xfrm>
            <a:off x="2921204" y="4537464"/>
            <a:ext cx="3682855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Patient App, Patient App (Offlien)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2" name="Google Shape;772;p6"/>
          <p:cNvSpPr/>
          <p:nvPr/>
        </p:nvSpPr>
        <p:spPr>
          <a:xfrm>
            <a:off x="4586435" y="5191861"/>
            <a:ext cx="4336338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HCP Web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3" name="Google Shape;773;p6"/>
          <p:cNvSpPr/>
          <p:nvPr/>
        </p:nvSpPr>
        <p:spPr>
          <a:xfrm>
            <a:off x="4827468" y="4157509"/>
            <a:ext cx="490105" cy="285344"/>
          </a:xfrm>
          <a:prstGeom prst="roundRect">
            <a:avLst>
              <a:gd fmla="val 1119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테스트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단위/통합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4" name="Google Shape;774;p6"/>
          <p:cNvSpPr/>
          <p:nvPr/>
        </p:nvSpPr>
        <p:spPr>
          <a:xfrm>
            <a:off x="8317308" y="4130044"/>
            <a:ext cx="1464106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원격진료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5" name="Google Shape;775;p6"/>
          <p:cNvSpPr/>
          <p:nvPr/>
        </p:nvSpPr>
        <p:spPr>
          <a:xfrm>
            <a:off x="5590127" y="3426960"/>
            <a:ext cx="2173064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고대/아산 병원 수정사항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6" name="Google Shape;776;p6"/>
          <p:cNvSpPr/>
          <p:nvPr/>
        </p:nvSpPr>
        <p:spPr>
          <a:xfrm>
            <a:off x="5577592" y="3014957"/>
            <a:ext cx="986386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P1 추가 개발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7" name="Google Shape;777;p6"/>
          <p:cNvSpPr/>
          <p:nvPr/>
        </p:nvSpPr>
        <p:spPr>
          <a:xfrm>
            <a:off x="6667432" y="4157509"/>
            <a:ext cx="1090796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고대/아산 병원 수정사항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8" name="Google Shape;778;p6"/>
          <p:cNvSpPr/>
          <p:nvPr/>
        </p:nvSpPr>
        <p:spPr>
          <a:xfrm>
            <a:off x="7761270" y="4157509"/>
            <a:ext cx="531751" cy="285344"/>
          </a:xfrm>
          <a:prstGeom prst="roundRect">
            <a:avLst>
              <a:gd fmla="val 1119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테스트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단위/통합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9" name="Google Shape;779;p6"/>
          <p:cNvSpPr/>
          <p:nvPr/>
        </p:nvSpPr>
        <p:spPr>
          <a:xfrm>
            <a:off x="7761270" y="4538792"/>
            <a:ext cx="531751" cy="285344"/>
          </a:xfrm>
          <a:prstGeom prst="roundRect">
            <a:avLst>
              <a:gd fmla="val 1119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테스트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단위/통합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0" name="Google Shape;780;p6"/>
          <p:cNvSpPr/>
          <p:nvPr/>
        </p:nvSpPr>
        <p:spPr>
          <a:xfrm>
            <a:off x="9892632" y="5532961"/>
            <a:ext cx="795334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현업 검수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1" name="Google Shape;781;p6"/>
          <p:cNvSpPr/>
          <p:nvPr/>
        </p:nvSpPr>
        <p:spPr>
          <a:xfrm>
            <a:off x="9891880" y="5191873"/>
            <a:ext cx="776129" cy="287988"/>
          </a:xfrm>
          <a:prstGeom prst="roundRect">
            <a:avLst>
              <a:gd fmla="val 50000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보안점검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2" name="Google Shape;782;p6"/>
          <p:cNvSpPr/>
          <p:nvPr/>
        </p:nvSpPr>
        <p:spPr>
          <a:xfrm>
            <a:off x="7833846" y="3014957"/>
            <a:ext cx="2431883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P2 오픈 범위 개발 (원격진료 &amp; 글로벌)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Google Shape;783;p6"/>
          <p:cNvSpPr/>
          <p:nvPr/>
        </p:nvSpPr>
        <p:spPr>
          <a:xfrm>
            <a:off x="6667432" y="4534808"/>
            <a:ext cx="1090796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고대/아산 병원 수정사항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4" name="Google Shape;784;p6"/>
          <p:cNvSpPr/>
          <p:nvPr/>
        </p:nvSpPr>
        <p:spPr>
          <a:xfrm>
            <a:off x="5375449" y="4157509"/>
            <a:ext cx="1228610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추가 개발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5" name="Google Shape;785;p6"/>
          <p:cNvSpPr/>
          <p:nvPr/>
        </p:nvSpPr>
        <p:spPr>
          <a:xfrm>
            <a:off x="6863473" y="4858165"/>
            <a:ext cx="1450519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다국어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9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90" name="Google Shape;790;p7"/>
          <p:cNvCxnSpPr/>
          <p:nvPr/>
        </p:nvCxnSpPr>
        <p:spPr>
          <a:xfrm>
            <a:off x="8301290" y="1207945"/>
            <a:ext cx="16018" cy="5491045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791" name="Google Shape;791;p7"/>
          <p:cNvGrpSpPr/>
          <p:nvPr/>
        </p:nvGrpSpPr>
        <p:grpSpPr>
          <a:xfrm>
            <a:off x="9930653" y="1187370"/>
            <a:ext cx="671400" cy="5447995"/>
            <a:chOff x="1198761" y="1013803"/>
            <a:chExt cx="671400" cy="5447995"/>
          </a:xfrm>
        </p:grpSpPr>
        <p:sp>
          <p:nvSpPr>
            <p:cNvPr id="792" name="Google Shape;792;p7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793" name="Google Shape;793;p7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794" name="Google Shape;794;p7"/>
          <p:cNvSpPr txBox="1"/>
          <p:nvPr/>
        </p:nvSpPr>
        <p:spPr>
          <a:xfrm>
            <a:off x="1873538" y="640985"/>
            <a:ext cx="1774500" cy="3182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b="1" baseline="30000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st</a:t>
            </a: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 Sign off</a:t>
            </a:r>
            <a:endParaRPr b="1" i="0" sz="8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95" name="Google Shape;795;p7"/>
          <p:cNvGrpSpPr/>
          <p:nvPr/>
        </p:nvGrpSpPr>
        <p:grpSpPr>
          <a:xfrm>
            <a:off x="1293234" y="1187370"/>
            <a:ext cx="671400" cy="5447995"/>
            <a:chOff x="1198761" y="1013803"/>
            <a:chExt cx="671400" cy="5447995"/>
          </a:xfrm>
        </p:grpSpPr>
        <p:sp>
          <p:nvSpPr>
            <p:cNvPr id="796" name="Google Shape;796;p7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10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797" name="Google Shape;797;p7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798" name="Google Shape;798;p7"/>
          <p:cNvSpPr/>
          <p:nvPr/>
        </p:nvSpPr>
        <p:spPr>
          <a:xfrm>
            <a:off x="2310003" y="870705"/>
            <a:ext cx="888548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화면설계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99" name="Google Shape;799;p7"/>
          <p:cNvGrpSpPr/>
          <p:nvPr/>
        </p:nvGrpSpPr>
        <p:grpSpPr>
          <a:xfrm>
            <a:off x="10763511" y="532122"/>
            <a:ext cx="884140" cy="393288"/>
            <a:chOff x="10306525" y="358555"/>
            <a:chExt cx="884140" cy="393288"/>
          </a:xfrm>
        </p:grpSpPr>
        <p:sp>
          <p:nvSpPr>
            <p:cNvPr id="800" name="Google Shape;800;p7"/>
            <p:cNvSpPr txBox="1"/>
            <p:nvPr/>
          </p:nvSpPr>
          <p:spPr>
            <a:xfrm>
              <a:off x="10306525" y="358555"/>
              <a:ext cx="884140" cy="24482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rPr>
                <a:t>P2 Launch</a:t>
              </a:r>
              <a:endParaRPr b="1" i="0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1" name="Google Shape;801;p7"/>
            <p:cNvSpPr/>
            <p:nvPr/>
          </p:nvSpPr>
          <p:spPr>
            <a:xfrm rot="10800000">
              <a:off x="10667534" y="573943"/>
              <a:ext cx="228600" cy="177900"/>
            </a:xfrm>
            <a:prstGeom prst="triangle">
              <a:avLst>
                <a:gd fmla="val 50000" name="adj"/>
              </a:avLst>
            </a:prstGeom>
            <a:solidFill>
              <a:schemeClr val="accen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1" i="0" sz="14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802" name="Google Shape;802;p7"/>
          <p:cNvCxnSpPr>
            <a:stCxn id="803" idx="2"/>
          </p:cNvCxnSpPr>
          <p:nvPr/>
        </p:nvCxnSpPr>
        <p:spPr>
          <a:xfrm>
            <a:off x="11251988" y="1207945"/>
            <a:ext cx="0" cy="54909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804" name="Google Shape;804;p7"/>
          <p:cNvGrpSpPr/>
          <p:nvPr/>
        </p:nvGrpSpPr>
        <p:grpSpPr>
          <a:xfrm>
            <a:off x="427184" y="1392647"/>
            <a:ext cx="1201750" cy="246300"/>
            <a:chOff x="554184" y="1219080"/>
            <a:chExt cx="1201750" cy="246300"/>
          </a:xfrm>
        </p:grpSpPr>
        <p:cxnSp>
          <p:nvCxnSpPr>
            <p:cNvPr id="805" name="Google Shape;805;p7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806" name="Google Shape;806;p7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1M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07" name="Google Shape;807;p7"/>
          <p:cNvSpPr txBox="1"/>
          <p:nvPr/>
        </p:nvSpPr>
        <p:spPr>
          <a:xfrm>
            <a:off x="277339" y="1187370"/>
            <a:ext cx="260059" cy="246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1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08" name="Google Shape;808;p7"/>
          <p:cNvCxnSpPr/>
          <p:nvPr/>
        </p:nvCxnSpPr>
        <p:spPr>
          <a:xfrm>
            <a:off x="395017" y="1433665"/>
            <a:ext cx="0" cy="520170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809" name="Google Shape;809;p7"/>
          <p:cNvGrpSpPr/>
          <p:nvPr/>
        </p:nvGrpSpPr>
        <p:grpSpPr>
          <a:xfrm>
            <a:off x="3761068" y="1187370"/>
            <a:ext cx="671400" cy="5447995"/>
            <a:chOff x="1198761" y="1013803"/>
            <a:chExt cx="671400" cy="5447995"/>
          </a:xfrm>
        </p:grpSpPr>
        <p:sp>
          <p:nvSpPr>
            <p:cNvPr id="810" name="Google Shape;810;p7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12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811" name="Google Shape;811;p7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812" name="Google Shape;812;p7"/>
          <p:cNvGrpSpPr/>
          <p:nvPr/>
        </p:nvGrpSpPr>
        <p:grpSpPr>
          <a:xfrm>
            <a:off x="2527151" y="1187370"/>
            <a:ext cx="671400" cy="5447995"/>
            <a:chOff x="186317" y="1013803"/>
            <a:chExt cx="671400" cy="5447995"/>
          </a:xfrm>
        </p:grpSpPr>
        <p:sp>
          <p:nvSpPr>
            <p:cNvPr id="813" name="Google Shape;813;p7"/>
            <p:cNvSpPr txBox="1"/>
            <p:nvPr/>
          </p:nvSpPr>
          <p:spPr>
            <a:xfrm>
              <a:off x="186317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11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814" name="Google Shape;814;p7"/>
            <p:cNvCxnSpPr/>
            <p:nvPr/>
          </p:nvCxnSpPr>
          <p:spPr>
            <a:xfrm>
              <a:off x="522017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815" name="Google Shape;815;p7"/>
          <p:cNvGrpSpPr/>
          <p:nvPr/>
        </p:nvGrpSpPr>
        <p:grpSpPr>
          <a:xfrm>
            <a:off x="6228902" y="1187370"/>
            <a:ext cx="671400" cy="5447995"/>
            <a:chOff x="1198761" y="1013803"/>
            <a:chExt cx="671400" cy="5447995"/>
          </a:xfrm>
        </p:grpSpPr>
        <p:sp>
          <p:nvSpPr>
            <p:cNvPr id="816" name="Google Shape;816;p7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817" name="Google Shape;817;p7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818" name="Google Shape;818;p7"/>
          <p:cNvGrpSpPr/>
          <p:nvPr/>
        </p:nvGrpSpPr>
        <p:grpSpPr>
          <a:xfrm>
            <a:off x="4994985" y="1187370"/>
            <a:ext cx="671400" cy="5447995"/>
            <a:chOff x="186317" y="1013803"/>
            <a:chExt cx="671400" cy="5447995"/>
          </a:xfrm>
        </p:grpSpPr>
        <p:sp>
          <p:nvSpPr>
            <p:cNvPr id="819" name="Google Shape;819;p7"/>
            <p:cNvSpPr txBox="1"/>
            <p:nvPr/>
          </p:nvSpPr>
          <p:spPr>
            <a:xfrm>
              <a:off x="186317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820" name="Google Shape;820;p7"/>
            <p:cNvCxnSpPr/>
            <p:nvPr/>
          </p:nvCxnSpPr>
          <p:spPr>
            <a:xfrm>
              <a:off x="522017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821" name="Google Shape;821;p7"/>
          <p:cNvGrpSpPr/>
          <p:nvPr/>
        </p:nvGrpSpPr>
        <p:grpSpPr>
          <a:xfrm>
            <a:off x="7462819" y="1187370"/>
            <a:ext cx="671400" cy="5447995"/>
            <a:chOff x="1198761" y="1013803"/>
            <a:chExt cx="671400" cy="5447995"/>
          </a:xfrm>
        </p:grpSpPr>
        <p:cxnSp>
          <p:nvCxnSpPr>
            <p:cNvPr id="822" name="Google Shape;822;p7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  <p:sp>
          <p:nvSpPr>
            <p:cNvPr id="823" name="Google Shape;823;p7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24" name="Google Shape;824;p7"/>
          <p:cNvGrpSpPr/>
          <p:nvPr/>
        </p:nvGrpSpPr>
        <p:grpSpPr>
          <a:xfrm>
            <a:off x="8696736" y="1187370"/>
            <a:ext cx="671400" cy="5447995"/>
            <a:chOff x="1198761" y="1013803"/>
            <a:chExt cx="671400" cy="5447995"/>
          </a:xfrm>
        </p:grpSpPr>
        <p:sp>
          <p:nvSpPr>
            <p:cNvPr id="825" name="Google Shape;825;p7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826" name="Google Shape;826;p7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827" name="Google Shape;827;p7"/>
          <p:cNvGrpSpPr/>
          <p:nvPr/>
        </p:nvGrpSpPr>
        <p:grpSpPr>
          <a:xfrm>
            <a:off x="11164567" y="1187370"/>
            <a:ext cx="671400" cy="5447995"/>
            <a:chOff x="1198761" y="1013803"/>
            <a:chExt cx="671400" cy="5447995"/>
          </a:xfrm>
        </p:grpSpPr>
        <p:sp>
          <p:nvSpPr>
            <p:cNvPr id="828" name="Google Shape;828;p7"/>
            <p:cNvSpPr txBox="1"/>
            <p:nvPr/>
          </p:nvSpPr>
          <p:spPr>
            <a:xfrm>
              <a:off x="1198761" y="1013803"/>
              <a:ext cx="6714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6</a:t>
              </a:r>
              <a:endParaRPr b="1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829" name="Google Shape;829;p7"/>
            <p:cNvCxnSpPr/>
            <p:nvPr/>
          </p:nvCxnSpPr>
          <p:spPr>
            <a:xfrm>
              <a:off x="1534461" y="1260098"/>
              <a:ext cx="0" cy="52017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dash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803" name="Google Shape;803;p7"/>
          <p:cNvSpPr txBox="1"/>
          <p:nvPr/>
        </p:nvSpPr>
        <p:spPr>
          <a:xfrm>
            <a:off x="10916288" y="961645"/>
            <a:ext cx="67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5/27</a:t>
            </a:r>
            <a:endParaRPr b="1" i="0" sz="10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7"/>
          <p:cNvSpPr txBox="1"/>
          <p:nvPr/>
        </p:nvSpPr>
        <p:spPr>
          <a:xfrm>
            <a:off x="11156676" y="654466"/>
            <a:ext cx="585140" cy="3182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종료</a:t>
            </a:r>
            <a:endParaRPr b="1" i="0" sz="8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7"/>
          <p:cNvSpPr/>
          <p:nvPr/>
        </p:nvSpPr>
        <p:spPr>
          <a:xfrm>
            <a:off x="10806186" y="271739"/>
            <a:ext cx="888548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완료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7"/>
          <p:cNvSpPr/>
          <p:nvPr/>
        </p:nvSpPr>
        <p:spPr>
          <a:xfrm>
            <a:off x="410206" y="870705"/>
            <a:ext cx="888548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착수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33" name="Google Shape;833;p7"/>
          <p:cNvGrpSpPr/>
          <p:nvPr/>
        </p:nvGrpSpPr>
        <p:grpSpPr>
          <a:xfrm>
            <a:off x="1661101" y="1392647"/>
            <a:ext cx="1201750" cy="246300"/>
            <a:chOff x="554184" y="1219080"/>
            <a:chExt cx="1201750" cy="246300"/>
          </a:xfrm>
        </p:grpSpPr>
        <p:cxnSp>
          <p:nvCxnSpPr>
            <p:cNvPr id="834" name="Google Shape;834;p7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835" name="Google Shape;835;p7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2M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36" name="Google Shape;836;p7"/>
          <p:cNvGrpSpPr/>
          <p:nvPr/>
        </p:nvGrpSpPr>
        <p:grpSpPr>
          <a:xfrm>
            <a:off x="2895018" y="1392647"/>
            <a:ext cx="1201750" cy="246300"/>
            <a:chOff x="554184" y="1219080"/>
            <a:chExt cx="1201750" cy="246300"/>
          </a:xfrm>
        </p:grpSpPr>
        <p:cxnSp>
          <p:nvCxnSpPr>
            <p:cNvPr id="837" name="Google Shape;837;p7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838" name="Google Shape;838;p7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3M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39" name="Google Shape;839;p7"/>
          <p:cNvGrpSpPr/>
          <p:nvPr/>
        </p:nvGrpSpPr>
        <p:grpSpPr>
          <a:xfrm>
            <a:off x="4128935" y="1392647"/>
            <a:ext cx="1201750" cy="246300"/>
            <a:chOff x="554184" y="1219080"/>
            <a:chExt cx="1201750" cy="246300"/>
          </a:xfrm>
        </p:grpSpPr>
        <p:cxnSp>
          <p:nvCxnSpPr>
            <p:cNvPr id="840" name="Google Shape;840;p7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841" name="Google Shape;841;p7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4M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42" name="Google Shape;842;p7"/>
          <p:cNvGrpSpPr/>
          <p:nvPr/>
        </p:nvGrpSpPr>
        <p:grpSpPr>
          <a:xfrm>
            <a:off x="5362852" y="1392647"/>
            <a:ext cx="1201750" cy="246300"/>
            <a:chOff x="554184" y="1219080"/>
            <a:chExt cx="1201750" cy="246300"/>
          </a:xfrm>
        </p:grpSpPr>
        <p:cxnSp>
          <p:nvCxnSpPr>
            <p:cNvPr id="843" name="Google Shape;843;p7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844" name="Google Shape;844;p7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5M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45" name="Google Shape;845;p7"/>
          <p:cNvGrpSpPr/>
          <p:nvPr/>
        </p:nvGrpSpPr>
        <p:grpSpPr>
          <a:xfrm>
            <a:off x="6596769" y="1392647"/>
            <a:ext cx="1201750" cy="246300"/>
            <a:chOff x="554184" y="1219080"/>
            <a:chExt cx="1201750" cy="246300"/>
          </a:xfrm>
        </p:grpSpPr>
        <p:cxnSp>
          <p:nvCxnSpPr>
            <p:cNvPr id="846" name="Google Shape;846;p7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847" name="Google Shape;847;p7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6M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48" name="Google Shape;848;p7"/>
          <p:cNvGrpSpPr/>
          <p:nvPr/>
        </p:nvGrpSpPr>
        <p:grpSpPr>
          <a:xfrm>
            <a:off x="7830686" y="1392647"/>
            <a:ext cx="1201750" cy="246300"/>
            <a:chOff x="554184" y="1219080"/>
            <a:chExt cx="1201750" cy="246300"/>
          </a:xfrm>
        </p:grpSpPr>
        <p:cxnSp>
          <p:nvCxnSpPr>
            <p:cNvPr id="849" name="Google Shape;849;p7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850" name="Google Shape;850;p7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7M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51" name="Google Shape;851;p7"/>
          <p:cNvGrpSpPr/>
          <p:nvPr/>
        </p:nvGrpSpPr>
        <p:grpSpPr>
          <a:xfrm>
            <a:off x="9064603" y="1392647"/>
            <a:ext cx="1201750" cy="246300"/>
            <a:chOff x="554184" y="1219080"/>
            <a:chExt cx="1201750" cy="246300"/>
          </a:xfrm>
        </p:grpSpPr>
        <p:cxnSp>
          <p:nvCxnSpPr>
            <p:cNvPr id="852" name="Google Shape;852;p7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853" name="Google Shape;853;p7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8M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54" name="Google Shape;854;p7"/>
          <p:cNvGrpSpPr/>
          <p:nvPr/>
        </p:nvGrpSpPr>
        <p:grpSpPr>
          <a:xfrm>
            <a:off x="10298517" y="1392647"/>
            <a:ext cx="1201750" cy="246300"/>
            <a:chOff x="554184" y="1219080"/>
            <a:chExt cx="1201750" cy="246300"/>
          </a:xfrm>
        </p:grpSpPr>
        <p:cxnSp>
          <p:nvCxnSpPr>
            <p:cNvPr id="855" name="Google Shape;855;p7"/>
            <p:cNvCxnSpPr/>
            <p:nvPr/>
          </p:nvCxnSpPr>
          <p:spPr>
            <a:xfrm>
              <a:off x="554184" y="1342184"/>
              <a:ext cx="120175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triangle"/>
              <a:tailEnd len="med" w="med" type="triangle"/>
            </a:ln>
          </p:spPr>
        </p:cxnSp>
        <p:sp>
          <p:nvSpPr>
            <p:cNvPr id="856" name="Google Shape;856;p7"/>
            <p:cNvSpPr txBox="1"/>
            <p:nvPr/>
          </p:nvSpPr>
          <p:spPr>
            <a:xfrm>
              <a:off x="942509" y="1219080"/>
              <a:ext cx="425100" cy="24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9M</a:t>
              </a:r>
              <a:endParaRPr b="1" i="0" sz="10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57" name="Google Shape;857;p7"/>
          <p:cNvSpPr/>
          <p:nvPr/>
        </p:nvSpPr>
        <p:spPr>
          <a:xfrm>
            <a:off x="415760" y="1600339"/>
            <a:ext cx="877474" cy="4940414"/>
          </a:xfrm>
          <a:prstGeom prst="roundRect">
            <a:avLst>
              <a:gd fmla="val 1119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Requirement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(3주)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7"/>
          <p:cNvSpPr/>
          <p:nvPr/>
        </p:nvSpPr>
        <p:spPr>
          <a:xfrm>
            <a:off x="1018457" y="1772848"/>
            <a:ext cx="1820695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서비스 분석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9" name="Google Shape;859;p7"/>
          <p:cNvSpPr/>
          <p:nvPr/>
        </p:nvSpPr>
        <p:spPr>
          <a:xfrm>
            <a:off x="1010754" y="2147422"/>
            <a:ext cx="1823173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정책 정의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7"/>
          <p:cNvSpPr/>
          <p:nvPr/>
        </p:nvSpPr>
        <p:spPr>
          <a:xfrm>
            <a:off x="10726227" y="6426214"/>
            <a:ext cx="774665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프로젝트 검수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1" name="Google Shape;861;p7"/>
          <p:cNvSpPr txBox="1"/>
          <p:nvPr/>
        </p:nvSpPr>
        <p:spPr>
          <a:xfrm>
            <a:off x="3986734" y="640985"/>
            <a:ext cx="880115" cy="3182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r>
              <a:rPr b="1" baseline="30000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 Sign off</a:t>
            </a:r>
            <a:endParaRPr b="1" i="0" sz="8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7"/>
          <p:cNvSpPr/>
          <p:nvPr/>
        </p:nvSpPr>
        <p:spPr>
          <a:xfrm>
            <a:off x="4007184" y="870705"/>
            <a:ext cx="837465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디자인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63" name="Google Shape;863;p7"/>
          <p:cNvGrpSpPr/>
          <p:nvPr/>
        </p:nvGrpSpPr>
        <p:grpSpPr>
          <a:xfrm>
            <a:off x="5202429" y="425521"/>
            <a:ext cx="731553" cy="778939"/>
            <a:chOff x="5608628" y="251954"/>
            <a:chExt cx="731553" cy="778939"/>
          </a:xfrm>
        </p:grpSpPr>
        <p:grpSp>
          <p:nvGrpSpPr>
            <p:cNvPr id="864" name="Google Shape;864;p7"/>
            <p:cNvGrpSpPr/>
            <p:nvPr/>
          </p:nvGrpSpPr>
          <p:grpSpPr>
            <a:xfrm>
              <a:off x="5608628" y="251954"/>
              <a:ext cx="731553" cy="496404"/>
              <a:chOff x="7401699" y="414013"/>
              <a:chExt cx="731553" cy="496404"/>
            </a:xfrm>
          </p:grpSpPr>
          <p:sp>
            <p:nvSpPr>
              <p:cNvPr id="865" name="Google Shape;865;p7"/>
              <p:cNvSpPr/>
              <p:nvPr/>
            </p:nvSpPr>
            <p:spPr>
              <a:xfrm rot="10800000">
                <a:off x="7653176" y="732517"/>
                <a:ext cx="228600" cy="177900"/>
              </a:xfrm>
              <a:prstGeom prst="triangle">
                <a:avLst>
                  <a:gd fmla="val 50000" name="adj"/>
                </a:avLst>
              </a:prstGeom>
              <a:solidFill>
                <a:schemeClr val="accent2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66" name="Google Shape;866;p7"/>
              <p:cNvSpPr txBox="1"/>
              <p:nvPr/>
            </p:nvSpPr>
            <p:spPr>
              <a:xfrm>
                <a:off x="7401699" y="414013"/>
                <a:ext cx="731553" cy="24629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Arial"/>
                  <a:buNone/>
                </a:pPr>
                <a:r>
                  <a:rPr b="1" i="0" lang="en-US" sz="800" u="none" cap="none" strike="noStrike">
                    <a:solidFill>
                      <a:schemeClr val="accent2"/>
                    </a:solidFill>
                    <a:latin typeface="Arial"/>
                    <a:ea typeface="Arial"/>
                    <a:cs typeface="Arial"/>
                    <a:sym typeface="Arial"/>
                  </a:rPr>
                  <a:t>HCP App</a:t>
                </a:r>
                <a:br>
                  <a:rPr b="1" i="0" lang="en-US" sz="800" u="none" cap="none" strike="noStrike">
                    <a:solidFill>
                      <a:schemeClr val="accent2"/>
                    </a:solidFill>
                    <a:latin typeface="Arial"/>
                    <a:ea typeface="Arial"/>
                    <a:cs typeface="Arial"/>
                    <a:sym typeface="Arial"/>
                  </a:rPr>
                </a:br>
                <a:r>
                  <a:rPr b="1" i="0" lang="en-US" sz="800" u="none" cap="none" strike="noStrike">
                    <a:solidFill>
                      <a:schemeClr val="accent2"/>
                    </a:solidFill>
                    <a:latin typeface="Arial"/>
                    <a:ea typeface="Arial"/>
                    <a:cs typeface="Arial"/>
                    <a:sym typeface="Arial"/>
                  </a:rPr>
                  <a:t>Launch</a:t>
                </a:r>
                <a:endParaRPr b="1" i="0" sz="8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867" name="Google Shape;867;p7"/>
            <p:cNvSpPr txBox="1"/>
            <p:nvPr/>
          </p:nvSpPr>
          <p:spPr>
            <a:xfrm>
              <a:off x="5638705" y="784593"/>
              <a:ext cx="6714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FF0000"/>
                  </a:solidFill>
                  <a:latin typeface="Arial"/>
                  <a:ea typeface="Arial"/>
                  <a:cs typeface="Arial"/>
                  <a:sym typeface="Arial"/>
                </a:rPr>
                <a:t>1/7</a:t>
              </a:r>
              <a:endParaRPr b="1" i="0" sz="1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68" name="Google Shape;868;p7"/>
          <p:cNvGrpSpPr/>
          <p:nvPr/>
        </p:nvGrpSpPr>
        <p:grpSpPr>
          <a:xfrm>
            <a:off x="9754570" y="439704"/>
            <a:ext cx="697971" cy="485706"/>
            <a:chOff x="7391073" y="424711"/>
            <a:chExt cx="697971" cy="485706"/>
          </a:xfrm>
        </p:grpSpPr>
        <p:sp>
          <p:nvSpPr>
            <p:cNvPr id="869" name="Google Shape;869;p7"/>
            <p:cNvSpPr/>
            <p:nvPr/>
          </p:nvSpPr>
          <p:spPr>
            <a:xfrm rot="10800000">
              <a:off x="7653176" y="732517"/>
              <a:ext cx="228600" cy="177900"/>
            </a:xfrm>
            <a:prstGeom prst="triangle">
              <a:avLst>
                <a:gd fmla="val 50000" name="adj"/>
              </a:avLst>
            </a:prstGeom>
            <a:solidFill>
              <a:schemeClr val="accen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1" i="0" sz="14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0" name="Google Shape;870;p7"/>
            <p:cNvSpPr txBox="1"/>
            <p:nvPr/>
          </p:nvSpPr>
          <p:spPr>
            <a:xfrm>
              <a:off x="7391073" y="424711"/>
              <a:ext cx="697971" cy="33791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rPr>
                <a:t>HCP Web Launch</a:t>
              </a:r>
              <a:endParaRPr b="1" i="0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71" name="Google Shape;871;p7"/>
          <p:cNvSpPr txBox="1"/>
          <p:nvPr/>
        </p:nvSpPr>
        <p:spPr>
          <a:xfrm>
            <a:off x="9795273" y="961645"/>
            <a:ext cx="67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4/29</a:t>
            </a:r>
            <a:endParaRPr b="1" i="0" sz="10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2" name="Google Shape;872;p7"/>
          <p:cNvCxnSpPr/>
          <p:nvPr/>
        </p:nvCxnSpPr>
        <p:spPr>
          <a:xfrm>
            <a:off x="5546049" y="1207945"/>
            <a:ext cx="16018" cy="5491045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873" name="Google Shape;873;p7"/>
          <p:cNvCxnSpPr/>
          <p:nvPr/>
        </p:nvCxnSpPr>
        <p:spPr>
          <a:xfrm>
            <a:off x="10166554" y="1207945"/>
            <a:ext cx="16018" cy="5491045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874" name="Google Shape;874;p7"/>
          <p:cNvGrpSpPr/>
          <p:nvPr/>
        </p:nvGrpSpPr>
        <p:grpSpPr>
          <a:xfrm>
            <a:off x="7783374" y="439704"/>
            <a:ext cx="1040478" cy="485706"/>
            <a:chOff x="7210075" y="424711"/>
            <a:chExt cx="1040478" cy="485706"/>
          </a:xfrm>
        </p:grpSpPr>
        <p:sp>
          <p:nvSpPr>
            <p:cNvPr id="875" name="Google Shape;875;p7"/>
            <p:cNvSpPr/>
            <p:nvPr/>
          </p:nvSpPr>
          <p:spPr>
            <a:xfrm rot="10800000">
              <a:off x="7653176" y="732517"/>
              <a:ext cx="228600" cy="177900"/>
            </a:xfrm>
            <a:prstGeom prst="triangle">
              <a:avLst>
                <a:gd fmla="val 50000" name="adj"/>
              </a:avLst>
            </a:prstGeom>
            <a:solidFill>
              <a:schemeClr val="accen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1" i="0" sz="14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6" name="Google Shape;876;p7"/>
            <p:cNvSpPr txBox="1"/>
            <p:nvPr/>
          </p:nvSpPr>
          <p:spPr>
            <a:xfrm>
              <a:off x="7210075" y="424711"/>
              <a:ext cx="1040478" cy="33791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-US" sz="800" u="none" cap="none" strike="noStrike">
                  <a:solidFill>
                    <a:schemeClr val="accent2"/>
                  </a:solidFill>
                  <a:latin typeface="Arial"/>
                  <a:ea typeface="Arial"/>
                  <a:cs typeface="Arial"/>
                  <a:sym typeface="Arial"/>
                </a:rPr>
                <a:t>HCP/ Patient App Launch</a:t>
              </a:r>
              <a:endParaRPr b="1" i="0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77" name="Google Shape;877;p7"/>
          <p:cNvSpPr txBox="1"/>
          <p:nvPr/>
        </p:nvSpPr>
        <p:spPr>
          <a:xfrm>
            <a:off x="7967913" y="961645"/>
            <a:ext cx="67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3/11</a:t>
            </a:r>
            <a:endParaRPr b="1" i="0" sz="10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8" name="Google Shape;878;p7"/>
          <p:cNvSpPr/>
          <p:nvPr/>
        </p:nvSpPr>
        <p:spPr>
          <a:xfrm>
            <a:off x="11251363" y="4017782"/>
            <a:ext cx="224517" cy="1029984"/>
          </a:xfrm>
          <a:prstGeom prst="roundRect">
            <a:avLst>
              <a:gd fmla="val 1380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안정화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9" name="Google Shape;879;p7"/>
          <p:cNvSpPr/>
          <p:nvPr/>
        </p:nvSpPr>
        <p:spPr>
          <a:xfrm>
            <a:off x="10417903" y="4017782"/>
            <a:ext cx="801921" cy="1029984"/>
          </a:xfrm>
          <a:prstGeom prst="roundRect">
            <a:avLst>
              <a:gd fmla="val 1119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테스트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단위/통합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QA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0" name="Google Shape;880;p7"/>
          <p:cNvSpPr/>
          <p:nvPr/>
        </p:nvSpPr>
        <p:spPr>
          <a:xfrm>
            <a:off x="10719128" y="6116400"/>
            <a:ext cx="753077" cy="287988"/>
          </a:xfrm>
          <a:prstGeom prst="roundRect">
            <a:avLst>
              <a:gd fmla="val 50000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인수인계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1" name="Google Shape;881;p7"/>
          <p:cNvSpPr/>
          <p:nvPr/>
        </p:nvSpPr>
        <p:spPr>
          <a:xfrm>
            <a:off x="1759514" y="2547869"/>
            <a:ext cx="1106272" cy="288000"/>
          </a:xfrm>
          <a:prstGeom prst="roundRect">
            <a:avLst>
              <a:gd fmla="val 50000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시연 준비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2" name="Google Shape;882;p7"/>
          <p:cNvSpPr/>
          <p:nvPr/>
        </p:nvSpPr>
        <p:spPr>
          <a:xfrm>
            <a:off x="1777304" y="2920281"/>
            <a:ext cx="3521215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페이지 화면설계 / 디자인 / 퍼블리싱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3" name="Google Shape;883;p7"/>
          <p:cNvSpPr/>
          <p:nvPr/>
        </p:nvSpPr>
        <p:spPr>
          <a:xfrm>
            <a:off x="8899607" y="6180601"/>
            <a:ext cx="777140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현업 검수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4" name="Google Shape;884;p7"/>
          <p:cNvSpPr/>
          <p:nvPr/>
        </p:nvSpPr>
        <p:spPr>
          <a:xfrm>
            <a:off x="8898856" y="5839513"/>
            <a:ext cx="758374" cy="287988"/>
          </a:xfrm>
          <a:prstGeom prst="roundRect">
            <a:avLst>
              <a:gd fmla="val 50000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보안점검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5" name="Google Shape;885;p7"/>
          <p:cNvSpPr/>
          <p:nvPr/>
        </p:nvSpPr>
        <p:spPr>
          <a:xfrm>
            <a:off x="7252233" y="6171933"/>
            <a:ext cx="966778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현업 검수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6" name="Google Shape;886;p7"/>
          <p:cNvSpPr/>
          <p:nvPr/>
        </p:nvSpPr>
        <p:spPr>
          <a:xfrm>
            <a:off x="7273407" y="5839513"/>
            <a:ext cx="918576" cy="287988"/>
          </a:xfrm>
          <a:prstGeom prst="roundRect">
            <a:avLst>
              <a:gd fmla="val 50000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보안점검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7" name="Google Shape;887;p7"/>
          <p:cNvSpPr txBox="1"/>
          <p:nvPr/>
        </p:nvSpPr>
        <p:spPr>
          <a:xfrm>
            <a:off x="2863632" y="2524123"/>
            <a:ext cx="1896327" cy="333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 멀티모달 검증포털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3단계 AI 추론 파이프라인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8" name="Google Shape;888;p7"/>
          <p:cNvSpPr txBox="1"/>
          <p:nvPr/>
        </p:nvSpPr>
        <p:spPr>
          <a:xfrm>
            <a:off x="2851979" y="2392098"/>
            <a:ext cx="661831" cy="3182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시연 범위</a:t>
            </a:r>
            <a:endParaRPr b="1" i="0" sz="8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9" name="Google Shape;889;p7"/>
          <p:cNvSpPr/>
          <p:nvPr/>
        </p:nvSpPr>
        <p:spPr>
          <a:xfrm>
            <a:off x="9440423" y="5431760"/>
            <a:ext cx="718770" cy="288000"/>
          </a:xfrm>
          <a:prstGeom prst="roundRect">
            <a:avLst>
              <a:gd fmla="val 1119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테스트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단위/통합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0" name="Google Shape;890;p7"/>
          <p:cNvSpPr/>
          <p:nvPr/>
        </p:nvSpPr>
        <p:spPr>
          <a:xfrm>
            <a:off x="2886550" y="3264724"/>
            <a:ext cx="2658876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P1 오픈 범위 개발 (연구소 버전 &amp; 국문)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1" name="Google Shape;891;p7"/>
          <p:cNvSpPr/>
          <p:nvPr/>
        </p:nvSpPr>
        <p:spPr>
          <a:xfrm>
            <a:off x="6563978" y="4017782"/>
            <a:ext cx="3822386" cy="288000"/>
          </a:xfrm>
          <a:prstGeom prst="roundRect">
            <a:avLst>
              <a:gd fmla="val 50000" name="adj"/>
            </a:avLst>
          </a:prstGeom>
          <a:solidFill>
            <a:srgbClr val="B3C6E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SyncFlow BO 어드민</a:t>
            </a:r>
            <a:endParaRPr b="1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2" name="Google Shape;892;p7"/>
          <p:cNvSpPr/>
          <p:nvPr/>
        </p:nvSpPr>
        <p:spPr>
          <a:xfrm>
            <a:off x="2921206" y="4407276"/>
            <a:ext cx="1878806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HCP App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3" name="Google Shape;893;p7"/>
          <p:cNvSpPr/>
          <p:nvPr/>
        </p:nvSpPr>
        <p:spPr>
          <a:xfrm>
            <a:off x="2921204" y="4787231"/>
            <a:ext cx="3682855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Patient App, Patient App (Offlien)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4" name="Google Shape;894;p7"/>
          <p:cNvSpPr/>
          <p:nvPr/>
        </p:nvSpPr>
        <p:spPr>
          <a:xfrm>
            <a:off x="4651361" y="5441628"/>
            <a:ext cx="4781701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HCP Web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5" name="Google Shape;895;p7"/>
          <p:cNvSpPr/>
          <p:nvPr/>
        </p:nvSpPr>
        <p:spPr>
          <a:xfrm>
            <a:off x="4827468" y="4407276"/>
            <a:ext cx="490105" cy="285344"/>
          </a:xfrm>
          <a:prstGeom prst="roundRect">
            <a:avLst>
              <a:gd fmla="val 1119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테스트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단위/통합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6" name="Google Shape;896;p7"/>
          <p:cNvSpPr/>
          <p:nvPr/>
        </p:nvSpPr>
        <p:spPr>
          <a:xfrm>
            <a:off x="8317308" y="4379811"/>
            <a:ext cx="1464106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원격진료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7" name="Google Shape;897;p7"/>
          <p:cNvSpPr/>
          <p:nvPr/>
        </p:nvSpPr>
        <p:spPr>
          <a:xfrm>
            <a:off x="5590127" y="3676727"/>
            <a:ext cx="2173064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고대/아산 병원 수정사항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8" name="Google Shape;898;p7"/>
          <p:cNvSpPr/>
          <p:nvPr/>
        </p:nvSpPr>
        <p:spPr>
          <a:xfrm>
            <a:off x="5577592" y="3264724"/>
            <a:ext cx="986386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P1 추가 개발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9" name="Google Shape;899;p7"/>
          <p:cNvSpPr/>
          <p:nvPr/>
        </p:nvSpPr>
        <p:spPr>
          <a:xfrm>
            <a:off x="6667432" y="4407276"/>
            <a:ext cx="1090796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고대/아산 병원 수정사항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0" name="Google Shape;900;p7"/>
          <p:cNvSpPr/>
          <p:nvPr/>
        </p:nvSpPr>
        <p:spPr>
          <a:xfrm>
            <a:off x="7761270" y="4407276"/>
            <a:ext cx="531751" cy="285344"/>
          </a:xfrm>
          <a:prstGeom prst="roundRect">
            <a:avLst>
              <a:gd fmla="val 1119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테스트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단위/통합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1" name="Google Shape;901;p7"/>
          <p:cNvSpPr/>
          <p:nvPr/>
        </p:nvSpPr>
        <p:spPr>
          <a:xfrm>
            <a:off x="7761270" y="4788559"/>
            <a:ext cx="531751" cy="285344"/>
          </a:xfrm>
          <a:prstGeom prst="roundRect">
            <a:avLst>
              <a:gd fmla="val 11190" name="adj"/>
            </a:avLst>
          </a:prstGeom>
          <a:solidFill>
            <a:srgbClr val="F4B08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테스트</a:t>
            </a: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단위/통합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2" name="Google Shape;902;p7"/>
          <p:cNvSpPr/>
          <p:nvPr/>
        </p:nvSpPr>
        <p:spPr>
          <a:xfrm>
            <a:off x="10172650" y="5782728"/>
            <a:ext cx="795334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현업 검수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3" name="Google Shape;903;p7"/>
          <p:cNvSpPr/>
          <p:nvPr/>
        </p:nvSpPr>
        <p:spPr>
          <a:xfrm>
            <a:off x="10171898" y="5441640"/>
            <a:ext cx="776129" cy="287988"/>
          </a:xfrm>
          <a:prstGeom prst="roundRect">
            <a:avLst>
              <a:gd fmla="val 50000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보안점검</a:t>
            </a:r>
            <a:endParaRPr b="1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4" name="Google Shape;904;p7"/>
          <p:cNvSpPr/>
          <p:nvPr/>
        </p:nvSpPr>
        <p:spPr>
          <a:xfrm>
            <a:off x="7833846" y="3264724"/>
            <a:ext cx="2431883" cy="288000"/>
          </a:xfrm>
          <a:prstGeom prst="roundRect">
            <a:avLst>
              <a:gd fmla="val 50000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P2 오픈 범위 개발 (원격진료 &amp; 글로벌)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5" name="Google Shape;905;p7"/>
          <p:cNvSpPr/>
          <p:nvPr/>
        </p:nvSpPr>
        <p:spPr>
          <a:xfrm>
            <a:off x="6667432" y="4784575"/>
            <a:ext cx="1090796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고대/아산 병원 수정사항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" name="Google Shape;906;p7"/>
          <p:cNvSpPr/>
          <p:nvPr/>
        </p:nvSpPr>
        <p:spPr>
          <a:xfrm>
            <a:off x="5375449" y="4407276"/>
            <a:ext cx="1228610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추가 개발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7" name="Google Shape;907;p7"/>
          <p:cNvSpPr/>
          <p:nvPr/>
        </p:nvSpPr>
        <p:spPr>
          <a:xfrm>
            <a:off x="6863473" y="5107932"/>
            <a:ext cx="1450519" cy="2880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다국어</a:t>
            </a:r>
            <a:endParaRPr b="1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주식회사 엠파시 (Empasy Inc.)</dc:creator>
</cp:coreProperties>
</file>