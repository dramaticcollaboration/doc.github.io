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761163" cy="9942513"/>
  <p:embeddedFontLst>
    <p:embeddedFont>
      <p:font typeface="Titillium Web" panose="00000500000000000000" pitchFamily="2" charset="0"/>
      <p:regular r:id="rId16"/>
      <p:bold r:id="rId17"/>
      <p:italic r:id="rId18"/>
      <p:boldItalic r:id="rId19"/>
    </p:embeddedFont>
    <p:embeddedFont>
      <p:font typeface="Malgun Gothic" panose="020B0503020000020004" pitchFamily="50" charset="-127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A4A3A4"/>
          </p15:clr>
        </p15:guide>
        <p15:guide id="2" orient="horz" pos="2137">
          <p15:clr>
            <a:srgbClr val="A4A3A4"/>
          </p15:clr>
        </p15:guide>
        <p15:guide id="3" pos="3840">
          <p15:clr>
            <a:srgbClr val="A4A3A4"/>
          </p15:clr>
        </p15:guide>
        <p15:guide id="4" orient="horz" pos="1706">
          <p15:clr>
            <a:srgbClr val="A4A3A4"/>
          </p15:clr>
        </p15:guide>
        <p15:guide id="5" pos="6221">
          <p15:clr>
            <a:srgbClr val="A4A3A4"/>
          </p15:clr>
        </p15:guide>
        <p15:guide id="6" pos="846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109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kKHMVbPDjRqkHG8MZqwMFwTix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DBA23C-8AEB-4A2E-A2B4-5545E25794F0}">
  <a:tblStyle styleId="{CDDBA23C-8AEB-4A2E-A2B4-5545E25794F0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688"/>
      </p:cViewPr>
      <p:guideLst>
        <p:guide orient="horz" pos="618"/>
        <p:guide orient="horz" pos="2137"/>
        <p:guide pos="3840"/>
        <p:guide orient="horz" pos="1706"/>
        <p:guide pos="6221"/>
        <p:guide pos="846"/>
        <p:guide orient="horz" pos="346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1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/>
        </p:nvSpPr>
        <p:spPr>
          <a:xfrm>
            <a:off x="5029200" y="6589715"/>
            <a:ext cx="2133601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5"/>
          <p:cNvCxnSpPr/>
          <p:nvPr/>
        </p:nvCxnSpPr>
        <p:spPr>
          <a:xfrm rot="10800000">
            <a:off x="128470" y="6524625"/>
            <a:ext cx="119092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15"/>
          <p:cNvSpPr txBox="1"/>
          <p:nvPr/>
        </p:nvSpPr>
        <p:spPr>
          <a:xfrm>
            <a:off x="9892573" y="96893"/>
            <a:ext cx="2145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Mid-Term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Report</a:t>
            </a:r>
            <a:endParaRPr sz="12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9" name="Google Shape;19;p15"/>
          <p:cNvCxnSpPr/>
          <p:nvPr/>
        </p:nvCxnSpPr>
        <p:spPr>
          <a:xfrm>
            <a:off x="128468" y="476672"/>
            <a:ext cx="11909203" cy="0"/>
          </a:xfrm>
          <a:prstGeom prst="straightConnector1">
            <a:avLst/>
          </a:prstGeom>
          <a:noFill/>
          <a:ln w="9525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/>
        </p:nvSpPr>
        <p:spPr>
          <a:xfrm>
            <a:off x="10987443" y="5655162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2022.5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74751" y="1617506"/>
            <a:ext cx="7380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Mid-Term</a:t>
            </a:r>
            <a:r>
              <a:rPr lang="en-US" sz="5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Report</a:t>
            </a:r>
            <a:endParaRPr sz="5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985652" y="1270660"/>
            <a:ext cx="866899" cy="0"/>
          </a:xfrm>
          <a:prstGeom prst="straightConnector1">
            <a:avLst/>
          </a:prstGeom>
          <a:noFill/>
          <a:ln w="1270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"/>
          <p:cNvGrpSpPr/>
          <p:nvPr/>
        </p:nvGrpSpPr>
        <p:grpSpPr>
          <a:xfrm>
            <a:off x="3495652" y="3777195"/>
            <a:ext cx="5200697" cy="1200329"/>
            <a:chOff x="3169448" y="2963526"/>
            <a:chExt cx="5200697" cy="1200329"/>
          </a:xfrm>
        </p:grpSpPr>
        <p:sp>
          <p:nvSpPr>
            <p:cNvPr id="39" name="Google Shape;39;p2"/>
            <p:cNvSpPr txBox="1"/>
            <p:nvPr/>
          </p:nvSpPr>
          <p:spPr>
            <a:xfrm>
              <a:off x="3169448" y="2963526"/>
              <a:ext cx="269016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Project Overview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Execution List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Issues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 txBox="1"/>
            <p:nvPr/>
          </p:nvSpPr>
          <p:spPr>
            <a:xfrm>
              <a:off x="6169465" y="2963526"/>
              <a:ext cx="2200680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Malgun Gothic"/>
                <a:buNone/>
              </a:pPr>
              <a:r>
                <a:rPr lang="en-US" sz="2400" b="0" i="0" u="none" strike="noStrike" cap="none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프로젝트</a:t>
              </a:r>
              <a:r>
                <a:rPr lang="en-US" sz="2400" b="0" i="0" u="none" strike="noStrike" cap="none" dirty="0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 </a:t>
              </a:r>
              <a:r>
                <a:rPr lang="en-US" sz="2400" b="0" i="0" u="none" strike="noStrike" cap="none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현황</a:t>
              </a:r>
              <a:endParaRPr sz="24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endParaRPr>
            </a:p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구현</a:t>
              </a:r>
              <a:r>
                <a:rPr lang="en-US" sz="2400" b="0" i="0" u="none" strike="noStrike" cap="none" dirty="0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 </a:t>
              </a:r>
              <a:r>
                <a:rPr lang="en-US" sz="2400" b="0" i="0" u="none" strike="noStrike" cap="none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현황</a:t>
              </a:r>
              <a:endParaRPr sz="1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endParaRPr>
            </a:p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Malgun Gothic"/>
                <a:buNone/>
              </a:pPr>
              <a:r>
                <a:rPr lang="en-US" sz="2400" b="0" i="0" u="none" strike="noStrike" cap="none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이슈</a:t>
              </a:r>
              <a:endParaRPr sz="24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endParaRPr>
            </a:p>
          </p:txBody>
        </p:sp>
      </p:grpSp>
      <p:sp>
        <p:nvSpPr>
          <p:cNvPr id="41" name="Google Shape;41;p2"/>
          <p:cNvSpPr txBox="1"/>
          <p:nvPr/>
        </p:nvSpPr>
        <p:spPr>
          <a:xfrm>
            <a:off x="2900850" y="1711475"/>
            <a:ext cx="639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Mid-Term</a:t>
            </a:r>
            <a:r>
              <a:rPr lang="en-US" sz="5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Report 5</a:t>
            </a:r>
            <a:endParaRPr sz="5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106238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2"/>
          <p:cNvSpPr txBox="1"/>
          <p:nvPr/>
        </p:nvSpPr>
        <p:spPr>
          <a:xfrm>
            <a:off x="4887774" y="2859220"/>
            <a:ext cx="241645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dirty="0" err="1" smtClean="0">
                <a:solidFill>
                  <a:schemeClr val="dk1"/>
                </a:solidFill>
              </a:rPr>
              <a:t>중</a:t>
            </a:r>
            <a:r>
              <a:rPr lang="en-US" sz="3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간</a:t>
            </a:r>
            <a:r>
              <a:rPr lang="en-US" sz="3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보고서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2962103" y="2427835"/>
            <a:ext cx="626781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1. Project Overview</a:t>
            </a:r>
            <a:endParaRPr sz="5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4563837" y="3556132"/>
            <a:ext cx="306434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3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106248" y="3413218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l="2126" t="3069" r="3409" b="733"/>
          <a:stretch/>
        </p:blipFill>
        <p:spPr>
          <a:xfrm>
            <a:off x="1168397" y="1195811"/>
            <a:ext cx="9309101" cy="530140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 txBox="1"/>
          <p:nvPr/>
        </p:nvSpPr>
        <p:spPr>
          <a:xfrm>
            <a:off x="67091" y="80035"/>
            <a:ext cx="168804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68397" y="1227666"/>
            <a:ext cx="9268465" cy="5269553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436863" y="1490266"/>
            <a:ext cx="81270" cy="500695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033224" y="1293239"/>
            <a:ext cx="888548" cy="2880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현재</a:t>
            </a:r>
            <a:endParaRPr sz="800" b="1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4072865" y="739241"/>
            <a:ext cx="40462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3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"/>
          <p:cNvPicPr preferRelativeResize="0"/>
          <p:nvPr/>
        </p:nvPicPr>
        <p:blipFill rotWithShape="1">
          <a:blip r:embed="rId3">
            <a:alphaModFix/>
          </a:blip>
          <a:srcRect t="1187" r="370" b="1"/>
          <a:stretch/>
        </p:blipFill>
        <p:spPr>
          <a:xfrm>
            <a:off x="1207978" y="4029722"/>
            <a:ext cx="9717321" cy="24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67090" y="80035"/>
            <a:ext cx="17862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65091" y="2943096"/>
            <a:ext cx="10441084" cy="485775"/>
          </a:xfrm>
          <a:prstGeom prst="rightArrow">
            <a:avLst>
              <a:gd name="adj1" fmla="val 100000"/>
              <a:gd name="adj2" fmla="val 61961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4404259" y="739241"/>
            <a:ext cx="33834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3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5069231" y="1219320"/>
            <a:ext cx="205353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진척율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graphicFrame>
        <p:nvGraphicFramePr>
          <p:cNvPr id="70" name="Google Shape;70;p5"/>
          <p:cNvGraphicFramePr/>
          <p:nvPr>
            <p:extLst>
              <p:ext uri="{D42A27DB-BD31-4B8C-83A1-F6EECF244321}">
                <p14:modId xmlns:p14="http://schemas.microsoft.com/office/powerpoint/2010/main" val="532591630"/>
              </p:ext>
            </p:extLst>
          </p:nvPr>
        </p:nvGraphicFramePr>
        <p:xfrm>
          <a:off x="865091" y="1861330"/>
          <a:ext cx="10441100" cy="520525"/>
        </p:xfrm>
        <a:graphic>
          <a:graphicData uri="http://schemas.openxmlformats.org/drawingml/2006/table">
            <a:tbl>
              <a:tblPr>
                <a:noFill/>
                <a:tableStyleId>{CDDBA23C-8AEB-4A2E-A2B4-5545E25794F0}</a:tableStyleId>
              </a:tblPr>
              <a:tblGrid>
                <a:gridCol w="261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예정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목표율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100.00 %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　</a:t>
                      </a:r>
                      <a:r>
                        <a:rPr lang="en-US" sz="1800" u="none" strike="noStrike" cap="none" dirty="0" err="1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실제</a:t>
                      </a: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완료율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　94.06 %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Google Shape;71;p5"/>
          <p:cNvSpPr txBox="1"/>
          <p:nvPr/>
        </p:nvSpPr>
        <p:spPr>
          <a:xfrm>
            <a:off x="9544706" y="1575199"/>
            <a:ext cx="18790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기준일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2022년  5월 31일</a:t>
            </a:r>
            <a:endParaRPr sz="12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26903" y="4315900"/>
            <a:ext cx="2032905" cy="49630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0429383" y="2490509"/>
            <a:ext cx="9653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-5.94%</a:t>
            </a:r>
            <a:endParaRPr sz="1800" b="1" i="0" u="none" strike="noStrike" cap="none" dirty="0">
              <a:solidFill>
                <a:srgbClr val="C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1916681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5" name="Google Shape;75;p5"/>
          <p:cNvCxnSpPr/>
          <p:nvPr/>
        </p:nvCxnSpPr>
        <p:spPr>
          <a:xfrm>
            <a:off x="2951644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6" name="Google Shape;76;p5"/>
          <p:cNvCxnSpPr/>
          <p:nvPr/>
        </p:nvCxnSpPr>
        <p:spPr>
          <a:xfrm>
            <a:off x="3994921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5"/>
          <p:cNvCxnSpPr/>
          <p:nvPr/>
        </p:nvCxnSpPr>
        <p:spPr>
          <a:xfrm>
            <a:off x="5038198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8" name="Google Shape;78;p5"/>
          <p:cNvCxnSpPr/>
          <p:nvPr/>
        </p:nvCxnSpPr>
        <p:spPr>
          <a:xfrm>
            <a:off x="6079840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9" name="Google Shape;79;p5"/>
          <p:cNvCxnSpPr/>
          <p:nvPr/>
        </p:nvCxnSpPr>
        <p:spPr>
          <a:xfrm>
            <a:off x="7122769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0" name="Google Shape;80;p5"/>
          <p:cNvCxnSpPr/>
          <p:nvPr/>
        </p:nvCxnSpPr>
        <p:spPr>
          <a:xfrm>
            <a:off x="8168029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1" name="Google Shape;81;p5"/>
          <p:cNvCxnSpPr/>
          <p:nvPr/>
        </p:nvCxnSpPr>
        <p:spPr>
          <a:xfrm>
            <a:off x="9211306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5"/>
          <p:cNvCxnSpPr/>
          <p:nvPr/>
        </p:nvCxnSpPr>
        <p:spPr>
          <a:xfrm>
            <a:off x="10251008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5"/>
          <p:cNvSpPr/>
          <p:nvPr/>
        </p:nvSpPr>
        <p:spPr>
          <a:xfrm>
            <a:off x="865088" y="2943096"/>
            <a:ext cx="10441087" cy="485775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예정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목표율</a:t>
            </a:r>
            <a:endParaRPr sz="12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65085" y="3342139"/>
            <a:ext cx="9865802" cy="4857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실제</a:t>
            </a:r>
            <a:r>
              <a:rPr lang="en-US" sz="1200" b="0" i="0" u="none" strike="noStrike" cap="none" dirty="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완료</a:t>
            </a:r>
            <a:endParaRPr sz="1200" b="0" i="0" u="none" strike="noStrike" cap="none" dirty="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10730887" y="2856234"/>
            <a:ext cx="0" cy="100343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" name="Google Shape;86;p5"/>
          <p:cNvCxnSpPr/>
          <p:nvPr/>
        </p:nvCxnSpPr>
        <p:spPr>
          <a:xfrm>
            <a:off x="11306175" y="2870070"/>
            <a:ext cx="0" cy="100343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/>
        </p:nvSpPr>
        <p:spPr>
          <a:xfrm>
            <a:off x="67090" y="80035"/>
            <a:ext cx="19162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 현황</a:t>
            </a:r>
            <a:endParaRPr sz="2000" b="0" i="0" u="none" strike="noStrike" cap="none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459489" y="739242"/>
            <a:ext cx="32730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4846116" y="1219320"/>
            <a:ext cx="249977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진행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545038" y="1984088"/>
            <a:ext cx="1031051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구현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2080964" y="1984088"/>
            <a:ext cx="177484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Test &amp; Verification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 dirty="0" err="1" smtClean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r>
              <a:rPr lang="en-US" sz="1050" b="0" i="0" u="none" strike="noStrike" cap="none" dirty="0" smtClean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50" b="0" i="0" u="none" strike="noStrike" cap="none" dirty="0" err="1" smtClean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검증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5201299" y="1984088"/>
            <a:ext cx="6415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P1 </a:t>
            </a:r>
            <a:r>
              <a:rPr lang="en-US" sz="10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075436" y="3063706"/>
            <a:ext cx="7296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1월(M5)</a:t>
            </a:r>
            <a:endParaRPr sz="1200" b="0" i="0" u="none" strike="noStrike" cap="none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4636479" y="3858168"/>
            <a:ext cx="240832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</a:t>
            </a:r>
            <a:b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GO/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NOGO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보고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(3/10)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(3/11)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</a:t>
            </a:r>
            <a:b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GO/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NOGO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보고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(3/10)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(3/11)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AAOS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학회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데모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AAOS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학회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지원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영업팀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교육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)</a:t>
            </a:r>
            <a:endParaRPr sz="1200" b="0" i="0" u="none" strike="noStrike" cap="none" dirty="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5603499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3월(M7)</a:t>
            </a:r>
            <a:endParaRPr sz="1400" b="0" i="0" u="none" strike="noStrike" cap="none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111671" y="3858168"/>
            <a:ext cx="257122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App(1차)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콘텐츠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등록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보완</a:t>
            </a:r>
            <a:endParaRPr sz="1200" b="0" i="0" u="none" strike="noStrike" cap="none" dirty="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수정사항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반영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릴리즈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(2/16)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아산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수정사항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개발</a:t>
            </a:r>
            <a:endParaRPr sz="1200" b="0" i="0" u="none" strike="noStrike" cap="none" dirty="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아산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) HCP App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아산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) Patient App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1차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마켓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등록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(2/24)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985185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2월(M6)</a:t>
            </a:r>
            <a:endParaRPr sz="1400" b="0" i="0" u="none" strike="noStrike" cap="none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02" name="Google Shape;102;p6"/>
          <p:cNvCxnSpPr>
            <a:stCxn id="103" idx="6"/>
            <a:endCxn id="104" idx="2"/>
          </p:cNvCxnSpPr>
          <p:nvPr/>
        </p:nvCxnSpPr>
        <p:spPr>
          <a:xfrm>
            <a:off x="3100304" y="2975621"/>
            <a:ext cx="23229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5" name="Google Shape;105;p6"/>
          <p:cNvSpPr/>
          <p:nvPr/>
        </p:nvSpPr>
        <p:spPr>
          <a:xfrm>
            <a:off x="108782" y="3920327"/>
            <a:ext cx="197218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콘텐츠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등록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보완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(1/7)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안정화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인수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최종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검수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아산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수정사항</a:t>
            </a: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정의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1079730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07" name="Google Shape;107;p6"/>
          <p:cNvGrpSpPr/>
          <p:nvPr/>
        </p:nvGrpSpPr>
        <p:grpSpPr>
          <a:xfrm>
            <a:off x="920564" y="2836133"/>
            <a:ext cx="278976" cy="278976"/>
            <a:chOff x="3994963" y="1685365"/>
            <a:chExt cx="278976" cy="278976"/>
          </a:xfrm>
        </p:grpSpPr>
        <p:sp>
          <p:nvSpPr>
            <p:cNvPr id="108" name="Google Shape;108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10" name="Google Shape;110;p6"/>
          <p:cNvCxnSpPr>
            <a:endCxn id="108" idx="2"/>
          </p:cNvCxnSpPr>
          <p:nvPr/>
        </p:nvCxnSpPr>
        <p:spPr>
          <a:xfrm>
            <a:off x="-136" y="2975621"/>
            <a:ext cx="9207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" name="Google Shape;111;p6"/>
          <p:cNvSpPr txBox="1"/>
          <p:nvPr/>
        </p:nvSpPr>
        <p:spPr>
          <a:xfrm>
            <a:off x="9252021" y="3858168"/>
            <a:ext cx="2664811" cy="1754326"/>
          </a:xfrm>
          <a:prstGeom prst="rect">
            <a:avLst/>
          </a:prstGeom>
          <a:solidFill>
            <a:srgbClr val="F68A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GO/NOGO 보고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오픈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단위테스트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QA (6월)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검수 확인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완료 보고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 (엠파시) 종료 (5/31)</a:t>
            </a:r>
            <a:endParaRPr sz="1200" b="0" i="0" u="none" strike="noStrike" cap="none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9557871" y="1984088"/>
            <a:ext cx="18053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68A16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/ Closing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P2 </a:t>
            </a:r>
            <a:r>
              <a:rPr lang="en-US" sz="1200" b="1" i="0" u="none" strike="noStrike" cap="none" dirty="0" err="1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b="1" i="0" u="none" strike="noStrike" cap="none" dirty="0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/ </a:t>
            </a:r>
            <a:r>
              <a:rPr lang="en-US" sz="1200" b="1" i="0" u="none" strike="noStrike" cap="none" dirty="0" err="1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종료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6987196" y="3858168"/>
            <a:ext cx="20185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인수인계</a:t>
            </a:r>
            <a:endParaRPr sz="1200" b="0" i="0" u="none" strike="noStrike" cap="none" dirty="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QA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7964546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4월(M8)</a:t>
            </a:r>
            <a:endParaRPr sz="1400" b="0" i="0" u="none" strike="noStrike" cap="none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0553850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5월(M9)</a:t>
            </a:r>
            <a:endParaRPr sz="1400" b="0" i="0" u="none" strike="noStrike" cap="none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16" name="Google Shape;116;p6"/>
          <p:cNvCxnSpPr>
            <a:stCxn id="108" idx="6"/>
            <a:endCxn id="103" idx="2"/>
          </p:cNvCxnSpPr>
          <p:nvPr/>
        </p:nvCxnSpPr>
        <p:spPr>
          <a:xfrm>
            <a:off x="1199540" y="2975621"/>
            <a:ext cx="16218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7" name="Google Shape;117;p6"/>
          <p:cNvSpPr txBox="1"/>
          <p:nvPr/>
        </p:nvSpPr>
        <p:spPr>
          <a:xfrm>
            <a:off x="6658596" y="1984088"/>
            <a:ext cx="24625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&amp; Test &amp; Verification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P1 </a:t>
            </a:r>
            <a:r>
              <a:rPr lang="en-US" sz="10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0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r>
              <a:rPr lang="en-US" sz="1000" b="0" i="0" u="none" strike="noStrike" cap="none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00" b="0" i="0" u="none" strike="noStrike" cap="none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검증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18" name="Google Shape;118;p6"/>
          <p:cNvCxnSpPr>
            <a:stCxn id="104" idx="6"/>
            <a:endCxn id="119" idx="2"/>
          </p:cNvCxnSpPr>
          <p:nvPr/>
        </p:nvCxnSpPr>
        <p:spPr>
          <a:xfrm>
            <a:off x="5702238" y="2975621"/>
            <a:ext cx="20829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6"/>
          <p:cNvCxnSpPr>
            <a:stCxn id="119" idx="6"/>
            <a:endCxn id="121" idx="2"/>
          </p:cNvCxnSpPr>
          <p:nvPr/>
        </p:nvCxnSpPr>
        <p:spPr>
          <a:xfrm>
            <a:off x="8064147" y="2975621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" name="Google Shape;122;p6"/>
          <p:cNvCxnSpPr/>
          <p:nvPr/>
        </p:nvCxnSpPr>
        <p:spPr>
          <a:xfrm>
            <a:off x="2980494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23" name="Google Shape;123;p6"/>
          <p:cNvGrpSpPr/>
          <p:nvPr/>
        </p:nvGrpSpPr>
        <p:grpSpPr>
          <a:xfrm>
            <a:off x="2821328" y="2836133"/>
            <a:ext cx="278976" cy="278976"/>
            <a:chOff x="3994963" y="1685365"/>
            <a:chExt cx="278976" cy="278976"/>
          </a:xfrm>
        </p:grpSpPr>
        <p:sp>
          <p:nvSpPr>
            <p:cNvPr id="103" name="Google Shape;103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25" name="Google Shape;125;p6"/>
          <p:cNvCxnSpPr/>
          <p:nvPr/>
        </p:nvCxnSpPr>
        <p:spPr>
          <a:xfrm>
            <a:off x="5582428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26" name="Google Shape;126;p6"/>
          <p:cNvGrpSpPr/>
          <p:nvPr/>
        </p:nvGrpSpPr>
        <p:grpSpPr>
          <a:xfrm>
            <a:off x="5423262" y="2836133"/>
            <a:ext cx="278976" cy="278976"/>
            <a:chOff x="3994963" y="1685365"/>
            <a:chExt cx="278976" cy="278976"/>
          </a:xfrm>
        </p:grpSpPr>
        <p:sp>
          <p:nvSpPr>
            <p:cNvPr id="104" name="Google Shape;104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28" name="Google Shape;128;p6"/>
          <p:cNvCxnSpPr/>
          <p:nvPr/>
        </p:nvCxnSpPr>
        <p:spPr>
          <a:xfrm flipH="1">
            <a:off x="10514727" y="2568863"/>
            <a:ext cx="5628" cy="1274436"/>
          </a:xfrm>
          <a:prstGeom prst="straightConnector1">
            <a:avLst/>
          </a:prstGeom>
          <a:noFill/>
          <a:ln w="38100" cap="flat" cmpd="sng">
            <a:solidFill>
              <a:srgbClr val="FF8F1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" name="Google Shape;121;p6"/>
          <p:cNvSpPr/>
          <p:nvPr/>
        </p:nvSpPr>
        <p:spPr>
          <a:xfrm>
            <a:off x="10380867" y="2836133"/>
            <a:ext cx="278976" cy="278976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F68E3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Titillium Web"/>
              <a:sym typeface="Titillium Web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0448442" y="2903708"/>
            <a:ext cx="143827" cy="143827"/>
          </a:xfrm>
          <a:prstGeom prst="ellipse">
            <a:avLst/>
          </a:prstGeom>
          <a:solidFill>
            <a:srgbClr val="F68E38"/>
          </a:solidFill>
          <a:ln w="9525" cap="flat" cmpd="sng">
            <a:solidFill>
              <a:srgbClr val="F68E3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Titillium Web"/>
              <a:sym typeface="Titillium Web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7944337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31" name="Google Shape;131;p6"/>
          <p:cNvGrpSpPr/>
          <p:nvPr/>
        </p:nvGrpSpPr>
        <p:grpSpPr>
          <a:xfrm>
            <a:off x="7785171" y="2836133"/>
            <a:ext cx="278976" cy="278976"/>
            <a:chOff x="3994963" y="1685365"/>
            <a:chExt cx="278976" cy="278976"/>
          </a:xfrm>
        </p:grpSpPr>
        <p:sp>
          <p:nvSpPr>
            <p:cNvPr id="119" name="Google Shape;119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3710790" y="1730923"/>
            <a:ext cx="477042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2. Execution List</a:t>
            </a:r>
            <a:endParaRPr sz="5000" b="0" i="0" u="none" strike="noStrike" cap="none" dirty="0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3710790" y="3607968"/>
            <a:ext cx="32582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0363" marR="0" lvl="0" indent="-360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algun Gothic"/>
              <a:buAutoNum type="arabicPeriod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QA 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60363" marR="0" lvl="0" indent="-360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algun Gothic"/>
              <a:buAutoNum type="arabicPeriod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5106240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7"/>
          <p:cNvSpPr txBox="1"/>
          <p:nvPr/>
        </p:nvSpPr>
        <p:spPr>
          <a:xfrm>
            <a:off x="4870666" y="2859220"/>
            <a:ext cx="24506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구현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3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31035"/>
          <a:stretch/>
        </p:blipFill>
        <p:spPr>
          <a:xfrm>
            <a:off x="227922" y="2081297"/>
            <a:ext cx="11736156" cy="4427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6716" y="80035"/>
            <a:ext cx="512738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1. HCP Web QA - 2022.4.18 ~ 2022.5.27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655879" y="739242"/>
            <a:ext cx="2880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HCP Web QA</a:t>
            </a:r>
            <a:endParaRPr sz="30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3913333" y="1414486"/>
            <a:ext cx="436536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rPr>
              <a:t>QA : 2022.4.18 ~ 2022.5.27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9942"/>
          <a:stretch/>
        </p:blipFill>
        <p:spPr>
          <a:xfrm>
            <a:off x="227923" y="2081300"/>
            <a:ext cx="11736156" cy="44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76716" y="80035"/>
            <a:ext cx="566743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1. HCP Web QA - 2022.4.18 ~ 2022.5.27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4643605" y="739242"/>
            <a:ext cx="290479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HCP Web QA</a:t>
            </a:r>
            <a:endParaRPr sz="30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152672" y="1414486"/>
            <a:ext cx="388668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rPr>
              <a:t>QA : 2022.4.18 ~ 2022.5.27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/>
        </p:nvSpPr>
        <p:spPr>
          <a:xfrm>
            <a:off x="76716" y="80035"/>
            <a:ext cx="361156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4. HCP Web Open (5/30)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1200818" y="739242"/>
            <a:ext cx="979039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 (</a:t>
            </a: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사용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도메인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salted.neurogait.ai)</a:t>
            </a:r>
            <a:endParaRPr sz="1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952" y="1841958"/>
            <a:ext cx="2880000" cy="1451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304" y="1826164"/>
            <a:ext cx="2880000" cy="145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 rotWithShape="1">
          <a:blip r:embed="rId5">
            <a:alphaModFix/>
          </a:blip>
          <a:srcRect b="18289"/>
          <a:stretch/>
        </p:blipFill>
        <p:spPr>
          <a:xfrm>
            <a:off x="6112656" y="1826163"/>
            <a:ext cx="2880000" cy="1632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12756" y="3772490"/>
            <a:ext cx="2880000" cy="198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2049" y="1826164"/>
            <a:ext cx="2880000" cy="177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9952" y="3772489"/>
            <a:ext cx="2880000" cy="1991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42049" y="3784683"/>
            <a:ext cx="2880000" cy="2072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0"/>
          <p:cNvGrpSpPr/>
          <p:nvPr/>
        </p:nvGrpSpPr>
        <p:grpSpPr>
          <a:xfrm>
            <a:off x="6109051" y="3772490"/>
            <a:ext cx="2883605" cy="1612310"/>
            <a:chOff x="5307695" y="3772490"/>
            <a:chExt cx="3684961" cy="2060372"/>
          </a:xfrm>
        </p:grpSpPr>
        <p:pic>
          <p:nvPicPr>
            <p:cNvPr id="171" name="Google Shape;171;p1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307695" y="4756274"/>
              <a:ext cx="1554335" cy="1076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862030" y="3775058"/>
              <a:ext cx="2130626" cy="2057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307695" y="3772490"/>
              <a:ext cx="1540536" cy="975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4355197" y="1730923"/>
            <a:ext cx="34816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3. Issues</a:t>
            </a:r>
            <a:endParaRPr sz="5000" b="0" i="0" u="none" strike="noStrike" cap="none" dirty="0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107944" y="2859220"/>
            <a:ext cx="197614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이슈사항</a:t>
            </a:r>
            <a:endParaRPr sz="3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80" name="Google Shape;180;p11"/>
          <p:cNvCxnSpPr/>
          <p:nvPr/>
        </p:nvCxnSpPr>
        <p:spPr>
          <a:xfrm>
            <a:off x="5106256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/>
        </p:nvSpPr>
        <p:spPr>
          <a:xfrm>
            <a:off x="67091" y="80035"/>
            <a:ext cx="133837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이슈사항</a:t>
            </a:r>
            <a:endParaRPr sz="20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321494" y="739242"/>
            <a:ext cx="15490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Issues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633508" y="1459379"/>
            <a:ext cx="944597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&amp; Patient App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일정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협의</a:t>
            </a:r>
            <a:endParaRPr sz="32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 : 5월 30일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마켓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5월 30일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단,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스케줄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오늘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삭제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기능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적용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및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Redmine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디버깅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처리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633508" y="4054736"/>
            <a:ext cx="9445972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일정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협의</a:t>
            </a:r>
            <a:endParaRPr sz="32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5월 내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개발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완료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6월 초 QA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진행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6월 내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예정</a:t>
            </a:r>
            <a:endParaRPr sz="2400" b="0" i="0" u="none" strike="noStrike" cap="none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4;p13"/>
          <p:cNvSpPr txBox="1"/>
          <p:nvPr/>
        </p:nvSpPr>
        <p:spPr>
          <a:xfrm>
            <a:off x="1282052" y="739242"/>
            <a:ext cx="449892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</a:t>
            </a:r>
            <a:endParaRPr dirty="0"/>
          </a:p>
        </p:txBody>
      </p:sp>
      <p:sp>
        <p:nvSpPr>
          <p:cNvPr id="7" name="Google Shape;195;p13"/>
          <p:cNvSpPr txBox="1"/>
          <p:nvPr/>
        </p:nvSpPr>
        <p:spPr>
          <a:xfrm>
            <a:off x="1284939" y="5940576"/>
            <a:ext cx="8734960" cy="33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* 본 문서는 지정된 수신인만을 위한 것이며, 부정경쟁방지 및 영업비밀보호에 관한 법률을 포함하여  관련 법령에 따라  보호의 대상이 되는 영업비밀, 산업기술 등을 포함하고 있을 수 있습니다.  </a:t>
            </a:r>
            <a:b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  따라서, 본 문서에 포함된 정보의 전부 또는 일부를  무단으로 제 3자에게 공개, 배포, 복사 또는 사용하는 것은  엄격히 금지됩니다.</a:t>
            </a:r>
            <a:endParaRPr sz="8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8" name="Google Shape;196;p13"/>
          <p:cNvSpPr txBox="1"/>
          <p:nvPr/>
        </p:nvSpPr>
        <p:spPr>
          <a:xfrm>
            <a:off x="1284939" y="5663599"/>
            <a:ext cx="424718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ko-KR" altLang="en-US" sz="12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</a:rPr>
              <a:t>주식회사 엠파시</a:t>
            </a:r>
            <a:r>
              <a:rPr lang="en-US" sz="1200" dirty="0" smtClean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– </a:t>
            </a:r>
            <a:r>
              <a:rPr lang="ko-KR" altLang="en-US" sz="1200" dirty="0" err="1" smtClean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프로젝트명</a:t>
            </a:r>
            <a:endParaRPr sz="12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" name="Google Shape;197;p13"/>
          <p:cNvSpPr txBox="1"/>
          <p:nvPr/>
        </p:nvSpPr>
        <p:spPr>
          <a:xfrm>
            <a:off x="1282052" y="1836522"/>
            <a:ext cx="503896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You</a:t>
            </a:r>
            <a:endParaRPr sz="12000" b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와이드스크린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Titillium Web</vt:lpstr>
      <vt:lpstr>아리따-돋움4.0(OTF)-Medium</vt:lpstr>
      <vt:lpstr>Malgun Gothic</vt:lpstr>
      <vt:lpstr>Noto Sans Symbols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Empasy</cp:lastModifiedBy>
  <cp:revision>1</cp:revision>
  <dcterms:created xsi:type="dcterms:W3CDTF">2017-07-25T06:30:04Z</dcterms:created>
  <dcterms:modified xsi:type="dcterms:W3CDTF">2023-06-30T10:21:25Z</dcterms:modified>
</cp:coreProperties>
</file>