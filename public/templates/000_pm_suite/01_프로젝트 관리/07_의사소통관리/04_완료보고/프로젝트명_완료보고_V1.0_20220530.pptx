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761150" cy="9942500"/>
  <p:embeddedFontLst>
    <p:embeddedFont>
      <p:font typeface="Titillium Web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35">
          <p15:clr>
            <a:srgbClr val="A4A3A4"/>
          </p15:clr>
        </p15:guide>
        <p15:guide id="2" orient="horz" pos="2137">
          <p15:clr>
            <a:srgbClr val="A4A3A4"/>
          </p15:clr>
        </p15:guide>
        <p15:guide id="3" pos="3840">
          <p15:clr>
            <a:srgbClr val="A4A3A4"/>
          </p15:clr>
        </p15:guide>
        <p15:guide id="4" orient="horz" pos="1706">
          <p15:clr>
            <a:srgbClr val="A4A3A4"/>
          </p15:clr>
        </p15:guide>
        <p15:guide id="5" pos="6221">
          <p15:clr>
            <a:srgbClr val="A4A3A4"/>
          </p15:clr>
        </p15:guide>
        <p15:guide id="6" pos="846">
          <p15:clr>
            <a:srgbClr val="A4A3A4"/>
          </p15:clr>
        </p15:guide>
        <p15:guide id="7" orient="horz" pos="346">
          <p15:clr>
            <a:srgbClr val="A4A3A4"/>
          </p15:clr>
        </p15:guide>
        <p15:guide id="8" orient="horz" pos="1094">
          <p15:clr>
            <a:srgbClr val="A4A3A4"/>
          </p15:clr>
        </p15:guide>
        <p15:guide id="9" pos="257">
          <p15:clr>
            <a:srgbClr val="A4A3A4"/>
          </p15:clr>
        </p15:guide>
        <p15:guide id="10" pos="7423">
          <p15:clr>
            <a:srgbClr val="A4A3A4"/>
          </p15:clr>
        </p15:guide>
        <p15:guide id="11" orient="horz" pos="89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U/QKl77SAfzGW5AsS/LkFakQm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CADDDE-668D-48C0-A4B3-94438C60EFDB}">
  <a:tblStyle styleId="{2BCADDDE-668D-48C0-A4B3-94438C60EFDB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2B9BE0A-6C24-4DAB-BC58-7D30B76EDBD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35" orient="horz"/>
        <p:guide pos="2137" orient="horz"/>
        <p:guide pos="3840"/>
        <p:guide pos="1706" orient="horz"/>
        <p:guide pos="6221"/>
        <p:guide pos="846"/>
        <p:guide pos="346" orient="horz"/>
        <p:guide pos="1094" orient="horz"/>
        <p:guide pos="257"/>
        <p:guide pos="7423"/>
        <p:guide pos="89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TitilliumWeb-bold.fntdata"/><Relationship Id="rId23" Type="http://schemas.openxmlformats.org/officeDocument/2006/relationships/font" Target="fonts/TitilliumWe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itilliumWeb-boldItalic.fntdata"/><Relationship Id="rId25" Type="http://schemas.openxmlformats.org/officeDocument/2006/relationships/font" Target="fonts/TitilliumWeb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/>
        </p:nvSpPr>
        <p:spPr>
          <a:xfrm>
            <a:off x="5029200" y="6589715"/>
            <a:ext cx="2133601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ko-KR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18"/>
          <p:cNvCxnSpPr/>
          <p:nvPr/>
        </p:nvCxnSpPr>
        <p:spPr>
          <a:xfrm rot="10800000">
            <a:off x="128470" y="6524625"/>
            <a:ext cx="11909201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8"/>
          <p:cNvSpPr txBox="1"/>
          <p:nvPr/>
        </p:nvSpPr>
        <p:spPr>
          <a:xfrm>
            <a:off x="9379611" y="96893"/>
            <a:ext cx="2658060" cy="27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completion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18"/>
          <p:cNvCxnSpPr/>
          <p:nvPr/>
        </p:nvCxnSpPr>
        <p:spPr>
          <a:xfrm>
            <a:off x="128468" y="476672"/>
            <a:ext cx="11909203" cy="0"/>
          </a:xfrm>
          <a:prstGeom prst="straightConnector1">
            <a:avLst/>
          </a:prstGeom>
          <a:noFill/>
          <a:ln cap="flat" cmpd="sng" w="9525">
            <a:solidFill>
              <a:srgbClr val="D0CECE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1439693" y="1013193"/>
            <a:ext cx="62937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프로젝트명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시스템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완료보고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2022.05.30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059" y="5967732"/>
            <a:ext cx="1039856" cy="370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2722764" y="2427835"/>
            <a:ext cx="674649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ko-KR" sz="50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1. Project Overview</a:t>
            </a:r>
            <a:endParaRPr b="0" i="0" sz="50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4465653" y="3556132"/>
            <a:ext cx="326071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현황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5106248" y="3413218"/>
            <a:ext cx="19795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/>
        </p:nvSpPr>
        <p:spPr>
          <a:xfrm>
            <a:off x="67091" y="80035"/>
            <a:ext cx="211765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5300324" y="739242"/>
            <a:ext cx="1591430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개요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79092" y="1516813"/>
            <a:ext cx="10330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명 : 솔티드 원격 모니터링(App 및 Web) 시스템 개발 </a:t>
            </a: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(프로젝트관리자(PM), 기획(PL) 용역 도급)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79092" y="2281862"/>
            <a:ext cx="19255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프로젝트 범위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79092" y="4114073"/>
            <a:ext cx="69349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프로젝트 기간 : 2021년 9월 1일 ~ 2022년 5월 31일 (9개월)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1117600" y="4591799"/>
            <a:ext cx="5576444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 기간 :  2021년 9월  ~ 2022년 5 월 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검수 완료일 : 2022년 5월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117600" y="2628089"/>
            <a:ext cx="10312400" cy="106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NEUROGAIT HCP용 Web 구축 : 기존 Smart Gait Beta App 서비스 데이터를 관리하고 확인할 수 있는 Web 서비스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NEUROGAIT Patient 용 서비스 구축 : iOS / Android Phone 전용 APP 구축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Admin Web 구축 : 전체 페이지 운영 및 데이터 관리를 위한 Back Office 개발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 rotWithShape="1">
          <a:blip r:embed="rId3">
            <a:alphaModFix/>
          </a:blip>
          <a:srcRect b="733" l="2126" r="3409" t="3069"/>
          <a:stretch/>
        </p:blipFill>
        <p:spPr>
          <a:xfrm>
            <a:off x="1168397" y="1195811"/>
            <a:ext cx="9309101" cy="530140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/>
        </p:nvSpPr>
        <p:spPr>
          <a:xfrm>
            <a:off x="5096783" y="739242"/>
            <a:ext cx="1998435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추진 일정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67091" y="80035"/>
            <a:ext cx="2172882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10325" y="1293240"/>
            <a:ext cx="1038225" cy="5165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67091" y="80035"/>
            <a:ext cx="2553371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3661768" y="739241"/>
            <a:ext cx="48685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구축 범위 (1/2)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" name="Google Shape;62;p5"/>
          <p:cNvGraphicFramePr/>
          <p:nvPr/>
        </p:nvGraphicFramePr>
        <p:xfrm>
          <a:off x="407990" y="1559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{2BCADDDE-668D-48C0-A4B3-94438C60EFDB}</a:tableStyleId>
              </a:tblPr>
              <a:tblGrid>
                <a:gridCol w="1241600"/>
                <a:gridCol w="1118450"/>
                <a:gridCol w="9015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서비스명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내용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전체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1" lang="ko-KR" sz="10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Patient App은 Android OS와 iOS OS 에서 모두 구동될 수 있도록 개발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1" lang="ko-KR" sz="10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</a:t>
                      </a:r>
                      <a:r>
                        <a:rPr b="1" lang="ko-KR" sz="10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Patient App은 당사가 제공하는 Bluetooth API를 통해 NEUROGAIT Insole과 연결 가능하도록 개발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1" lang="ko-KR" sz="10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1st phase 와 2nd phase를 모두 개발하되, </a:t>
                      </a:r>
                      <a:r>
                        <a:rPr b="1" lang="ko-KR" sz="1000" u="sng" cap="none" strike="sng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대내/외 환경에 따른 당사의 요청에 따라 일부 기능을 Open/Close가 가능하도록 구현되어야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Insole을 통해 수집된 Data는 당사가 요청하는 기준에 따라 NEUROGAIT Beta(기존 앱), </a:t>
                      </a: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</a:t>
                      </a: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, 관리용 Web 모두 호환 가능하도록 개발되어야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</a:t>
                      </a: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에서 수집된 모든 정보는 SALTED 클라우드 서버로 전송이 가능해야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1st phase의 ‘일상 보행패턴 모니터링’은 NEUROGAIT App의 Default 기능으로써, App과 NEUROGAIT Insole이 연결된 상태에서 자동으로(상시) 수집될 수 있어야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2nd phase에서 ‘실시간 동기화’ 정보는 ‘클라우드 서버’를 통해 연결된 담당 HCP의 App으로 실시간 확인이 가능해야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‘이상보행패턴 알림’ 기능은 환자용 App에서 팝업 알림 형태로 구현되며, HCP용 App에서도 확인가능해야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이상보행패턴에 대한 가이드라인은 당사가 제공함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2nd phase에서 유-헬스케어 의료기기 인증을 목표로 함에 따라, 유-헬스케어 의료기기  가이드라인에 의해 개발되어야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Web서비스는 SMARTGAIT Beta(기존 HCP용 App)의 Web 버전과 TELECARE(가칭) App을 통해 수집된 모든 데이터를 관리할 수 있는 Admin으로 구축되어야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기타 개인 정보 및 의료 정보 보호 관련 암호화 및 보안 가이드라인 준수해야 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Master Admin Web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 </a:t>
                      </a: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HCP App과 </a:t>
                      </a: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 </a:t>
                      </a: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Patient용 App을 통해 수집된 데이터를 관리하기 위한 반응형웹 기반의 웹사이트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: Edge, Chrome, Firefox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Mac : Chrome, Safari, Firefox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 / 백엔드 서버 Rest API는 솔티드에서 담당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Web에서는 UI만 담당 (웨이브온)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Docker로 deploy 할 수 있도록 구성 필요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 Framework 선호 (Vue, React, Flutter)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/>
        </p:nvSpPr>
        <p:spPr>
          <a:xfrm>
            <a:off x="67091" y="80035"/>
            <a:ext cx="2289483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2851694" y="739241"/>
            <a:ext cx="6488688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구축 범위 (2/2)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" name="Google Shape;69;p6"/>
          <p:cNvGraphicFramePr/>
          <p:nvPr/>
        </p:nvGraphicFramePr>
        <p:xfrm>
          <a:off x="407990" y="1559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{2BCADDDE-668D-48C0-A4B3-94438C60EFDB}</a:tableStyleId>
              </a:tblPr>
              <a:tblGrid>
                <a:gridCol w="1241600"/>
                <a:gridCol w="1118450"/>
                <a:gridCol w="9015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서비스명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내용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HCP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HCP용 Web – Windows 10, Mac, Linux 상용 웹 브라우저(Chrome)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 / 백엔드 서버 Rest API는 솔티드에서 담당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Web에서는 UI만 담당 (웨이브온)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 Framework 선호 (Vue, React, Flutter)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Patient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Patient APP (iOS / Android) – iOS 11, Phone 8; Android 8.0 Oreo, Galaxy S8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백엔드 서버 Rest API 및 블루투스 기기 연동 관련 SDK는 솔티드에서 제공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개발범위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솔티드 개발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NEUROGAIT_HCP App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전체 back-end 구축 및 DB Scheme 구축 : 요구사항 전체 API 리스트 제공, 메일 전송 서비스 구축, SMS 전송 및 인증 구축, 기타 기획서 전체 기능 (회원 가입, 로그인, 환자 관리 모든 기능 등)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환자 관련 문진 알고리즘 정보 및 환자 정보 관련 알고리즘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FCM 푸시 서버 구축 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전체 디자인 및 반응형 웹 퍼블리싱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Patient app용 인솔 연동 SDK 지원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배포 및 서버 운영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개발범위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웨이브온 개발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Patient App (aos, ios) / 하이브리드 app : 다국어 지원, FCM 푸시 지원, docker 배포 구성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Master Admin Web (front-end) : 영문으로만 개발, docker 배포 구성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NEUROGAIT HCP Web (front-end) : 다국어 지원, docker 배포 구성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/>
        </p:nvSpPr>
        <p:spPr>
          <a:xfrm>
            <a:off x="5220549" y="739241"/>
            <a:ext cx="1750984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조직도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67091" y="80035"/>
            <a:ext cx="2307894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7"/>
          <p:cNvGrpSpPr/>
          <p:nvPr/>
        </p:nvGrpSpPr>
        <p:grpSpPr>
          <a:xfrm>
            <a:off x="2103034" y="1751341"/>
            <a:ext cx="7985932" cy="4302890"/>
            <a:chOff x="1993403" y="2371598"/>
            <a:chExt cx="7985932" cy="4302890"/>
          </a:xfrm>
        </p:grpSpPr>
        <p:sp>
          <p:nvSpPr>
            <p:cNvPr id="77" name="Google Shape;77;p7"/>
            <p:cNvSpPr/>
            <p:nvPr/>
          </p:nvSpPr>
          <p:spPr>
            <a:xfrm>
              <a:off x="3995068" y="2796083"/>
              <a:ext cx="4284912" cy="110872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7875" lIns="95775" spcFirstLastPara="1" rIns="95775" wrap="square" tIns="47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 Management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"/>
            <p:cNvSpPr txBox="1"/>
            <p:nvPr/>
          </p:nvSpPr>
          <p:spPr>
            <a:xfrm>
              <a:off x="2410840" y="2371598"/>
              <a:ext cx="7441010" cy="276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유사 사업에서 성공적인 프로젝트 경험을 이끌었던 Best Member들을 우선 배치하여 프로젝트 성공 확률을 증진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1993403" y="4308251"/>
              <a:ext cx="1883826" cy="309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Strategy  Planning Div</a:t>
              </a:r>
              <a:endParaRPr b="1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4076334" y="4308251"/>
              <a:ext cx="1748335" cy="309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U.I. Design Div</a:t>
              </a:r>
              <a:endParaRPr b="1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6038591" y="4308251"/>
              <a:ext cx="1870048" cy="309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Web  Platform Div</a:t>
              </a:r>
              <a:endParaRPr b="1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" name="Google Shape;82;p7"/>
            <p:cNvCxnSpPr>
              <a:stCxn id="79" idx="0"/>
              <a:endCxn id="77" idx="2"/>
            </p:cNvCxnSpPr>
            <p:nvPr/>
          </p:nvCxnSpPr>
          <p:spPr>
            <a:xfrm rot="-5400000">
              <a:off x="4334666" y="2505401"/>
              <a:ext cx="403500" cy="3202200"/>
            </a:xfrm>
            <a:prstGeom prst="bentConnector3">
              <a:avLst>
                <a:gd fmla="val -103740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7"/>
            <p:cNvCxnSpPr>
              <a:stCxn id="77" idx="2"/>
              <a:endCxn id="80" idx="0"/>
            </p:cNvCxnSpPr>
            <p:nvPr/>
          </p:nvCxnSpPr>
          <p:spPr>
            <a:xfrm rot="5400000">
              <a:off x="5342224" y="3513005"/>
              <a:ext cx="403500" cy="1187100"/>
            </a:xfrm>
            <a:prstGeom prst="bentConnector3">
              <a:avLst>
                <a:gd fmla="val 203740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7"/>
            <p:cNvCxnSpPr>
              <a:stCxn id="81" idx="0"/>
              <a:endCxn id="77" idx="2"/>
            </p:cNvCxnSpPr>
            <p:nvPr/>
          </p:nvCxnSpPr>
          <p:spPr>
            <a:xfrm flipH="1" rot="5400000">
              <a:off x="6353815" y="3688451"/>
              <a:ext cx="403500" cy="836100"/>
            </a:xfrm>
            <a:prstGeom prst="bentConnector3">
              <a:avLst>
                <a:gd fmla="val -103740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" name="Google Shape;85;p7"/>
            <p:cNvSpPr/>
            <p:nvPr/>
          </p:nvSpPr>
          <p:spPr>
            <a:xfrm>
              <a:off x="8083093" y="4308251"/>
              <a:ext cx="1896242" cy="309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Web/App Platform Div</a:t>
              </a:r>
              <a:endParaRPr b="1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" name="Google Shape;86;p7"/>
            <p:cNvCxnSpPr>
              <a:stCxn id="85" idx="0"/>
              <a:endCxn id="77" idx="2"/>
            </p:cNvCxnSpPr>
            <p:nvPr/>
          </p:nvCxnSpPr>
          <p:spPr>
            <a:xfrm flipH="1" rot="5400000">
              <a:off x="7382564" y="2659601"/>
              <a:ext cx="403500" cy="2893800"/>
            </a:xfrm>
            <a:prstGeom prst="bentConnector3">
              <a:avLst>
                <a:gd fmla="val -103740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7" name="Google Shape;87;p7"/>
            <p:cNvSpPr/>
            <p:nvPr/>
          </p:nvSpPr>
          <p:spPr>
            <a:xfrm>
              <a:off x="6212293" y="3040952"/>
              <a:ext cx="1908171" cy="309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(주)엠파시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6213877" y="3350514"/>
              <a:ext cx="1906587" cy="456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ko-K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프로젝트  관리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152661" y="3031867"/>
              <a:ext cx="1895475" cy="309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솔티드㈜</a:t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4152661" y="3335948"/>
              <a:ext cx="1897059" cy="45616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ko-K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프로젝트 관리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4076334" y="4732736"/>
              <a:ext cx="1748335" cy="73574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Art Director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디자인 전략                                      </a:t>
              </a:r>
              <a:b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디자인 퀄리티관리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스타일 가이드 수립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1994260" y="4744114"/>
              <a:ext cx="1882969" cy="97466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 Manager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프로젝트 진행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요구분석 정의</a:t>
              </a:r>
              <a:b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사이트 기획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1994260" y="5718782"/>
              <a:ext cx="1882969" cy="84572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I. A. Planner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콘텐츠 기획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제작관련 문서</a:t>
              </a:r>
              <a:b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 및 U.I. 기획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4076334" y="5468478"/>
              <a:ext cx="1748335" cy="6030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U.I. Designer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디자인 작업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그래픽 디자인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8083093" y="4715669"/>
              <a:ext cx="1896242" cy="113395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Technical Director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개발환경 분석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시스템 및 DB 설계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모듈분석 /기능개선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신규모듈개발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관리시스템 개발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보안 검증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012397" y="4746009"/>
              <a:ext cx="1896242" cy="70729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Front Interaction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코딩가이드 개발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웹/모바일 표준 코딩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웹표준/접근성 구축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4076334" y="6071483"/>
              <a:ext cx="1748335" cy="6030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Illustrator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일러스트 디자인 작업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6012397" y="5449860"/>
              <a:ext cx="1896242" cy="70729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Xml 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파일 정의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페이지 코딩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8083093" y="5849623"/>
              <a:ext cx="1896242" cy="61079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875" lIns="95775" spcFirstLastPara="1" rIns="9577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 Director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Android App 개발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iOS App 개발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/>
        </p:nvSpPr>
        <p:spPr>
          <a:xfrm>
            <a:off x="4312282" y="739241"/>
            <a:ext cx="3567514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역할 및 업무 분장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5" name="Google Shape;105;p8"/>
          <p:cNvGraphicFramePr/>
          <p:nvPr/>
        </p:nvGraphicFramePr>
        <p:xfrm>
          <a:off x="412588" y="16424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{82B9BE0A-6C24-4DAB-BC58-7D30B76EDBDC}</a:tableStyleId>
              </a:tblPr>
              <a:tblGrid>
                <a:gridCol w="1788225"/>
                <a:gridCol w="1879575"/>
                <a:gridCol w="1231000"/>
                <a:gridCol w="6472650"/>
              </a:tblGrid>
              <a:tr h="21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직무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등급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</a:t>
                      </a:r>
                      <a:endParaRPr b="1" i="0" sz="1000" u="none" cap="none" strike="noStrike">
                        <a:solidFill>
                          <a:srgbClr val="141C3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4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Management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프로젝트의 수행에 대한 총괄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2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Planning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 PL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구축 프로젝트 내 각 영역간 업무조율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화면 설계 및 UI/UX 기획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68575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초급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492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U.I Design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 PL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화면 디자인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화면 디자인 및 화면 표준화 작업 및 표준 가이드 작성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262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Html Publishing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 PL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화면 디자인의 웹 퍼블리싱 진행 및 표준 퍼블리싱 가이드 작성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26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row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 PL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개발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시스템 구축/개발 및 데이터 표준화 정책 수립, App, API, Web 개발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개발(App)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개발(App)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개발(서버)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개발(Web)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개발(Web)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개발(Web)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개발(Web)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4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8"/>
          <p:cNvSpPr/>
          <p:nvPr/>
        </p:nvSpPr>
        <p:spPr>
          <a:xfrm>
            <a:off x="412589" y="1293239"/>
            <a:ext cx="9081268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 프로젝트의 투입인력과 업무분장 및 역할은 다음과 같습니다.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67091" y="80035"/>
            <a:ext cx="2013322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/>
        </p:nvSpPr>
        <p:spPr>
          <a:xfrm>
            <a:off x="3483740" y="2427835"/>
            <a:ext cx="522454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ko-KR" sz="50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2. Execution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950470" y="3556132"/>
            <a:ext cx="22910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구현 현황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9"/>
          <p:cNvCxnSpPr/>
          <p:nvPr/>
        </p:nvCxnSpPr>
        <p:spPr>
          <a:xfrm>
            <a:off x="5106248" y="3413218"/>
            <a:ext cx="19795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/>
        </p:nvSpPr>
        <p:spPr>
          <a:xfrm>
            <a:off x="76715" y="80035"/>
            <a:ext cx="1997561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구현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5030329" y="739242"/>
            <a:ext cx="2131448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HCP App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b="42018" l="0" r="0" t="0"/>
          <a:stretch/>
        </p:blipFill>
        <p:spPr>
          <a:xfrm>
            <a:off x="395746" y="1412875"/>
            <a:ext cx="11400508" cy="5072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/>
        </p:nvSpPr>
        <p:spPr>
          <a:xfrm>
            <a:off x="76715" y="80035"/>
            <a:ext cx="1678441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구현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4766447" y="739242"/>
            <a:ext cx="2659218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App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1"/>
          <p:cNvPicPr preferRelativeResize="0"/>
          <p:nvPr/>
        </p:nvPicPr>
        <p:blipFill rotWithShape="1">
          <a:blip r:embed="rId3">
            <a:alphaModFix/>
          </a:blip>
          <a:srcRect b="10754" l="0" r="0" t="0"/>
          <a:stretch/>
        </p:blipFill>
        <p:spPr>
          <a:xfrm>
            <a:off x="398794" y="1412876"/>
            <a:ext cx="11394412" cy="5097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/>
        </p:nvSpPr>
        <p:spPr>
          <a:xfrm>
            <a:off x="76716" y="80035"/>
            <a:ext cx="1887096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구현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4858496" y="739242"/>
            <a:ext cx="2475116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HCP Web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 b="50509" l="0" r="0" t="0"/>
          <a:stretch/>
        </p:blipFill>
        <p:spPr>
          <a:xfrm>
            <a:off x="407939" y="1412875"/>
            <a:ext cx="11376122" cy="508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/>
        </p:nvSpPr>
        <p:spPr>
          <a:xfrm>
            <a:off x="76716" y="80035"/>
            <a:ext cx="1844138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구현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165031" y="739242"/>
            <a:ext cx="3862052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Admin Web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25857" l="0" r="0" t="0"/>
          <a:stretch/>
        </p:blipFill>
        <p:spPr>
          <a:xfrm>
            <a:off x="407939" y="1412875"/>
            <a:ext cx="11376122" cy="50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/>
        </p:nvSpPr>
        <p:spPr>
          <a:xfrm>
            <a:off x="76715" y="80035"/>
            <a:ext cx="1868685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구현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4017749" y="739242"/>
            <a:ext cx="4156620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공통(error / e-mail)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23396" l="0" r="0" t="0"/>
          <a:stretch/>
        </p:blipFill>
        <p:spPr>
          <a:xfrm>
            <a:off x="407939" y="1412876"/>
            <a:ext cx="11376122" cy="508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/>
        </p:nvSpPr>
        <p:spPr>
          <a:xfrm>
            <a:off x="76716" y="80035"/>
            <a:ext cx="1752084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구현 현황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5067163" y="739242"/>
            <a:ext cx="2057794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15"/>
          <p:cNvGraphicFramePr/>
          <p:nvPr/>
        </p:nvGraphicFramePr>
        <p:xfrm>
          <a:off x="407987" y="173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{82B9BE0A-6C24-4DAB-BC58-7D30B76EDBDC}</a:tableStyleId>
              </a:tblPr>
              <a:tblGrid>
                <a:gridCol w="1480200"/>
                <a:gridCol w="9895825"/>
              </a:tblGrid>
              <a:tr h="48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산출 단계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 명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66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착수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수행계획서, WBS, TF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분석/설계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용어사전, 벤치마팅(기능/디자인), 요구사항정의서, 기능정의서, IA정의서, 화면설계서, </a:t>
                      </a:r>
                      <a:b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정책정의서, 운동 리스트, Checklist, Message List, 디버깅 리스트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보고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주간업무보고, 월간보고, 중간보고, 회의록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검수/종료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완료보고서, 검수확인서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 위치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Salted Google Drive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282052" y="739242"/>
            <a:ext cx="44989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ko-KR" sz="120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284939" y="5940576"/>
            <a:ext cx="8734960" cy="33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* 본 문서는 지정된 수신인만을 위한 것이며, 부정경쟁방지 및 영업비밀보호에 관한 법률을 포함하여  관련 법령에 따라  보호의 대상이 되는 영업비밀, 산업기술 등을 포함하고 있을 수 있습니다.  </a:t>
            </a:r>
            <a:br>
              <a:rPr b="0" i="0" lang="ko-KR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  따라서, 본 문서에 포함된 정보의 전부 또는 일부를  무단으로 제 3자에게 공개, 배포, 복사 또는 사용하는 것은  엄격히 금지됩니다.</a:t>
            </a:r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284939" y="5663599"/>
            <a:ext cx="4247181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주식회사 엠파시– 프로젝트명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282052" y="1836522"/>
            <a:ext cx="503896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ko-KR" sz="120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You</a:t>
            </a:r>
            <a:endParaRPr b="1" i="0" sz="120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2017-07-25T06:30:04Z</dcterms:created>
  <dc:creator>USER</dc:creator>
</cp:coreProperties>
</file>