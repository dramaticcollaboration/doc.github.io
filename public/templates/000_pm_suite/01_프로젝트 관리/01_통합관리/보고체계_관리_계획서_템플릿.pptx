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475488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93C5FD"/>
                </a:solidFill>
                <a:latin typeface="맑은 고딕"/>
              </a:rPr>
              <a:t>산출물 ID : EMP_MAN_080   |   버전 : v1.0   |   표준 관리 템플릿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91440" cy="2240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64208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800" b="1">
                <a:solidFill>
                  <a:srgbClr val="93C5FD"/>
                </a:solidFill>
                <a:latin typeface="맑은 고딕"/>
              </a:rPr>
              <a:t>한빛글로벌 SyncFlow AI 시스템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21408"/>
            <a:ext cx="7315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44368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Reporting &amp; Communication Governance Plan (공공·엔터프라이즈 표준)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29000"/>
            <a:ext cx="71323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E2E8F0"/>
                </a:solidFill>
                <a:latin typeface="맑은 고딕"/>
              </a:rPr>
              <a:t>발주사(한빛글로벌) · 주관수행사(엠파시) · 협력사(데이터브릿지) 간 정기·단계별·수시 보고 체계, 회의체 운영, 이슈 에스컬레이션 및 협업 채널 기준을 정의합니다.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4434840"/>
          <a:ext cx="71323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669280"/>
              </a:tblGrid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명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한빛글로벌 SyncFlow AI 시스템 구축 용역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기 간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16. ~ 2027. 05. 31. (약 7.5개월 / 33주)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발 주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한빛글로벌 (공급망혁신팀 / ERP플랫폼기획팀 / 품질법무검증팀)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수 행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엠파시 (협력사: ㈜데이터브릿지)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작 성 일 자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2026. 10. 28.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732520" y="406908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93C5FD"/>
                </a:solidFill>
                <a:latin typeface="맑은 고딕"/>
              </a:rPr>
              <a:t>■ 산출물 검토 및 승인 확인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732520" y="4434840"/>
          <a:ext cx="30175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097280"/>
              </a:tblGrid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 분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수행사 (엠파시)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발주사 (한빛글로벌)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담 당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김태윤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정민수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검 토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박준혁 AA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한승우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승 인(인)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732520" y="1143000"/>
            <a:ext cx="3017520" cy="2697480"/>
          </a:xfrm>
          <a:prstGeom prst="rect">
            <a:avLst/>
          </a:prstGeom>
          <a:solidFill>
            <a:srgbClr val="0F294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1143000"/>
            <a:ext cx="301752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78824" y="1280160"/>
            <a:ext cx="1252728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1261872"/>
            <a:ext cx="138074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표준 템플릿 활용 안내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609343"/>
            <a:ext cx="2724912" cy="21396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본 문서는 전사 표준 프로젝트 관리 템플릿이자 한빛글로벌 SyncFlow AI 실전 기준서입니다.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타 프로젝트 적용 시 표지, 문서이력, WBS/조직/인프라 표의 프로젝트 고유 항목만 교체하여 즉시 활용 가능합니다.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문서 번호 체계: [수행사코드]_MAN_[순번]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0. 문서 이력 및 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문서 제·개정 이력 및 목차 (Document History &amp;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본 계획서의 제·개정 이력과 전체 장표 구성을 정의하며, 프로젝트 규모에 따라 테일러링(Tailoring)하여 적용합니다.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53312"/>
            <a:ext cx="5577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문서 제·개정 이력 (Revision History)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691640"/>
          <a:ext cx="56235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1005840"/>
                <a:gridCol w="2148840"/>
                <a:gridCol w="914400"/>
              </a:tblGrid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개정일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주요 제·개정 내역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작성/승인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v0.9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2026-10-15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초안 작성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공공 사업 의사소통 관리 지침 및 발주사 보고 표준 기반 초안 작성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김태윤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2026-10-16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착수 승인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착수 킥오프 합의 반영 (금요일 13:30 주간정례회의, 양사 PM 단일창구 확정)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김태윤 / 정민수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2026-10-28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표준화 보강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3단계 이슈 에스컬레이션 SLA 및 이해관계자 연락망(R&amp;R) 매트릭스 상세화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이지훈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4187952"/>
            <a:ext cx="5623560" cy="205740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87952"/>
            <a:ext cx="56235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4325112"/>
            <a:ext cx="8686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작성 지침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3624" y="4306824"/>
            <a:ext cx="43708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타 프로젝트 재활용 및 테일러링(Tailoring) 작성 지침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4654296"/>
            <a:ext cx="5330952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1. 프로젝트 규모별 적용 기준 : 대형(L, 5억↑/6개월↑) 전 항목 필수(M), 중형(M) 핵심 항목 필수, 소형(S) 약식 통합 적용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2. 기준선(Baseline) 설정 : 착수보고회 및 M1 설계승인 시점에 본 계획서의 지표를 확정하고 변경 시 양사 PM 합의 필수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3. 교체 필수 항목 : SyncFlow AI 시스템 구축 사업, [발주사/수행사 조직], [사업기간 및 M1~M6 일정], [산출물 ID 체계], [인력/인프라 수량]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4. 연계 문서 : 사업수행계획서(EMP_INT_010), WBS(EMP_INT_020), 주간보고서(EMP_MAN_010), 투입공수(EMP_MAN_050)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353312"/>
            <a:ext cx="542239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목차 및 장표 구성 (Table of Contents)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91640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691640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81965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7373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1. 보고 및 의사소통 관리 기본 원칙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9659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단일 창구(SPOC), 적시성·정례화, 근거 중심 기록성 등 4대 원칙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183794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3쪽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95144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295144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42316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3408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2. 대내외 의사소통 거버넌스 및 보고 네트워크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5694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발주사(연구전략/ERP/QA)·주관사(엠파시)·협력사(데이터브릿지) 소통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244144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4쪽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898648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898648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026664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9443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3. 종합 보고 체계 매트릭스 (정기·단계별·수시)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1729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일일/주간/월간 보고 및 M1~M6 마일스톤 단계별 공식 보고 일정·산출물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304495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5쪽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502152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502152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630168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35478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4. 정례 회의체 운영 기준 및 의사결정 프로세스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37764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매주 금요일 주간정례회의, 실무 워크숍, 아키텍처·연계 협의체 운영 규격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3648456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6쪽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105656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105656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233672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41513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5. 이슈·리스크 단계별 에스컬레이션 보고 체계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43799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Level 1(실무 3일) ➔ Level 2(PM 긴급협의 5일) ➔ Level 3(총괄 의사결정) 절차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4251960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7쪽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709160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4709160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83717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2592" y="47548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6. 실시간 협업 채널 및 산출물 공유 운영 기준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2592" y="49834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구글 드라이브, 전용 메신저, 화상회의, 방화벽·계정 신청 채널 일원화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18520" y="485546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8쪽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312664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5312664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5440679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92" y="53583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7. 프로젝트 이해관계자 연락망 및 역할(R&amp;R) 총괄표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22592" y="55869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발주사·주관사·협력사 핵심 담당자 11인 실명 연락처 및 담당 영역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0" y="545896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9쪽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5916167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5916167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6044183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2592" y="59618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8. 주간업무보고서 및 회의록 표준 양식 가이드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22592" y="61904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표준 주간보고(MAN_010) 및 회의록(MAN_020) 필수 작성 항목 템플릿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8520" y="6062471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10쪽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1. 보고 및 의사소통 기본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1. 보고체계 및 의사소통 관리 4대 핵심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다수 이해관계자(현업 QA, IT 인프라, AI 개발, 시험검증DB 연계) 간 정보 왜곡을 방지하고 신속·투명한 의사결정을 지원합니다.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559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3044952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양사 PM 중심 공식 커뮤니케이션 일원화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1490472"/>
            <a:ext cx="2130551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01 공식 창구 단일화 (Single Point of Contact)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발주사 현업 PM(정민수) · 기술 PM(한승우) ↔ 수행사 수행 PM(김태윤) · 총괄 AA(박준혁)을 공식 소통 창구로 단일화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실무자 간 개별 구두 합의에 의한 임의 스펙 변경(Scope Creep)을 금지하며, 모든 요구사항 변경은 공식 창구를 통해 접수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협력사(데이터브릿지)의 PLM-Nexus 연계 이슈 역시 수행사 PM/AA가 통합 취합하여 발주사 기술 PM과 일괄 협의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5595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508760"/>
            <a:ext cx="2532888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주간·월간·단계별 보고 주기 엄수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1490472"/>
            <a:ext cx="2642615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02 정례화 및 예측 가능성 (Regularity &amp; SLA)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매주 금요일 13:30 주간정례보고(EMP_MAN_010) 및 매월 말 월간투입공수·진도보고(EMP_MAN_050)를 무결점 정례화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보고 자료는 회의 개최 최소 4시간 전(금요일 오전 09:30)까지 공유 드라이브에 사전 배포하여 검토 시간 확보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긴급 장애·보안 이슈 발생 시 인지 즉시(1시간 이내) 유선/메신저 선보고 후 24시간 내 서면 대책 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84448"/>
            <a:ext cx="555955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" y="3721608"/>
            <a:ext cx="355701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24시간 내 회의록 배포 및 합의사항 번호 부여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703320"/>
            <a:ext cx="1618487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03 기록성 및 양방향 추적성 (Documentation)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모든 공식 회의 및 실무 협의는 종료 후 24시간 이내에 회의록(EMP_MAN_020)을 작성하여 참석자 전원 회람·확정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회의에서 도출된 결정사항(Decision), 후속조치(Action Item), 미결이슈(Open Issue)는 담당자와 기한(Due Date)을 명시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음성 녹취 파일(.m4a)과 서면 회의록(.docx)을 '01. 회의록' 폴더에 쌍(Pair)으로 보존하여 감사 추적성 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584448"/>
            <a:ext cx="55595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18504" y="3721608"/>
            <a:ext cx="278892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지연·병목 징후의 숨김없는 투명 공유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3703320"/>
            <a:ext cx="238658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04 조기 경보 및 선제적 에스컬레이션 (Early Warning)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인프라 방화벽 개통 지연, SSO/SRM-Portal 연계 사양 미확정 등 외부 의존성 병목은 발생 즉시 주간보고 '협조요청'에 적시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공정 편차 -5%p 이상 발생 시 '주의(Yellow)', -10%p 이상 시 '위험(Red)' 경보를 발령하고 만회 대책(Catch-up Plan) 동시 상정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해결 지연 일수(3일/5일)에 따른 3단계 에스컬레이션 룰을 기계적으로 작동하여 의사결정 골든타임 사수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의사소통 핵심 목표 : 정례보고 준수율 100%  |  회의록 24시간 내 배포율 100%  |  미결 이슈 평균 해결 소요일 3일 이내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2. 대내외 의사소통 거버넌스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2. 발주사 · 주관수행사 · 협력사 간 보고 및 협업 거버넌스 구조도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사업 총괄 의사결정 기구부터 현업(품질법무검증팀)·기술(ERP플랫폼)·시험검증DB(데이터브릿지) 실무 협의체까지 유기적 소통 체계를 운영합니다.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5661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56616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2020824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CLIENT (발주·검수)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490472"/>
            <a:ext cx="1161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발주사 : ㈜한빛글로벌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327355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사업 총괄 및 프로젝트 관리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현업 PM : 정민수 (공급망혁신팀 / 010-2726-6624)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사업 목표·범위 총괄, 단계별 산출물 및 검수 승인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기술 PM : 한승우 (ERP플랫폼기획팀 / 010-5059-1607)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AWS 클라우드 인프라, SSO/SRM-Portal/보안 정책 총괄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현업 실무 요구사항 및 검증 (품질법무검증팀 4인)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최윤아, 윤서연, 배수빈, 송하늘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구매계약·기술규격 시험검증 및 규격·계약 검토 프로세스 정의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- 100대 금지/주의 규칙사전 및 AI 표준수정조항 품질 검증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골든셋(판정 일치율 90%+) 현업 파일럿(UAT) 수행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유관 협업 부서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정보보안팀(망분리/방화벽/CA-PAM), SRM-Portal 운영팀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371600"/>
            <a:ext cx="35661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371600"/>
            <a:ext cx="35661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53128" y="1508760"/>
            <a:ext cx="2276856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PRIME CONTRACTOR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490472"/>
            <a:ext cx="905255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주관수행사 : ㈜엠파시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1837943"/>
            <a:ext cx="327355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사업총괄 및 아키텍처 리딩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사업총괄 / AA : 박준혁 (010-6355-2046)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전체 기술 아키텍처(EKS/RDS/3단계 AI 엔진) 총괄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대외 리스크 조정 및 단계별 품질 기준선(Baseline) 승인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수행 PM 및 PMO 품질·문서 관리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수행 PM : 김태윤 (010-8949-0762)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WBS 진도 관리, 주간/월간 보고, 대내외 의사소통 단일창구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PMO / 품질관리 : 이지훈 (010-8455-5162)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- 28종 산출물 형상/버전 통제, 회의록/이슈/변경대장 관리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전담 개발 파트 (AI · 백엔드 · 프론트엔드)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개발리드 : 최현우 (010-8614-0516) 외 전담 엔지니어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- 3단계 하이브리드 AI 엔진, Canvas 2D 뷰어, BO/API 구현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1371600"/>
            <a:ext cx="3575304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1371600"/>
            <a:ext cx="3575304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02752" y="1508760"/>
            <a:ext cx="2020824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PARTNER (시험검증DB)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15015" y="1490472"/>
            <a:ext cx="11704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협력사 : ㈜데이터브릿지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1837943"/>
            <a:ext cx="3282696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PLM-Nexus 시험성적서 DB 구축 및 연계 전담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협력사 총괄 : 조성민 상무 (010-9004-0638)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연구원 PLM-Nexus 시스템 데이터 구조 분석 및 일정 관리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기술 수석 : 강동현 수석 (010-9910-5715)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원소재·설계사양·성능규격·공인신뢰성시험 시험검증 메타데이터 추출/적재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  - SyncFlow AI ↔ PLM-Nexus 간 REST API / 배치 연동 개발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소통 및 보고 연동 방식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주관사 개발리드(최현우)·AA(박준혁)와 주 2회 기술 동기화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매주 목요일 17:00까지 주간 진도/이슈를 수행 PM에게 제출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PLM-Nexus 연계 협의 회의 시 발주사 기술원/ERP팀과 합동 참석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소통 프로토콜 : [정기 보고] 수행 PM(김태윤) ➔ 발주사 PM(정민수·한승우)  |  [기술/아키텍처 협의] 총괄 AA(박준혁)·개발리드(최현우) ↔ 기술 PM(한승우)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3. 종합 보고 체계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3. 프로젝트 정기 · 단계별(마일스톤) · 수시 보고 체계 총괄표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공공 및 엔터프라이즈 사업관리 표준에 따라 보고 유형별 주기, 보고자, 수신자, 활용 산출물 및 핵심 보고 내용을 명확히 규정합니다.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600200"/>
                <a:gridCol w="1325880"/>
                <a:gridCol w="1234440"/>
                <a:gridCol w="1691640"/>
                <a:gridCol w="1325880"/>
                <a:gridCol w="3090672"/>
              </a:tblGrid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보고 명칭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보고 주기 / 시점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보고자 (주관)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수신 / 참석자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관련 산출물 ID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보고 및 승인 내용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정기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일일 작업 점검 (Scrum)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매일 09:30 (15분)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각 파트 리드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수행 PM, AA, 개발팀 전원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내부 Task 보드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전일 완료 실적, 금일 목표 과업, 당일 기술적 블로커(Blocker) 즉시 공유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정기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주간 업무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매주 금요일 13:30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수행 PM (김태윤)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발주사 현업/기술 PM, 실무진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EMP_MAN_010 / 020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WBS 계획 대비 실적 진도율, 금주 실적/차주 계획, 이슈/리스크 및 발주사 협조요청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정기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월간 공정·공수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매월 말일 (익월 초)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수행 PM /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발주사 PM, 양사 총괄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EMP_MAN_050 / WBS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월간 누적 공정률(S-Curve), 직무별 인력 투입공수(M/M) 실적, 차월 중점 마일스톤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단계별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착수 보고회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2026. 10. 19 (완료)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사업총괄 / 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발주사 스폰서, PM, 품질법무검증팀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EMP_INT_000 / 010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사업 수행 범위(8대 영역 43개 기능), 추진 일정(M1~M6), 수행 조직 및 초기 협조사항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단계별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M1 분석·설계 완료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2026. 11월 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수행 PM / 총괄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발주사 PM, 품질법무검증팀, IT팀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EMP_ANL/DEG 전종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요구사항정의서, 화면설계서, DB/아키텍처설계서 최종 리뷰 및 설계 Baseline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단계별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M2·M3 중간 보고회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2027. 01월 말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총괄 AA / 개발리드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발주사 PM, 품질법무검증팀, 데이터브릿지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EMP_EXE_010~030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3단계 AI 판정 엔진 프로토타입 시연, 100대 규칙사전 및 PLM-Nexus 시험검증DB 연동 검증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단계별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M5 파일럿·골든셋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2027. 04월 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수행 PM / QA리드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발주사 PM, 품질법무검증팀, 보안팀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EMP_TST_010~050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통합테스트 결과, 금지표현 검출률(95%+)·판정 일치율(90%+) 골든셋 검증 결과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단계별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M6 완료 및 최종 검수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2027. 05월 말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사업총괄 / 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발주사 총괄, PM, 운영팀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EMP_IMP_010~090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상용 그랜드 오픈 결과, 28종 산출물 전수 인수인계(IMP_030) 및 최종 검수확인서(IMP_040)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9194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수시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이슈 / 변경 / 긴급 보고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발생 즉시 (수시)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수행 PM / 총괄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발주사 PM 및 유관부서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EMP_MAN_030 / 060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중대 이슈 대응 방안, 범위/일정 변경 영향도 분석 및 긴급 의사결정(CCB) 요청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4. 정례 회의체 운영 및 의사결정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4. 회의체별 운영 규칙 및 공식 의사결정 프로세스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회의 목적과 참석 대상을 명확히 분리하여 불필요한 회의 시간을 줄이고, 모든 회의 결과는 24시간 내 공식 문서화합니다.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508760"/>
                <a:gridCol w="1417320"/>
                <a:gridCol w="2148840"/>
                <a:gridCol w="3136392"/>
                <a:gridCol w="137160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회의체 명칭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개최 주기 및 일시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진행 방식 / 장소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주관 및 필수 참석자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핵심 논의 안건 (Agenda)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산출물 / 기록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주간 정례 보고회의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매주 금요일 13:30~14:30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대면 또는 화상회의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(한빛글로벌 본사 / 온라인)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발주사 PM(정민수·한승우),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수행 PM(김태윤), AA(박준혁),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주간 계획 대비 진도율 및 산출물 현황 점검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차주 핵심 과업 및 발주사 의사결정/협조 사항 의결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주간보고서(MAN_010)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회의록(MAN_020)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현업 요구사항·UI/UX 워크숍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분석·설계기 주 1~2회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(10월~11월 집중)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대면 회의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(한빛글로벌 회의실)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현업 PM(정민수), 품질법무검증팀 4인,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수행 PM, 화면기획/프론트 리드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현행 규격·계약 검토 Pain-Point 및 TO-BE 프로세스 합의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Side-by-Side 대조 뷰어, 판정 리포트 화면 상세 리뷰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화면설계서(DEG_050)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회의록(MAN_020)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인프라·연계 기술 협의회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격주 또는 이슈 발생 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(수시 소집)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화상 / 대면 병행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기술 PM(한승우), 아키텍처/보안팀,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총괄 AA(박준혁), 개발리드, 강동현 수석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AWS EKS/RDS/ALB 구성, 방화벽(ANY Open 배제) 협의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HB-SSO SSO, SRM-Portal, PLM-Nexus API 규격 확정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연계협의서(ANL_050)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아키텍처(DEG_090)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AI 판정 품질·골든셋 리뷰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구현·시험기 격주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(1월~4월 집중)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시연 중심 워크숍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품질법무검증팀 실무진, 현업 PM,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총괄 AA, AI 엔지니어 리드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100대 규칙사전 및 공정위·표준원 가이드라인 RAG 검색 정확도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LLM 프롬프트 판정 근거 및 대체 조항 현업 수용성 평가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프롬프트명세(EXE_020)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골든셋보고(TST_050)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370832"/>
            <a:ext cx="267919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70832"/>
            <a:ext cx="267919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4507992"/>
            <a:ext cx="2020824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D-1일 (목 17:00)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4489704"/>
            <a:ext cx="2743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안건 취합 및 사전 점검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837176"/>
            <a:ext cx="2386584" cy="13167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각 파트별 주간 실적·차주 계획·이슈 취합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PMO가 WBS(INT_020) 진도율과 교차 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9272" y="4370832"/>
            <a:ext cx="267919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9272" y="4370832"/>
            <a:ext cx="267919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65576" y="4507992"/>
            <a:ext cx="2386584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D-Day 오전 (금 09:30)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489704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보고서 사전 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4837176"/>
            <a:ext cx="2386584" cy="13167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주간보고서(MAN_010) 공유 드라이브 업로드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발주사 PM에게 사전 검토 요청 알림 발송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4370832"/>
            <a:ext cx="267919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370832"/>
            <a:ext cx="267919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27648" y="4507992"/>
            <a:ext cx="2386584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D-Day 오후 (금 13:30)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4489704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회의 진행 및 의사결정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837176"/>
            <a:ext cx="2386584" cy="13167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진도/산출물 보고 및 핵심 이슈 집중 논의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협조요청 사항 담당자 및 완료 기한(Due Date) 확정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4370832"/>
            <a:ext cx="267919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4370832"/>
            <a:ext cx="2679192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9720" y="4507992"/>
            <a:ext cx="1892808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D+1일 이내 (24h)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3968" y="4489704"/>
            <a:ext cx="40233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회의록 배포 및 추적 등록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837176"/>
            <a:ext cx="2386584" cy="13167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표준 회의록(MAN_020) 작성 및 양사 회람·승인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미결 사항은 이슈관리대장(MAN_030)에 즉시 등재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5. 이슈·리스크 에스컬레이션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5. 이슈 심각도 및 해결 지연 일수에 따른 3단계 에스컬레이션(Escalation)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실무선에서 해결되지 않는 기술·일정·연계 병목 이슈는 정해진 시간 임계치(SLA)에 따라 상위 의사결정권자에게 자동 승격 보고됩니다.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630168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63016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2660904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경미 이슈 · 실무 기술 협의 사항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490472"/>
            <a:ext cx="58521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LEVEL 1 : 실무 파트장 자율 조정 (3일 이내)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3337560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발동 기준 및 대상 이슈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전체 공정 및 마일스톤(M1~M6)에 직접적 지연 영향이 없는 단위 과업 내 이슈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화면 UI 세부 조항 조정, 단일 API 필드 매핑 협의, 일반 버그(Minor) 수정 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보고 및 처리 절차 (SLA : 발생 후 72시간 이내 해결)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주관사 파트 리드(최현우 개발리드 등) ↔ 발주사 실무 담당자(품질법무검증팀 / IT 담당) 직접 협의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수행 PM에게 일일 스크럼 시 현황 공유 및 이슈관리대장(EMP_MAN_030) '낮음(Low)' 등록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3일 이내 합의 미도달 시 즉시 Level 2(양사 PM 협의)로 자동 승격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371600"/>
            <a:ext cx="3630168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371600"/>
            <a:ext cx="3630168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25696" y="1508760"/>
            <a:ext cx="333756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중요 이슈 · 공정 편차 -5%p~-10%p · 연계 지연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4696" y="149047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LEVEL 2 : 양사 PM 긴급 대책 협의 (3 ~ 5일)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1837943"/>
            <a:ext cx="3337560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발동 기준 및 대상 이슈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Level 1에서 3일 내 미해결된 이슈 또는 단계 내 주요 과업 지연(편차 -5%p ~ -10%p)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사내 방화벽 오픈 지연, SSO/SRM-Portal/PLM-Nexus 인터페이스 사양 미확정, AI 응답속도 저하 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보고 및 처리 절차 (SLA : 승격 후 48시간 이내 대책 확정)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수행 PM(김태윤)·총괄 AA(박준혁) ➔ 발주사 현업 PM(정민수)·기술 PM(한승우) 긴급 협의 소집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우회 구현 방안(Workaround), 선행 작업 병렬 수행(Fast-Tracking), 유관 부서 협조 공문 발송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5일 경과 시에도 미해결될 경우 Level 3(사업 총괄 스폰서)로 즉시 상정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3" y="1371600"/>
            <a:ext cx="3630168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3" y="1371600"/>
            <a:ext cx="363016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47888" y="1508760"/>
            <a:ext cx="3337560" cy="25603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치명적 이슈 · 공정 편차 -10%p 이상 · 범위/일정 변경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76888" y="149047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LEVEL 3 : 사업 총괄 / 스폰서 의사결정 (5일 초과)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837943"/>
            <a:ext cx="3337560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발동 기준 및 대상 이슈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마일스톤(M1~M6) 및 최종 오픈일(2027.05.31) 준수에 직접적 위협이 되는 치명적(Critical) 이슈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과업 범위의 중대한 변경, 외부 상용 LLM 보안 정책 충돌, 핵심 인력 교체, 대체 서버 증설 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보고 및 처리 절차 (SLA : 상정 즉시 변경통제위원회 CCB 개최)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수행사 사업총괄(박준혁) 및 대표단 ↔ 발주사 공급망혁신팀/ERP플랫폼 부서장 공식 보고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예비 인력 긴급 추가 투입, 단계별 범위 조정(Cut-off), 공식 변경관리대장(EMP_MAN_060) 의결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에스컬레이션 골든룰 : 이슈 은폐로 인한 사후 지연 보고는 엄격히 금지하며, 모든 이슈는 이슈관리대장(EMP_MAN_030)에 등록 후 종결 시까지 추적합니다.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6. 실시간 협업 채널 및 공유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6. 프로젝트 공식 커뮤니케이션 채널 및 협업 도구 운영 표준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비동기 문서 공유부터 실시간 기술 질의, 인프라 권한 신청까지 목적별 공식 채널을 지정하여 소통 누락을 방지합니다.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1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063240"/>
                <a:gridCol w="1737360"/>
                <a:gridCol w="3044952"/>
                <a:gridCol w="1554480"/>
              </a:tblGrid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협업 채널 / 도구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활용 목적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참여 대상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운영 규칙 및 SLA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보안 및 관리 책임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공유 구글 드라이브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(syncflow_ai 표준 폴더)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전 단계 공식 산출물(28종), 주간보고, 회의록 저장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단일 원천(SSOT) 문서 버전 및 백업 관리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양사 승인된 참여자 전원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(계정 권한 부여자)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승인본(v1.0) 임의 삭제 금지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폴더 구조(0.관리~6.이행) 임의 변경 금지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수행사 PMO (이지훈)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주간 폴더 감사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공식 이메일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(사내 메일 / Gmail)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산출물 공식 제출 및 검수 승인 요청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방화벽 신청, 계정 발급, 일정 변경 등 공식 공문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양사 PM, 총괄 AA,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유관부서 담당자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제목 말머리에 [SyncFlow AI] 필수 표기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중요 합의 메일은 참조(CC)에 양사 PM 필수 포함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수행 PM (김태윤)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발주사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실시간 업무 메신저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(Teams / 전용 단톡방)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일상 실무 질의응답, 회의 일정 조율, 긴급 알림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산출물 업로드 완료 공지 및 빠른 피드백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발주사/수행사/협력사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실무진 전원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업무 시간 중 질의 시 2시간 이내 1차 회신 원칙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메신저 상 중요 합의 사항은 반드시 회의록/이슈대장에 이관 기록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수행 PM / 각 파트장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화상회의 시스템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(Zoom / Google Meet)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주간 정례 보고회의 및 수시 원격 기술 협의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화면 공유 기반 UI/UX 리뷰 및 프로토타입 시연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안건별 해당 참석자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회의 시작 10분 전 접속 링크 배포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필요 시 음성 기록 및 24시간 내 회의록(MAN_020) 작성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수행사 PMO (이지훈)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사내 IT 서비스 데스크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(HB-SSO / 인프라 신청)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사내 계정(HB-SSO), VPC, CA-PAM, Chakra DB 권한 신청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내부 ALB 및 타 시스템(SRM-Portal/PLM-Nexus) 방화벽 개통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수행사 투입 인력 ➔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기술 PM(한승우)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작업 필요일 최소 5영업일 전 권한/방화벽 신청서 제출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인력 철수 시 즉시 권한 회수 신청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기술 PM (한승우)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총괄 AA (박준혁)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주의사항 : 메신저나 구두로 논의된 기술 사양 변경은 공식 효력이 없으며, 반드시 회의록(EMP_MAN_020) 또는 산출물 개정본에 반영되어야 최종 확정됩니다.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7. 프로젝트 이해관계자 연락망 총괄표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7. 프로젝트 주요 이해관계자 비상 연락망 및 담당 업무 (R&amp;R)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프로젝트 연락처 대장(SyncFlow AI_프로젝트_연락처.xlsx)에 등재된 발주사·주관사·협력사 핵심 인력 현황입니다.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011680"/>
                <a:gridCol w="1143000"/>
                <a:gridCol w="1188720"/>
                <a:gridCol w="1371600"/>
                <a:gridCol w="2057400"/>
                <a:gridCol w="2724912"/>
              </a:tblGrid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소속 기업 / 부서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성명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프로젝트 역할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연락처 (휴대전화)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이메일 (E-Mail)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담당 업무 및 의사소통 영역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발주사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한빛글로벌 / 공급망혁신팀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정민수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현업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010-2726-6624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jypark@hanbitglobal.com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사업 총괄, 현업 요구사항/정책 최종 의사결정, 산출물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발주사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한빛글로벌 / ERP플랫폼기획팀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한승우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기술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010-5059-1607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khkim@hanbitglobal.com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AWS 클라우드 인프라, 보안/방화벽, 사내 시스템(SSO/SRM-Portal) 연계 총괄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발주사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한빛글로벌 / 품질법무검증팀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최윤아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현업 실무 (QA)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사내 내선 / 메일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sy.yang@hanbitglobal.com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구매계약·기술규격 규격·계약 검토 기준 정의, 규칙사전 및 골든셋 검증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발주사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한빛글로벌 / 품질법무검증팀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윤서연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현업 실무 (QA)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사내 내선 / 메일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hj.oh@hanbitglobal.com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카테고리별 금지/주의 표현 사례 제공, AI 대체 조항 수용성 평가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발주사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한빛글로벌 / 품질법무검증팀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배수빈 / 송하늘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현업 실무 (QA)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사내 내선 / 메일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de.kim / wh.jang@hanbitglobal.com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화면 UI/UX 사용성 검토, 시범운영(파일럿) 실무 테스트 수행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주관사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㈜엠파시 (Empasy Inc.)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박준혁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사업총괄 / AA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010-6355-2046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bmoh@empasy.co.kr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사업 총괄 책임, 응용/AI/인프라 아키텍처 설계, 대외 리스크 조정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주관사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㈜엠파시 (Empasy Inc.)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김태윤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수행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010-8949-0762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jekim@empasy.co.kr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전 주기 일정/진도/자원 통합 관리, 주간/월간 보고, 공식 소통 단일창구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주관사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㈜엠파시 (Empasy Inc.)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이지훈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PMO / 품질관리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010-8455-5162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jyhwang@empasy.co.kr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28종 산출물 품질검수, 회의록/이슈/변경/공수 대장 관리, 문서 보안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주관사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㈜엠파시 (Empasy Inc.)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최현우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개발 리드 (PL)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010-8614-0516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jyjang@empasy.co.kr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백엔드(Spring Boot)/프론트(Vue 3)/AI 에이전트 통합 개발 및 연계 구현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472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협력사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㈜데이터브릿지 (데이터브릿지(DataBridge))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조성민 / 강동현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협력사 PM / 수석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010-9004-0638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010-9910-5715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kmjin@databridge.co.kr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shnam@databridge.co.kr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연구원 PLM-Nexus 시험성적서 DB 구축, 원소재/성능규격/신뢰성 데이터 연계 API 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보고체계 관리 계획서   &gt;   8. 주간보고서 및 회의록 표준 양식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EMP_MAN_080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8. [템플릿] 주간업무보고서(EMP_MAN_010) 및 회의록(EMP_MAN_020) 표준 구성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프로젝트 수행 중 가장 빈번하게 생산되는 주간보고서와 회의록의 필수 항목을 표준화하여 보고 품질을 일관되게 유지합니다.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보고체계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32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53212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227685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WEEKLY REPORT 표준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490472"/>
            <a:ext cx="2871215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주간업무보고서 표준 구성 (EMP_MAN_010_주간업무보고서_YYYYMMDD.pptx)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523951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슬라이드 1 : 프로젝트 종합 진도 요약 (Executive Summary)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전체 공정률 (계획 % vs 실적 % vs 달성률 %) 및 단계별(분석/설계/구현/시험/이행) 진척도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신호등 상태 표시 : 🟢 양호 (편차 -5%p 이내) / 🟡 주의 (-5~-10%p) / 🔴 지연 (-10%p 이상)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슬라이드 2 : 금주 수행 실적 및 차주 수행 계획 (WBS 연동)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WBS 작업 코드별 금주 완료 과업(산출물 진행률) 및 차주 목표 과업 대비표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파트별(기획/설계, AI 엔진, 백엔드/인프라, 시험검증DB) 세부 진행 내역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슬라이드 3 : 공식 산출물 추진 현황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단계별 목표 산출물 작성 상태 (작성중 v0.1 ➔ 내부검토 v0.5 ➔ 고객검토 v0.9 ➔ 승인 v1.0)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슬라이드 4 : 주요 이슈 · 리스크 및 발주사 협조 요청 사항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미결 이슈 현황, 대안(Action Plan), 발주사 결정/조치 필요 기한(Due Date) 및 담당자 명시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371600"/>
            <a:ext cx="5532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371600"/>
            <a:ext cx="553212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1508760"/>
            <a:ext cx="2532888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MEETING MINUTES 표준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1490472"/>
            <a:ext cx="261518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회의록 표준 구성 (EMP_MAN_020_YYYYMMDD_회의주제_회의록.docx)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837943"/>
            <a:ext cx="523951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1. 회의 개요 헤더 테이블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회의명, 회의 일시, 회의 장소(대면/화상), 작성자, 회의 목적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참석자 명단 : 발주사(한빛글로벌) 참석자 / 수행사(엠파시·데이터브릿지) 참석자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2. 주요 논의 안건 및 결정 사항 (Decisions Made)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안건별 논의 배경, 발주사 의견, 수행사 의견 및 최종 합의된 결론을 명확히 구분 기재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아키텍처·화면·데이터 정책 등 설계 반영 사항은 연관 산출물 ID 병기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3. 후속 조치 사항 (Action Items &amp; Open Issues)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[조치번호] | [조치 과업 내용] | [담당 소속/담당자] | [완료 목표일(Due Date)] | [비고]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■ 4. 첨부 자료 및 음성 기록 보존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회의 발표 자료 및 녹취록 파일(.m4a)을 동일 폴더(01. 회의록)에 함께 아카이빙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활용 가이드 : 타 프로젝트 적용 시 한빛글로벌 SyncFlow AI, 발주사/수행사 명칭, 연락망(9쪽)만 해당 과제 정보로 교체하면 즉시 표준 보고체계로 운영 가능합니다.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