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HANBIT GLOBAL SyncFlow AI</a:t>
            </a:r>
          </a:p>
          <a:p>
            <a:pPr>
              <a:spcBef>
                <a:spcPts val="1200"/>
              </a:spcBef>
              <a:defRPr sz="3600" b="1">
                <a:solidFill>
                  <a:srgbClr val="FFFFFF"/>
                </a:solidFill>
              </a:defRPr>
            </a:pPr>
            <a:r>
              <a:t>사업 완료보고서 (Final Completion Report)</a:t>
            </a:r>
          </a:p>
          <a:p>
            <a:pPr>
              <a:spcBef>
                <a:spcPts val="1000"/>
              </a:spcBef>
              <a:defRPr sz="1600">
                <a:solidFill>
                  <a:srgbClr val="CBD5E1"/>
                </a:solidFill>
              </a:defRPr>
            </a:pPr>
            <a:r>
              <a:t>한빛글로벌 지능형 공급망 구매·조달 계약 및 부품 품질규격 AI 검증 플랫폼(SyncFlow AI) 구축 완수 보고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572000"/>
            <a:ext cx="9966960" cy="1371600"/>
          </a:xfrm>
          <a:prstGeom prst="roundRect">
            <a:avLst/>
          </a:prstGeom>
          <a:solidFill>
            <a:srgbClr val="0F2942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70916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문서 번호: EMP_IMP_080  |  버전: v1.0 (최종 승인본)  |  보고 일자: 2026년 10월 16일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사업 기간: 2026.06.01 ~ 2026.10.16 (총 5개월)  |  계약 목표 대비 달성률: 100% (검수 적합)</a:t>
            </a:r>
          </a:p>
          <a:p>
            <a:pPr>
              <a:defRPr sz="1100" b="1">
                <a:solidFill>
                  <a:srgbClr val="60A5FA"/>
                </a:solidFill>
              </a:defRPr>
            </a:pPr>
            <a:r>
              <a:t>발주사: ㈜한빛글로벌 (Hanbit Global Corp.)   |   수행사: ㈜엠파시 (Empasy Inc.)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SyncFlow AI 사업 완료보고서  &gt;  1. 사업 완수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1.1 계약 목표 대비 종합 추진 실적 (달성률 100%)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942"/>
                </a:solidFill>
              </a:defRPr>
            </a:pPr>
            <a:r>
              <a:t>산출물 ID: EMP_IMP_080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SyncFlow AI | 프로젝트 최종 완수 및 검수 요청 종료보고서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2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㈜엠파시 (Empasy Inc.)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25146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기능 요구사항 달성</a:t>
            </a:r>
          </a:p>
          <a:p>
            <a:pPr>
              <a:spcBef>
                <a:spcPts val="600"/>
              </a:spcBef>
              <a:defRPr b="1" sz="2200">
                <a:solidFill>
                  <a:srgbClr val="2563EB"/>
                </a:solidFill>
              </a:defRPr>
            </a:pPr>
            <a:r>
              <a:t>100%</a:t>
            </a:r>
          </a:p>
          <a:p>
            <a:pPr>
              <a:spcBef>
                <a:spcPts val="800"/>
              </a:spcBef>
              <a:defRPr sz="950">
                <a:solidFill>
                  <a:srgbClr val="1E3A5F"/>
                </a:solidFill>
              </a:defRPr>
            </a:pPr>
            <a:r>
              <a:t>요구사항 42개 항목 전수 개발 완료</a:t>
            </a:r>
            <a:br/>
            <a:r>
              <a:t>단위/통합 테스트 100% 통과</a:t>
            </a:r>
            <a:br/>
            <a:r>
              <a:t>결함 조치율 100% 달성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371600"/>
            <a:ext cx="25146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46304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AI 검증 정확도</a:t>
            </a:r>
          </a:p>
          <a:p>
            <a:pPr>
              <a:spcBef>
                <a:spcPts val="600"/>
              </a:spcBef>
              <a:defRPr b="1" sz="2200">
                <a:solidFill>
                  <a:srgbClr val="0F172A"/>
                </a:solidFill>
              </a:defRPr>
            </a:pPr>
            <a:r>
              <a:t>96.2%</a:t>
            </a:r>
          </a:p>
          <a:p>
            <a:pPr>
              <a:spcBef>
                <a:spcPts val="800"/>
              </a:spcBef>
              <a:defRPr sz="950">
                <a:solidFill>
                  <a:srgbClr val="1E3A5F"/>
                </a:solidFill>
              </a:defRPr>
            </a:pPr>
            <a:r>
              <a:t>골든셋 50문항 기준 정밀도 96.2%</a:t>
            </a:r>
            <a:br/>
            <a:r>
              <a:t>(계약 목표 90.0% 대비 +6.2%p 초과)</a:t>
            </a:r>
            <a:br/>
            <a:r>
              <a:t>재현율 95.8%, F1 96.0%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25146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46304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59669"/>
                </a:solidFill>
              </a:defRPr>
            </a:pPr>
            <a:r>
              <a:t>검증 리드타임 감축</a:t>
            </a:r>
          </a:p>
          <a:p>
            <a:pPr>
              <a:spcBef>
                <a:spcPts val="600"/>
              </a:spcBef>
              <a:defRPr b="1" sz="2200">
                <a:solidFill>
                  <a:srgbClr val="059669"/>
                </a:solidFill>
              </a:defRPr>
            </a:pPr>
            <a:r>
              <a:t>3일 → 2시간</a:t>
            </a:r>
          </a:p>
          <a:p>
            <a:pPr>
              <a:spcBef>
                <a:spcPts val="800"/>
              </a:spcBef>
              <a:defRPr sz="950">
                <a:solidFill>
                  <a:srgbClr val="1E3A5F"/>
                </a:solidFill>
              </a:defRPr>
            </a:pPr>
            <a:r>
              <a:t>평균 검증 소요시간 85% 대폭 감축</a:t>
            </a:r>
            <a:br/>
            <a:r>
              <a:t>긴급 구매조달 검증 15분 내 처리</a:t>
            </a:r>
            <a:br/>
            <a:r>
              <a:t>월간 처리용량 4배 이상 증대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371600"/>
            <a:ext cx="25146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46304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7C3AED"/>
                </a:solidFill>
              </a:defRPr>
            </a:pPr>
            <a:r>
              <a:t>전사 산출물 인계</a:t>
            </a:r>
          </a:p>
          <a:p>
            <a:pPr>
              <a:spcBef>
                <a:spcPts val="600"/>
              </a:spcBef>
              <a:defRPr b="1" sz="2200">
                <a:solidFill>
                  <a:srgbClr val="7C3AED"/>
                </a:solidFill>
              </a:defRPr>
            </a:pPr>
            <a:r>
              <a:t>전수 100%</a:t>
            </a:r>
          </a:p>
          <a:p>
            <a:pPr>
              <a:spcBef>
                <a:spcPts val="800"/>
              </a:spcBef>
              <a:defRPr sz="950">
                <a:solidFill>
                  <a:srgbClr val="1E3A5F"/>
                </a:solidFill>
              </a:defRPr>
            </a:pPr>
            <a:r>
              <a:t>착수·분석·설계·구현·테스트·이행</a:t>
            </a:r>
            <a:br/>
            <a:r>
              <a:t>전 단계 28종 산출물 완비 인계</a:t>
            </a:r>
            <a:br/>
            <a:r>
              <a:t>매뉴얼/교육/운영체계 수립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49039"/>
            <a:ext cx="10728655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88620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■ 종합 완수 평가 요약</a:t>
            </a:r>
          </a:p>
          <a:p>
            <a:pPr>
              <a:spcBef>
                <a:spcPts val="400"/>
              </a:spcBef>
              <a:defRPr sz="1000">
                <a:solidFill>
                  <a:srgbClr val="1E3A5F"/>
                </a:solidFill>
              </a:defRPr>
            </a:pPr>
            <a:r>
              <a:t>• 계약 납기 준수: 2026년 6월 1일 착수 이후 마일스톤(착수, 분석, 설계, 구현, 테스트, 시범운영)을 지연 없이 100% 준수하여 완수함.</a:t>
            </a:r>
          </a:p>
          <a:p>
            <a:pPr>
              <a:spcBef>
                <a:spcPts val="400"/>
              </a:spcBef>
              <a:defRPr sz="1000">
                <a:solidFill>
                  <a:srgbClr val="1E3A5F"/>
                </a:solidFill>
              </a:defRPr>
            </a:pPr>
            <a:r>
              <a:t>• 실무 적용성 검증: 한빛글로벌 전장시스템본부, 배터리모듈본부, 글로벌조달본부, 스마트팩토리본부 등 주요 11개 사업본부 142건 실데이터 시범운영을 통해 업무 안정성 입증.</a:t>
            </a:r>
          </a:p>
          <a:p>
            <a:pPr>
              <a:spcBef>
                <a:spcPts val="400"/>
              </a:spcBef>
              <a:defRPr sz="1000">
                <a:solidFill>
                  <a:srgbClr val="1E3A5F"/>
                </a:solidFill>
              </a:defRPr>
            </a:pPr>
            <a:r>
              <a:t>• 외부 시스템 연계 무결성: 사내 PLM-Nexus(조성·원소재 규격), SRM-Portal(결재 포털), 전사 통합 SSO 로그인 및 KT 문자 알림망 연계 100% 정상 가동.</a:t>
            </a:r>
          </a:p>
          <a:p>
            <a:pPr>
              <a:spcBef>
                <a:spcPts val="400"/>
              </a:spcBef>
              <a:defRPr sz="1000">
                <a:solidFill>
                  <a:srgbClr val="1E3A5F"/>
                </a:solidFill>
              </a:defRPr>
            </a:pPr>
            <a:r>
              <a:t>• 하자 이행 및 기술 지원 보증: 최종 검수 완료일(2026.10.16)로부터 3개월간 전담 엔지니어 상주 및 24시간 장애 대응 SLA 가동 체계 완비.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SyncFlow AI 사업 완료보고서  &gt;  2. 시스템 구축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2.1 4대 핵심 영역별 구축 완료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942"/>
                </a:solidFill>
              </a:defRPr>
            </a:pPr>
            <a:r>
              <a:t>산출물 ID: EMP_IMP_080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SyncFlow AI | 프로젝트 최종 완수 및 검수 요청 종료보고서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3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㈜엠파시 (Empasy Inc.)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1. 통합 검증 포털 (Front-End)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Vben Admin 기반 반응형 웹 포털 구축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규격·계약 검증 접수 / 실시간 모니터링 / 이력 조회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다양한 형식(텍스트, 이미지 PDP, Word, PDF) 검증 지원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구매조달-법무·QA 담당자 간 양방향 피드백 및 결재 연동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7160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087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2. 다단계 AI 판정 파이프라인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1단계: 키워드/정규식 기반 사전 필터 (100개 룰셋)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2단계: Vector DB 기반 법령/가이드라인 RAG 검색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3단계: LLM 심층 문맥 분석 및 4단계 판정(녹/청/황/적)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Vision OCR 기반 이미지 기술시방서 텍스트 자동 추출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86199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59669"/>
                </a:solidFill>
              </a:defRPr>
            </a:pPr>
            <a:r>
              <a:t>3. 전사 시스템 연계 허브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PLM-Nexus 원소재/조성 규격 REST API 실시간 연동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SRM-Portal 전사 결재 및 검증 이력 동기화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사내 통합 사번 SSO 로그인 (JWT 토큰 기반)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KT 비즈 알림톡/SMS 검증 결과 즉시 통보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49039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886199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7C3AED"/>
                </a:solidFill>
              </a:defRPr>
            </a:pPr>
            <a:r>
              <a:t>4. 지식·규칙 관리 및 거버넌스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공정위·표준원 구매계약·기술규격 관리지침 DB화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자주 적발되는 허위·과대구매계약 사례 사전 탑재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대체 추천 조항 100종 데이터베이스 탑재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지속적 규칙 추가 및 예외 단어 관리 콘솔 제공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SyncFlow AI 사업 완료보고서  &gt;  3. AI 모델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3.1 골든셋 50문항 평가 결과 및 AI 정밀도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942"/>
                </a:solidFill>
              </a:defRPr>
            </a:pPr>
            <a:r>
              <a:t>산출물 ID: EMP_IMP_080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SyncFlow AI | 프로젝트 최종 완수 및 검수 요청 종료보고서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4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㈜엠파시 (Empasy Inc.)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71600"/>
          <a:ext cx="10728655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011680"/>
                <a:gridCol w="2011680"/>
                <a:gridCol w="2407615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평가 지표 (Metric)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계약 목표치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공식 실측치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목표 대비 달성도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판정 결과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정밀도 (Precision)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90.0% 이상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96.2%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+6.2%p 초과 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적합 (최우수)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재현율 (Recall)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90.0% 이상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95.8%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+5.8%p 초과 달성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적합 (최우수)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F1-Score 종합지수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90.0% 이상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96.0%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+6.0%p 초과 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적합 (최우수)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단건 검증 응답속도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5.0초 이내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3.2초 (평균)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-1.8초 단축 (36% 개선)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적합 (목표 달성)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부하 시험 동시 요청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50 VU / 100 TPS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62 VU / 128 TPS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3A5F"/>
                          </a:solidFill>
                        </a:defRPr>
                      </a:pPr>
                      <a:r>
                        <a:t>+28% 여유 마진 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적합 (목표 달성)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3749039"/>
            <a:ext cx="10728655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■ 골든셋 50문항 정밀 검증 결과 분석 요약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불공정 독소조항 표현 탐지율 100%: '면책', '재생', '부식 완화', '배상한도 증식' 등 공정위·표준원 고위험 표현 전수 탐지 및 표준대안 즉시 추천 완결.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핵심규격 전장부품 범위 검증: 절연성, 내진동성, 전자파 차단 3대 고시 성분과 비고시 성분의 과대 주장 문맥을 완벽히 분리 판정.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부정어 및 문맥 왜곡 방지: '지체상금을 일방 전가하지 않고 상호 귀책비율에 따라 분담'과 같은 복합 문맥에서 오경보 없이 정상 판정(청색) 도출 확인.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근거 규격 자동 매칭: 판정 결과마다 공정위·표준원 하도급법 제3조의4 및 관리지침 근거 조항을 100% 매핑하여 검토위원의 검토 설득력 확보.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SyncFlow AI 사업 완료보고서  &gt;  4. 시범운영 및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4.1 실데이터 시범운영 실적 및 업무 생산성 개선 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942"/>
                </a:solidFill>
              </a:defRPr>
            </a:pPr>
            <a:r>
              <a:t>산출물 ID: EMP_IMP_080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SyncFlow AI | 프로젝트 최종 완수 및 검수 요청 종료보고서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5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㈜엠파시 (Empasy Inc.)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64748B"/>
                </a:solidFill>
              </a:defRPr>
            </a:pPr>
            <a:r>
              <a:t>시범운영 총 검증 건수</a:t>
            </a:r>
          </a:p>
          <a:p>
            <a:pPr>
              <a:spcBef>
                <a:spcPts val="400"/>
              </a:spcBef>
              <a:defRPr b="1" sz="2000">
                <a:solidFill>
                  <a:srgbClr val="2563EB"/>
                </a:solidFill>
              </a:defRPr>
            </a:pPr>
            <a:r>
              <a:t>142건</a:t>
            </a:r>
          </a:p>
          <a:p>
            <a:pPr>
              <a:spcBef>
                <a:spcPts val="600"/>
              </a:spcBef>
              <a:defRPr sz="900">
                <a:solidFill>
                  <a:srgbClr val="1E3A5F"/>
                </a:solidFill>
              </a:defRPr>
            </a:pPr>
            <a:r>
              <a:t>전장시스템본부, 배터리모듈본부, 글로벌조달본부 등</a:t>
            </a:r>
            <a:br/>
            <a:r>
              <a:t>11개 사업본부 실무 적용 완료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37160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46304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64748B"/>
                </a:solidFill>
              </a:defRPr>
            </a:pPr>
            <a:r>
              <a:t>법무·QA 담당자 판정 일치율</a:t>
            </a:r>
          </a:p>
          <a:p>
            <a:pPr>
              <a:spcBef>
                <a:spcPts val="400"/>
              </a:spcBef>
              <a:defRPr b="1" sz="2000">
                <a:solidFill>
                  <a:srgbClr val="2563EB"/>
                </a:solidFill>
              </a:defRPr>
            </a:pPr>
            <a:r>
              <a:t>97.2%</a:t>
            </a:r>
          </a:p>
          <a:p>
            <a:pPr>
              <a:spcBef>
                <a:spcPts val="600"/>
              </a:spcBef>
              <a:defRPr sz="900">
                <a:solidFill>
                  <a:srgbClr val="1E3A5F"/>
                </a:solidFill>
              </a:defRPr>
            </a:pPr>
            <a:r>
              <a:t>142건 중 138건 일치</a:t>
            </a:r>
            <a:br/>
            <a:r>
              <a:t>(단 4건 미세 조정 완료)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46304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64748B"/>
                </a:solidFill>
              </a:defRPr>
            </a:pPr>
            <a:r>
              <a:t>검증 리드타임 단축</a:t>
            </a:r>
          </a:p>
          <a:p>
            <a:pPr>
              <a:spcBef>
                <a:spcPts val="400"/>
              </a:spcBef>
              <a:defRPr b="1" sz="2000">
                <a:solidFill>
                  <a:srgbClr val="2563EB"/>
                </a:solidFill>
              </a:defRPr>
            </a:pPr>
            <a:r>
              <a:t>85% 감축</a:t>
            </a:r>
          </a:p>
          <a:p>
            <a:pPr>
              <a:spcBef>
                <a:spcPts val="600"/>
              </a:spcBef>
              <a:defRPr sz="900">
                <a:solidFill>
                  <a:srgbClr val="1E3A5F"/>
                </a:solidFill>
              </a:defRPr>
            </a:pPr>
            <a:r>
              <a:t>기존 3일(72시간) 소요</a:t>
            </a:r>
            <a:br/>
            <a:r>
              <a:t>→ 평균 2시간 이내 완료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37160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46304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64748B"/>
                </a:solidFill>
              </a:defRPr>
            </a:pPr>
            <a:r>
              <a:t>연간 정량 공수 절감</a:t>
            </a:r>
          </a:p>
          <a:p>
            <a:pPr>
              <a:spcBef>
                <a:spcPts val="400"/>
              </a:spcBef>
              <a:defRPr b="1" sz="2000">
                <a:solidFill>
                  <a:srgbClr val="2563EB"/>
                </a:solidFill>
              </a:defRPr>
            </a:pPr>
            <a:r>
              <a:t>1,840시간</a:t>
            </a:r>
          </a:p>
          <a:p>
            <a:pPr>
              <a:spcBef>
                <a:spcPts val="600"/>
              </a:spcBef>
              <a:defRPr sz="900">
                <a:solidFill>
                  <a:srgbClr val="1E3A5F"/>
                </a:solidFill>
              </a:defRPr>
            </a:pPr>
            <a:r>
              <a:t>법무·QA 검토 인력 연간 환산</a:t>
            </a:r>
            <a:br/>
            <a:r>
              <a:t>약 1.2억원 비용 절감 효과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74720"/>
            <a:ext cx="10728655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61188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■ 비즈니스 정성적 기대효과 및 정착 방안</a:t>
            </a:r>
          </a:p>
          <a:p>
            <a:pPr>
              <a:spcBef>
                <a:spcPts val="400"/>
              </a:spcBef>
              <a:defRPr sz="950">
                <a:solidFill>
                  <a:srgbClr val="1E3A5F"/>
                </a:solidFill>
              </a:defRPr>
            </a:pPr>
            <a:r>
              <a:t>• 규제 리스크 사전 원천 차단: 공정위·표준원 모니터링 적발 및 구매계약업무정지 시정명령·심결 위험 0건화 달성.</a:t>
            </a:r>
          </a:p>
          <a:p>
            <a:pPr>
              <a:spcBef>
                <a:spcPts val="400"/>
              </a:spcBef>
              <a:defRPr sz="950">
                <a:solidFill>
                  <a:srgbClr val="1E3A5F"/>
                </a:solidFill>
              </a:defRPr>
            </a:pPr>
            <a:r>
              <a:t>• 구매조달 조달프로젝트 타임-투-마켓 가속화: 신규 차종 양산발주 및 긴급 단가계약 기획 시 검토 대기 시간을 즉시 단축하여 시장 선점 지원.</a:t>
            </a:r>
          </a:p>
          <a:p>
            <a:pPr>
              <a:spcBef>
                <a:spcPts val="400"/>
              </a:spcBef>
              <a:defRPr sz="950">
                <a:solidFill>
                  <a:srgbClr val="1E3A5F"/>
                </a:solidFill>
              </a:defRPr>
            </a:pPr>
            <a:r>
              <a:t>• QA 검증 기준의 전사 표준화: 검증 담당자별 주관적 판단 편차를 배제하고 AI 룰셋 기반의 객관적·일관된 기준 수립.</a:t>
            </a:r>
          </a:p>
          <a:p>
            <a:pPr>
              <a:spcBef>
                <a:spcPts val="400"/>
              </a:spcBef>
              <a:defRPr sz="950">
                <a:solidFill>
                  <a:srgbClr val="1E3A5F"/>
                </a:solidFill>
              </a:defRPr>
            </a:pPr>
            <a:r>
              <a:t>• 현업 만족도 조사 결과: 시범운영 참여 실무자 18명 대상 만족도 조사 결과 94.4점(100점 만점) 기록, 현업 즉시 정착 완료.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SyncFlow AI 사업 완료보고서  &gt;  5. 산출물 인계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5.1 프로젝트 전 단계 28종 산출물 최종 완비 및 인계 목록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942"/>
                </a:solidFill>
              </a:defRPr>
            </a:pPr>
            <a:r>
              <a:t>산출물 ID: EMP_IMP_080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SyncFlow AI | 프로젝트 최종 완수 및 검수 요청 종료보고서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6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㈜엠파시 (Empasy Inc.)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37160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4389120"/>
                <a:gridCol w="1280160"/>
                <a:gridCol w="1401775"/>
              </a:tblGrid>
              <a:tr h="666205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프로젝트 단계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산출물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산출물 명칭 (Deliverable Name)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버전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인계 상태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착수/분석 (4종)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3A5F"/>
                          </a:solidFill>
                        </a:defRPr>
                      </a:pPr>
                      <a:r>
                        <a:t>EMP_INT_010 / 020</a:t>
                      </a:r>
                      <a:br/>
                      <a:r>
                        <a:t>EMP_ANL_020 / 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3A5F"/>
                          </a:solidFill>
                        </a:defRPr>
                      </a:pPr>
                      <a:r>
                        <a:t>사업수행계획서, 작업분할구조도(WBS)</a:t>
                      </a:r>
                      <a:br/>
                      <a:r>
                        <a:t>요구사항정의서, 연계규격협의서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3A5F"/>
                          </a:solidFill>
                        </a:defRPr>
                      </a:pPr>
                      <a:r>
                        <a:t>v1.0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</a:defRPr>
                      </a:pPr>
                      <a:r>
                        <a:t>인계 완결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시스템 설계 (6종)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3A5F"/>
                          </a:solidFill>
                        </a:defRPr>
                      </a:pPr>
                      <a:r>
                        <a:t>EMP_DEG_010 / 050</a:t>
                      </a:r>
                      <a:br/>
                      <a:r>
                        <a:t>EMP_DEG_080 / 090</a:t>
                      </a:r>
                      <a:br/>
                      <a:r>
                        <a:t>EMP_DEG_120 / 150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3A5F"/>
                          </a:solidFill>
                        </a:defRPr>
                      </a:pPr>
                      <a:r>
                        <a:t>IA정의서, 화면설계서, DB설계서, 아키텍처정의서</a:t>
                      </a:r>
                      <a:br/>
                      <a:r>
                        <a:t>인터페이스정의서, AI판정·프롬프트설계서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3A5F"/>
                          </a:solidFill>
                        </a:defRPr>
                      </a:pPr>
                      <a:r>
                        <a:t>v1.0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</a:defRPr>
                      </a:pPr>
                      <a:r>
                        <a:t>인계 완결 (100%)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구현 및 연계 (5종)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3A5F"/>
                          </a:solidFill>
                        </a:defRPr>
                      </a:pPr>
                      <a:r>
                        <a:t>EMP_EXE_010 / 020</a:t>
                      </a:r>
                      <a:br/>
                      <a:r>
                        <a:t>EMP_EXE_030 / TST_010</a:t>
                      </a:r>
                      <a:br/>
                      <a:r>
                        <a:t>Git Repository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3A5F"/>
                          </a:solidFill>
                        </a:defRPr>
                      </a:pPr>
                      <a:r>
                        <a:t>규칙사전정의서, 프롬프트명세서, PLM-Nexus연계명세서</a:t>
                      </a:r>
                      <a:br/>
                      <a:r>
                        <a:t>단위테스트케이스, 전체 애플리케이션 소스코드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3A5F"/>
                          </a:solidFill>
                        </a:defRPr>
                      </a:pPr>
                      <a:r>
                        <a:t>v1.0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</a:defRPr>
                      </a:pPr>
                      <a:r>
                        <a:t>인계 완결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시험 및 검증 (4종)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3A5F"/>
                          </a:solidFill>
                        </a:defRPr>
                      </a:pPr>
                      <a:r>
                        <a:t>EMP_TST_020 / 030</a:t>
                      </a:r>
                      <a:br/>
                      <a:r>
                        <a:t>EMP_TST_040 / 050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3A5F"/>
                          </a:solidFill>
                        </a:defRPr>
                      </a:pPr>
                      <a:r>
                        <a:t>통합테스트시나리오, 보안점검결과서</a:t>
                      </a:r>
                      <a:br/>
                      <a:r>
                        <a:t>성능시험결과서, 골든셋평가보고서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3A5F"/>
                          </a:solidFill>
                        </a:defRPr>
                      </a:pPr>
                      <a:r>
                        <a:t>v1.0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</a:defRPr>
                      </a:pPr>
                      <a:r>
                        <a:t>인계 완결 (100%)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이행 및 운영 (5종)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3A5F"/>
                          </a:solidFill>
                        </a:defRPr>
                      </a:pPr>
                      <a:r>
                        <a:t>EMP_IMP_020 / 050</a:t>
                      </a:r>
                      <a:br/>
                      <a:r>
                        <a:t>EMP_IMP_060 / 070</a:t>
                      </a:r>
                      <a:br/>
                      <a:r>
                        <a:t>EMP_IMP_080 / 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3A5F"/>
                          </a:solidFill>
                        </a:defRPr>
                      </a:pPr>
                      <a:r>
                        <a:t>이행체크리스트, 사용자매뉴얼, 운영자매뉴얼</a:t>
                      </a:r>
                      <a:br/>
                      <a:r>
                        <a:t>교육결과보고서, 시범운영결과보고서, 종료보고서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3A5F"/>
                          </a:solidFill>
                        </a:defRPr>
                      </a:pPr>
                      <a:r>
                        <a:t>v1.0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</a:defRPr>
                      </a:pPr>
                      <a:r>
                        <a:t>인계 완결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사업 관리 (4종)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3A5F"/>
                          </a:solidFill>
                        </a:defRPr>
                      </a:pPr>
                      <a:r>
                        <a:t>EMP_MAN_010 / 020</a:t>
                      </a:r>
                      <a:br/>
                      <a:r>
                        <a:t>EMP_MAN_030 / 040</a:t>
                      </a:r>
                      <a:br/>
                      <a:r>
                        <a:t>EMP_MAN_060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3A5F"/>
                          </a:solidFill>
                        </a:defRPr>
                      </a:pPr>
                      <a:r>
                        <a:t>주간업무보고서, 회의록, 이슈관리대장</a:t>
                      </a:r>
                      <a:br/>
                      <a:r>
                        <a:t>결함관리대장, 변경관리대장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3A5F"/>
                          </a:solidFill>
                        </a:defRPr>
                      </a:pPr>
                      <a:r>
                        <a:t>v1.0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</a:defRPr>
                      </a:pPr>
                      <a:r>
                        <a:t>인계 완결 (100%)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SyncFlow AI 사업 완료보고서  &gt;  6. 유지보수 및 지원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6.1 무상 하자보수 지원 체계 및 장애 대응 SLA 수립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942"/>
                </a:solidFill>
              </a:defRPr>
            </a:pPr>
            <a:r>
              <a:t>산출물 ID: EMP_IMP_080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SyncFlow AI | 프로젝트 최종 완수 및 검수 요청 종료보고서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7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㈜엠파시 (Empasy Inc.)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1. 무상 하자보수 기간 및 범위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기간: 2026.10.17 ~ 2027.01.16 (최종 검수 후 3개월)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범위: 시스템 오류, AI 판정 로직 결함, 연계 장애 전액 무상 조치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전담 엔지니어 및 AI 개발팀 1선/2선 지원 체계 유지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7160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087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2. 장애 등급별 대응 SLA 기준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긴급 (P1, 시스템 마비/연계 단절): 접수 30분 내 착수, 2시간 내 해결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중대 (P2, 일부 사업본부 검증 불가): 접수 1시간 내 착수, 4시간 내 해결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일반 (P3, 경미한 UI/출력 오류): 접수 4시간 내 착수, 24시간 내 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86199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59669"/>
                </a:solidFill>
              </a:defRPr>
            </a:pPr>
            <a:r>
              <a:t>3. 정기 예방 점검 및 성능 최적화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월 1회 정기 서버 리소스(CPU, 메모리, GPU, DB) 상태 점검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분기 1회 AI 판정 골든셋 재평가 및 최신 판례 룰셋 업데이트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백업 검증: PostgreSQL 일일 스냅샷 및 DB 백업 무결성 정기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49039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886199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7C3AED"/>
                </a:solidFill>
              </a:defRPr>
            </a:pPr>
            <a:r>
              <a:t>4. 운영 인력 교육 및 기술 이전 완결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QA 실무자 대상 화면별 검증 실습 교육 완료 (18명 수료)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시스템 운영자 대상 서버/AI 파이프라인 관리 교육 완료 (4명)</a:t>
            </a:r>
          </a:p>
          <a:p>
            <a:pPr>
              <a:spcBef>
                <a:spcPts val="300"/>
              </a:spcBef>
              <a:defRPr sz="950">
                <a:solidFill>
                  <a:srgbClr val="1E3A5F"/>
                </a:solidFill>
              </a:defRPr>
            </a:pPr>
            <a:r>
              <a:t>• 매뉴얼 및 소스코드, 인수인계 문서 100% 전달 완료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SyncFlow AI 사업 완료보고서  &gt;  7. 검수 요청 및 승인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7.1 프로젝트 완료 승인 및 최종 검수 확인 서명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942"/>
                </a:solidFill>
              </a:defRPr>
            </a:pPr>
            <a:r>
              <a:t>산출물 ID: EMP_IMP_080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SyncFlow AI | 프로젝트 최종 완수 및 검수 요청 종료보고서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8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㈜엠파시 (Empasy Inc.)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728655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0876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■ 최종 검수 요청의 건</a:t>
            </a:r>
          </a:p>
          <a:p>
            <a:pPr>
              <a:spcBef>
                <a:spcPts val="600"/>
              </a:spcBef>
              <a:defRPr sz="1000">
                <a:solidFill>
                  <a:srgbClr val="1E3A5F"/>
                </a:solidFill>
              </a:defRPr>
            </a:pPr>
            <a:r>
              <a:t>주식회사 한빛글로벌과 주식회사 엠파시 간 체결한 「SyncFlow AI 시스템 구축 용역 계약」에 의거하여, 제안요청서(RFP) 및 사업수행계획서에 명시된 기능 요구사항 42개 항목 및 비기능 요구사항을 100% 완수하였으며, 시범운영 및 최종 산출물 28종의 인계를 완료하였기에 본 사업의 최종 완료를 보고하고 검수를 정식으로 요청합니다.</a:t>
            </a:r>
          </a:p>
          <a:p>
            <a:pPr algn="ctr">
              <a:spcBef>
                <a:spcPts val="1000"/>
              </a:spcBef>
              <a:defRPr b="1" sz="1100">
                <a:solidFill>
                  <a:srgbClr val="0F172A"/>
                </a:solidFill>
              </a:defRPr>
            </a:pPr>
            <a:r>
              <a:t>2026년 10월 16일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3413455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30476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발주사 (검수 확인)</a:t>
            </a:r>
          </a:p>
          <a:p>
            <a:pPr algn="ctr">
              <a:spcBef>
                <a:spcPts val="1600"/>
              </a:spcBef>
              <a:defRPr sz="1000">
                <a:solidFill>
                  <a:srgbClr val="1E3A5F"/>
                </a:solidFill>
              </a:defRPr>
            </a:pPr>
            <a:r>
              <a:t>주식회사 한빛글로벌</a:t>
            </a:r>
            <a:br/>
            <a:r>
              <a:t>QA팀 검수책임관</a:t>
            </a:r>
            <a:br/>
            <a:br/>
            <a:r>
              <a:t>성명:               (인 / 서명)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474720"/>
            <a:ext cx="3413455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657600"/>
            <a:ext cx="30476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수행사 (총괄 주관)</a:t>
            </a:r>
          </a:p>
          <a:p>
            <a:pPr algn="ctr">
              <a:spcBef>
                <a:spcPts val="1600"/>
              </a:spcBef>
              <a:defRPr sz="1000">
                <a:solidFill>
                  <a:srgbClr val="1E3A5F"/>
                </a:solidFill>
              </a:defRPr>
            </a:pPr>
            <a:r>
              <a:t>주식회사 엠파시 (EMPASY)</a:t>
            </a:r>
            <a:br/>
            <a:r>
              <a:t>사업총괄 PM</a:t>
            </a:r>
            <a:br/>
            <a:br/>
            <a:r>
              <a:t>성명:               (인 / 서명)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474720"/>
            <a:ext cx="3413455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657600"/>
            <a:ext cx="30476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공동수행사 (AI 구축)</a:t>
            </a:r>
          </a:p>
          <a:p>
            <a:pPr algn="ctr">
              <a:spcBef>
                <a:spcPts val="1600"/>
              </a:spcBef>
              <a:defRPr sz="1000">
                <a:solidFill>
                  <a:srgbClr val="1E3A5F"/>
                </a:solidFill>
              </a:defRPr>
            </a:pPr>
            <a:r>
              <a:t>㈜엠파시 (Empasy Inc.)AI 테크니컬 리드성명:               (인 / 서명)</a:t>
            </a:r>
            <a:br/>
            <a:r>
              <a:t/>
            </a:r>
            <a:br/>
            <a:br/>
            <a: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주식회사 엠파시 (Empasy Inc.)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주식회사 엠파시 (Empasy Inc.)</cp:lastModifiedBy>
  <cp:revision>1</cp:revision>
  <dcterms:created xsi:type="dcterms:W3CDTF">2013-01-27T09:14:16Z</dcterms:created>
  <dcterms:modified xsi:type="dcterms:W3CDTF">2013-01-27T09:15:58Z</dcterms:modified>
  <cp:category/>
</cp:coreProperties>
</file>