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1570" r:id="rId3"/>
    <p:sldId id="258" r:id="rId4"/>
    <p:sldId id="273" r:id="rId5"/>
    <p:sldId id="1571" r:id="rId6"/>
    <p:sldId id="1572" r:id="rId7"/>
    <p:sldId id="271" r:id="rId8"/>
    <p:sldId id="1573" r:id="rId9"/>
    <p:sldId id="1574" r:id="rId10"/>
    <p:sldId id="157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135278F-57DD-4893-9479-EB2DA63EBBF6}">
          <p14:sldIdLst>
            <p14:sldId id="256"/>
            <p14:sldId id="1570"/>
            <p14:sldId id="258"/>
          </p14:sldIdLst>
        </p14:section>
        <p14:section name="프로세스1" id="{FD284D7D-723D-46F1-A7BD-F16D23A47549}">
          <p14:sldIdLst>
            <p14:sldId id="273"/>
            <p14:sldId id="1571"/>
            <p14:sldId id="1572"/>
            <p14:sldId id="271"/>
          </p14:sldIdLst>
        </p14:section>
        <p14:section name="SAMPLE" id="{E2081126-8DCE-4A61-8DAE-F04E03CC1F33}">
          <p14:sldIdLst>
            <p14:sldId id="1573"/>
            <p14:sldId id="1574"/>
            <p14:sldId id="15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4FF"/>
    <a:srgbClr val="4472C4"/>
    <a:srgbClr val="9DC3E6"/>
    <a:srgbClr val="5BA1FF"/>
    <a:srgbClr val="CDE2FF"/>
    <a:srgbClr val="006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8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DD0A39-BEE6-4132-A839-59208CC4F81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C5734-FF2C-4983-83DD-D6BAA87DD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312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FF91F6-D9CA-4400-BA3C-59FC5B0B52F3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54073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94422ED-CE72-9F62-4D79-E284C16964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29" b="46290"/>
          <a:stretch/>
        </p:blipFill>
        <p:spPr>
          <a:xfrm>
            <a:off x="0" y="-1"/>
            <a:ext cx="12192000" cy="376129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53BE800-4937-C21F-DA04-A6E5AE2D82DC}"/>
              </a:ext>
            </a:extLst>
          </p:cNvPr>
          <p:cNvSpPr/>
          <p:nvPr userDrawn="1"/>
        </p:nvSpPr>
        <p:spPr>
          <a:xfrm>
            <a:off x="0" y="3694176"/>
            <a:ext cx="12192000" cy="6711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69A189-66A8-7B65-ED3A-2E8EEFBC1F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029" y="156043"/>
            <a:ext cx="1502917" cy="375729"/>
          </a:xfrm>
          <a:prstGeom prst="rect">
            <a:avLst/>
          </a:prstGeom>
        </p:spPr>
      </p:pic>
      <p:sp>
        <p:nvSpPr>
          <p:cNvPr id="5" name="Text Box 11">
            <a:extLst>
              <a:ext uri="{FF2B5EF4-FFF2-40B4-BE49-F238E27FC236}">
                <a16:creationId xmlns:a16="http://schemas.microsoft.com/office/drawing/2014/main" id="{2792E748-1B90-4FB5-8D5C-00C8A6AEBF4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223312" y="227595"/>
            <a:ext cx="1081087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300" kern="1200">
                <a:solidFill>
                  <a:srgbClr val="333333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9pPr>
          </a:lstStyle>
          <a:p>
            <a:pPr>
              <a:defRPr/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대외비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對外秘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defRPr/>
            </a:pPr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87806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A0B933F-6160-53A4-FE1B-CED3CFB04E8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D8EC1-D45B-4C7D-BBED-95AE66BA5C9D}"/>
              </a:ext>
            </a:extLst>
          </p:cNvPr>
          <p:cNvSpPr txBox="1"/>
          <p:nvPr userDrawn="1"/>
        </p:nvSpPr>
        <p:spPr>
          <a:xfrm>
            <a:off x="6954492" y="953458"/>
            <a:ext cx="1689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spc="-150" dirty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en-US" altLang="ko-KR" sz="3200" spc="-150" dirty="0">
                <a:solidFill>
                  <a:schemeClr val="tx1"/>
                </a:solidFill>
                <a:latin typeface="+mn-ea"/>
                <a:ea typeface="+mn-ea"/>
              </a:rPr>
              <a:t>ontents</a:t>
            </a:r>
            <a:endParaRPr lang="ko-KR" altLang="en-US" sz="3200" spc="-15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5138B77-B58E-476C-89F3-72BCF9E0D75E}"/>
              </a:ext>
            </a:extLst>
          </p:cNvPr>
          <p:cNvCxnSpPr/>
          <p:nvPr userDrawn="1"/>
        </p:nvCxnSpPr>
        <p:spPr>
          <a:xfrm>
            <a:off x="7070102" y="1781666"/>
            <a:ext cx="330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0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약양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F20957-8D48-4CE4-A09F-C7F6A6ACBB29}"/>
              </a:ext>
            </a:extLst>
          </p:cNvPr>
          <p:cNvSpPr txBox="1"/>
          <p:nvPr userDrawn="1"/>
        </p:nvSpPr>
        <p:spPr>
          <a:xfrm>
            <a:off x="10567300" y="123988"/>
            <a:ext cx="1484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spc="0" dirty="0">
                <a:latin typeface="+mn-ea"/>
                <a:ea typeface="+mn-ea"/>
              </a:rPr>
              <a:t>TO-BE</a:t>
            </a:r>
            <a:r>
              <a:rPr lang="ko-KR" altLang="en-US" sz="1100" spc="0" dirty="0">
                <a:latin typeface="+mn-ea"/>
                <a:ea typeface="+mn-ea"/>
              </a:rPr>
              <a:t> </a:t>
            </a:r>
            <a:r>
              <a:rPr lang="ko-KR" altLang="en-US" sz="1100" spc="-150" dirty="0">
                <a:latin typeface="+mn-ea"/>
                <a:ea typeface="+mn-ea"/>
              </a:rPr>
              <a:t>프로세스정의서</a:t>
            </a:r>
            <a:endParaRPr lang="en-US" altLang="ko-KR" sz="1100" spc="-150" dirty="0">
              <a:latin typeface="+mn-ea"/>
              <a:ea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97FFB5-0193-4948-B721-FD0F86CC0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56139" y="6455165"/>
            <a:ext cx="12797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D5A016FD-8D8B-4E5C-A1AF-AD3300A33B7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3AAFBA0-5A57-47B8-8E0E-0FEA005E06B8}"/>
              </a:ext>
            </a:extLst>
          </p:cNvPr>
          <p:cNvCxnSpPr/>
          <p:nvPr userDrawn="1"/>
        </p:nvCxnSpPr>
        <p:spPr>
          <a:xfrm>
            <a:off x="0" y="443622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9E937CC-4A66-4C38-94C9-19D9F9DD23A0}"/>
              </a:ext>
            </a:extLst>
          </p:cNvPr>
          <p:cNvCxnSpPr/>
          <p:nvPr userDrawn="1"/>
        </p:nvCxnSpPr>
        <p:spPr>
          <a:xfrm>
            <a:off x="0" y="6455165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451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요약양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D93B4EA6-561F-4AAB-AB42-174CE0F285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878" y="211092"/>
            <a:ext cx="11129530" cy="421850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5606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9">
            <a:extLst>
              <a:ext uri="{FF2B5EF4-FFF2-40B4-BE49-F238E27FC236}">
                <a16:creationId xmlns:a16="http://schemas.microsoft.com/office/drawing/2014/main" id="{048BF520-A4AF-E60B-9614-6E42D9381F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8878" y="328785"/>
            <a:ext cx="11129530" cy="421850"/>
          </a:xfrm>
        </p:spPr>
        <p:txBody>
          <a:bodyPr anchor="ctr">
            <a:noAutofit/>
          </a:bodyPr>
          <a:lstStyle>
            <a:lvl1pPr marL="0" indent="0">
              <a:buNone/>
              <a:defRPr sz="1800" b="1" spc="-15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날짜 개체 틀 1">
            <a:extLst>
              <a:ext uri="{FF2B5EF4-FFF2-40B4-BE49-F238E27FC236}">
                <a16:creationId xmlns:a16="http://schemas.microsoft.com/office/drawing/2014/main" id="{8F22B3AF-519B-8481-86F0-85D9D9B8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0F12D94-F03D-474A-8633-98CF47B78698}" type="datetimeFigureOut">
              <a:rPr lang="ko-KR" altLang="en-US" smtClean="0"/>
              <a:t>2023-07-28</a:t>
            </a:fld>
            <a:endParaRPr lang="ko-KR" altLang="en-US"/>
          </a:p>
        </p:txBody>
      </p:sp>
      <p:sp>
        <p:nvSpPr>
          <p:cNvPr id="8" name="바닥글 개체 틀 2">
            <a:extLst>
              <a:ext uri="{FF2B5EF4-FFF2-40B4-BE49-F238E27FC236}">
                <a16:creationId xmlns:a16="http://schemas.microsoft.com/office/drawing/2014/main" id="{5323B82C-F5B7-50B1-23C8-577C2071A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DAC05B5F-89A6-00EF-B6E8-FDECBE03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5A016FD-8D8B-4E5C-A1AF-AD3300A33B7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EEBBA1-2362-3D76-43AB-060BD0877D76}"/>
              </a:ext>
            </a:extLst>
          </p:cNvPr>
          <p:cNvSpPr/>
          <p:nvPr userDrawn="1"/>
        </p:nvSpPr>
        <p:spPr>
          <a:xfrm>
            <a:off x="0" y="815445"/>
            <a:ext cx="12192000" cy="176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00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0E16A-4CF9-2C7C-4C9D-CEDCA8023A6E}"/>
              </a:ext>
            </a:extLst>
          </p:cNvPr>
          <p:cNvSpPr txBox="1"/>
          <p:nvPr userDrawn="1"/>
        </p:nvSpPr>
        <p:spPr>
          <a:xfrm>
            <a:off x="0" y="2997296"/>
            <a:ext cx="12192000" cy="538793"/>
          </a:xfrm>
          <a:prstGeom prst="rect">
            <a:avLst/>
          </a:prstGeom>
          <a:noFill/>
        </p:spPr>
        <p:txBody>
          <a:bodyPr wrap="square" lIns="0" tIns="36000" rIns="0" bIns="36000" rtlCol="0" anchor="t">
            <a:spAutoFit/>
          </a:bodyPr>
          <a:lstStyle/>
          <a:p>
            <a:pPr algn="ctr" latinLnBrk="0">
              <a:lnSpc>
                <a:spcPct val="120000"/>
              </a:lnSpc>
            </a:pPr>
            <a:r>
              <a:rPr lang="ko-KR" altLang="en-US" sz="2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lang="en-US" altLang="ko-KR" sz="2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7CFE50F-E23C-8A32-4D65-3C9DA0D8E156}"/>
              </a:ext>
            </a:extLst>
          </p:cNvPr>
          <p:cNvCxnSpPr/>
          <p:nvPr userDrawn="1"/>
        </p:nvCxnSpPr>
        <p:spPr>
          <a:xfrm>
            <a:off x="2498103" y="3733016"/>
            <a:ext cx="71078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0C516253-18C6-FDCB-E285-5590C4126D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195" y="4022122"/>
            <a:ext cx="1615610" cy="40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383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3BFACF-D361-4F4A-A848-197808D63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FE1D87-FA3F-45D6-8020-86B2EB2EC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6EAA22-CF3F-4F79-BB4E-2D6950EDD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12D94-F03D-474A-8633-98CF47B78698}" type="datetimeFigureOut">
              <a:rPr lang="ko-KR" altLang="en-US" smtClean="0"/>
              <a:t>2023-07-28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5E291-AAA2-4090-966E-896B78521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F16EA-4600-4C2B-A65E-D1FFB6C55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016FD-8D8B-4E5C-A1AF-AD3300A33B7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54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8" r:id="rId3"/>
    <p:sldLayoutId id="2147483659" r:id="rId4"/>
    <p:sldLayoutId id="2147483655" r:id="rId5"/>
    <p:sldLayoutId id="2147483657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900AD0C-1F70-28B2-C137-2F5E75571084}"/>
              </a:ext>
            </a:extLst>
          </p:cNvPr>
          <p:cNvSpPr/>
          <p:nvPr/>
        </p:nvSpPr>
        <p:spPr>
          <a:xfrm>
            <a:off x="2896000" y="3000000"/>
            <a:ext cx="6400000" cy="130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476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b" wrap="none"/>
          <a:lstStyle/>
          <a:p>
            <a:pPr algn="ctr">
              <a:spcAft>
                <a:spcPts val="1000"/>
              </a:spcAft>
              <a:defRPr sz="1400">
                <a:solidFill>
                  <a:srgbClr val="475569"/>
                </a:solidFill>
              </a:defRPr>
            </a:pPr>
            <a:r>
              <a:t>한빛글로벌 SyncFlow AI 시스템 구축</a:t>
            </a:r>
          </a:p>
          <a:p>
            <a:pPr algn="ctr">
              <a:defRPr sz="2600" b="1">
                <a:solidFill>
                  <a:srgbClr val="0F172A"/>
                </a:solidFill>
              </a:defRPr>
            </a:pPr>
            <a:r>
              <a:t>TO-BE 프로세스 정의서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44B8378-D902-B2A5-2276-A2A21075B78D}"/>
              </a:ext>
            </a:extLst>
          </p:cNvPr>
          <p:cNvCxnSpPr/>
          <p:nvPr/>
        </p:nvCxnSpPr>
        <p:spPr>
          <a:xfrm>
            <a:off x="4621696" y="3538330"/>
            <a:ext cx="291216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E0E8348-0288-8B2B-CF71-15121461B887}"/>
              </a:ext>
            </a:extLst>
          </p:cNvPr>
          <p:cNvSpPr txBox="1"/>
          <p:nvPr/>
        </p:nvSpPr>
        <p:spPr>
          <a:xfrm>
            <a:off x="5610931" y="3221066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8DB16D0-0A1A-D7EA-1680-D5016BC5C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96518"/>
              </p:ext>
            </p:extLst>
          </p:nvPr>
        </p:nvGraphicFramePr>
        <p:xfrm>
          <a:off x="9095750" y="5214966"/>
          <a:ext cx="2901178" cy="148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6461">
                  <a:extLst>
                    <a:ext uri="{9D8B030D-6E8A-4147-A177-3AD203B41FA5}">
                      <a16:colId xmlns:a16="http://schemas.microsoft.com/office/drawing/2014/main" val="851051069"/>
                    </a:ext>
                  </a:extLst>
                </a:gridCol>
                <a:gridCol w="844128">
                  <a:extLst>
                    <a:ext uri="{9D8B030D-6E8A-4147-A177-3AD203B41FA5}">
                      <a16:colId xmlns:a16="http://schemas.microsoft.com/office/drawing/2014/main" val="7757185"/>
                    </a:ext>
                  </a:extLst>
                </a:gridCol>
                <a:gridCol w="606461">
                  <a:extLst>
                    <a:ext uri="{9D8B030D-6E8A-4147-A177-3AD203B41FA5}">
                      <a16:colId xmlns:a16="http://schemas.microsoft.com/office/drawing/2014/main" val="3328489124"/>
                    </a:ext>
                  </a:extLst>
                </a:gridCol>
                <a:gridCol w="844128">
                  <a:extLst>
                    <a:ext uri="{9D8B030D-6E8A-4147-A177-3AD203B41FA5}">
                      <a16:colId xmlns:a16="http://schemas.microsoft.com/office/drawing/2014/main" val="3311728044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2942"/>
                          </a:solidFill>
                        </a:defRPr>
                      </a:pPr>
                      <a:r>
                        <a:t>수행사 (EMPASY)</a:t>
                      </a: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2942"/>
                          </a:solidFill>
                        </a:defRPr>
                      </a:pPr>
                      <a:r>
                        <a:t>발주사 (한빛글로벌)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33782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담당자</a:t>
                      </a:r>
                    </a:p>
                  </a:txBody>
                  <a:tcPr marL="0" marR="0" marT="0" marB="0"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rPr lang="ko-KR" altLang="en-US" sz="1050" u="none" strike="noStrike" dirty="0">
                          <a:effectLst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승인자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rPr lang="ko-KR" altLang="en-US" sz="1050" u="none" strike="noStrike" dirty="0">
                          <a:effectLst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77320"/>
                  </a:ext>
                </a:extLst>
              </a:tr>
              <a:tr h="942975">
                <a:tc gridSpan="2"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(인)</a:t>
                      </a:r>
                    </a:p>
                  </a:txBody>
                  <a:tcPr marL="0" marR="142875" marT="0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(인)</a:t>
                      </a:r>
                    </a:p>
                  </a:txBody>
                  <a:tcPr marL="0" marR="142875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4474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44B474C-E10B-4273-8E69-302F5F74616E}"/>
              </a:ext>
            </a:extLst>
          </p:cNvPr>
          <p:cNvSpPr txBox="1"/>
          <p:nvPr/>
        </p:nvSpPr>
        <p:spPr>
          <a:xfrm>
            <a:off x="10087109" y="482077"/>
            <a:ext cx="1899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900">
                <a:solidFill>
                  <a:srgbClr val="1E3A5F"/>
                </a:solidFill>
              </a:defRPr>
            </a:pPr>
            <a:r>
              <a:t>산출물ID : EMP_DEG_040   |   버전 : v1.0   |   작성일 : 2026. 10. 16.</a:t>
            </a:r>
          </a:p>
          <a:p>
            <a:pPr>
              <a:defRPr sz="900">
                <a:solidFill>
                  <a:srgbClr val="1E3A5F"/>
                </a:solidFill>
              </a:defRPr>
            </a:pPr>
            <a:r>
              <a:t>발주사 : HANBIT GLOBAL   |   수행사 : EMPASY</a:t>
            </a:r>
          </a:p>
        </p:txBody>
      </p:sp>
    </p:spTree>
    <p:extLst>
      <p:ext uri="{BB962C8B-B14F-4D97-AF65-F5344CB8AC3E}">
        <p14:creationId xmlns:p14="http://schemas.microsoft.com/office/powerpoint/2010/main" val="118339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195631-547E-4B0E-8E3D-2F25F1B7C0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문서이력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8EB8C7A2-F468-441C-97D1-9A8795369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862891"/>
              </p:ext>
            </p:extLst>
          </p:nvPr>
        </p:nvGraphicFramePr>
        <p:xfrm>
          <a:off x="336064" y="616112"/>
          <a:ext cx="11520000" cy="6096428"/>
        </p:xfrm>
        <a:graphic>
          <a:graphicData uri="http://schemas.openxmlformats.org/drawingml/2006/table">
            <a:tbl>
              <a:tblPr/>
              <a:tblGrid>
                <a:gridCol w="4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95405">
                  <a:extLst>
                    <a:ext uri="{9D8B030D-6E8A-4147-A177-3AD203B41FA5}">
                      <a16:colId xmlns:a16="http://schemas.microsoft.com/office/drawing/2014/main" val="404748464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668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번호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버전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작성자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작성일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개정내용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비고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v1.0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2026. 10. 16.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최초 작성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SyncFlow AI TO-BE 프로세스 및 역할별 워크플로우 정의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EMPASY</a:t>
                      </a: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algn="ctr">
                        <a:defRPr sz="900">
                          <a:solidFill>
                            <a:srgbClr val="0F2942"/>
                          </a:solidFill>
                        </a:defRPr>
                      </a:pPr>
                      <a:r>
                        <a:t>HANBIT GLOBAL</a:t>
                      </a: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492757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27817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568259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591897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294917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818564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054756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593113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39629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040629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612430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378252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9168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161923"/>
                  </a:ext>
                </a:extLst>
              </a:tr>
              <a:tr h="269796"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18638"/>
                  </a:ext>
                </a:extLst>
              </a:tr>
              <a:tr h="26979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92075" algn="l" defTabSz="914400" rtl="0" eaLnBrk="0" fontAlgn="base" latinLnBrk="1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25" marR="91425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kumimoji="1" sz="16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35998" marR="35998" marT="45701" marB="45701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29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89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목차 (Table of 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</a:defRPr>
            </a:pPr>
            <a:r>
              <a:t>1. 엔드투엔드(E2E) 전체 업무 프로세스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구매담당자, 연구원, 법무·QA 전문위원, 시스템 연계 간의 전체 흐름도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</a:defRPr>
            </a:pPr>
            <a:r>
              <a:t>2. 구매담당자(Buyer) 세부 업무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계약·도서 등록, OCR 텍스트 정제, AI 1차 피드백 확인, 최종 결과서 수령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</a:defRPr>
            </a:pPr>
            <a:r>
              <a:t>3. 연구원(Researcher) 세부 업무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시험검증 검증 요청 접수, PLM-Nexus 시험성적서 매핑, 시험검증 완료 처리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</a:defRPr>
            </a:pPr>
            <a:r>
              <a:t>4. 법무·QA 전문위원(QA Specialist) 세부 업무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Side-by-Side 2D 계약·도서 대조, 법적 근거 RAG 검토, 대체 표현 승인 및 검증 확정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</a:defRPr>
            </a:pPr>
            <a:r>
              <a:t>5. 시스템 관리자(System Admin) 세부 업무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표현 사전 갱신, 공정위·표준원 규제 문서 RAG 색인, 골든셋 자동 회귀 벤치마크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</a:defRPr>
            </a:pPr>
            <a:r>
              <a:t>6. 사내 시스템 연계 및 데이터 전이 프로세스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SSO 단일인증, SRM-Portal 계약·규격검증 회신, [Option] HB-Monitor 성분 동기화, PLM-Nexus 연동</a:t>
            </a:r>
          </a:p>
          <a:p>
            <a:pPr>
              <a:spcAft>
                <a:spcPts val="200"/>
              </a:spcAft>
              <a:defRPr sz="1300" b="1">
                <a:solidFill>
                  <a:srgbClr val="0F2942"/>
                </a:solidFill>
              </a:defRPr>
            </a:pPr>
            <a:r>
              <a:t>7. 예외 처리 및 장애 대응 절차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    • 저해상도 OCR 수동 교정, 사내 연계 오류 격리 및 Mock 연계 폴백</a:t>
            </a:r>
          </a:p>
        </p:txBody>
      </p:sp>
    </p:spTree>
    <p:extLst>
      <p:ext uri="{BB962C8B-B14F-4D97-AF65-F5344CB8AC3E}">
        <p14:creationId xmlns:p14="http://schemas.microsoft.com/office/powerpoint/2010/main" val="1701334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1. 엔드투엔드(E2E) 전체 업무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  <a:gridCol w="2423160"/>
                <a:gridCol w="24231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주체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주요 활동 및 업무 내용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입출력 데이터 및 시스템 연계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Step 1</a:t>
                      </a:r>
                    </a:p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계약·도서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구매담당자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신규 차종 양산발주 및 부품사양 계약·도서(PPTX/PDF/긴JPG 및 설계도면(사용자 지정 장면 스냅샷)) 업로드, 사업본부 및 제품 기본정보 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입력: 구매계약 계약·도서 파일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출력: 검증신청번호(REV...) 생성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Step 2</a:t>
                      </a:r>
                    </a:p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AI 자동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다중 엔진 문서 파싱 ➔ OCR 문장 추출 ➔ 3단계 점진적 판정(룰사전 차단 ➔ RAG 근거검색 ➔ LLM 문맥 검증)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입력: 추출 텍스트 및 바운딩 박스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출력: 3단계 판정 결과(금지/주의/안전)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Step 3</a:t>
                      </a:r>
                    </a:p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시험검증 매핑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수치 및 지속시간 성능규격 기술사양 조항에 대해 PLM-Nexus 공인신뢰성시험 성적서 및 신뢰성 데이터 매핑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입력: 시험검증 요청 알림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출력: 시험성적서번호(EVD...) 매핑 완료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Step 4</a:t>
                      </a:r>
                    </a:p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정밀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법무·QA 전문위원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2D Canvas 뷰어로 계약·도서 원본 위치와 AI 판정 대조 검토, 사내 추천 대체 표현 승인 및 검증 최종 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입력: AI 판정 및 시험검증 데이터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출력: 검증 확정 상태 및 불변 감사로그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Step 5</a:t>
                      </a:r>
                    </a:p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회신 및 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구매담당자/연계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SRM-Portal 계약·규격검증 시스템으로 결과 요약 및 PDF 리포트 URL 회신, 승인 조항 구매조달 제작 배포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입력: 최종 검증 확정 데이터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출력: SRM-Portal 회신 ACK, 공식 PDF 결과서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530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EF586A-FA53-4BFF-BA8F-19A4F7A605E2}"/>
              </a:ext>
            </a:extLst>
          </p:cNvPr>
          <p:cNvSpPr txBox="1"/>
          <p:nvPr/>
        </p:nvSpPr>
        <p:spPr>
          <a:xfrm>
            <a:off x="463296" y="596121"/>
            <a:ext cx="986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150" dirty="0">
                <a:latin typeface="+mn-ea"/>
                <a:ea typeface="+mn-ea"/>
              </a:rPr>
              <a:t>업무흐름도</a:t>
            </a:r>
            <a:endParaRPr lang="en-US" altLang="ko-KR" sz="1400" b="1" spc="-150" dirty="0"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2. 구매담당자(Buyer) 세부 업무 절차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업무 절차 및 액션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세부 가이드 및 화면 기능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1. 계약·도서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구매계약 계약·도서 업로드 및 메타데이터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PPTX, PDF, 고해상도 이미지(JPG/PNG) 드래그 앤 드롭 지원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사업본부(전장시스템본부, 배터리모듈본부, 정밀기계본부 등), 제품명, 구매계약 매체(온라인/SNS/인쇄) 선택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대용량 파일 업로드 진행률 실시간 프로그레스 바 제공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2. 문장 검토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파싱된 문장 정제 및 수동 보정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OCR 추출 결과 중 법인 주소, 바코드, 단순 장식 텍스트 등 불필요 문장 제외 처리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오인식된 문장이 있는 경우 2D Canvas 계약·도서 원본 위치를 보며 직접 인라인 수정 가능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3. 1차 점검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AI 분석 결과 및 위험 조항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3단계 판정 결과(빨강: 금지, 노랑: 주의, 초록: 안전)를 계약·도서 상의 바운딩 박스로 즉시 확인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AI가 제안하는 사내 권장 대체 표현을 미리 확인하고 자체적으로 조항 수정 가능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4. 결과 수령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최종 검증 확정 리포트 수령 및 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법무·QA 전문위원 최종 승인 완료 시 인앱 웹소켓 알림 및 이메일 수신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검증 번호가 날인된 공식 PDF 판정 결과서 다운로드 및 SRM-Portal 구매계약 집행에 첨부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15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08B526-73EE-4899-AF50-823E50D2ED7F}"/>
              </a:ext>
            </a:extLst>
          </p:cNvPr>
          <p:cNvSpPr txBox="1"/>
          <p:nvPr/>
        </p:nvSpPr>
        <p:spPr>
          <a:xfrm>
            <a:off x="463296" y="596121"/>
            <a:ext cx="1553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150" dirty="0">
                <a:latin typeface="+mn-ea"/>
                <a:ea typeface="+mn-ea"/>
              </a:rPr>
              <a:t>세부업무 처리 절차</a:t>
            </a:r>
            <a:endParaRPr lang="en-US" altLang="ko-KR" sz="1400" b="1" spc="-150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3. 연구원(Researcher) 세부 업무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업무 절차 및 액션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세부 가이드 및 화면 기능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1. 시험검증 알림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시험검증 필요 기술사양 조항 검토 요청 수신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AI 판정 중 '72시간 내열성', '인장강도 24% 개선' 등 수치/핵심규격 성능규격 문장이 감지되면 연구원에게 자동 알림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대시보드의 [시험검증 검증 대상함]에서 해당 계약·도서 및 문장 리스트 조회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2. 시험자료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PLM-Nexus 시험검증 라이브러리 자료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PLM-Nexus 연동을 통해 해당 제품의 공인신뢰성시험 보고서, in-vitro 시험성적서, 원소재 분석서 검색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시험 기관, 시험 기간, 시험시료 수, 통계적 유의성(p-value &lt; 0.05) 충족 여부 확인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3. 증빙 매핑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공인 시험성적서 URL 및 페이지 메모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시험검증 검증 모달에서 보고서 번호 매핑 및 구체적 근거 페이지(예: '인장강도 개선 보고서 p.12') 입력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'시험검증 완료(MATCHED)' 처리 시 법무·QA 전문위원 검토함으로 자동 전달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65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4. 법무·QA 전문위원(QA Specialist) 세부 업무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업무 절차 및 액션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세부 가이드 및 화면 기능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1. 검증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검토 대기 큐 및 우선순위 검토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구매담당자가 요청한 검증 건이 접수 큐에 실시간 표시 (긴급 건 배지 및 남은 기한 표시)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사업부별, 카테고리별 담당 법무·QA 전문위원에게 자동 또는 수동 배정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2. Side-by-Side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2D 계약·도서 위치와 AI 판정 결과 대조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좌측: 원본 계약·도서 2D Canvas (위험도별 3색 바운딩 박스 하이라이트)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우측: 문장별 판정 상세 카드 (1단계 룰, 2단계 RAG 공정위·표준원 근거 조항, 3단계 LLM 사유) 동시 열람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3. 대체 표현 승인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권장 대체 표현 채택 또는 직접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AI 제안 및 사내 승인 표준대안 중 최적안을 클릭 한 번으로 채택 반영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법무·QA 전문위원가 직접 법적 가이드라인에 부합하는 확정 Spec 조항 인라인 입력 가능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4. 검증 최종 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검증 확정(Finalize) 및 불변 감사 기록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[검증 최종 확정] 버튼 클릭 시 확인 모달 구동 및 전체 판정 스냅샷 암호화 해시 생성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불변 감사 테이블(verify_history_immutable)에 영구 저장 및 SRM-Portal/구매담당자에게 즉시 회신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168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5. 시스템 관리자(Admin) 세부 업무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업무 절차 및 액션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세부 가이드 및 화면 기능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1. 마스터 사전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금지/주의/표준대안 표현 사전 수시 갱신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공정위·표준원 신규 규제 단어 추가 시 단일 등록 및 엑셀 일괄 업로드 지원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정규식 패턴 검증 및 즉각적인 1단계 룰 판정 엔진 반영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2. RAG 규제문서 색인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공정위·표준원 가이드라인/판례 벡터화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공정위·표준원 구매계약·기술규격 가이드라인 PDF 업로드 ➔ 문맥 청킹 ➔ pgvector 임베딩 적재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HNSW 인덱스 실시간 재구축으로 유사 판례 검색 품질 최신성 보장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3. 프롬프트 &amp; 골든셋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프롬프트 튜닝 및 회귀 벤치마크 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LLM 시스템 프롬프트 버전 관리 및 파라미터(Temperature 등) 미세 조정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배포 전 과거 검증 100건 골든셋 자동 평가 실행 ➔ 정밀도 90% 이상 검증 후 배포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78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EF586A-FA53-4BFF-BA8F-19A4F7A605E2}"/>
              </a:ext>
            </a:extLst>
          </p:cNvPr>
          <p:cNvSpPr txBox="1"/>
          <p:nvPr/>
        </p:nvSpPr>
        <p:spPr>
          <a:xfrm>
            <a:off x="463296" y="596121"/>
            <a:ext cx="986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150" dirty="0">
                <a:latin typeface="+mn-ea"/>
                <a:ea typeface="+mn-ea"/>
              </a:rPr>
              <a:t>업무흐름도</a:t>
            </a:r>
            <a:endParaRPr lang="en-US" altLang="ko-KR" sz="1400" b="1" spc="-150" dirty="0">
              <a:latin typeface="+mn-ea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6. 사내 시스템 연계 및 데이터 전이 프로세스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  <a:gridCol w="2423160"/>
                <a:gridCol w="242316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연계 대상 시스템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연계 방식 및 주기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전송 데이터 명세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장애 대응 방안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한빛글로벌 사내 SSO</a:t>
                      </a:r>
                    </a:p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(통합인증)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OIDC / OAuth 2.0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사용자 접속 시 실시간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요청: 사내 인증 토큰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응답: 사번, 성명, 부서코드, 권한 규격·계약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인증 세션 8시간 캐싱, 로컬 세션 유지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SRM-Portal</a:t>
                      </a:r>
                    </a:p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(계약·규격검증 결재)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REST API (JSON)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QA 최종 확정 시 실시간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요청: 검증번호, 판정등급, 의견, 리포트 URL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응답: SRM-Portal 접수번호, 처리 결과 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큐(Queue) 적재 후 5분 간격 자동 재전송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[Option] HB-Monitor</a:t>
                      </a:r>
                    </a:p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(성분/원소재 규제DB)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REST API / DB 배치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매일 02:00 정기 동기화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요청: 성분코드 증분 조회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응답: 유해물질한도, 금지원소재, 고시 명칭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장애 시 로컬 성분 마스터 캐시로 정상 운영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PLM-Nexus</a:t>
                      </a:r>
                    </a:p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(시험성적서 라이브러리)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REST API / Webhook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문장 검증 시 실시간 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요청: 제품코드, 성능규격 키워드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• 응답: 신뢰성시험 보고서 목록, URL, 시험결과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연계 지연 시 수동 파일 업로드 UI 제공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48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08B526-73EE-4899-AF50-823E50D2ED7F}"/>
              </a:ext>
            </a:extLst>
          </p:cNvPr>
          <p:cNvSpPr txBox="1"/>
          <p:nvPr/>
        </p:nvSpPr>
        <p:spPr>
          <a:xfrm>
            <a:off x="463296" y="596121"/>
            <a:ext cx="1553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150" dirty="0">
                <a:latin typeface="+mn-ea"/>
                <a:ea typeface="+mn-ea"/>
              </a:rPr>
              <a:t>세부업무 처리 절차</a:t>
            </a:r>
            <a:endParaRPr lang="en-US" altLang="ko-KR" sz="1400" b="1" spc="-150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7. 예외 처리 및 장애 대응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4A3B8"/>
                </a:solidFill>
              </a:defRPr>
            </a:pPr>
            <a:r>
              <a:t>발주사 : HANBIT GLOBAL   |   수행사 : EMPASY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96926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0880"/>
                <a:gridCol w="3230880"/>
                <a:gridCol w="323088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예외 상황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발생 원인 및 영향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시스템 및 운영자 조치 절차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OCR 오인식 및 저신뢰 문장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배경 그래픽 복잡성 또는 저해상도 이미지로 인한 텍스트 파싱 왜곡 (신뢰도 80% 미만)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1. 시스템: 저신뢰 플래그 표시 및 해당 바운딩 박스 황색 점멸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2. 사용자: 2D Canvas 계약·도서 원본 위치를 보며 직접 텍스트 인라인 수동 교정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3. 교정된 텍스트로 AI 판정 엔진 즉시 재실행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사내 시스템 연계 일시 장애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SRM-Portal, [Option] HB-Monitor 등 사내 타 시스템 점검 또는 네트워크 일시 단절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1. 시스템: 서킷 브레이커 작동 및 가상 연계기(Mock Server) 데이터 즉시 폴백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2. 실패 트랜잭션은 메시지 큐에 안전 보존 후 복구 시 자동 재전송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3. SyncFlow AI 자체 판정 기능은 중단 없이 정상 가동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2942"/>
                          </a:solidFill>
                        </a:defRPr>
                      </a:pPr>
                      <a:r>
                        <a:t>외부 LLM API 호출 지연/제한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API 서비스 제공사 일시적 트래픽 과부하 또는 토큰 제한(Rate 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1. 시스템: Exponential Backoff 알고리즘 기반 3회 자동 재시도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2. 지속 실패 시 1단계 룰사전 및 2단계 RAG 판정 결과를 우선 표시</a:t>
                      </a:r>
                    </a:p>
                    <a:p>
                      <a:pPr>
                        <a:defRPr sz="800">
                          <a:solidFill>
                            <a:srgbClr val="0F2942"/>
                          </a:solidFill>
                        </a:defRPr>
                      </a:pPr>
                      <a:r>
                        <a:t>3. 화면 상단에 '검증 보조 엔진 재시도 중' 상태 메시지 투명 노출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211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831</Words>
  <Application>Microsoft Office PowerPoint</Application>
  <PresentationFormat>와이드스크린</PresentationFormat>
  <Paragraphs>203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KoPubWorld돋움체 Light</vt:lpstr>
      <vt:lpstr>KoPub돋움체 Light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주식회사 엠파시 (Empasy Inc.)</dc:creator>
  <cp:lastModifiedBy>주식회사 엠파시 (Empasy Inc.)</cp:lastModifiedBy>
  <cp:revision>139</cp:revision>
  <dcterms:created xsi:type="dcterms:W3CDTF">2021-12-20T02:13:26Z</dcterms:created>
  <dcterms:modified xsi:type="dcterms:W3CDTF">2023-07-28T06:44:06Z</dcterms:modified>
</cp:coreProperties>
</file>