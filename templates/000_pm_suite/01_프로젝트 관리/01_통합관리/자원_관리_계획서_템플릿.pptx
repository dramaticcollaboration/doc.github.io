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EMP_MAN_100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한빛글로벌 SyncGuard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Human, Cloud Infrastructure &amp; AI Resource Management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인적 자원(총 20.0 M/M 투입공수), AWS 클라우드 인프라 자원(DEV/STG/PRD 3계층), 개발·AI 솔루션 자원 및 보안/계정 권한의 조달·배분·통제·회수 절차를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한빛글로벌 SyncGuard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한빛글로벌 (연구전략Lab / ERP플랫폼기획팀 / RA Lab)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엠파시 (협력사: ㈜데이터브릿지)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334155"/>
                      </a:solidFill>
                    </a:lnL>
                    <a:lnR w="6350" cmpd="sng">
                      <a:solidFill>
                        <a:srgbClr val="334155"/>
                      </a:solidFill>
                    </a:lnR>
                    <a:lnT w="6350" cmpd="sng">
                      <a:solidFill>
                        <a:srgbClr val="334155"/>
                      </a:solidFill>
                    </a:lnT>
                    <a:lnB w="6350" cmpd="sng">
                      <a:solidFill>
                        <a:srgbClr val="3341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(엠파시)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(한빛글로벌)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정민수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한승우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한빛글로벌 SyncGuard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공공 SW사업 자원관리 지침 및 월별투입공수(EMP_MAN_050) 기반 계획 수립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총 20.0 M/M 인력 투입 계획 및 양사(엠파시·데이터브릿지) 조직 확정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김태윤 / 정민수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인프라 반영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AWS 인프라 정의서(v0.2) 기준 DEV/STG/PRD 사양 및 권한 통제 매트릭스 반영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박준혁 / 한승우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3. 교체 필수 항목 : SyncGuard AI 시스템 구축 사업,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4. 연계 문서 : 사업수행계획서(EMP_INT_010), WBS(EMP_INT_020), 주간보고서(EMP_MAN_010), 투입공수(EMP_MAN_050)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자원 관리 개요 및 4대 핵심 관리 영역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인적 자원 · 클라우드 인프라 · SW/AI 개발환경 · 보안/계정 자원 통합 통제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인적 자원 관리 (1) : 통합 수행 조직 및 R&amp;R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발주사(한빛글로벌) · 주관사(엠파시) · 협력사(데이터브릿지) 역할 분장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인적 자원 관리 (2) : 직무별·월별 투입공수 계획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2026.10 ~ 2027.05 (8개월) 총 20.0 M/M (400 MD) 직무별 배분 기준선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클라우드 및 하드웨어 인프라 자원 관리 계획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AWS DEV/STG/PRD 3계층 아키텍처, 물리적 ALB 2개 분리, EKS/RDS/S3 사양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SW·개발환경 및 외부 AI/연계 자원 운용 계획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Spring Boot 3, Vue 3, FastAPI, 상용 LLM(비학습), 클로바 OCR, 사내 연계 4종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인프라 접근 권한 및 보안 자원 통제 매트릭스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HB-SSO, VPC, CA-PAM, Chakra DB, AWS 콘솔 권한 신청·회수 및 보안 통제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핵심 인력 변경 통제, 용량 확장 및 기술 이전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인력 임의 교체 금지, 대용량 처리 OOM 대응(Auto-Scaling), 운영팀 기술 이전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프로젝트 자원 조달·배분·반납 점검 체크리스트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착수~종료 전 주기 인적·물적·보안 자원 무결성 점검 템플릿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1. 자원 관리 개요 및 4대 관리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자원 관리 목적 및 4대 핵심 관리 영역 (인력 · 인프라 · SW/AI · 보안권한)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적기·적소에 검증된 전문 인력과 클라우드 컴퓨팅 자원을 투입하고, 철저한 권한 통제와 모니터링으로 자원 병목을 예방합니다.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557016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화장품 규제·AI·클라우드 전문 인력 적기 투입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490472"/>
            <a:ext cx="1618487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인적 자원 관리 (Human Resource - 20.0 M/M)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사업총괄/AA(박준혁), 수행PM(김태윤), PMO(이지훈), 개발리드(최현우), AI/프론트 엔지니어 및 데이터브릿지 실증DB팀 구성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8개월간 총 20.0 M/M (400 Man-Days) 공수를 공정 단계별 부하(분석·설계 ➔ 구현 집중 ➔ 시험·이행)에 맞춰 최적 배분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월별투입공수 관리대장(EMP_MAN_050)을 통해 매월 계획 대비 실제 투입 M/M를 실측·검증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432511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DEV · STG · PRD 3계층 격리 및 고가용성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35056" y="1490472"/>
            <a:ext cx="85039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클라우드 인프라 자원 관리 (AWS Cloud Infra)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한빛글로벌 표준 AWS VPC 내 개발(DEV), 스테이징(STG), 운영(PRD) 3개 환경을 물리/논리적으로 분리 구성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트래픽 격리를 위해 사내 사용자용(syncguard-ai-bo-prv-alb)과 기간계 연동용(syncguard-ai-api-prv-alb) 내부 ALB 2개 물리 분리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EKS 컨테이너(웹/API/AI에이전트/배치), RDS PostgreSQL 16(pgvector 1536d), S3 Intelligent-Tiering 최적 프로비저닝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685032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검증된 오픈소스 및 상용 AI API 안정적 조달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3703320"/>
            <a:ext cx="149047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SW · AI 모델 및 개발환경 자원 (SW &amp; AI Stack)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백엔드(Java 17 / Spring Boot 3.x), 프론트엔드(Vue 3 / TypeScript / Canvas 2D), AI 에이전트(Python 3.11 / FastAPI)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외부 AI 자원 : 기업용 상용 LLM API(Zero-Data Retention 비학습 계약) 및 네이버 클로바 OCR API 연동 및 토큰 쿼터 관리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형상관리(Git), CI/CD 배포 파이프라인, 오픈소스 라이선스(MIT/Apache 2.0) 무결성 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5266944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최소 권한 원칙(Least Privilege) 및 종료 시 100% 회수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76888" y="3703320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보안 및 접근 권한 자원 (Security &amp; Access Control)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사내 포털(HB-SSO), 가상사설망(VPC), 서버 접근제어(CA-PAM), DB 접근제어(Chakra), AWS Console 권한을 직무별 차등 부여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방화벽 정책은 ANY Open을 전면 배제하고 Source/Destination IP 및 단일 포트(:3104, :18080~18085, :5432)만 정밀 허용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맑은 고딕"/>
              </a:rPr>
              <a:t>• 프로젝트 종료 또는 인력 철수 시 발급된 전 계정·권한·보안토큰을 100% 즉시 회수 및 파기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자원 관리 핵심 지표 : 계획 공수(20.0 M/M) 투입 준수율 100%  |  핵심 인력 임의 교체 0건  |  인프라 가용성 99.9%  |  권한 미회수 0건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2. 통합 수행 조직 및 R&amp;R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인적 자원 관리 (1) : 통합 프로젝트 수행 조직 및 직무별 역할 분장 (R&amp;R)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총괄 아키텍트(AA)와 수행 PM의 양축 리더십 하에 AI 엔지니어링, 응용 웹/백엔드, 실증DB 연계 파트가 유기적으로 협업합니다.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00200"/>
                <a:gridCol w="1234440"/>
                <a:gridCol w="1234440"/>
                <a:gridCol w="960120"/>
                <a:gridCol w="5148072"/>
              </a:tblGrid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조직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직무 / 역할명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담당자 (성명)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소속 기업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투입 공수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수행 업무 및 책임 (Responsibilities)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사업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사업총괄 / 총괄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박준혁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3.50 M/M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사업 전반 총괄 책임 및 대외 리스크 의사결정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AWS 클라우드/EKS/RDS 아키텍처 및 3단계 AI 판정 파이프라인 총괄 설계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사업 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김태윤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4.00 M/M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WBS 일정·진도·자원 통합 관리 및 발주사 단일 소통 창구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요구사항 정의(43개 기능), 화면/프로세스 설계 리딩 및 주간/월간 정례 보고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품질 /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이지훈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2.00 M/M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28종 공식 산출물 표준 양식/버전/형상 통제 및 RTVM 추적성 검수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회의록(MAN_020), 이슈(030), 결함(040), 월별공수(050), 변경대장(060) 운영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기술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AI 엔지니어 리드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전담 AI리드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(최현우 협업)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3.50 M/M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1단계 100대 규칙사전 엔진, 2단계 식약처 가이드라인 pgvector(1536d) RAG 구현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3단계 상용 LLM 프롬프트 엔지니어링, 문서/영상 파싱 및 골든셋(95%/90%) 튜닝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기술 개발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백엔드 / 연계 개발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최현우 리드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+ 강동현 수석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엠파시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㈜데이터브릿지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4.00 M/M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Spring Boot 3 기반 BO 서버(:18080), API 서버(:18085), 배치 서버(:18084) 구현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HB-SSO SSO, MarketingHub 연계 및 연구원 ProductLab 실증자료 DB 구축·연동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기술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프론트엔드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전담 FE개발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엠파시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3.00 M/M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Vue 3 기반 SyncGuard AI 워크스페이스 웹(:3104) 및 관리자(BO) 화면 구현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Canvas 2D 기반 Side-by-Side 원본·판정 대조 뷰어 및 바운딩 박스 하이라이트 구현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발주 / 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현업 PM / 기술 PM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RA Lab 실무진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정민수 / 한승우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최윤아 외 3인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발주사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전담지원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현업 클레임 검토 정책/규칙 정의, 골든셋 평가 기준 수립 및 파일럿(UAT) 검수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• AWS 인프라 프로비저닝, 사내 방화벽/보안 정책 승인 및 연계 시스템 협조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3. 직무별·월별 투입공수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인적 자원 관리 (2) : 직무별 · 월별 인력 투입공수(M/M) 기준선 (EMP_MAN_050 연동)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전체 사업 기간(2026.10 ~ 2027.05) 동안 총 20.00 M/M (400 MD)를 투입하며, 설계·구현 집중기(11월~3월)에 최대 가동률을 유지합니다.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/>
                <a:gridCol w="1417320"/>
                <a:gridCol w="114300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1051560"/>
                <a:gridCol w="960120"/>
                <a:gridCol w="996696"/>
              </a:tblGrid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 / 직무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26.10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26.11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26.12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27.01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27.02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27.03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27.04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27.05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합계(M/M)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환산(MD)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비중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사업총괄 /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박준혁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3.50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70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17.5%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김태윤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4.00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80 MD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AI 엔지니어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전담 AI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3.50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70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17.5%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백엔드 / 연계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최현우/강동현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4.00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80 MD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전담 FE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3.00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60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15.0%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이지훈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0.25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2.00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40 MD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월별 투입 합계 (M/M)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총 6개 직무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3.00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3.25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3.25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2.75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2.25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1.50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20.00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400 MD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911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누적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누적 투입 비율 (%)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S-Curve 연동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7.5%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35.0%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51.3%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67.5%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81.3%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92.5%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E293B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010912"/>
            <a:ext cx="11274552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010912"/>
            <a:ext cx="11274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5148072"/>
            <a:ext cx="163677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WORK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129784"/>
            <a:ext cx="9253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공수 산정 및 근무 형태 운영 기준 (1.0 M/M = 월 20 Man-Days / 160시간 기준)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477256"/>
            <a:ext cx="10981944" cy="7040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하이브리드 근무 원칙 : 현업 인터뷰·화면 리뷰·인프라 연계·파일럿 기간에는 한빛글로벌 본사(용산) 대면 상주/방문 수행, 코딩 집중기에는 보안 인가된 원격 개발 병행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1E293B"/>
                </a:solidFill>
                <a:latin typeface="맑은 고딕"/>
              </a:rPr>
              <a:t>• 공수 실측 및 검증 : 매월 말일 각 인력별 작업 내역(Timesheet)을 취합하여 월별투입공수 관리대장(EMP_MAN_050)의 [실제투입공수(Actual)] 시트에 기록·보고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4. 클라우드 및 HW 인프라 자원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AWS 클라우드 인프라 자원 구성 및 환경별(DEV/STG/PRD) 프로비저닝 명세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AWS 인프라 정의서(SyncGuard AI_AP_AWS_infra_v0.2)에 기반하여 내·외부 트래픽을 분리하고 AI/배치 워크로드별 최적 사양을 배분합니다.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1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1417320"/>
                <a:gridCol w="4050791"/>
                <a:gridCol w="1965960"/>
              </a:tblGrid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리소스 / 서비스명 (식별자)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포트 / 프로토콜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구성 사양 및 아키텍처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DEV / STG / PRD 환경 구성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네트워크 / ALB #1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(사내 사용자용)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syncguard-ai-bo-prv-alb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(Internal ALB - 물리적 분리 #1)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HTTPS :443 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:3104 (FE) / :18080 (BO)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사내 임직원(RA Lab, 마케터, 관리자) 웹 브라우저 전용 진입점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기간계 대량 API 호출로 인한 UI 응답 지연 원천 차단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3개 환경 동일 분리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ACM 사내 인증서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네트워크 / ALB #2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(기간계 연동용)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syncguard-ai-api-prv-alb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(Internal ALB - 물리적 분리 #2)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HTTPS :443 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:18085 (API Server)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MarketingHub 등 사내 기간계 시스템의 클레임 판정 요청 API 전용 진입점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대량 멀티파트 파일 수신 및 비동기 웹훅 응답 처리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3개 환경 동일 분리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전용 보안그룹(SG) 통제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컴퓨팅 (EKS Pod #1)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syncguard-fe-web &amp; syncguard-be-server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(통합 웹/백오피스 워크로드)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TCP :3104 (Vue3)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TCP :18080 (Spring)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사용자 UI 렌더링, 판정 워크플로우, 대조 뷰어, 관리자 정책 관리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DEV/STG: 2 vCPU, 4GB~8GB RAM / PRD: 다중 AZ Auto-Scaling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DEV (단일~2 Pod)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STG/PRD (Multi-AZ HA)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컴퓨팅 (EKS Pod #2)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syncguard-api-server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(대외/기간계 API 전용 서버)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TCP :18085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(Spring Boot 3)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MarketingHub 및 ProductLab 실시간 REST API 연계 및 토큰 인증 처리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웹서버(BO)와 스레드 풀을 분리하여 대량 연계 트래픽 안정 처리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DEV / STG / PRD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독립 Deployment 분리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컴퓨팅 (EKS Pod #3)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syncguard-ai-agent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(3단계 AI 판정 &amp; 미디어 처리)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TCP :18083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(Python FastAPI)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문서 파싱, 클로바 OCR, 동영상 FFmpeg 프레임 추출, 3단계 AI 판정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대용량 영상/이미지 처리를 위해 고메모리(16GB~32GB) 노드 풀 할당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OOM 방지 전용 메모리 할당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HPA 스케일링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컴퓨팅 (EKS Pod #4)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syncguard-batch-server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(스케줄링 &amp; 실증DB 동기화)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TCP :18084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(Spring Batch)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야간 ProductLab 실증 데이터 동기화, 통계 집계, 임시 파일 정리 배치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온라인 트랜잭션 시간대를 피한 비업무 시간대 집중 스케줄링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DEV / STG / PRD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Cron / Batch 컨테이너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데이터베이스 &amp; 스토리지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AWS RDS (PostgreSQL 16)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+ AWS S3 버킷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TCP :5432 (RDS)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HTTPS :443 (S3)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RDS : 정형 메타데이터 + pgvector(1536차원) 법령/실증 벡터 DB 통합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• S3 : ap-syncguard-ai-dev/stg/prd (원본 문서/영상/캡처 이미지 저장, Intelligent-Tiering)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PRD RDS Multi-AZ 구성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S3 수명주기 정책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5. SW·개발환경 및 AI/연계 자원 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소프트웨어 기술 스택, 외부 상용 AI API 및 사내 연계 자원 관리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검증된 엔터프라이즈 표준 프레임워크와 비학습(Zero-Retention) 상용 AI API를 결합하여 보안성과 판정 정확도를 동시에 확보합니다.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491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057400"/>
                <a:gridCol w="1371600"/>
                <a:gridCol w="2788920"/>
                <a:gridCol w="1417320"/>
                <a:gridCol w="2496312"/>
              </a:tblGrid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/ 기술 명칭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적용 버전 / 규격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활용 용도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라이선스 / 조달 주체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통제 및 비용/쿼터 관리 방안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Vue 3 + TypeScript + Vite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+ HTML5 Canvas 2D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Vue 3.4+ / TS 5.x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Node.js 20 LTS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반응형 웹 워크스페이스, Side-by-Side 대조 뷰어, 바운딩 박스 드로잉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오픈소스 (MIT)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무상 활용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외부 유료 뷰어 종속성 배제, 자체 경량 Canvas 렌더링으로 브라우저 메모리 최적화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백엔드 / 배치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Java 17 + Spring Boot 3.x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+ Spring Security / Batch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JDK 17 LTS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Spring Boot 3.2+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BO 서버(:18080), 기간계 API(:18085), 배치(:18084), RBAC 권한 통제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오픈소스 (Apache 2.0)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무상 활용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커넥션 풀(HikariCP) 튜닝 및 멀티파트 대용량 파일 스트리밍 처리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AI 에이전트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Python 3.11 + FastAPI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+ LangChain / FFmpeg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Python 3.11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FastAPI 0.110+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100대 규칙사전 매칭, 하이브리드 RAG, 프롬프트 오케스트레이션, 영상 처리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오픈소스 (MIT/LGPL)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무상 활용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비동기(Async) 워커 큐 적용 및 동영상 처리 시 임시 파일 즉시 클린업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데이터베이스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PostgreSQL 16 + pgvector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(벡터 확장 모듈)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PostgreSQL 16.x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pgvector (1536d)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클레임 판정 이력, 100대 규칙사전 및 식약처 가이드라인/실증 벡터 검색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AWS RDS 매니지드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(발주사 클라우드)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HNSW 인덱스 적용으로 코사인 유사도 검색 속도 100ms 이내 유지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외부 AI API #1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기업용 상용 LLM API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(OpenAI / Claude / Gemini 등)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Enterprise API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(Zero-Retention)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3단계 문맥 기반 허위·과대광고 판정, 법령 근거 요약 및 대체 문구 생성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발주사 법인 계정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(종량제 API Key)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입력 데이터가 모델 학습에 절대 사용되지 않는 기업용 보안 채널 강제, 일일 토큰 한도 모니터링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외부 AI API #2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네이버 클로바 OCR API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(CLOVA OCR)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General / Template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REST API (:443)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이미지 배너, 스캔 문서, 영상 캡처 프레임 내 화장품 문구 고정밀 추출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발주사 법인 계정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(호출 건당 과금)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동일 이미지 해시(SHA-256) 캐싱을 통해 중복 OCR 호출 방지 및 비용 절감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1493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사내 연계 4종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HB-SSO SSO / MarketingHub /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1">
                          <a:solidFill>
                            <a:srgbClr val="1E293B"/>
                          </a:solidFill>
                          <a:latin typeface="맑은 고딕"/>
                        </a:rPr>
                        <a:t>ProductLab / KT레몬(옵션)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REST API / OAuth2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SAML / DB View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임직원 통합인증(SSO), 광고심의 요청 연동(MarketingHub), 실증자료 조회(ProductLab)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한빛글로벌 사내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기간계 시스템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맑은 고딕"/>
                        </a:rPr>
                        <a:t>연계규격협의서(ANL_050) 기반 타임아웃(3~10초) 및 재시도(Retry) 서킷브레이커 적용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6. 인프라 접근 권한 및 보안 통제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프로젝트 참여 인력별 인프라·보안 접근 권한 매트릭스 (AWS 인프라 정의서 연동)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발주사 보안 정책에 따라 인력별로 업무에 필요한 최소한의 시스템 접근 권한만 신청·부여하며, 방화벽 ANY Open을 전면 금지합니다.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80160"/>
                <a:gridCol w="1051560"/>
                <a:gridCol w="1051560"/>
                <a:gridCol w="1051560"/>
                <a:gridCol w="1051560"/>
                <a:gridCol w="1051560"/>
                <a:gridCol w="3319272"/>
              </a:tblGrid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 (소속)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프로젝트 역할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1. 사내계정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(HB-SSO)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2. 가상사설망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(VPC / VPN)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3. 서버접근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(CA-PAM)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4. DB접근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(Chakra)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5. 클라우드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(AWS 콘솔)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권한 부여 사유 및 통제 조건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박준혁 (엠파시)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사업총괄 / AA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EKS/RDS/ALB 아키텍처 구성 검증 및 인프라 트러블슈팅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김태윤 (엠파시)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수행 PM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사내 포털 협업, DEV/STG 웹 화면 검수 및 프로젝트 관리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최현우 (엠파시)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개발리드 (PL)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백엔드/AI 컨테이너 배포, RDS 스키마/벡터 인덱스 관리, 연계 테스트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전담 AI / FE (엠파시)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AI / 프론트 개발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DEV/STG 환경 애플리케이션 배포, 로그 확인 및 단위/통합 테스트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이지훈 (엠파시)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PMO / 품질관리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산출물 관리 및 화면 UI/UX 테스트 (서버/DB 직접 접속 권한 배제)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강동현 (데이터브릿지)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E293B"/>
                          </a:solidFill>
                          <a:latin typeface="맑은 고딕"/>
                        </a:rPr>
                        <a:t>실증DB 연계 수석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16A34A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선택(O)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필수(M)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불필요(-)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맑은 고딕"/>
                        </a:rPr>
                        <a:t>연구원 ProductLab 실증자료 DB 스키마 분석 및 연계 API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526280"/>
            <a:ext cx="11274552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11274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663440"/>
            <a:ext cx="1892808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SECURITY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4645152"/>
            <a:ext cx="8997696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보안 권한 생명주기(Lifecycle) 및 방화벽 통제 3대 철칙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992624"/>
            <a:ext cx="10981944" cy="117957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1E293B"/>
                </a:solidFill>
                <a:latin typeface="맑은 고딕"/>
              </a:rPr>
              <a:t>• [사전 심사 및 서약] 모든 투입 인력은 착수 시 보안서약서 및 개인정보보호 서약서를 제출한 후, 기술 PM(한승우) 승인을 거쳐 권한을 발급받음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1E293B"/>
                </a:solidFill>
                <a:latin typeface="맑은 고딕"/>
              </a:rPr>
              <a:t>• [방화벽 정밀 통제] '2.방화벽 신청' 시트 기준에 따라 Source IP / Destination IP / Port(:3104, :18080, :18083, :18084, :18085, :5432, :443)를 1:1 명시하며 ANY Open은 절대 불허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1E293B"/>
                </a:solidFill>
                <a:latin typeface="맑은 고딕"/>
              </a:rPr>
              <a:t>• [종료 시 일괄 회수] 2027.05.31 사업 종료(또는 중도 인력 철수) 당일 HB-SSO, VPN, CA-PAM, Chakra, AWS IAM 계정을 전수 비활성화하고 검수확인서(IMP_040)에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7. 인력 변경 통제 · 용량 확장 · 기술 이전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핵심 인력 변경 통제, 클라우드 리소스 탄력 확장 및 운영 인력 기술 이전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사업 수행 중 인력 공백과 서버 리소스 병목을 방지하고, 종료 시 발주사 운영 조직이 독자 운영할 수 있도록 기술 자산을 완전 이관합니다.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3016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630168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337560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임의 교체 절대 금지 · 2주 이상 인수인계 중첩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1. 핵심 투입 인력 변경 통제 절차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3337560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핵심 인력 유지 원칙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사업총괄/AA(박준혁), 수행PM(김태윤), 개발리드(최현우) 등 핵심 인력은 사업 종료 시까지 변경 없이 100% 전담 유지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불가피한 사유(퇴사·질병 등) 발생 시 교체 절차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[D-14일] 발주사 PM에게 서면 사유 보고 및 동급/상위 등급 대체 인력 프로필(경력증명) 제출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[사전 승인] 발주사 적격성 심사 및 공식 서면 승인 획득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[중첩 근무] 최소 2주(10영업일) 이상 기존 인력과 대체 인력이 동시 투입(무상)되어 업무·코드 무결점 인계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1371600"/>
            <a:ext cx="363016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1371600"/>
            <a:ext cx="363016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5696" y="1508760"/>
            <a:ext cx="3172968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대용량 미디어 OOM 방지 및 탄력적 증설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1490472"/>
            <a:ext cx="731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2. 인프라 용량 모니터링 및 확장 (Scaling)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1837943"/>
            <a:ext cx="3337560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리소스 병목 중점 관리 대상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고해상도 동영상(최대 수백 MB) 다중 업로드 시 FFmpeg 프레임 추출 및 OCR 처리 구간의 CPU/메모리 급증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선제적 자원 최적화 및 확장 대책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syncguard-ai-agent(:18083) 컨테이너를 일반 웹 서버와 분리하여 고메모리 노드 그룹에 배치 및 동시 처리 큐(Queue) 제한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EKS HPA(Horizontal Pod Autoscaler)를 통해 CPU 70% / 메모리 75% 초과 시 Pod 자동 확장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S3 Intelligent-Tiering 및 임시 변환 파일 24시간 내 자동 삭제 배치(:18084) 가동으로 스토리지 비용 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1371600"/>
            <a:ext cx="3630168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1371600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1508760"/>
            <a:ext cx="333756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현업 18명 · IT운영/관리자 4명 맞춤 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76888" y="149047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3. 발주사 자원 이관 및 기술 이전 교육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837943"/>
            <a:ext cx="3337560" cy="43342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대상별 맞춤형 교육 및 실습 (2027.05월)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현업 사용자(RA Lab·마케터 등 약 18명) : 클레임 문서/영상 업로드, 대조 뷰어 활용, 판정 리포트 다운로드 실습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시스템 관리자/IT운영팀(4명) : 100대 규칙사전/프롬프트 관리, EKS/RDS 모니터링, 장애 복구 및 배치 운영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■ 기술 자산 및 매뉴얼 완전 인계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1E293B"/>
                </a:solidFill>
                <a:latin typeface="맑은 고딕"/>
              </a:rPr>
              <a:t>• 사용자매뉴얼(IMP_050), 운영자매뉴얼(IMP_060), 교육결과보고서(IMP_070) 및 전체 소스코드/빌드 스크립트 이관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자원 관리 계획서   &gt;   8. 자원 관리 점검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EMP_MAN_100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프로젝트 단계별 자원 조달 · 운영 · 반납 점검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착수 단계의 자원 확보부터 구현 단계의 가동률 모니터링, 종료 단계의 보안 권한 회수까지 전 주기 자원 무결성을 점검합니다.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SyncGuard AI 시스템 구축  |  자원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43000"/>
                <a:gridCol w="5102352"/>
                <a:gridCol w="1188720"/>
                <a:gridCol w="1051560"/>
                <a:gridCol w="1600200"/>
              </a:tblGrid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단계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자원 영역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점검 항목 (Resource Verification Criteria)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점검 주기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확인 산출물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1. 착수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(10월)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인적 자원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투입 인력 전원 보안서약서 제출 및 프로젝트 연락망(R&amp;R) 등록이 완료되었는가?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전원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 시 1회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연락처대장 / 보안서약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1. 착수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(10월)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보안 / 권한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개발에 필요한 HB-SSO, VPN, CA-PAM, Chakra, AWS 콘솔 권한 신청이 적기 완료되었는가?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D-5일 신청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착수/투입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AWS 인프라정의서(시트3)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2. 설계/구현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(11월~3월)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클라우드 인프라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DEV/STG 환경의 내부 ALB 2개 분리 및 EKS 4종/RDS(pgvector)/S3 프로비저닝이 정상인가?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구성 일치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환경 구축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아키텍처정의서(DEG_090)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2. 설계/구현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(11월~3월)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네트워크 보안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방화벽 정책에 ANY Open이 없으며, 지정된 포트(:3104, :18080~18085, :5432)만 개방되었는가?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ANY Open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방화벽 개통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AWS 인프라정의서(시트2)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2. 설계/구현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(11월~3월)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인력 투입공수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월별투입공수 관리대장(EMP_MAN_050)의 계획 공수 대비 실제 투입 M/M가 정상 집행되었는가?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편차 ±5% 이내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매월 말일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월별투입공수(MAN_050)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3. 시험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(4월)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AI / 컴퓨팅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대용량 영상/문서 동시 분석 부하 시험 시 메모리 부족(OOM) 없이 목표 응답시간을 충족하는가?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OOM 발생 0건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성능시험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성능시험결과서(TST_040)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3. 시험 단계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(4월)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외부 AI 보안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상용 LLM API 연동 채널이 기업용 비학습(Zero-Data Retention) 모드로 설정되어 있는가?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비학습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보안점검 시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보안점검결과서(TST_030)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4. 이행/종료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(5월)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1E293B"/>
                          </a:solidFill>
                          <a:latin typeface="맑은 고딕"/>
                        </a:rPr>
                        <a:t>자산 이관/회수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28종 산출물·소스코드 인계 완료 후 수행사 인력의 전 시스템 계정/권한이 회수·파기되었는가?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권한 회수 100%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종료 검수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1E293B"/>
                          </a:solidFill>
                          <a:latin typeface="맑은 고딕"/>
                        </a:rPr>
                        <a:t>인수인계(030)/검수서(040)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활용 가이드 : 본 체크리스트는 매월 말 월간보고 및 단계말 마일스톤(M1~M6) 검수 시 수행 PM과 발주사 기술 PM이 합동 점검합니다.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