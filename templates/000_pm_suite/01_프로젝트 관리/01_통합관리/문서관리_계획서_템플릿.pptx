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412480" y="0"/>
            <a:ext cx="3779215" cy="6858000"/>
          </a:xfrm>
          <a:prstGeom prst="rect">
            <a:avLst/>
          </a:prstGeom>
          <a:solidFill>
            <a:srgbClr val="162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2960" y="594360"/>
            <a:ext cx="4754880" cy="347472"/>
          </a:xfrm>
          <a:prstGeom prst="roundRect">
            <a:avLst/>
          </a:prstGeom>
          <a:solidFill>
            <a:srgbClr val="1E3A5F"/>
          </a:solidFill>
          <a:ln w="1270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640080"/>
            <a:ext cx="45720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050" b="1">
                <a:solidFill>
                  <a:srgbClr val="93C5FD"/>
                </a:solidFill>
                <a:latin typeface="맑은 고딕"/>
              </a:rPr>
              <a:t>산출물 ID : EMP_MAN_070   |   버전 : v1.0   |   표준 관리 템플릿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691640"/>
            <a:ext cx="91440" cy="224028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78992" y="1664208"/>
            <a:ext cx="7315200" cy="4114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800" b="1">
                <a:solidFill>
                  <a:srgbClr val="93C5FD"/>
                </a:solidFill>
                <a:latin typeface="맑은 고딕"/>
              </a:rPr>
              <a:t>한빛글로벌 SyncGuard AI 시스템 구축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" y="2121408"/>
            <a:ext cx="7315200" cy="8229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3600" b="1">
                <a:solidFill>
                  <a:srgbClr val="FFFFFF"/>
                </a:solidFill>
                <a:latin typeface="맑은 고딕"/>
              </a:rPr>
              <a:t>문서관리 계획서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" y="2944368"/>
            <a:ext cx="731520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400" b="0">
                <a:solidFill>
                  <a:srgbClr val="CBD5E1"/>
                </a:solidFill>
                <a:latin typeface="맑은 고딕"/>
              </a:rPr>
              <a:t>Document &amp; Deliverable Configuration Management Plan (공공·엔터프라이즈 표준)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" y="3429000"/>
            <a:ext cx="7132320" cy="5943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200" b="0">
                <a:solidFill>
                  <a:srgbClr val="E2E8F0"/>
                </a:solidFill>
                <a:latin typeface="맑은 고딕"/>
              </a:rPr>
              <a:t>프로젝트 전 단계(착수·분석·설계·구현·시험·이행·관리) 산출물 28종의 식별 체계, 작성 표준, 버전/형상 통제, 승인 절차 및 보안·이관 기준을 정의합니다.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822960" y="4434840"/>
          <a:ext cx="7132320" cy="18745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5669280"/>
              </a:tblGrid>
              <a:tr h="374903"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93C5FD"/>
                          </a:solidFill>
                          <a:latin typeface="맑은 고딕"/>
                        </a:rPr>
                        <a:t>사 업 명</a:t>
                      </a:r>
                    </a:p>
                  </a:txBody>
                  <a:tcPr anchor="ctr" marT="45720" marB="45720" marL="73152" marR="73152">
                    <a:solidFill>
                      <a:srgbClr val="162E52"/>
                    </a:solidFill>
                    <a:lnL w="6350" cmpd="sng">
                      <a:solidFill>
                        <a:srgbClr val="334155"/>
                      </a:solidFill>
                    </a:lnL>
                    <a:lnR w="6350" cmpd="sng">
                      <a:solidFill>
                        <a:srgbClr val="334155"/>
                      </a:solidFill>
                    </a:lnR>
                    <a:lnT w="6350" cmpd="sng">
                      <a:solidFill>
                        <a:srgbClr val="334155"/>
                      </a:solidFill>
                    </a:lnT>
                    <a:lnB w="6350" cmpd="sng">
                      <a:solidFill>
                        <a:srgbClr val="33415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FFFFFF"/>
                          </a:solidFill>
                          <a:latin typeface="맑은 고딕"/>
                        </a:rPr>
                        <a:t>한빛글로벌 SyncGuard AI 시스템 구축 용역</a:t>
                      </a:r>
                    </a:p>
                  </a:txBody>
                  <a:tcPr anchor="ctr" marT="45720" marB="45720" marL="73152" marR="73152">
                    <a:solidFill>
                      <a:srgbClr val="0F2340"/>
                    </a:solidFill>
                    <a:lnL w="6350" cmpd="sng">
                      <a:solidFill>
                        <a:srgbClr val="334155"/>
                      </a:solidFill>
                    </a:lnL>
                    <a:lnR w="6350" cmpd="sng">
                      <a:solidFill>
                        <a:srgbClr val="334155"/>
                      </a:solidFill>
                    </a:lnR>
                    <a:lnT w="6350" cmpd="sng">
                      <a:solidFill>
                        <a:srgbClr val="334155"/>
                      </a:solidFill>
                    </a:lnT>
                    <a:lnB w="6350" cmpd="sng">
                      <a:solidFill>
                        <a:srgbClr val="334155"/>
                      </a:solidFill>
                    </a:lnB>
                  </a:tcPr>
                </a:tc>
              </a:tr>
              <a:tr h="374903"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93C5FD"/>
                          </a:solidFill>
                          <a:latin typeface="맑은 고딕"/>
                        </a:rPr>
                        <a:t>사 업 기 간</a:t>
                      </a:r>
                    </a:p>
                  </a:txBody>
                  <a:tcPr anchor="ctr" marT="45720" marB="45720" marL="73152" marR="73152">
                    <a:solidFill>
                      <a:srgbClr val="162E52"/>
                    </a:solidFill>
                    <a:lnL w="6350" cmpd="sng">
                      <a:solidFill>
                        <a:srgbClr val="334155"/>
                      </a:solidFill>
                    </a:lnL>
                    <a:lnR w="6350" cmpd="sng">
                      <a:solidFill>
                        <a:srgbClr val="334155"/>
                      </a:solidFill>
                    </a:lnR>
                    <a:lnT w="6350" cmpd="sng">
                      <a:solidFill>
                        <a:srgbClr val="334155"/>
                      </a:solidFill>
                    </a:lnT>
                    <a:lnB w="6350" cmpd="sng">
                      <a:solidFill>
                        <a:srgbClr val="33415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FFFFFF"/>
                          </a:solidFill>
                          <a:latin typeface="맑은 고딕"/>
                        </a:rPr>
                        <a:t>2026. 10. 16. ~ 2027. 05. 31. (약 7.5개월 / 33주)</a:t>
                      </a:r>
                    </a:p>
                  </a:txBody>
                  <a:tcPr anchor="ctr" marT="45720" marB="45720" marL="73152" marR="73152">
                    <a:solidFill>
                      <a:srgbClr val="0F2340"/>
                    </a:solidFill>
                    <a:lnL w="6350" cmpd="sng">
                      <a:solidFill>
                        <a:srgbClr val="334155"/>
                      </a:solidFill>
                    </a:lnL>
                    <a:lnR w="6350" cmpd="sng">
                      <a:solidFill>
                        <a:srgbClr val="334155"/>
                      </a:solidFill>
                    </a:lnR>
                    <a:lnT w="6350" cmpd="sng">
                      <a:solidFill>
                        <a:srgbClr val="334155"/>
                      </a:solidFill>
                    </a:lnT>
                    <a:lnB w="6350" cmpd="sng">
                      <a:solidFill>
                        <a:srgbClr val="334155"/>
                      </a:solidFill>
                    </a:lnB>
                  </a:tcPr>
                </a:tc>
              </a:tr>
              <a:tr h="374903"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93C5FD"/>
                          </a:solidFill>
                          <a:latin typeface="맑은 고딕"/>
                        </a:rPr>
                        <a:t>발 주 기 관</a:t>
                      </a:r>
                    </a:p>
                  </a:txBody>
                  <a:tcPr anchor="ctr" marT="45720" marB="45720" marL="73152" marR="73152">
                    <a:solidFill>
                      <a:srgbClr val="162E52"/>
                    </a:solidFill>
                    <a:lnL w="6350" cmpd="sng">
                      <a:solidFill>
                        <a:srgbClr val="334155"/>
                      </a:solidFill>
                    </a:lnL>
                    <a:lnR w="6350" cmpd="sng">
                      <a:solidFill>
                        <a:srgbClr val="334155"/>
                      </a:solidFill>
                    </a:lnR>
                    <a:lnT w="6350" cmpd="sng">
                      <a:solidFill>
                        <a:srgbClr val="334155"/>
                      </a:solidFill>
                    </a:lnT>
                    <a:lnB w="6350" cmpd="sng">
                      <a:solidFill>
                        <a:srgbClr val="33415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FFFFFF"/>
                          </a:solidFill>
                          <a:latin typeface="맑은 고딕"/>
                        </a:rPr>
                        <a:t>주식회사 한빛글로벌 (연구전략Lab / ERP플랫폼기획팀 / RA Lab)</a:t>
                      </a:r>
                    </a:p>
                  </a:txBody>
                  <a:tcPr anchor="ctr" marT="45720" marB="45720" marL="73152" marR="73152">
                    <a:solidFill>
                      <a:srgbClr val="0F2340"/>
                    </a:solidFill>
                    <a:lnL w="6350" cmpd="sng">
                      <a:solidFill>
                        <a:srgbClr val="334155"/>
                      </a:solidFill>
                    </a:lnL>
                    <a:lnR w="6350" cmpd="sng">
                      <a:solidFill>
                        <a:srgbClr val="334155"/>
                      </a:solidFill>
                    </a:lnR>
                    <a:lnT w="6350" cmpd="sng">
                      <a:solidFill>
                        <a:srgbClr val="334155"/>
                      </a:solidFill>
                    </a:lnT>
                    <a:lnB w="6350" cmpd="sng">
                      <a:solidFill>
                        <a:srgbClr val="334155"/>
                      </a:solidFill>
                    </a:lnB>
                  </a:tcPr>
                </a:tc>
              </a:tr>
              <a:tr h="374903"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93C5FD"/>
                          </a:solidFill>
                          <a:latin typeface="맑은 고딕"/>
                        </a:rPr>
                        <a:t>수 행 기 관</a:t>
                      </a:r>
                    </a:p>
                  </a:txBody>
                  <a:tcPr anchor="ctr" marT="45720" marB="45720" marL="73152" marR="73152">
                    <a:solidFill>
                      <a:srgbClr val="162E52"/>
                    </a:solidFill>
                    <a:lnL w="6350" cmpd="sng">
                      <a:solidFill>
                        <a:srgbClr val="334155"/>
                      </a:solidFill>
                    </a:lnL>
                    <a:lnR w="6350" cmpd="sng">
                      <a:solidFill>
                        <a:srgbClr val="334155"/>
                      </a:solidFill>
                    </a:lnR>
                    <a:lnT w="6350" cmpd="sng">
                      <a:solidFill>
                        <a:srgbClr val="334155"/>
                      </a:solidFill>
                    </a:lnT>
                    <a:lnB w="6350" cmpd="sng">
                      <a:solidFill>
                        <a:srgbClr val="33415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FFFFFF"/>
                          </a:solidFill>
                          <a:latin typeface="맑은 고딕"/>
                        </a:rPr>
                        <a:t>주식회사 엠파시 (협력사: ㈜데이터브릿지)</a:t>
                      </a:r>
                    </a:p>
                  </a:txBody>
                  <a:tcPr anchor="ctr" marT="45720" marB="45720" marL="73152" marR="73152">
                    <a:solidFill>
                      <a:srgbClr val="0F2340"/>
                    </a:solidFill>
                    <a:lnL w="6350" cmpd="sng">
                      <a:solidFill>
                        <a:srgbClr val="334155"/>
                      </a:solidFill>
                    </a:lnL>
                    <a:lnR w="6350" cmpd="sng">
                      <a:solidFill>
                        <a:srgbClr val="334155"/>
                      </a:solidFill>
                    </a:lnR>
                    <a:lnT w="6350" cmpd="sng">
                      <a:solidFill>
                        <a:srgbClr val="334155"/>
                      </a:solidFill>
                    </a:lnT>
                    <a:lnB w="6350" cmpd="sng">
                      <a:solidFill>
                        <a:srgbClr val="334155"/>
                      </a:solidFill>
                    </a:lnB>
                  </a:tcPr>
                </a:tc>
              </a:tr>
              <a:tr h="374907"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93C5FD"/>
                          </a:solidFill>
                          <a:latin typeface="맑은 고딕"/>
                        </a:rPr>
                        <a:t>작 성 일 자</a:t>
                      </a:r>
                    </a:p>
                  </a:txBody>
                  <a:tcPr anchor="ctr" marT="45720" marB="45720" marL="73152" marR="73152">
                    <a:solidFill>
                      <a:srgbClr val="162E52"/>
                    </a:solidFill>
                    <a:lnL w="6350" cmpd="sng">
                      <a:solidFill>
                        <a:srgbClr val="334155"/>
                      </a:solidFill>
                    </a:lnL>
                    <a:lnR w="6350" cmpd="sng">
                      <a:solidFill>
                        <a:srgbClr val="334155"/>
                      </a:solidFill>
                    </a:lnR>
                    <a:lnT w="6350" cmpd="sng">
                      <a:solidFill>
                        <a:srgbClr val="334155"/>
                      </a:solidFill>
                    </a:lnT>
                    <a:lnB w="6350" cmpd="sng">
                      <a:solidFill>
                        <a:srgbClr val="33415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FFFFFF"/>
                          </a:solidFill>
                          <a:latin typeface="맑은 고딕"/>
                        </a:rPr>
                        <a:t>2026. 10. 28.</a:t>
                      </a:r>
                    </a:p>
                  </a:txBody>
                  <a:tcPr anchor="ctr" marT="45720" marB="45720" marL="73152" marR="73152">
                    <a:solidFill>
                      <a:srgbClr val="0F2340"/>
                    </a:solidFill>
                    <a:lnL w="6350" cmpd="sng">
                      <a:solidFill>
                        <a:srgbClr val="334155"/>
                      </a:solidFill>
                    </a:lnL>
                    <a:lnR w="6350" cmpd="sng">
                      <a:solidFill>
                        <a:srgbClr val="334155"/>
                      </a:solidFill>
                    </a:lnR>
                    <a:lnT w="6350" cmpd="sng">
                      <a:solidFill>
                        <a:srgbClr val="334155"/>
                      </a:solidFill>
                    </a:lnT>
                    <a:lnB w="6350" cmpd="sng">
                      <a:solidFill>
                        <a:srgbClr val="33415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8732520" y="4069080"/>
            <a:ext cx="3017520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100" b="1">
                <a:solidFill>
                  <a:srgbClr val="93C5FD"/>
                </a:solidFill>
                <a:latin typeface="맑은 고딕"/>
              </a:rPr>
              <a:t>■ 산출물 검토 및 승인 확인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8732520" y="4434840"/>
          <a:ext cx="3017520" cy="18745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2960"/>
                <a:gridCol w="1097280"/>
                <a:gridCol w="1097280"/>
              </a:tblGrid>
              <a:tr h="468629"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맑은 고딕"/>
                        </a:rPr>
                        <a:t>구 분</a:t>
                      </a:r>
                    </a:p>
                  </a:txBody>
                  <a:tcPr anchor="ctr" marT="45720" marB="45720" marL="73152" marR="73152">
                    <a:solidFill>
                      <a:srgbClr val="1D4ED8"/>
                    </a:solidFill>
                    <a:lnL w="6350" cmpd="sng">
                      <a:solidFill>
                        <a:srgbClr val="475569"/>
                      </a:solidFill>
                    </a:lnL>
                    <a:lnR w="6350" cmpd="sng">
                      <a:solidFill>
                        <a:srgbClr val="475569"/>
                      </a:solidFill>
                    </a:lnR>
                    <a:lnT w="6350" cmpd="sng">
                      <a:solidFill>
                        <a:srgbClr val="475569"/>
                      </a:solidFill>
                    </a:lnT>
                    <a:lnB w="6350" cmpd="sng">
                      <a:solidFill>
                        <a:srgbClr val="47556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맑은 고딕"/>
                        </a:rPr>
                        <a:t>수행사 (엠파시)</a:t>
                      </a:r>
                    </a:p>
                  </a:txBody>
                  <a:tcPr anchor="ctr" marT="45720" marB="45720" marL="73152" marR="73152">
                    <a:solidFill>
                      <a:srgbClr val="1D4ED8"/>
                    </a:solidFill>
                    <a:lnL w="6350" cmpd="sng">
                      <a:solidFill>
                        <a:srgbClr val="475569"/>
                      </a:solidFill>
                    </a:lnL>
                    <a:lnR w="6350" cmpd="sng">
                      <a:solidFill>
                        <a:srgbClr val="475569"/>
                      </a:solidFill>
                    </a:lnR>
                    <a:lnT w="6350" cmpd="sng">
                      <a:solidFill>
                        <a:srgbClr val="475569"/>
                      </a:solidFill>
                    </a:lnT>
                    <a:lnB w="6350" cmpd="sng">
                      <a:solidFill>
                        <a:srgbClr val="47556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맑은 고딕"/>
                        </a:rPr>
                        <a:t>발주사 (한빛글로벌)</a:t>
                      </a:r>
                    </a:p>
                  </a:txBody>
                  <a:tcPr anchor="ctr" marT="45720" marB="45720" marL="73152" marR="73152">
                    <a:solidFill>
                      <a:srgbClr val="1D4ED8"/>
                    </a:solidFill>
                    <a:lnL w="6350" cmpd="sng">
                      <a:solidFill>
                        <a:srgbClr val="475569"/>
                      </a:solidFill>
                    </a:lnL>
                    <a:lnR w="6350" cmpd="sng">
                      <a:solidFill>
                        <a:srgbClr val="475569"/>
                      </a:solidFill>
                    </a:lnR>
                    <a:lnT w="6350" cmpd="sng">
                      <a:solidFill>
                        <a:srgbClr val="475569"/>
                      </a:solidFill>
                    </a:lnT>
                    <a:lnB w="6350" cmpd="sng">
                      <a:solidFill>
                        <a:srgbClr val="475569"/>
                      </a:solidFill>
                    </a:lnB>
                  </a:tcPr>
                </a:tc>
              </a:tr>
              <a:tr h="468629"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50" b="1">
                          <a:solidFill>
                            <a:srgbClr val="E2E8F0"/>
                          </a:solidFill>
                          <a:latin typeface="맑은 고딕"/>
                        </a:rPr>
                        <a:t>담 당 자</a:t>
                      </a:r>
                    </a:p>
                  </a:txBody>
                  <a:tcPr anchor="ctr" marT="45720" marB="45720" marL="73152" marR="73152">
                    <a:solidFill>
                      <a:srgbClr val="1E3A5F"/>
                    </a:solidFill>
                    <a:lnL w="6350" cmpd="sng">
                      <a:solidFill>
                        <a:srgbClr val="475569"/>
                      </a:solidFill>
                    </a:lnL>
                    <a:lnR w="6350" cmpd="sng">
                      <a:solidFill>
                        <a:srgbClr val="475569"/>
                      </a:solidFill>
                    </a:lnR>
                    <a:lnT w="6350" cmpd="sng">
                      <a:solidFill>
                        <a:srgbClr val="475569"/>
                      </a:solidFill>
                    </a:lnT>
                    <a:lnB w="6350" cmpd="sng">
                      <a:solidFill>
                        <a:srgbClr val="47556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rgbClr val="FFFFFF"/>
                          </a:solidFill>
                          <a:latin typeface="맑은 고딕"/>
                        </a:rPr>
                        <a:t>김태윤 PM</a:t>
                      </a:r>
                    </a:p>
                  </a:txBody>
                  <a:tcPr anchor="ctr" marT="45720" marB="45720" marL="73152" marR="73152">
                    <a:solidFill>
                      <a:srgbClr val="162E52"/>
                    </a:solidFill>
                    <a:lnL w="6350" cmpd="sng">
                      <a:solidFill>
                        <a:srgbClr val="475569"/>
                      </a:solidFill>
                    </a:lnL>
                    <a:lnR w="6350" cmpd="sng">
                      <a:solidFill>
                        <a:srgbClr val="475569"/>
                      </a:solidFill>
                    </a:lnR>
                    <a:lnT w="6350" cmpd="sng">
                      <a:solidFill>
                        <a:srgbClr val="475569"/>
                      </a:solidFill>
                    </a:lnT>
                    <a:lnB w="6350" cmpd="sng">
                      <a:solidFill>
                        <a:srgbClr val="47556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rgbClr val="FFFFFF"/>
                          </a:solidFill>
                          <a:latin typeface="맑은 고딕"/>
                        </a:rPr>
                        <a:t>정민수 PM</a:t>
                      </a:r>
                    </a:p>
                  </a:txBody>
                  <a:tcPr anchor="ctr" marT="45720" marB="45720" marL="73152" marR="73152">
                    <a:solidFill>
                      <a:srgbClr val="162E52"/>
                    </a:solidFill>
                    <a:lnL w="6350" cmpd="sng">
                      <a:solidFill>
                        <a:srgbClr val="475569"/>
                      </a:solidFill>
                    </a:lnL>
                    <a:lnR w="6350" cmpd="sng">
                      <a:solidFill>
                        <a:srgbClr val="475569"/>
                      </a:solidFill>
                    </a:lnR>
                    <a:lnT w="6350" cmpd="sng">
                      <a:solidFill>
                        <a:srgbClr val="475569"/>
                      </a:solidFill>
                    </a:lnT>
                    <a:lnB w="6350" cmpd="sng">
                      <a:solidFill>
                        <a:srgbClr val="475569"/>
                      </a:solidFill>
                    </a:lnB>
                  </a:tcPr>
                </a:tc>
              </a:tr>
              <a:tr h="468629"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50" b="1">
                          <a:solidFill>
                            <a:srgbClr val="E2E8F0"/>
                          </a:solidFill>
                          <a:latin typeface="맑은 고딕"/>
                        </a:rPr>
                        <a:t>검 토 자</a:t>
                      </a:r>
                    </a:p>
                  </a:txBody>
                  <a:tcPr anchor="ctr" marT="45720" marB="45720" marL="73152" marR="73152">
                    <a:solidFill>
                      <a:srgbClr val="1E3A5F"/>
                    </a:solidFill>
                    <a:lnL w="6350" cmpd="sng">
                      <a:solidFill>
                        <a:srgbClr val="475569"/>
                      </a:solidFill>
                    </a:lnL>
                    <a:lnR w="6350" cmpd="sng">
                      <a:solidFill>
                        <a:srgbClr val="475569"/>
                      </a:solidFill>
                    </a:lnR>
                    <a:lnT w="6350" cmpd="sng">
                      <a:solidFill>
                        <a:srgbClr val="475569"/>
                      </a:solidFill>
                    </a:lnT>
                    <a:lnB w="6350" cmpd="sng">
                      <a:solidFill>
                        <a:srgbClr val="47556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rgbClr val="FFFFFF"/>
                          </a:solidFill>
                          <a:latin typeface="맑은 고딕"/>
                        </a:rPr>
                        <a:t>박준혁 AA</a:t>
                      </a:r>
                    </a:p>
                  </a:txBody>
                  <a:tcPr anchor="ctr" marT="45720" marB="45720" marL="73152" marR="73152">
                    <a:solidFill>
                      <a:srgbClr val="162E52"/>
                    </a:solidFill>
                    <a:lnL w="6350" cmpd="sng">
                      <a:solidFill>
                        <a:srgbClr val="475569"/>
                      </a:solidFill>
                    </a:lnL>
                    <a:lnR w="6350" cmpd="sng">
                      <a:solidFill>
                        <a:srgbClr val="475569"/>
                      </a:solidFill>
                    </a:lnR>
                    <a:lnT w="6350" cmpd="sng">
                      <a:solidFill>
                        <a:srgbClr val="475569"/>
                      </a:solidFill>
                    </a:lnT>
                    <a:lnB w="6350" cmpd="sng">
                      <a:solidFill>
                        <a:srgbClr val="47556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rgbClr val="FFFFFF"/>
                          </a:solidFill>
                          <a:latin typeface="맑은 고딕"/>
                        </a:rPr>
                        <a:t>한승우 PM</a:t>
                      </a:r>
                    </a:p>
                  </a:txBody>
                  <a:tcPr anchor="ctr" marT="45720" marB="45720" marL="73152" marR="73152">
                    <a:solidFill>
                      <a:srgbClr val="162E52"/>
                    </a:solidFill>
                    <a:lnL w="6350" cmpd="sng">
                      <a:solidFill>
                        <a:srgbClr val="475569"/>
                      </a:solidFill>
                    </a:lnL>
                    <a:lnR w="6350" cmpd="sng">
                      <a:solidFill>
                        <a:srgbClr val="475569"/>
                      </a:solidFill>
                    </a:lnR>
                    <a:lnT w="6350" cmpd="sng">
                      <a:solidFill>
                        <a:srgbClr val="475569"/>
                      </a:solidFill>
                    </a:lnT>
                    <a:lnB w="6350" cmpd="sng">
                      <a:solidFill>
                        <a:srgbClr val="475569"/>
                      </a:solidFill>
                    </a:lnB>
                  </a:tcPr>
                </a:tc>
              </a:tr>
              <a:tr h="468632"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50" b="1">
                          <a:solidFill>
                            <a:srgbClr val="E2E8F0"/>
                          </a:solidFill>
                          <a:latin typeface="맑은 고딕"/>
                        </a:rPr>
                        <a:t>승 인(인)</a:t>
                      </a:r>
                    </a:p>
                  </a:txBody>
                  <a:tcPr anchor="ctr" marT="45720" marB="45720" marL="73152" marR="73152">
                    <a:solidFill>
                      <a:srgbClr val="1E3A5F"/>
                    </a:solidFill>
                    <a:lnL w="6350" cmpd="sng">
                      <a:solidFill>
                        <a:srgbClr val="475569"/>
                      </a:solidFill>
                    </a:lnL>
                    <a:lnR w="6350" cmpd="sng">
                      <a:solidFill>
                        <a:srgbClr val="475569"/>
                      </a:solidFill>
                    </a:lnR>
                    <a:lnT w="6350" cmpd="sng">
                      <a:solidFill>
                        <a:srgbClr val="475569"/>
                      </a:solidFill>
                    </a:lnT>
                    <a:lnB w="6350" cmpd="sng">
                      <a:solidFill>
                        <a:srgbClr val="47556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rgbClr val="FFFFFF"/>
                          </a:solidFill>
                          <a:latin typeface="맑은 고딕"/>
                        </a:rPr>
                        <a:t>(서명 / 인)</a:t>
                      </a:r>
                    </a:p>
                  </a:txBody>
                  <a:tcPr anchor="ctr" marT="45720" marB="45720" marL="73152" marR="73152">
                    <a:solidFill>
                      <a:srgbClr val="162E52"/>
                    </a:solidFill>
                    <a:lnL w="6350" cmpd="sng">
                      <a:solidFill>
                        <a:srgbClr val="475569"/>
                      </a:solidFill>
                    </a:lnL>
                    <a:lnR w="6350" cmpd="sng">
                      <a:solidFill>
                        <a:srgbClr val="475569"/>
                      </a:solidFill>
                    </a:lnR>
                    <a:lnT w="6350" cmpd="sng">
                      <a:solidFill>
                        <a:srgbClr val="475569"/>
                      </a:solidFill>
                    </a:lnT>
                    <a:lnB w="6350" cmpd="sng">
                      <a:solidFill>
                        <a:srgbClr val="47556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rgbClr val="FFFFFF"/>
                          </a:solidFill>
                          <a:latin typeface="맑은 고딕"/>
                        </a:rPr>
                        <a:t>(서명 / 인)</a:t>
                      </a:r>
                    </a:p>
                  </a:txBody>
                  <a:tcPr anchor="ctr" marT="45720" marB="45720" marL="73152" marR="73152">
                    <a:solidFill>
                      <a:srgbClr val="162E52"/>
                    </a:solidFill>
                    <a:lnL w="6350" cmpd="sng">
                      <a:solidFill>
                        <a:srgbClr val="475569"/>
                      </a:solidFill>
                    </a:lnL>
                    <a:lnR w="6350" cmpd="sng">
                      <a:solidFill>
                        <a:srgbClr val="475569"/>
                      </a:solidFill>
                    </a:lnR>
                    <a:lnT w="6350" cmpd="sng">
                      <a:solidFill>
                        <a:srgbClr val="475569"/>
                      </a:solidFill>
                    </a:lnT>
                    <a:lnB w="6350" cmpd="sng">
                      <a:solidFill>
                        <a:srgbClr val="475569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4" name="Rectangle 13"/>
          <p:cNvSpPr/>
          <p:nvPr/>
        </p:nvSpPr>
        <p:spPr>
          <a:xfrm>
            <a:off x="8732520" y="1143000"/>
            <a:ext cx="3017520" cy="26974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732520" y="1143000"/>
            <a:ext cx="3017520" cy="6400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878824" y="1280160"/>
            <a:ext cx="1252728" cy="256032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50" b="1">
                <a:solidFill>
                  <a:srgbClr val="FFFFFF"/>
                </a:solidFill>
                <a:latin typeface="맑은 고딕"/>
              </a:rPr>
              <a:t>TEMPLATE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222992" y="1261872"/>
            <a:ext cx="1380743" cy="31089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맑은 고딕"/>
              </a:rPr>
              <a:t>표준 템플릿 활용 안내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78824" y="1609343"/>
            <a:ext cx="2724912" cy="213969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50" b="0">
                <a:solidFill>
                  <a:srgbClr val="FFFFFF"/>
                </a:solidFill>
                <a:latin typeface="맑은 고딕"/>
              </a:rPr>
              <a:t>• 본 문서는 전사 표준 프로젝트 관리 템플릿이자 한빛글로벌 SyncGuard AI 실전 기준서입니다.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50" b="0">
                <a:solidFill>
                  <a:srgbClr val="FFFFFF"/>
                </a:solidFill>
                <a:latin typeface="맑은 고딕"/>
              </a:rPr>
              <a:t>• 타 프로젝트 적용 시 표지, 문서이력, WBS/조직/인프라 표의 프로젝트 고유 항목만 교체하여 즉시 활용 가능합니다.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50" b="0">
                <a:solidFill>
                  <a:srgbClr val="FFFFFF"/>
                </a:solidFill>
                <a:latin typeface="맑은 고딕"/>
              </a:rPr>
              <a:t>• 문서 번호 체계: [수행사코드]_MAN_[순번]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777240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050" b="1">
                <a:solidFill>
                  <a:srgbClr val="1D4ED8"/>
                </a:solidFill>
                <a:latin typeface="맑은 고딕"/>
              </a:rPr>
              <a:t>문서관리 계획서   &gt;   0. 문서 이력 및 목차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3920" y="201168"/>
            <a:ext cx="3227832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20000"/>
              </a:lnSpc>
              <a:spcAft>
                <a:spcPts val="200"/>
              </a:spcAft>
            </a:pPr>
            <a:r>
              <a:rPr sz="1000" b="1">
                <a:solidFill>
                  <a:srgbClr val="64748B"/>
                </a:solidFill>
                <a:latin typeface="맑은 고딕"/>
              </a:rPr>
              <a:t>산출물 ID : EMP_MAN_070  |  버전 : v1.0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38912"/>
            <a:ext cx="11274552" cy="42062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2100" b="1">
                <a:solidFill>
                  <a:srgbClr val="0F172A"/>
                </a:solidFill>
                <a:latin typeface="맑은 고딕"/>
              </a:rPr>
              <a:t>문서 제·개정 이력 및 목차 (Document History &amp; Contents)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77824"/>
            <a:ext cx="11274552" cy="31089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200" b="0">
                <a:solidFill>
                  <a:srgbClr val="64748B"/>
                </a:solidFill>
                <a:latin typeface="맑은 고딕"/>
              </a:rPr>
              <a:t>본 계획서의 제·개정 이력과 전체 장표 구성을 정의하며, 프로젝트 규모에 따라 테일러링(Tailoring)하여 적용합니다.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16152"/>
            <a:ext cx="11274552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6419088"/>
            <a:ext cx="11274552" cy="13716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455664"/>
            <a:ext cx="502920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900" b="0">
                <a:solidFill>
                  <a:srgbClr val="64748B"/>
                </a:solidFill>
                <a:latin typeface="맑은 고딕"/>
              </a:rPr>
              <a:t>한빛글로벌 SyncGuard AI 시스템 구축  |  문서관리 계획서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6455664"/>
            <a:ext cx="1216152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20000"/>
              </a:lnSpc>
              <a:spcAft>
                <a:spcPts val="200"/>
              </a:spcAft>
            </a:pPr>
            <a:r>
              <a:rPr sz="900" b="1">
                <a:solidFill>
                  <a:srgbClr val="64748B"/>
                </a:solidFill>
                <a:latin typeface="맑은 고딕"/>
              </a:rPr>
              <a:t>2 / 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59752" y="6455664"/>
            <a:ext cx="457200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20000"/>
              </a:lnSpc>
              <a:spcAft>
                <a:spcPts val="200"/>
              </a:spcAft>
            </a:pPr>
            <a:r>
              <a:rPr sz="900" b="0">
                <a:solidFill>
                  <a:srgbClr val="64748B"/>
                </a:solidFill>
                <a:latin typeface="맑은 고딕"/>
              </a:rPr>
              <a:t>발주사 : HANBIT GLOBAL   |   수행사 : ㈜엠파시 (Empasy Inc.)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353312"/>
            <a:ext cx="5577840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300" b="1">
                <a:solidFill>
                  <a:srgbClr val="0F172A"/>
                </a:solidFill>
                <a:latin typeface="맑은 고딕"/>
              </a:rPr>
              <a:t>■ 문서 제·개정 이력 (Revision History)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457200" y="1691640"/>
          <a:ext cx="5623560" cy="2331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4360"/>
                <a:gridCol w="960120"/>
                <a:gridCol w="1005840"/>
                <a:gridCol w="2148840"/>
                <a:gridCol w="914400"/>
              </a:tblGrid>
              <a:tr h="582930"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맑은 고딕"/>
                        </a:rPr>
                        <a:t>버전</a:t>
                      </a:r>
                    </a:p>
                  </a:txBody>
                  <a:tcPr anchor="ctr" marT="45720" marB="45720" marL="73152" marR="73152">
                    <a:solidFill>
                      <a:srgbClr val="0F2340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맑은 고딕"/>
                        </a:rPr>
                        <a:t>개정일</a:t>
                      </a:r>
                    </a:p>
                  </a:txBody>
                  <a:tcPr anchor="ctr" marT="45720" marB="45720" marL="73152" marR="73152">
                    <a:solidFill>
                      <a:srgbClr val="0F2340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맑은 고딕"/>
                        </a:rPr>
                        <a:t>구분</a:t>
                      </a:r>
                    </a:p>
                  </a:txBody>
                  <a:tcPr anchor="ctr" marT="45720" marB="45720" marL="73152" marR="73152">
                    <a:solidFill>
                      <a:srgbClr val="0F2340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맑은 고딕"/>
                        </a:rPr>
                        <a:t>주요 제·개정 내역</a:t>
                      </a:r>
                    </a:p>
                  </a:txBody>
                  <a:tcPr anchor="ctr" marT="45720" marB="45720" marL="73152" marR="73152">
                    <a:solidFill>
                      <a:srgbClr val="0F2340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맑은 고딕"/>
                        </a:rPr>
                        <a:t>작성/승인</a:t>
                      </a:r>
                    </a:p>
                  </a:txBody>
                  <a:tcPr anchor="ctr" marT="45720" marB="45720" marL="73152" marR="73152">
                    <a:solidFill>
                      <a:srgbClr val="0F2340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</a:tr>
              <a:tr h="582930"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00" b="1">
                          <a:solidFill>
                            <a:srgbClr val="1E293B"/>
                          </a:solidFill>
                          <a:latin typeface="맑은 고딕"/>
                        </a:rPr>
                        <a:t>v0.9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00" b="0">
                          <a:solidFill>
                            <a:srgbClr val="1E293B"/>
                          </a:solidFill>
                          <a:latin typeface="맑은 고딕"/>
                        </a:rPr>
                        <a:t>2026-10-15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00" b="0">
                          <a:solidFill>
                            <a:srgbClr val="1E293B"/>
                          </a:solidFill>
                          <a:latin typeface="맑은 고딕"/>
                        </a:rPr>
                        <a:t>초안 작성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00" b="0">
                          <a:solidFill>
                            <a:srgbClr val="1E293B"/>
                          </a:solidFill>
                          <a:latin typeface="맑은 고딕"/>
                        </a:rPr>
                        <a:t>공공 산출물 관리 지침 및 사내 PMO 표준 기반 문서관리 계획 초안 수립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00" b="0">
                          <a:solidFill>
                            <a:srgbClr val="1E293B"/>
                          </a:solidFill>
                          <a:latin typeface="맑은 고딕"/>
                        </a:rPr>
                        <a:t>이지훈 PMO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</a:tr>
              <a:tr h="582930"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00" b="1">
                          <a:solidFill>
                            <a:srgbClr val="1E293B"/>
                          </a:solidFill>
                          <a:latin typeface="맑은 고딕"/>
                        </a:rPr>
                        <a:t>v1.0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00" b="0">
                          <a:solidFill>
                            <a:srgbClr val="1E293B"/>
                          </a:solidFill>
                          <a:latin typeface="맑은 고딕"/>
                        </a:rPr>
                        <a:t>2026-10-16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00" b="0">
                          <a:solidFill>
                            <a:srgbClr val="1E293B"/>
                          </a:solidFill>
                          <a:latin typeface="맑은 고딕"/>
                        </a:rPr>
                        <a:t>착수 승인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00" b="0">
                          <a:solidFill>
                            <a:srgbClr val="1E293B"/>
                          </a:solidFill>
                          <a:latin typeface="맑은 고딕"/>
                        </a:rPr>
                        <a:t>착수 킥오프 합의 반영 (7대 단계 분류, 28종 필수 산출물 및 구글드라이브 체계 확정)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00" b="0">
                          <a:solidFill>
                            <a:srgbClr val="1E293B"/>
                          </a:solidFill>
                          <a:latin typeface="맑은 고딕"/>
                        </a:rPr>
                        <a:t>김태윤 / 정민수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</a:tr>
              <a:tr h="582930"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00" b="1">
                          <a:solidFill>
                            <a:srgbClr val="1E293B"/>
                          </a:solidFill>
                          <a:latin typeface="맑은 고딕"/>
                        </a:rPr>
                        <a:t>v1.1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00" b="0">
                          <a:solidFill>
                            <a:srgbClr val="1E293B"/>
                          </a:solidFill>
                          <a:latin typeface="맑은 고딕"/>
                        </a:rPr>
                        <a:t>2026-10-28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00" b="0">
                          <a:solidFill>
                            <a:srgbClr val="1E293B"/>
                          </a:solidFill>
                          <a:latin typeface="맑은 고딕"/>
                        </a:rPr>
                        <a:t>표준화 보강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00" b="0">
                          <a:solidFill>
                            <a:srgbClr val="1E293B"/>
                          </a:solidFill>
                          <a:latin typeface="맑은 고딕"/>
                        </a:rPr>
                        <a:t>타 프로젝트 재활용 템플릿 가이드 및 보안 등급별 열람·백업 기준 고도화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00" b="0">
                          <a:solidFill>
                            <a:srgbClr val="1E293B"/>
                          </a:solidFill>
                          <a:latin typeface="맑은 고딕"/>
                        </a:rPr>
                        <a:t>박준혁 AA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3" name="Rectangle 12"/>
          <p:cNvSpPr/>
          <p:nvPr/>
        </p:nvSpPr>
        <p:spPr>
          <a:xfrm>
            <a:off x="457200" y="4187952"/>
            <a:ext cx="5623560" cy="2057400"/>
          </a:xfrm>
          <a:prstGeom prst="rect">
            <a:avLst/>
          </a:prstGeom>
          <a:solidFill>
            <a:srgbClr val="EEF3FE"/>
          </a:solidFill>
          <a:ln w="1270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4187952"/>
            <a:ext cx="5623560" cy="64008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03504" y="4325112"/>
            <a:ext cx="868680" cy="256032"/>
          </a:xfrm>
          <a:prstGeom prst="round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50" b="1">
                <a:solidFill>
                  <a:srgbClr val="FFFFFF"/>
                </a:solidFill>
                <a:latin typeface="맑은 고딕"/>
              </a:rPr>
              <a:t>작성 지침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63624" y="4306824"/>
            <a:ext cx="4370832" cy="31089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200" b="1">
                <a:solidFill>
                  <a:srgbClr val="0F172A"/>
                </a:solidFill>
                <a:latin typeface="맑은 고딕"/>
              </a:rPr>
              <a:t>타 프로젝트 재활용 및 테일러링(Tailoring) 작성 지침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3504" y="4654296"/>
            <a:ext cx="5330952" cy="1499615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50" b="0">
                <a:solidFill>
                  <a:srgbClr val="1E293B"/>
                </a:solidFill>
                <a:latin typeface="맑은 고딕"/>
              </a:rPr>
              <a:t>1. 프로젝트 규모별 적용 기준 : 대형(L, 5억↑/6개월↑) 전 항목 필수(M), 중형(M) 핵심 항목 필수, 소형(S) 약식 통합 적용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50" b="0">
                <a:solidFill>
                  <a:srgbClr val="1E293B"/>
                </a:solidFill>
                <a:latin typeface="맑은 고딕"/>
              </a:rPr>
              <a:t>2. 기준선(Baseline) 설정 : 착수보고회 및 M1 설계승인 시점에 본 계획서의 지표를 확정하고 변경 시 양사 PM 합의 필수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50" b="0">
                <a:solidFill>
                  <a:srgbClr val="1E293B"/>
                </a:solidFill>
                <a:latin typeface="맑은 고딕"/>
              </a:rPr>
              <a:t>3. 교체 필수 항목 : SyncGuard AI 시스템 구축 사업, [발주사/수행사 조직], [사업기간 및 M1~M6 일정], [산출물 ID 체계], [인력/인프라 수량]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50" b="0">
                <a:solidFill>
                  <a:srgbClr val="1E293B"/>
                </a:solidFill>
                <a:latin typeface="맑은 고딕"/>
              </a:rPr>
              <a:t>4. 연계 문서 : 사업수행계획서(EMP_INT_010), WBS(EMP_INT_020), 주간보고서(EMP_MAN_010), 투입공수(EMP_MAN_050)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1353312"/>
            <a:ext cx="5422392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300" b="1">
                <a:solidFill>
                  <a:srgbClr val="0F172A"/>
                </a:solidFill>
                <a:latin typeface="맑은 고딕"/>
              </a:rPr>
              <a:t>■ 목차 및 장표 구성 (Table of Contents)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09360" y="1691640"/>
            <a:ext cx="5422392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09360" y="1691640"/>
            <a:ext cx="594360" cy="548640"/>
          </a:xfrm>
          <a:prstGeom prst="rect">
            <a:avLst/>
          </a:prstGeom>
          <a:solidFill>
            <a:srgbClr val="0F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09360" y="1819656"/>
            <a:ext cx="594360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20000"/>
              </a:lnSpc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맑은 고딕"/>
              </a:rPr>
              <a:t>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22592" y="1737360"/>
            <a:ext cx="3977639" cy="23774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100" b="1">
                <a:solidFill>
                  <a:srgbClr val="0F172A"/>
                </a:solidFill>
                <a:latin typeface="맑은 고딕"/>
              </a:rPr>
              <a:t>1. 문서관리 개요 및 기본 원칙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22592" y="1965960"/>
            <a:ext cx="3977639" cy="23774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950" b="0">
                <a:solidFill>
                  <a:srgbClr val="64748B"/>
                </a:solidFill>
                <a:latin typeface="맑은 고딕"/>
              </a:rPr>
              <a:t>문서관리 목적, 적용 범위 및 공공·엔터프라이즈 4대 원칙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18520" y="1837944"/>
            <a:ext cx="64008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20000"/>
              </a:lnSpc>
              <a:spcAft>
                <a:spcPts val="200"/>
              </a:spcAft>
            </a:pPr>
            <a:r>
              <a:rPr sz="1000" b="1">
                <a:solidFill>
                  <a:srgbClr val="1D4ED8"/>
                </a:solidFill>
                <a:latin typeface="맑은 고딕"/>
              </a:rPr>
              <a:t>3쪽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09360" y="2295144"/>
            <a:ext cx="5422392" cy="54864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309360" y="2295144"/>
            <a:ext cx="594360" cy="548640"/>
          </a:xfrm>
          <a:prstGeom prst="rect">
            <a:avLst/>
          </a:prstGeom>
          <a:solidFill>
            <a:srgbClr val="0F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09360" y="2423160"/>
            <a:ext cx="594360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20000"/>
              </a:lnSpc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맑은 고딕"/>
              </a:rPr>
              <a:t>Ⅱ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22592" y="2340863"/>
            <a:ext cx="3977639" cy="23774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100" b="1">
                <a:solidFill>
                  <a:srgbClr val="0F172A"/>
                </a:solidFill>
                <a:latin typeface="맑은 고딕"/>
              </a:rPr>
              <a:t>2. 문서 분류 체계 및 표준 명명 규칙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22592" y="2569463"/>
            <a:ext cx="3977639" cy="23774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950" b="0">
                <a:solidFill>
                  <a:srgbClr val="64748B"/>
                </a:solidFill>
                <a:latin typeface="맑은 고딕"/>
              </a:rPr>
              <a:t>7대 공정 단계별 코드(INT/MAN/ANL/DEG/EXE/TST/IMP) 및 ID 규칙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018520" y="2441448"/>
            <a:ext cx="64008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20000"/>
              </a:lnSpc>
              <a:spcAft>
                <a:spcPts val="200"/>
              </a:spcAft>
            </a:pPr>
            <a:r>
              <a:rPr sz="1000" b="1">
                <a:solidFill>
                  <a:srgbClr val="1D4ED8"/>
                </a:solidFill>
                <a:latin typeface="맑은 고딕"/>
              </a:rPr>
              <a:t>4쪽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09360" y="2898648"/>
            <a:ext cx="5422392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309360" y="2898648"/>
            <a:ext cx="594360" cy="548640"/>
          </a:xfrm>
          <a:prstGeom prst="rect">
            <a:avLst/>
          </a:prstGeom>
          <a:solidFill>
            <a:srgbClr val="0F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09360" y="3026664"/>
            <a:ext cx="594360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20000"/>
              </a:lnSpc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맑은 고딕"/>
              </a:rPr>
              <a:t>Ⅲ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022592" y="2944368"/>
            <a:ext cx="3977639" cy="23774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100" b="1">
                <a:solidFill>
                  <a:srgbClr val="0F172A"/>
                </a:solidFill>
                <a:latin typeface="맑은 고딕"/>
              </a:rPr>
              <a:t>3. 단계별 표준 산출물 총괄 목록 (28종)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022592" y="3172968"/>
            <a:ext cx="3977639" cy="23774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950" b="0">
                <a:solidFill>
                  <a:srgbClr val="64748B"/>
                </a:solidFill>
                <a:latin typeface="맑은 고딕"/>
              </a:rPr>
              <a:t>분석·설계·구현·시험·이행·사업관리 전 단계 필수 산출물 명세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018520" y="3044952"/>
            <a:ext cx="64008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20000"/>
              </a:lnSpc>
              <a:spcAft>
                <a:spcPts val="200"/>
              </a:spcAft>
            </a:pPr>
            <a:r>
              <a:rPr sz="1000" b="1">
                <a:solidFill>
                  <a:srgbClr val="1D4ED8"/>
                </a:solidFill>
                <a:latin typeface="맑은 고딕"/>
              </a:rPr>
              <a:t>5쪽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309360" y="3502152"/>
            <a:ext cx="5422392" cy="54864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309360" y="3502152"/>
            <a:ext cx="594360" cy="548640"/>
          </a:xfrm>
          <a:prstGeom prst="rect">
            <a:avLst/>
          </a:prstGeom>
          <a:solidFill>
            <a:srgbClr val="0F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309360" y="3630168"/>
            <a:ext cx="594360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20000"/>
              </a:lnSpc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맑은 고딕"/>
              </a:rPr>
              <a:t>Ⅳ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022592" y="3547872"/>
            <a:ext cx="3977639" cy="23774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100" b="1">
                <a:solidFill>
                  <a:srgbClr val="0F172A"/>
                </a:solidFill>
                <a:latin typeface="맑은 고딕"/>
              </a:rPr>
              <a:t>4. 문서 작성 표준 및 양식(Format) 규격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022592" y="3776472"/>
            <a:ext cx="3977639" cy="23774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950" b="0">
                <a:solidFill>
                  <a:srgbClr val="64748B"/>
                </a:solidFill>
                <a:latin typeface="맑은 고딕"/>
              </a:rPr>
              <a:t>Word/Excel/PPTX 도구별 표준 스타일, 글꼴, 필수 구성 요소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018520" y="3648456"/>
            <a:ext cx="64008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20000"/>
              </a:lnSpc>
              <a:spcAft>
                <a:spcPts val="200"/>
              </a:spcAft>
            </a:pPr>
            <a:r>
              <a:rPr sz="1000" b="1">
                <a:solidFill>
                  <a:srgbClr val="1D4ED8"/>
                </a:solidFill>
                <a:latin typeface="맑은 고딕"/>
              </a:rPr>
              <a:t>6쪽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309360" y="4105656"/>
            <a:ext cx="5422392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309360" y="4105656"/>
            <a:ext cx="594360" cy="54864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309360" y="4233672"/>
            <a:ext cx="594360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20000"/>
              </a:lnSpc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맑은 고딕"/>
              </a:rPr>
              <a:t>Ⅴ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022592" y="4151376"/>
            <a:ext cx="3977639" cy="23774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100" b="1">
                <a:solidFill>
                  <a:srgbClr val="0F172A"/>
                </a:solidFill>
                <a:latin typeface="맑은 고딕"/>
              </a:rPr>
              <a:t>5. 산출물 검토·승인 및 품질보증 프로세스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022592" y="4379976"/>
            <a:ext cx="3977639" cy="23774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950" b="0">
                <a:solidFill>
                  <a:srgbClr val="64748B"/>
                </a:solidFill>
                <a:latin typeface="맑은 고딕"/>
              </a:rPr>
              <a:t>작성 ➔ 동료검토 ➔ PMO검수 ➔ 고객검토 ➔ 최종승인 5단계 워크플로우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018520" y="4251960"/>
            <a:ext cx="64008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20000"/>
              </a:lnSpc>
              <a:spcAft>
                <a:spcPts val="200"/>
              </a:spcAft>
            </a:pPr>
            <a:r>
              <a:rPr sz="1000" b="1">
                <a:solidFill>
                  <a:srgbClr val="1D4ED8"/>
                </a:solidFill>
                <a:latin typeface="맑은 고딕"/>
              </a:rPr>
              <a:t>7쪽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309360" y="4709160"/>
            <a:ext cx="5422392" cy="54864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309360" y="4709160"/>
            <a:ext cx="594360" cy="54864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309360" y="4837176"/>
            <a:ext cx="594360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20000"/>
              </a:lnSpc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맑은 고딕"/>
              </a:rPr>
              <a:t>Ⅵ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022592" y="4754880"/>
            <a:ext cx="3977639" cy="23774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100" b="1">
                <a:solidFill>
                  <a:srgbClr val="0F172A"/>
                </a:solidFill>
                <a:latin typeface="맑은 고딕"/>
              </a:rPr>
              <a:t>6. 버전 관리·형상 통제 및 디렉터리 구조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022592" y="4983480"/>
            <a:ext cx="3977639" cy="23774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950" b="0">
                <a:solidFill>
                  <a:srgbClr val="64748B"/>
                </a:solidFill>
                <a:latin typeface="맑은 고딕"/>
              </a:rPr>
              <a:t>버전 부여 규칙(v0.1~v1.0), 변경통제(CCB), 공유 저장소 폴더 트리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1018520" y="4855464"/>
            <a:ext cx="64008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20000"/>
              </a:lnSpc>
              <a:spcAft>
                <a:spcPts val="200"/>
              </a:spcAft>
            </a:pPr>
            <a:r>
              <a:rPr sz="1000" b="1">
                <a:solidFill>
                  <a:srgbClr val="1D4ED8"/>
                </a:solidFill>
                <a:latin typeface="맑은 고딕"/>
              </a:rPr>
              <a:t>8쪽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309360" y="5312664"/>
            <a:ext cx="5422392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6309360" y="5312664"/>
            <a:ext cx="594360" cy="54864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309360" y="5440679"/>
            <a:ext cx="594360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20000"/>
              </a:lnSpc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맑은 고딕"/>
              </a:rPr>
              <a:t>Ⅶ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022592" y="5358383"/>
            <a:ext cx="3977639" cy="23774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100" b="1">
                <a:solidFill>
                  <a:srgbClr val="0F172A"/>
                </a:solidFill>
                <a:latin typeface="맑은 고딕"/>
              </a:rPr>
              <a:t>7. 문서 보안 관리 및 최종 인수인계 계획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022592" y="5586983"/>
            <a:ext cx="3977639" cy="23774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950" b="0">
                <a:solidFill>
                  <a:srgbClr val="64748B"/>
                </a:solidFill>
                <a:latin typeface="맑은 고딕"/>
              </a:rPr>
              <a:t>보안 등급(극비/대외비/일반) 통제, 백업 주기 및 최종 검수 인계 절차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1018520" y="5458968"/>
            <a:ext cx="64008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20000"/>
              </a:lnSpc>
              <a:spcAft>
                <a:spcPts val="200"/>
              </a:spcAft>
            </a:pPr>
            <a:r>
              <a:rPr sz="1000" b="1">
                <a:solidFill>
                  <a:srgbClr val="1D4ED8"/>
                </a:solidFill>
                <a:latin typeface="맑은 고딕"/>
              </a:rPr>
              <a:t>9쪽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309360" y="5916167"/>
            <a:ext cx="5422392" cy="54864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6309360" y="5916167"/>
            <a:ext cx="594360" cy="54864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309360" y="6044183"/>
            <a:ext cx="594360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20000"/>
              </a:lnSpc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맑은 고딕"/>
              </a:rPr>
              <a:t>Ⅷ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022592" y="5961887"/>
            <a:ext cx="3977639" cy="23774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100" b="1">
                <a:solidFill>
                  <a:srgbClr val="0F172A"/>
                </a:solidFill>
                <a:latin typeface="맑은 고딕"/>
              </a:rPr>
              <a:t>8. 산출물 품질 검수 체크리스트 (템플릿)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022592" y="6190487"/>
            <a:ext cx="3977639" cy="23774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950" b="0">
                <a:solidFill>
                  <a:srgbClr val="64748B"/>
                </a:solidFill>
                <a:latin typeface="맑은 고딕"/>
              </a:rPr>
              <a:t>단계말 Gate 심사 시 활용하는 문서 무결성 및 추적성 점검표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1018520" y="6062471"/>
            <a:ext cx="64008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20000"/>
              </a:lnSpc>
              <a:spcAft>
                <a:spcPts val="200"/>
              </a:spcAft>
            </a:pPr>
            <a:r>
              <a:rPr sz="1000" b="1">
                <a:solidFill>
                  <a:srgbClr val="1D4ED8"/>
                </a:solidFill>
                <a:latin typeface="맑은 고딕"/>
              </a:rPr>
              <a:t>10쪽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777240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050" b="1">
                <a:solidFill>
                  <a:srgbClr val="1D4ED8"/>
                </a:solidFill>
                <a:latin typeface="맑은 고딕"/>
              </a:rPr>
              <a:t>문서관리 계획서   &gt;   1. 문서관리 개요 및 기본 원칙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3920" y="201168"/>
            <a:ext cx="3227832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20000"/>
              </a:lnSpc>
              <a:spcAft>
                <a:spcPts val="200"/>
              </a:spcAft>
            </a:pPr>
            <a:r>
              <a:rPr sz="1000" b="1">
                <a:solidFill>
                  <a:srgbClr val="64748B"/>
                </a:solidFill>
                <a:latin typeface="맑은 고딕"/>
              </a:rPr>
              <a:t>산출물 ID : EMP_MAN_070  |  버전 : v1.0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38912"/>
            <a:ext cx="11274552" cy="42062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2100" b="1">
                <a:solidFill>
                  <a:srgbClr val="0F172A"/>
                </a:solidFill>
                <a:latin typeface="맑은 고딕"/>
              </a:rPr>
              <a:t>1. 문서관리 목적, 적용 범위 및 4대 핵심 원칙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77824"/>
            <a:ext cx="11274552" cy="31089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200" b="0">
                <a:solidFill>
                  <a:srgbClr val="64748B"/>
                </a:solidFill>
                <a:latin typeface="맑은 고딕"/>
              </a:rPr>
              <a:t>공공 정보시스템 구축·운영 지침 및 감리 프레임워크에 준거하여 산출물의 완전성, 일관성, 추적성, 보안성을 보장합니다.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16152"/>
            <a:ext cx="11274552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6419088"/>
            <a:ext cx="11274552" cy="13716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455664"/>
            <a:ext cx="502920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900" b="0">
                <a:solidFill>
                  <a:srgbClr val="64748B"/>
                </a:solidFill>
                <a:latin typeface="맑은 고딕"/>
              </a:rPr>
              <a:t>한빛글로벌 SyncGuard AI 시스템 구축  |  문서관리 계획서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6455664"/>
            <a:ext cx="1216152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20000"/>
              </a:lnSpc>
              <a:spcAft>
                <a:spcPts val="200"/>
              </a:spcAft>
            </a:pPr>
            <a:r>
              <a:rPr sz="900" b="1">
                <a:solidFill>
                  <a:srgbClr val="64748B"/>
                </a:solidFill>
                <a:latin typeface="맑은 고딕"/>
              </a:rPr>
              <a:t>3 / 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59752" y="6455664"/>
            <a:ext cx="457200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20000"/>
              </a:lnSpc>
              <a:spcAft>
                <a:spcPts val="200"/>
              </a:spcAft>
            </a:pPr>
            <a:r>
              <a:rPr sz="900" b="0">
                <a:solidFill>
                  <a:srgbClr val="64748B"/>
                </a:solidFill>
                <a:latin typeface="맑은 고딕"/>
              </a:rPr>
              <a:t>발주사 : HANBIT GLOBAL   |   수행사 : ㈜엠파시 (Empasy Inc.)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371600"/>
            <a:ext cx="5559552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1371600"/>
            <a:ext cx="5559552" cy="64008"/>
          </a:xfrm>
          <a:prstGeom prst="rect">
            <a:avLst/>
          </a:prstGeom>
          <a:solidFill>
            <a:srgbClr val="0F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03504" y="1508760"/>
            <a:ext cx="2660904" cy="256032"/>
          </a:xfrm>
          <a:prstGeom prst="roundRect">
            <a:avLst/>
          </a:prstGeom>
          <a:solidFill>
            <a:srgbClr val="0F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50" b="1">
                <a:solidFill>
                  <a:srgbClr val="FFFFFF"/>
                </a:solidFill>
                <a:latin typeface="맑은 고딕"/>
              </a:rPr>
              <a:t>공식 산출물 28종 100% 현행화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55848" y="1490472"/>
            <a:ext cx="2514599" cy="31089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300" b="1">
                <a:solidFill>
                  <a:srgbClr val="0F172A"/>
                </a:solidFill>
                <a:latin typeface="맑은 고딕"/>
              </a:rPr>
              <a:t>01 완전성 및 최신성 (Completeness)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3504" y="1837943"/>
            <a:ext cx="5266944" cy="149961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b="0">
                <a:solidFill>
                  <a:srgbClr val="1E293B"/>
                </a:solidFill>
                <a:latin typeface="맑은 고딕"/>
              </a:rPr>
              <a:t>• 계약서, 과업지시서(RFP), 사업수행계획서에 정의된 전 단계 28종 산출물을 누락 없이 작성·유지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b="0">
                <a:solidFill>
                  <a:srgbClr val="1E293B"/>
                </a:solidFill>
                <a:latin typeface="맑은 고딕"/>
              </a:rPr>
              <a:t>• 아키텍처·화면·DB·인터페이스 변경 시 관련 설계 문서를 48시간 이내 동기화하여 코드-문서 불일치 원천 차단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b="0">
                <a:solidFill>
                  <a:srgbClr val="1E293B"/>
                </a:solidFill>
                <a:latin typeface="맑은 고딕"/>
              </a:rPr>
              <a:t>• 단일 원천(SSOT) 공유 저장소를 통해 전 참여자가 항상 최신 승인본(Baseline)만 참조하도록 통제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72200" y="1371600"/>
            <a:ext cx="5559552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72200" y="1371600"/>
            <a:ext cx="5559552" cy="64008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318504" y="1508760"/>
            <a:ext cx="2788920" cy="256032"/>
          </a:xfrm>
          <a:prstGeom prst="round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50" b="1">
                <a:solidFill>
                  <a:srgbClr val="FFFFFF"/>
                </a:solidFill>
                <a:latin typeface="맑은 고딕"/>
              </a:rPr>
              <a:t>전사 표준 양식 및 용어 사전 단일화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98864" y="1490472"/>
            <a:ext cx="2386583" cy="31089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300" b="1">
                <a:solidFill>
                  <a:srgbClr val="0F172A"/>
                </a:solidFill>
                <a:latin typeface="맑은 고딕"/>
              </a:rPr>
              <a:t>02 표준화 및 일관성 (Standardization)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18504" y="1837943"/>
            <a:ext cx="5266944" cy="149961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b="0">
                <a:solidFill>
                  <a:srgbClr val="1E293B"/>
                </a:solidFill>
                <a:latin typeface="맑은 고딕"/>
              </a:rPr>
              <a:t>• 표지(결재란 포함), 제·개정 이력, 목차, 본문 레이아웃, 글꼴(맑은 고딕) 등 전 산출물 표준 템플릿 의무 적용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b="0">
                <a:solidFill>
                  <a:srgbClr val="1E293B"/>
                </a:solidFill>
                <a:latin typeface="맑은 고딕"/>
              </a:rPr>
              <a:t>• 표준용어정의서(EMP_DEG_060) 및 코드정의서(EMP_DEG_070)에 등록된 공식 도메인 용어만 사용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b="0">
                <a:solidFill>
                  <a:srgbClr val="1E293B"/>
                </a:solidFill>
                <a:latin typeface="맑은 고딕"/>
              </a:rPr>
              <a:t>• 공공 사업 감리 기준 및 대기업 PMO 품질 기준을 동시에 충족하는 문서 구조 확립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3584448"/>
            <a:ext cx="5559552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7200" y="3584448"/>
            <a:ext cx="5559552" cy="6400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03504" y="3721608"/>
            <a:ext cx="3557016" cy="256032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50" b="1">
                <a:solidFill>
                  <a:srgbClr val="FFFFFF"/>
                </a:solidFill>
                <a:latin typeface="맑은 고딕"/>
              </a:rPr>
              <a:t>요구사항 ↔ 설계 ↔ 구현 ↔ 시험 1:1 연결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51960" y="3703320"/>
            <a:ext cx="1618487" cy="31089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300" b="1">
                <a:solidFill>
                  <a:srgbClr val="0F172A"/>
                </a:solidFill>
                <a:latin typeface="맑은 고딕"/>
              </a:rPr>
              <a:t>03 양방향 추적성 (Traceability)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3504" y="4050792"/>
            <a:ext cx="5266944" cy="1499615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b="0">
                <a:solidFill>
                  <a:srgbClr val="1E293B"/>
                </a:solidFill>
                <a:latin typeface="맑은 고딕"/>
              </a:rPr>
              <a:t>• 요구사항정의서(REQ-01~08, F-01~43)의 고유 ID가 화면설계서, DB명세서, 테스트시나리오까지 일관되게 연결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b="0">
                <a:solidFill>
                  <a:srgbClr val="1E293B"/>
                </a:solidFill>
                <a:latin typeface="맑은 고딕"/>
              </a:rPr>
              <a:t>• 요구사항추적표(EMP_ANL_030, RTVM)를 통해 미반영 요구사항이나 고아 기능(Orphan) 발생 여부를 상시 검증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b="0">
                <a:solidFill>
                  <a:srgbClr val="1E293B"/>
                </a:solidFill>
                <a:latin typeface="맑은 고딕"/>
              </a:rPr>
              <a:t>• 마일스톤(M1~M6) 단계별 Gate 통과 조건으로 산출물 간 정합성 교차 검증 실시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72200" y="3584448"/>
            <a:ext cx="5559552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172200" y="3584448"/>
            <a:ext cx="5559552" cy="6400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318504" y="3721608"/>
            <a:ext cx="3044952" cy="256032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50" b="1">
                <a:solidFill>
                  <a:srgbClr val="FFFFFF"/>
                </a:solidFill>
                <a:latin typeface="맑은 고딕"/>
              </a:rPr>
              <a:t>접근 권한 통제 및 구버전 백업 아카이빙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54896" y="3703320"/>
            <a:ext cx="2130551" cy="31089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300" b="1">
                <a:solidFill>
                  <a:srgbClr val="0F172A"/>
                </a:solidFill>
                <a:latin typeface="맑은 고딕"/>
              </a:rPr>
              <a:t>04 보안성 및 이력 보존 (Security &amp; Audit)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18504" y="4050792"/>
            <a:ext cx="5266944" cy="1499615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b="0">
                <a:solidFill>
                  <a:srgbClr val="1E293B"/>
                </a:solidFill>
                <a:latin typeface="맑은 고딕"/>
              </a:rPr>
              <a:t>• 미출시 화장품 시안, 사내 인프라 구성도, 계정 정보 등 민감 문서는 '대외비/극비' 등급으로 지정하여 외부 유출 차단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b="0">
                <a:solidFill>
                  <a:srgbClr val="1E293B"/>
                </a:solidFill>
                <a:latin typeface="맑은 고딕"/>
              </a:rPr>
              <a:t>• 승인 완료된 기준선(v1.0) 문서는 임의 덮어쓰기나 삭제를 금지하고 '00. 구버전_백업' 폴더에 이력 보존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b="0">
                <a:solidFill>
                  <a:srgbClr val="1E293B"/>
                </a:solidFill>
                <a:latin typeface="맑은 고딕"/>
              </a:rPr>
              <a:t>• 사업 종료 시 인수인계계획서(EMP_IMP_030) 및 검수확인서(EMP_IMP_040)에 의거 발주사에 전수 인계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5779008"/>
            <a:ext cx="11274552" cy="502920"/>
          </a:xfrm>
          <a:prstGeom prst="rect">
            <a:avLst/>
          </a:prstGeom>
          <a:solidFill>
            <a:srgbClr val="EEF3FE"/>
          </a:solidFill>
          <a:ln w="1270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57200" y="5779008"/>
            <a:ext cx="91440" cy="50292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8368" y="5852160"/>
            <a:ext cx="1092708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050" b="1">
                <a:solidFill>
                  <a:srgbClr val="0F172A"/>
                </a:solidFill>
                <a:latin typeface="맑은 고딕"/>
              </a:rPr>
              <a:t>핵심 관리 지표(KPI) : 공식 산출물 28종 납기 준수율 100%  |  요구사항 추적성(RTVM) 정합성 100%  |  문서 보안 사고 0건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777240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050" b="1">
                <a:solidFill>
                  <a:srgbClr val="1D4ED8"/>
                </a:solidFill>
                <a:latin typeface="맑은 고딕"/>
              </a:rPr>
              <a:t>문서관리 계획서   &gt;   2. 문서 분류 체계 및 명명 규칙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3920" y="201168"/>
            <a:ext cx="3227832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20000"/>
              </a:lnSpc>
              <a:spcAft>
                <a:spcPts val="200"/>
              </a:spcAft>
            </a:pPr>
            <a:r>
              <a:rPr sz="1000" b="1">
                <a:solidFill>
                  <a:srgbClr val="64748B"/>
                </a:solidFill>
                <a:latin typeface="맑은 고딕"/>
              </a:rPr>
              <a:t>산출물 ID : EMP_MAN_070  |  버전 : v1.0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38912"/>
            <a:ext cx="11274552" cy="42062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2100" b="1">
                <a:solidFill>
                  <a:srgbClr val="0F172A"/>
                </a:solidFill>
                <a:latin typeface="맑은 고딕"/>
              </a:rPr>
              <a:t>2. 산출물 표준 식별번호(ID) 및 파일 명명 규칙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77824"/>
            <a:ext cx="11274552" cy="31089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200" b="0">
                <a:solidFill>
                  <a:srgbClr val="64748B"/>
                </a:solidFill>
                <a:latin typeface="맑은 고딕"/>
              </a:rPr>
              <a:t>모든 프로젝트 산출물은 단계별 분류 코드와 일련번호를 조합한 고유 식별자(Document ID)로 체계적으로 관리됩니다.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16152"/>
            <a:ext cx="11274552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6419088"/>
            <a:ext cx="11274552" cy="13716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455664"/>
            <a:ext cx="502920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900" b="0">
                <a:solidFill>
                  <a:srgbClr val="64748B"/>
                </a:solidFill>
                <a:latin typeface="맑은 고딕"/>
              </a:rPr>
              <a:t>한빛글로벌 SyncGuard AI 시스템 구축  |  문서관리 계획서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6455664"/>
            <a:ext cx="1216152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20000"/>
              </a:lnSpc>
              <a:spcAft>
                <a:spcPts val="200"/>
              </a:spcAft>
            </a:pPr>
            <a:r>
              <a:rPr sz="900" b="1">
                <a:solidFill>
                  <a:srgbClr val="64748B"/>
                </a:solidFill>
                <a:latin typeface="맑은 고딕"/>
              </a:rPr>
              <a:t>4 / 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59752" y="6455664"/>
            <a:ext cx="457200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20000"/>
              </a:lnSpc>
              <a:spcAft>
                <a:spcPts val="200"/>
              </a:spcAft>
            </a:pPr>
            <a:r>
              <a:rPr sz="900" b="0">
                <a:solidFill>
                  <a:srgbClr val="64748B"/>
                </a:solidFill>
                <a:latin typeface="맑은 고딕"/>
              </a:rPr>
              <a:t>발주사 : HANBIT GLOBAL   |   수행사 : ㈜엠파시 (Empasy Inc.)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353312"/>
            <a:ext cx="11274552" cy="1143000"/>
          </a:xfrm>
          <a:prstGeom prst="rect">
            <a:avLst/>
          </a:prstGeom>
          <a:solidFill>
            <a:srgbClr val="EEF3FE"/>
          </a:solidFill>
          <a:ln w="1270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1353312"/>
            <a:ext cx="11274552" cy="64008"/>
          </a:xfrm>
          <a:prstGeom prst="rect">
            <a:avLst/>
          </a:prstGeom>
          <a:solidFill>
            <a:srgbClr val="0F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03504" y="1490472"/>
            <a:ext cx="1636776" cy="256032"/>
          </a:xfrm>
          <a:prstGeom prst="roundRect">
            <a:avLst/>
          </a:prstGeom>
          <a:solidFill>
            <a:srgbClr val="0F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50" b="1">
                <a:solidFill>
                  <a:srgbClr val="FFFFFF"/>
                </a:solidFill>
                <a:latin typeface="맑은 고딕"/>
              </a:rPr>
              <a:t>NAMING RULE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31720" y="1472184"/>
            <a:ext cx="9253728" cy="31089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300" b="1">
                <a:solidFill>
                  <a:srgbClr val="0F172A"/>
                </a:solidFill>
                <a:latin typeface="맑은 고딕"/>
              </a:rPr>
              <a:t>표준 파일 명명 규칙 :  [수행사코드]_[단계코드]_[일련번호]_[프로젝트약어]_[산출물명]_v[버전]_[작성일자].[확장자]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3504" y="1819655"/>
            <a:ext cx="10981944" cy="58521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b="0">
                <a:solidFill>
                  <a:srgbClr val="1E293B"/>
                </a:solidFill>
                <a:latin typeface="맑은 고딕"/>
              </a:rPr>
              <a:t>• 작성 예시 (설계 단계) :  EMP_DEG_090_SyncGuard AI_아키텍처정의서_v1.3.docx     |     (착수 단계) :  EMP_INT_020_SyncGuard AI_작업분할구조도(WBS)_v1.1_20261026.xlsx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b="0">
                <a:solidFill>
                  <a:srgbClr val="1E293B"/>
                </a:solidFill>
                <a:latin typeface="맑은 고딕"/>
              </a:rPr>
              <a:t>• 타 프로젝트 재활용 시 :  [수행사코드(예: EMP/GRV)]_[단계코드(INT/MAN/ANL/DEG/EXE/TST/IMP)]_[010~990]_[고객사-과제명]_[산출물명]_v[1.0].[docx/xlsx/pptx]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457200" y="2651760"/>
          <a:ext cx="11274552" cy="3611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60120"/>
                <a:gridCol w="1783080"/>
                <a:gridCol w="1005840"/>
                <a:gridCol w="3246120"/>
                <a:gridCol w="3090672"/>
                <a:gridCol w="1188720"/>
              </a:tblGrid>
              <a:tr h="451485"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분류 코드</a:t>
                      </a:r>
                    </a:p>
                  </a:txBody>
                  <a:tcPr anchor="ctr" marT="45720" marB="45720" marL="73152" marR="73152">
                    <a:solidFill>
                      <a:srgbClr val="0F2340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공정 단계 (폴더명)</a:t>
                      </a:r>
                    </a:p>
                  </a:txBody>
                  <a:tcPr anchor="ctr" marT="45720" marB="45720" marL="73152" marR="73152">
                    <a:solidFill>
                      <a:srgbClr val="0F2340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번호 대역</a:t>
                      </a:r>
                    </a:p>
                  </a:txBody>
                  <a:tcPr anchor="ctr" marT="45720" marB="45720" marL="73152" marR="73152">
                    <a:solidFill>
                      <a:srgbClr val="0F2340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관리 목적 및 대상 산출물 범주</a:t>
                      </a:r>
                    </a:p>
                  </a:txBody>
                  <a:tcPr anchor="ctr" marT="45720" marB="45720" marL="73152" marR="73152">
                    <a:solidFill>
                      <a:srgbClr val="0F2340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주요 산출물 예시</a:t>
                      </a:r>
                    </a:p>
                  </a:txBody>
                  <a:tcPr anchor="ctr" marT="45720" marB="45720" marL="73152" marR="73152">
                    <a:solidFill>
                      <a:srgbClr val="0F2340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주관 역할</a:t>
                      </a:r>
                    </a:p>
                  </a:txBody>
                  <a:tcPr anchor="ctr" marT="45720" marB="45720" marL="73152" marR="73152">
                    <a:solidFill>
                      <a:srgbClr val="0F2340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</a:tr>
              <a:tr h="451485"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50" b="1">
                          <a:solidFill>
                            <a:srgbClr val="1E293B"/>
                          </a:solidFill>
                          <a:latin typeface="맑은 고딕"/>
                        </a:rPr>
                        <a:t>MAN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50" b="1">
                          <a:solidFill>
                            <a:srgbClr val="1E293B"/>
                          </a:solidFill>
                          <a:latin typeface="맑은 고딕"/>
                        </a:rPr>
                        <a:t>0.관리 (Management)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rgbClr val="1E293B"/>
                          </a:solidFill>
                          <a:latin typeface="맑은 고딕"/>
                        </a:rPr>
                        <a:t>010 ~ 100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rgbClr val="1E293B"/>
                          </a:solidFill>
                          <a:latin typeface="맑은 고딕"/>
                        </a:rPr>
                        <a:t>사업기간 전 주기 일정·진도·자원·의사소통·이슈·변경 통제 문서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rgbClr val="1E293B"/>
                          </a:solidFill>
                          <a:latin typeface="맑은 고딕"/>
                        </a:rPr>
                        <a:t>주간보고(010), 회의록(020), 이슈대장(030), 투입공수(050), 계획서(070~100)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rgbClr val="1E293B"/>
                          </a:solidFill>
                          <a:latin typeface="맑은 고딕"/>
                        </a:rPr>
                        <a:t>수행 PM / PMO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</a:tr>
              <a:tr h="451485"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50" b="1">
                          <a:solidFill>
                            <a:srgbClr val="1E293B"/>
                          </a:solidFill>
                          <a:latin typeface="맑은 고딕"/>
                        </a:rPr>
                        <a:t>INT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50" b="1">
                          <a:solidFill>
                            <a:srgbClr val="1E293B"/>
                          </a:solidFill>
                          <a:latin typeface="맑은 고딕"/>
                        </a:rPr>
                        <a:t>1.착수 (Initiation)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rgbClr val="1E293B"/>
                          </a:solidFill>
                          <a:latin typeface="맑은 고딕"/>
                        </a:rPr>
                        <a:t>000 ~ 090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rgbClr val="1E293B"/>
                          </a:solidFill>
                          <a:latin typeface="맑은 고딕"/>
                        </a:rPr>
                        <a:t>프로젝트 공식 착수, 사업 범위/일정/조직 기준선(Baseline) 수립 문서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rgbClr val="1E293B"/>
                          </a:solidFill>
                          <a:latin typeface="맑은 고딕"/>
                        </a:rPr>
                        <a:t>착수보고서(000), 사업수행계획서(010), 작업분할구조도 WBS(020)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rgbClr val="1E293B"/>
                          </a:solidFill>
                          <a:latin typeface="맑은 고딕"/>
                        </a:rPr>
                        <a:t>사업총괄 / 수행 PM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</a:tr>
              <a:tr h="451485"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50" b="1">
                          <a:solidFill>
                            <a:srgbClr val="1E293B"/>
                          </a:solidFill>
                          <a:latin typeface="맑은 고딕"/>
                        </a:rPr>
                        <a:t>ANL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50" b="1">
                          <a:solidFill>
                            <a:srgbClr val="1E293B"/>
                          </a:solidFill>
                          <a:latin typeface="맑은 고딕"/>
                        </a:rPr>
                        <a:t>2.분석 (Analysis)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rgbClr val="1E293B"/>
                          </a:solidFill>
                          <a:latin typeface="맑은 고딕"/>
                        </a:rPr>
                        <a:t>010 ~ 090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rgbClr val="1E293B"/>
                          </a:solidFill>
                          <a:latin typeface="맑은 고딕"/>
                        </a:rPr>
                        <a:t>현행 업무(AS-IS) 진단, 요구사항 상세화 및 대내외 연계 규격 확정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rgbClr val="1E293B"/>
                          </a:solidFill>
                          <a:latin typeface="맑은 고딕"/>
                        </a:rPr>
                        <a:t>벤치마킹(010), 요구사항정의서(020), 요구사항추적표(030), 연계규격협의서(050)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rgbClr val="1E293B"/>
                          </a:solidFill>
                          <a:latin typeface="맑은 고딕"/>
                        </a:rPr>
                        <a:t>수행 PM / AA / 기획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</a:tr>
              <a:tr h="451485"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50" b="1">
                          <a:solidFill>
                            <a:srgbClr val="1E293B"/>
                          </a:solidFill>
                          <a:latin typeface="맑은 고딕"/>
                        </a:rPr>
                        <a:t>DEG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50" b="1">
                          <a:solidFill>
                            <a:srgbClr val="1E293B"/>
                          </a:solidFill>
                          <a:latin typeface="맑은 고딕"/>
                        </a:rPr>
                        <a:t>3.설계 (Design)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rgbClr val="1E293B"/>
                          </a:solidFill>
                          <a:latin typeface="맑은 고딕"/>
                        </a:rPr>
                        <a:t>010 ~ 190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rgbClr val="1E293B"/>
                          </a:solidFill>
                          <a:latin typeface="맑은 고딕"/>
                        </a:rPr>
                        <a:t>목표 시스템(TO-BE) 화면·데이터·아키텍처·인터페이스·AI 엔진 상세 설계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rgbClr val="1E293B"/>
                          </a:solidFill>
                          <a:latin typeface="맑은 고딕"/>
                        </a:rPr>
                        <a:t>IA(010), 기능(020), 화면(050), DB명세(080), 아키텍처(090), AI프롬프트(150)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rgbClr val="1E293B"/>
                          </a:solidFill>
                          <a:latin typeface="맑은 고딕"/>
                        </a:rPr>
                        <a:t>AA / 개발리드 / AI리드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</a:tr>
              <a:tr h="451485"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50" b="1">
                          <a:solidFill>
                            <a:srgbClr val="1E293B"/>
                          </a:solidFill>
                          <a:latin typeface="맑은 고딕"/>
                        </a:rPr>
                        <a:t>EXE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50" b="1">
                          <a:solidFill>
                            <a:srgbClr val="1E293B"/>
                          </a:solidFill>
                          <a:latin typeface="맑은 고딕"/>
                        </a:rPr>
                        <a:t>4.구현 (Execution)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rgbClr val="1E293B"/>
                          </a:solidFill>
                          <a:latin typeface="맑은 고딕"/>
                        </a:rPr>
                        <a:t>010 ~ 090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rgbClr val="1E293B"/>
                          </a:solidFill>
                          <a:latin typeface="맑은 고딕"/>
                        </a:rPr>
                        <a:t>실제 코드 구현, AI 규칙 사전, 프롬프트 엔지니어링 및 기간계 연계 명세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rgbClr val="1E293B"/>
                          </a:solidFill>
                          <a:latin typeface="맑은 고딕"/>
                        </a:rPr>
                        <a:t>규칙사전정의서(010), 프롬프트명세서(020), ProductLab연계명세서(030)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rgbClr val="1E293B"/>
                          </a:solidFill>
                          <a:latin typeface="맑은 고딕"/>
                        </a:rPr>
                        <a:t>AI 엔지니어 / 백엔드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</a:tr>
              <a:tr h="451485"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50" b="1">
                          <a:solidFill>
                            <a:srgbClr val="1E293B"/>
                          </a:solidFill>
                          <a:latin typeface="맑은 고딕"/>
                        </a:rPr>
                        <a:t>TST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50" b="1">
                          <a:solidFill>
                            <a:srgbClr val="1E293B"/>
                          </a:solidFill>
                          <a:latin typeface="맑은 고딕"/>
                        </a:rPr>
                        <a:t>5.테스트 (Test)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rgbClr val="1E293B"/>
                          </a:solidFill>
                          <a:latin typeface="맑은 고딕"/>
                        </a:rPr>
                        <a:t>010 ~ 090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rgbClr val="1E293B"/>
                          </a:solidFill>
                          <a:latin typeface="맑은 고딕"/>
                        </a:rPr>
                        <a:t>단위·통합·연계 시험, 비기능(보안/성능) 검증 및 AI 골든셋 정밀도 평가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rgbClr val="1E293B"/>
                          </a:solidFill>
                          <a:latin typeface="맑은 고딕"/>
                        </a:rPr>
                        <a:t>단위테스트(010), 통합테스트(020), 보안점검(030), 성능시험(040), 골든셋평가(050)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rgbClr val="1E293B"/>
                          </a:solidFill>
                          <a:latin typeface="맑은 고딕"/>
                        </a:rPr>
                        <a:t>QA 리드 / 전 파트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</a:tr>
              <a:tr h="451485"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50" b="1">
                          <a:solidFill>
                            <a:srgbClr val="1E293B"/>
                          </a:solidFill>
                          <a:latin typeface="맑은 고딕"/>
                        </a:rPr>
                        <a:t>IMP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50" b="1">
                          <a:solidFill>
                            <a:srgbClr val="1E293B"/>
                          </a:solidFill>
                          <a:latin typeface="맑은 고딕"/>
                        </a:rPr>
                        <a:t>6.이행 (Implementation)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rgbClr val="1E293B"/>
                          </a:solidFill>
                          <a:latin typeface="맑은 고딕"/>
                        </a:rPr>
                        <a:t>010 ~ 090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rgbClr val="1E293B"/>
                          </a:solidFill>
                          <a:latin typeface="맑은 고딕"/>
                        </a:rPr>
                        <a:t>상용 컷오버 이행, 시범운영, 사용자/운영자 교육, 산출물 인계 및 최종 검수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rgbClr val="1E293B"/>
                          </a:solidFill>
                          <a:latin typeface="맑은 고딕"/>
                        </a:rPr>
                        <a:t>이행계획서(010), 인수인계서(030), 검수확인서(040), 매뉴얼(050/060), 종료보고(080)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rgbClr val="1E293B"/>
                          </a:solidFill>
                          <a:latin typeface="맑은 고딕"/>
                        </a:rPr>
                        <a:t>수행 PM / 전 파트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777240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050" b="1">
                <a:solidFill>
                  <a:srgbClr val="1D4ED8"/>
                </a:solidFill>
                <a:latin typeface="맑은 고딕"/>
              </a:rPr>
              <a:t>문서관리 계획서   &gt;   3. 단계별 표준 산출물 총괄 목록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3920" y="201168"/>
            <a:ext cx="3227832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20000"/>
              </a:lnSpc>
              <a:spcAft>
                <a:spcPts val="200"/>
              </a:spcAft>
            </a:pPr>
            <a:r>
              <a:rPr sz="1000" b="1">
                <a:solidFill>
                  <a:srgbClr val="64748B"/>
                </a:solidFill>
                <a:latin typeface="맑은 고딕"/>
              </a:rPr>
              <a:t>산출물 ID : EMP_MAN_070  |  버전 : v1.0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38912"/>
            <a:ext cx="11274552" cy="42062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2100" b="1">
                <a:solidFill>
                  <a:srgbClr val="0F172A"/>
                </a:solidFill>
                <a:latin typeface="맑은 고딕"/>
              </a:rPr>
              <a:t>3. 프로젝트 단계별 공식 산출물 총괄 목록 (전 단계 28종 + 관리 산출물)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77824"/>
            <a:ext cx="11274552" cy="31089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200" b="0">
                <a:solidFill>
                  <a:srgbClr val="64748B"/>
                </a:solidFill>
                <a:latin typeface="맑은 고딕"/>
              </a:rPr>
              <a:t>계약서 및 과업지시서에 의거하여 각 마일스톤(M1~M6) 시점에 제출·승인받는 공식 산출물 마스터 리스트입니다.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16152"/>
            <a:ext cx="11274552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6419088"/>
            <a:ext cx="11274552" cy="13716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455664"/>
            <a:ext cx="502920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900" b="0">
                <a:solidFill>
                  <a:srgbClr val="64748B"/>
                </a:solidFill>
                <a:latin typeface="맑은 고딕"/>
              </a:rPr>
              <a:t>한빛글로벌 SyncGuard AI 시스템 구축  |  문서관리 계획서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6455664"/>
            <a:ext cx="1216152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20000"/>
              </a:lnSpc>
              <a:spcAft>
                <a:spcPts val="200"/>
              </a:spcAft>
            </a:pPr>
            <a:r>
              <a:rPr sz="900" b="1">
                <a:solidFill>
                  <a:srgbClr val="64748B"/>
                </a:solidFill>
                <a:latin typeface="맑은 고딕"/>
              </a:rPr>
              <a:t>5 / 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59752" y="6455664"/>
            <a:ext cx="457200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20000"/>
              </a:lnSpc>
              <a:spcAft>
                <a:spcPts val="200"/>
              </a:spcAft>
            </a:pPr>
            <a:r>
              <a:rPr sz="900" b="0">
                <a:solidFill>
                  <a:srgbClr val="64748B"/>
                </a:solidFill>
                <a:latin typeface="맑은 고딕"/>
              </a:rPr>
              <a:t>발주사 : HANBIT GLOBAL   |   수행사 : ㈜엠파시 (Empasy Inc.)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457200" y="1353312"/>
          <a:ext cx="11274552" cy="4892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1508760"/>
                <a:gridCol w="4553712"/>
                <a:gridCol w="1097280"/>
                <a:gridCol w="1325880"/>
                <a:gridCol w="777240"/>
                <a:gridCol w="914400"/>
              </a:tblGrid>
              <a:tr h="543560"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단계</a:t>
                      </a:r>
                    </a:p>
                  </a:txBody>
                  <a:tcPr anchor="ctr" marT="45720" marB="45720" marL="73152" marR="73152">
                    <a:solidFill>
                      <a:srgbClr val="0F2340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산출물 ID</a:t>
                      </a:r>
                    </a:p>
                  </a:txBody>
                  <a:tcPr anchor="ctr" marT="45720" marB="45720" marL="73152" marR="73152">
                    <a:solidFill>
                      <a:srgbClr val="0F2340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표준 산출물 명칭</a:t>
                      </a:r>
                    </a:p>
                  </a:txBody>
                  <a:tcPr anchor="ctr" marT="45720" marB="45720" marL="73152" marR="73152">
                    <a:solidFill>
                      <a:srgbClr val="0F2340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포맷</a:t>
                      </a:r>
                    </a:p>
                  </a:txBody>
                  <a:tcPr anchor="ctr" marT="45720" marB="45720" marL="73152" marR="73152">
                    <a:solidFill>
                      <a:srgbClr val="0F2340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제출 시점</a:t>
                      </a:r>
                    </a:p>
                  </a:txBody>
                  <a:tcPr anchor="ctr" marT="45720" marB="45720" marL="73152" marR="73152">
                    <a:solidFill>
                      <a:srgbClr val="0F2340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필수 여부</a:t>
                      </a:r>
                    </a:p>
                  </a:txBody>
                  <a:tcPr anchor="ctr" marT="45720" marB="45720" marL="73152" marR="73152">
                    <a:solidFill>
                      <a:srgbClr val="0F2340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검토 및 승인 주체</a:t>
                      </a:r>
                    </a:p>
                  </a:txBody>
                  <a:tcPr anchor="ctr" marT="45720" marB="45720" marL="73152" marR="73152">
                    <a:solidFill>
                      <a:srgbClr val="0F2340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</a:tr>
              <a:tr h="543560"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00" b="1">
                          <a:solidFill>
                            <a:srgbClr val="1E293B"/>
                          </a:solidFill>
                          <a:latin typeface="맑은 고딕"/>
                        </a:rPr>
                        <a:t>착수 (3종)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00" b="1">
                          <a:solidFill>
                            <a:srgbClr val="1E293B"/>
                          </a:solidFill>
                          <a:latin typeface="맑은 고딕"/>
                        </a:rPr>
                        <a:t>EMP_INT_000 ~ 020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00" b="0">
                          <a:solidFill>
                            <a:srgbClr val="1E293B"/>
                          </a:solidFill>
                          <a:latin typeface="맑은 고딕"/>
                        </a:rPr>
                        <a:t>착수보고서(000), 사업수행계획서(010), 작업분할구조도 WBS(020)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00" b="0">
                          <a:solidFill>
                            <a:srgbClr val="1E293B"/>
                          </a:solidFill>
                          <a:latin typeface="맑은 고딕"/>
                        </a:rPr>
                        <a:t>PPTX, XLSX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00" b="0">
                          <a:solidFill>
                            <a:srgbClr val="1E293B"/>
                          </a:solidFill>
                          <a:latin typeface="맑은 고딕"/>
                        </a:rPr>
                        <a:t>착수 후 2주 (10월)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00" b="1">
                          <a:solidFill>
                            <a:srgbClr val="16A34A"/>
                          </a:solidFill>
                          <a:latin typeface="맑은 고딕"/>
                        </a:rPr>
                        <a:t>필수(M)</a:t>
                      </a:r>
                    </a:p>
                  </a:txBody>
                  <a:tcPr anchor="ctr" marT="45720" marB="45720" marL="73152" marR="73152">
                    <a:solidFill>
                      <a:srgbClr val="DCFCE7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00" b="0">
                          <a:solidFill>
                            <a:srgbClr val="1E293B"/>
                          </a:solidFill>
                          <a:latin typeface="맑은 고딕"/>
                        </a:rPr>
                        <a:t>발주사 현업/기술 PM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</a:tr>
              <a:tr h="543560"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00" b="1">
                          <a:solidFill>
                            <a:srgbClr val="1E293B"/>
                          </a:solidFill>
                          <a:latin typeface="맑은 고딕"/>
                        </a:rPr>
                        <a:t>분석 (5종)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00" b="1">
                          <a:solidFill>
                            <a:srgbClr val="1E293B"/>
                          </a:solidFill>
                          <a:latin typeface="맑은 고딕"/>
                        </a:rPr>
                        <a:t>EMP_ANL_010 ~ 050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00" b="0">
                          <a:solidFill>
                            <a:srgbClr val="1E293B"/>
                          </a:solidFill>
                          <a:latin typeface="맑은 고딕"/>
                        </a:rPr>
                        <a:t>벤치마킹보고서(010), 요구사항정의서(020), 요구사항추적표(030), AS-IS정의서(040), 연계규격협의서(050)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00" b="0">
                          <a:solidFill>
                            <a:srgbClr val="1E293B"/>
                          </a:solidFill>
                          <a:latin typeface="맑은 고딕"/>
                        </a:rPr>
                        <a:t>XLSX, PPTX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00" b="0">
                          <a:solidFill>
                            <a:srgbClr val="1E293B"/>
                          </a:solidFill>
                          <a:latin typeface="맑은 고딕"/>
                        </a:rPr>
                        <a:t>11월 중 (분석완료)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00" b="1">
                          <a:solidFill>
                            <a:srgbClr val="16A34A"/>
                          </a:solidFill>
                          <a:latin typeface="맑은 고딕"/>
                        </a:rPr>
                        <a:t>필수(M)</a:t>
                      </a:r>
                    </a:p>
                  </a:txBody>
                  <a:tcPr anchor="ctr" marT="45720" marB="45720" marL="73152" marR="73152">
                    <a:solidFill>
                      <a:srgbClr val="DCFCE7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00" b="0">
                          <a:solidFill>
                            <a:srgbClr val="1E293B"/>
                          </a:solidFill>
                          <a:latin typeface="맑은 고딕"/>
                        </a:rPr>
                        <a:t>현업 PM / RA Lab / 기술PM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</a:tr>
              <a:tr h="543560"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00" b="1">
                          <a:solidFill>
                            <a:srgbClr val="1E293B"/>
                          </a:solidFill>
                          <a:latin typeface="맑은 고딕"/>
                        </a:rPr>
                        <a:t>설계 I (6종)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00" b="1">
                          <a:solidFill>
                            <a:srgbClr val="1E293B"/>
                          </a:solidFill>
                          <a:latin typeface="맑은 고딕"/>
                        </a:rPr>
                        <a:t>EMP_DEG_010 ~ 060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00" b="0">
                          <a:solidFill>
                            <a:srgbClr val="1E293B"/>
                          </a:solidFill>
                          <a:latin typeface="맑은 고딕"/>
                        </a:rPr>
                        <a:t>정보구조도 IA(010), 기능정의서(020), 정책정의서(030), TO-BE프로세스(040), 화면설계서(050), 표준용어(060)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00" b="0">
                          <a:solidFill>
                            <a:srgbClr val="1E293B"/>
                          </a:solidFill>
                          <a:latin typeface="맑은 고딕"/>
                        </a:rPr>
                        <a:t>XLSX, PPTX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00" b="0">
                          <a:solidFill>
                            <a:srgbClr val="1E293B"/>
                          </a:solidFill>
                          <a:latin typeface="맑은 고딕"/>
                        </a:rPr>
                        <a:t>M1 설계승인 (11월말)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00" b="1">
                          <a:solidFill>
                            <a:srgbClr val="16A34A"/>
                          </a:solidFill>
                          <a:latin typeface="맑은 고딕"/>
                        </a:rPr>
                        <a:t>필수(M)</a:t>
                      </a:r>
                    </a:p>
                  </a:txBody>
                  <a:tcPr anchor="ctr" marT="45720" marB="45720" marL="73152" marR="73152">
                    <a:solidFill>
                      <a:srgbClr val="DCFCE7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00" b="0">
                          <a:solidFill>
                            <a:srgbClr val="1E293B"/>
                          </a:solidFill>
                          <a:latin typeface="맑은 고딕"/>
                        </a:rPr>
                        <a:t>현업 PM / RA Lab 전원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</a:tr>
              <a:tr h="543560"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00" b="1">
                          <a:solidFill>
                            <a:srgbClr val="1E293B"/>
                          </a:solidFill>
                          <a:latin typeface="맑은 고딕"/>
                        </a:rPr>
                        <a:t>설계 II (6종)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00" b="1">
                          <a:solidFill>
                            <a:srgbClr val="1E293B"/>
                          </a:solidFill>
                          <a:latin typeface="맑은 고딕"/>
                        </a:rPr>
                        <a:t>EMP_DEG_070 ~ 150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00" b="0">
                          <a:solidFill>
                            <a:srgbClr val="1E293B"/>
                          </a:solidFill>
                          <a:latin typeface="맑은 고딕"/>
                        </a:rPr>
                        <a:t>코드정의(070), DB명세서(080), 아키텍처정의(090), 물리/논리ERD(100/110), 인터페이스(120), 배치(130), CRUD(140), AI설계(150)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00" b="0">
                          <a:solidFill>
                            <a:srgbClr val="1E293B"/>
                          </a:solidFill>
                          <a:latin typeface="맑은 고딕"/>
                        </a:rPr>
                        <a:t>DOCX, XLSX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00" b="0">
                          <a:solidFill>
                            <a:srgbClr val="1E293B"/>
                          </a:solidFill>
                          <a:latin typeface="맑은 고딕"/>
                        </a:rPr>
                        <a:t>M1 설계승인 (11월말)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00" b="1">
                          <a:solidFill>
                            <a:srgbClr val="16A34A"/>
                          </a:solidFill>
                          <a:latin typeface="맑은 고딕"/>
                        </a:rPr>
                        <a:t>필수(M)</a:t>
                      </a:r>
                    </a:p>
                  </a:txBody>
                  <a:tcPr anchor="ctr" marT="45720" marB="45720" marL="73152" marR="73152">
                    <a:solidFill>
                      <a:srgbClr val="DCFCE7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00" b="0">
                          <a:solidFill>
                            <a:srgbClr val="1E293B"/>
                          </a:solidFill>
                          <a:latin typeface="맑은 고딕"/>
                        </a:rPr>
                        <a:t>기술 PM / 아키텍처팀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</a:tr>
              <a:tr h="543560"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00" b="1">
                          <a:solidFill>
                            <a:srgbClr val="1E293B"/>
                          </a:solidFill>
                          <a:latin typeface="맑은 고딕"/>
                        </a:rPr>
                        <a:t>구현 (3종)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00" b="1">
                          <a:solidFill>
                            <a:srgbClr val="1E293B"/>
                          </a:solidFill>
                          <a:latin typeface="맑은 고딕"/>
                        </a:rPr>
                        <a:t>EMP_EXE_010 ~ 030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00" b="0">
                          <a:solidFill>
                            <a:srgbClr val="1E293B"/>
                          </a:solidFill>
                          <a:latin typeface="맑은 고딕"/>
                        </a:rPr>
                        <a:t>규칙사전정의서(010), AI 프롬프트명세서(020), ProductLab 실증연계명세서(030) + 응용프로그램 소스코드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00" b="0">
                          <a:solidFill>
                            <a:srgbClr val="1E293B"/>
                          </a:solidFill>
                          <a:latin typeface="맑은 고딕"/>
                        </a:rPr>
                        <a:t>XLSX, CODE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00" b="0">
                          <a:solidFill>
                            <a:srgbClr val="1E293B"/>
                          </a:solidFill>
                          <a:latin typeface="맑은 고딕"/>
                        </a:rPr>
                        <a:t>M2~M4 (1월~3월)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00" b="1">
                          <a:solidFill>
                            <a:srgbClr val="16A34A"/>
                          </a:solidFill>
                          <a:latin typeface="맑은 고딕"/>
                        </a:rPr>
                        <a:t>필수(M)</a:t>
                      </a:r>
                    </a:p>
                  </a:txBody>
                  <a:tcPr anchor="ctr" marT="45720" marB="45720" marL="73152" marR="73152">
                    <a:solidFill>
                      <a:srgbClr val="DCFCE7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00" b="0">
                          <a:solidFill>
                            <a:srgbClr val="1E293B"/>
                          </a:solidFill>
                          <a:latin typeface="맑은 고딕"/>
                        </a:rPr>
                        <a:t>RA Lab / 기술원 / 기술PM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</a:tr>
              <a:tr h="543560"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00" b="1">
                          <a:solidFill>
                            <a:srgbClr val="1E293B"/>
                          </a:solidFill>
                          <a:latin typeface="맑은 고딕"/>
                        </a:rPr>
                        <a:t>시험 (5종)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00" b="1">
                          <a:solidFill>
                            <a:srgbClr val="1E293B"/>
                          </a:solidFill>
                          <a:latin typeface="맑은 고딕"/>
                        </a:rPr>
                        <a:t>EMP_TST_010 ~ 050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00" b="0">
                          <a:solidFill>
                            <a:srgbClr val="1E293B"/>
                          </a:solidFill>
                          <a:latin typeface="맑은 고딕"/>
                        </a:rPr>
                        <a:t>단위테스트케이스(010), 통합테스트시나리오(020), 보안점검결과서(030), 성능시험결과서(040), 골든셋평가보고서(050)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00" b="0">
                          <a:solidFill>
                            <a:srgbClr val="1E293B"/>
                          </a:solidFill>
                          <a:latin typeface="맑은 고딕"/>
                        </a:rPr>
                        <a:t>XLSX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00" b="0">
                          <a:solidFill>
                            <a:srgbClr val="1E293B"/>
                          </a:solidFill>
                          <a:latin typeface="맑은 고딕"/>
                        </a:rPr>
                        <a:t>M5 파일럿 (4월말)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00" b="1">
                          <a:solidFill>
                            <a:srgbClr val="16A34A"/>
                          </a:solidFill>
                          <a:latin typeface="맑은 고딕"/>
                        </a:rPr>
                        <a:t>필수(M)</a:t>
                      </a:r>
                    </a:p>
                  </a:txBody>
                  <a:tcPr anchor="ctr" marT="45720" marB="45720" marL="73152" marR="73152">
                    <a:solidFill>
                      <a:srgbClr val="DCFCE7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00" b="0">
                          <a:solidFill>
                            <a:srgbClr val="1E293B"/>
                          </a:solidFill>
                          <a:latin typeface="맑은 고딕"/>
                        </a:rPr>
                        <a:t>발주사 PM / 보안팀 / RA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</a:tr>
              <a:tr h="543560"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00" b="1">
                          <a:solidFill>
                            <a:srgbClr val="1E293B"/>
                          </a:solidFill>
                          <a:latin typeface="맑은 고딕"/>
                        </a:rPr>
                        <a:t>이행 (9종)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00" b="1">
                          <a:solidFill>
                            <a:srgbClr val="1E293B"/>
                          </a:solidFill>
                          <a:latin typeface="맑은 고딕"/>
                        </a:rPr>
                        <a:t>EMP_IMP_010 ~ 090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00" b="0">
                          <a:solidFill>
                            <a:srgbClr val="1E293B"/>
                          </a:solidFill>
                          <a:latin typeface="맑은 고딕"/>
                        </a:rPr>
                        <a:t>이행계획서(010), 체크리스트(020), 인수인계서(030), 검수확인서(040), 사용자/운영자매뉴얼(050/060), 교육결과(070), 종료/시범운영보고(080/090)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00" b="0">
                          <a:solidFill>
                            <a:srgbClr val="1E293B"/>
                          </a:solidFill>
                          <a:latin typeface="맑은 고딕"/>
                        </a:rPr>
                        <a:t>DOCX, PPTX, XLSX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00" b="0">
                          <a:solidFill>
                            <a:srgbClr val="1E293B"/>
                          </a:solidFill>
                          <a:latin typeface="맑은 고딕"/>
                        </a:rPr>
                        <a:t>M6 그랜드오픈 (5월말)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00" b="1">
                          <a:solidFill>
                            <a:srgbClr val="16A34A"/>
                          </a:solidFill>
                          <a:latin typeface="맑은 고딕"/>
                        </a:rPr>
                        <a:t>필수(M)</a:t>
                      </a:r>
                    </a:p>
                  </a:txBody>
                  <a:tcPr anchor="ctr" marT="45720" marB="45720" marL="73152" marR="73152">
                    <a:solidFill>
                      <a:srgbClr val="DCFCE7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00" b="0">
                          <a:solidFill>
                            <a:srgbClr val="1E293B"/>
                          </a:solidFill>
                          <a:latin typeface="맑은 고딕"/>
                        </a:rPr>
                        <a:t>발주사 총괄 / 검수위원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</a:tr>
              <a:tr h="543560"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00" b="1">
                          <a:solidFill>
                            <a:srgbClr val="1E293B"/>
                          </a:solidFill>
                          <a:latin typeface="맑은 고딕"/>
                        </a:rPr>
                        <a:t>사업관리 (상시)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00" b="1">
                          <a:solidFill>
                            <a:srgbClr val="1E293B"/>
                          </a:solidFill>
                          <a:latin typeface="맑은 고딕"/>
                        </a:rPr>
                        <a:t>EMP_MAN_010 ~ 100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00" b="0">
                          <a:solidFill>
                            <a:srgbClr val="1E293B"/>
                          </a:solidFill>
                          <a:latin typeface="맑은 고딕"/>
                        </a:rPr>
                        <a:t>주간보고(010), 회의록(020), 이슈대장(030), 결함대장(040), 월별공수(050), 변경대장(060), 문서/보고/진도/자원계획서(070~100)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00" b="0">
                          <a:solidFill>
                            <a:srgbClr val="1E293B"/>
                          </a:solidFill>
                          <a:latin typeface="맑은 고딕"/>
                        </a:rPr>
                        <a:t>PPTX, DOCX, XLSX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00" b="0">
                          <a:solidFill>
                            <a:srgbClr val="1E293B"/>
                          </a:solidFill>
                          <a:latin typeface="맑은 고딕"/>
                        </a:rPr>
                        <a:t>주간 / 월간 / 상시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00" b="1">
                          <a:solidFill>
                            <a:srgbClr val="16A34A"/>
                          </a:solidFill>
                          <a:latin typeface="맑은 고딕"/>
                        </a:rPr>
                        <a:t>필수(M)</a:t>
                      </a:r>
                    </a:p>
                  </a:txBody>
                  <a:tcPr anchor="ctr" marT="45720" marB="45720" marL="73152" marR="73152">
                    <a:solidFill>
                      <a:srgbClr val="DCFCE7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00" b="0">
                          <a:solidFill>
                            <a:srgbClr val="1E293B"/>
                          </a:solidFill>
                          <a:latin typeface="맑은 고딕"/>
                        </a:rPr>
                        <a:t>양사 PM / PMO 상시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777240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050" b="1">
                <a:solidFill>
                  <a:srgbClr val="1D4ED8"/>
                </a:solidFill>
                <a:latin typeface="맑은 고딕"/>
              </a:rPr>
              <a:t>문서관리 계획서   &gt;   4. 문서 작성 표준 및 양식 규격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3920" y="201168"/>
            <a:ext cx="3227832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20000"/>
              </a:lnSpc>
              <a:spcAft>
                <a:spcPts val="200"/>
              </a:spcAft>
            </a:pPr>
            <a:r>
              <a:rPr sz="1000" b="1">
                <a:solidFill>
                  <a:srgbClr val="64748B"/>
                </a:solidFill>
                <a:latin typeface="맑은 고딕"/>
              </a:rPr>
              <a:t>산출물 ID : EMP_MAN_070  |  버전 : v1.0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38912"/>
            <a:ext cx="11274552" cy="42062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2100" b="1">
                <a:solidFill>
                  <a:srgbClr val="0F172A"/>
                </a:solidFill>
                <a:latin typeface="맑은 고딕"/>
              </a:rPr>
              <a:t>4. 문서 도구별 작성 표준 및 필수 구성 요소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77824"/>
            <a:ext cx="11274552" cy="31089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200" b="0">
                <a:solidFill>
                  <a:srgbClr val="64748B"/>
                </a:solidFill>
                <a:latin typeface="맑은 고딕"/>
              </a:rPr>
              <a:t>산출물의 가독성과 전문성을 통일하기 위해 문서 유형별 표준 도구, 폰트 위계, 필수 포함 항목을 강제합니다.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16152"/>
            <a:ext cx="11274552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6419088"/>
            <a:ext cx="11274552" cy="13716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455664"/>
            <a:ext cx="502920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900" b="0">
                <a:solidFill>
                  <a:srgbClr val="64748B"/>
                </a:solidFill>
                <a:latin typeface="맑은 고딕"/>
              </a:rPr>
              <a:t>한빛글로벌 SyncGuard AI 시스템 구축  |  문서관리 계획서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6455664"/>
            <a:ext cx="1216152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20000"/>
              </a:lnSpc>
              <a:spcAft>
                <a:spcPts val="200"/>
              </a:spcAft>
            </a:pPr>
            <a:r>
              <a:rPr sz="900" b="1">
                <a:solidFill>
                  <a:srgbClr val="64748B"/>
                </a:solidFill>
                <a:latin typeface="맑은 고딕"/>
              </a:rPr>
              <a:t>6 / 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59752" y="6455664"/>
            <a:ext cx="457200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20000"/>
              </a:lnSpc>
              <a:spcAft>
                <a:spcPts val="200"/>
              </a:spcAft>
            </a:pPr>
            <a:r>
              <a:rPr sz="900" b="0">
                <a:solidFill>
                  <a:srgbClr val="64748B"/>
                </a:solidFill>
                <a:latin typeface="맑은 고딕"/>
              </a:rPr>
              <a:t>발주사 : HANBIT GLOBAL   |   수행사 : ㈜엠파시 (Empasy Inc.)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371600"/>
            <a:ext cx="3611880" cy="4251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1371600"/>
            <a:ext cx="3611880" cy="64008"/>
          </a:xfrm>
          <a:prstGeom prst="rect">
            <a:avLst/>
          </a:prstGeom>
          <a:solidFill>
            <a:srgbClr val="0F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03504" y="1508760"/>
            <a:ext cx="1636776" cy="256032"/>
          </a:xfrm>
          <a:prstGeom prst="roundRect">
            <a:avLst/>
          </a:prstGeom>
          <a:solidFill>
            <a:srgbClr val="0F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50" b="1">
                <a:solidFill>
                  <a:srgbClr val="FFFFFF"/>
                </a:solidFill>
                <a:latin typeface="맑은 고딕"/>
              </a:rPr>
              <a:t>정의서·계획서·확인서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31720" y="1490472"/>
            <a:ext cx="1591056" cy="31089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300" b="1">
                <a:solidFill>
                  <a:srgbClr val="0F172A"/>
                </a:solidFill>
                <a:latin typeface="맑은 고딕"/>
              </a:rPr>
              <a:t>Word 문서 표준 (.docx)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3504" y="1837943"/>
            <a:ext cx="3319272" cy="369417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80" b="0">
                <a:solidFill>
                  <a:srgbClr val="1E293B"/>
                </a:solidFill>
                <a:latin typeface="맑은 고딕"/>
              </a:rPr>
              <a:t>■ 적용 대상 산출물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80" b="0">
                <a:solidFill>
                  <a:srgbClr val="1E293B"/>
                </a:solidFill>
                <a:latin typeface="맑은 고딕"/>
              </a:rPr>
              <a:t>• 아키텍처정의서(DEG_090), 물리/논리모델(DEG_100/110)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80" b="0">
                <a:solidFill>
                  <a:srgbClr val="1E293B"/>
                </a:solidFill>
                <a:latin typeface="맑은 고딕"/>
              </a:rPr>
              <a:t>• AI판정·프롬프트설계서(DEG_150), 회의록(MAN_020)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80" b="0">
                <a:solidFill>
                  <a:srgbClr val="1E293B"/>
                </a:solidFill>
                <a:latin typeface="맑은 고딕"/>
              </a:rPr>
              <a:t>• 인수인계계획서(IMP_030), 검수확인서(IMP_040), 교육결과(IMP_070)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80" b="0">
                <a:solidFill>
                  <a:srgbClr val="1E293B"/>
                </a:solidFill>
                <a:latin typeface="맑은 고딕"/>
              </a:rPr>
              <a:t/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80" b="0">
                <a:solidFill>
                  <a:srgbClr val="1E293B"/>
                </a:solidFill>
                <a:latin typeface="맑은 고딕"/>
              </a:rPr>
              <a:t>■ 편집 및 스타일 규격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80" b="0">
                <a:solidFill>
                  <a:srgbClr val="1E293B"/>
                </a:solidFill>
                <a:latin typeface="맑은 고딕"/>
              </a:rPr>
              <a:t>• 용지 규격 : A4 세로 (여백 상/하/좌/우 20mm)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80" b="0">
                <a:solidFill>
                  <a:srgbClr val="1E293B"/>
                </a:solidFill>
                <a:latin typeface="맑은 고딕"/>
              </a:rPr>
              <a:t>• 기본 글꼴 : 맑은 고딕 (대제목 16pt Bold, 중제목 13pt Bold, 본문 10pt, 표 9pt, 줄간격 1.15~1.3)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80" b="0">
                <a:solidFill>
                  <a:srgbClr val="1E293B"/>
                </a:solidFill>
                <a:latin typeface="맑은 고딕"/>
              </a:rPr>
              <a:t>• 표 헤더 색상 : 네이비(#0F2340) 또는 블루(#1D4ED8) 배경 + 흰색 굵은 글씨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80" b="0">
                <a:solidFill>
                  <a:srgbClr val="1E293B"/>
                </a:solidFill>
                <a:latin typeface="맑은 고딕"/>
              </a:rPr>
              <a:t>• 필수 포함 : 문서 개요 표(사업명/문서번호/버전/작성일), 제·개정 이력, 서명 날인란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88536" y="1371600"/>
            <a:ext cx="3611880" cy="4251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288536" y="1371600"/>
            <a:ext cx="3611880" cy="6400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434840" y="1508760"/>
            <a:ext cx="1764792" cy="256032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50" b="1">
                <a:solidFill>
                  <a:srgbClr val="FFFFFF"/>
                </a:solidFill>
                <a:latin typeface="맑은 고딕"/>
              </a:rPr>
              <a:t>명세서·WBS·관리대장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91072" y="1490472"/>
            <a:ext cx="1463040" cy="31089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300" b="1">
                <a:solidFill>
                  <a:srgbClr val="0F172A"/>
                </a:solidFill>
                <a:latin typeface="맑은 고딕"/>
              </a:rPr>
              <a:t>Excel 문서 표준 (.xlsx)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34840" y="1837943"/>
            <a:ext cx="3319272" cy="369417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80" b="0">
                <a:solidFill>
                  <a:srgbClr val="1E293B"/>
                </a:solidFill>
                <a:latin typeface="맑은 고딕"/>
              </a:rPr>
              <a:t>■ 적용 대상 산출물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80" b="0">
                <a:solidFill>
                  <a:srgbClr val="1E293B"/>
                </a:solidFill>
                <a:latin typeface="맑은 고딕"/>
              </a:rPr>
              <a:t>• WBS(INT_020), 요구사항정의서/추적표(ANL_020/030)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80" b="0">
                <a:solidFill>
                  <a:srgbClr val="1E293B"/>
                </a:solidFill>
                <a:latin typeface="맑은 고딕"/>
              </a:rPr>
              <a:t>• IA/기능/정책/코드/DB/인터페이스/배치/CRUD(DEG_010~140)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80" b="0">
                <a:solidFill>
                  <a:srgbClr val="1E293B"/>
                </a:solidFill>
                <a:latin typeface="맑은 고딕"/>
              </a:rPr>
              <a:t>• 테스트케이스/골든셋평가(TST_010~050), 이슈/결함/변경/공수(MAN_030~060)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80" b="0">
                <a:solidFill>
                  <a:srgbClr val="1E293B"/>
                </a:solidFill>
                <a:latin typeface="맑은 고딕"/>
              </a:rPr>
              <a:t/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80" b="0">
                <a:solidFill>
                  <a:srgbClr val="1E293B"/>
                </a:solidFill>
                <a:latin typeface="맑은 고딕"/>
              </a:rPr>
              <a:t>■ 편집 및 시트 구성 규격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80" b="0">
                <a:solidFill>
                  <a:srgbClr val="1E293B"/>
                </a:solidFill>
                <a:latin typeface="맑은 고딕"/>
              </a:rPr>
              <a:t>• 필수 시트 구성 : [표지] ➔ [문서이력(개정이력)] ➔ [본문 명세 시트]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80" b="0">
                <a:solidFill>
                  <a:srgbClr val="1E293B"/>
                </a:solidFill>
                <a:latin typeface="맑은 고딕"/>
              </a:rPr>
              <a:t>• 기본 글꼴 : 맑은 고딕 (제목 16pt, 헤더 10pt Bold, 데이터 9.5pt)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80" b="0">
                <a:solidFill>
                  <a:srgbClr val="1E293B"/>
                </a:solidFill>
                <a:latin typeface="맑은 고딕"/>
              </a:rPr>
              <a:t>• 수식 무결성 : 합계/진척률/달성률은 하드코딩 금지, 엑셀 수식(SUM/AVERAGE) 자동 연산 적용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80" b="0">
                <a:solidFill>
                  <a:srgbClr val="1E293B"/>
                </a:solidFill>
                <a:latin typeface="맑은 고딕"/>
              </a:rPr>
              <a:t>• 인쇄 구역 및 틀 고정(Freeze Panes) 기본 설정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119872" y="1371600"/>
            <a:ext cx="3611880" cy="4251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119872" y="1371600"/>
            <a:ext cx="3611880" cy="64008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266176" y="1508760"/>
            <a:ext cx="1764792" cy="256032"/>
          </a:xfrm>
          <a:prstGeom prst="round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50" b="1">
                <a:solidFill>
                  <a:srgbClr val="FFFFFF"/>
                </a:solidFill>
                <a:latin typeface="맑은 고딕"/>
              </a:rPr>
              <a:t>보고서·화면설계·매뉴얼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122408" y="1490472"/>
            <a:ext cx="1463040" cy="31089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300" b="1">
                <a:solidFill>
                  <a:srgbClr val="0F172A"/>
                </a:solidFill>
                <a:latin typeface="맑은 고딕"/>
              </a:rPr>
              <a:t>PowerPoint 문서 표준 (.pptx)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66176" y="1837943"/>
            <a:ext cx="3319272" cy="369417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80" b="0">
                <a:solidFill>
                  <a:srgbClr val="1E293B"/>
                </a:solidFill>
                <a:latin typeface="맑은 고딕"/>
              </a:rPr>
              <a:t>■ 적용 대상 산출물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80" b="0">
                <a:solidFill>
                  <a:srgbClr val="1E293B"/>
                </a:solidFill>
                <a:latin typeface="맑은 고딕"/>
              </a:rPr>
              <a:t>• 착수보고서(INT_000), 사업수행계획서(INT_010), 주간보고(MAN_010)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80" b="0">
                <a:solidFill>
                  <a:srgbClr val="1E293B"/>
                </a:solidFill>
                <a:latin typeface="맑은 고딕"/>
              </a:rPr>
              <a:t>• 관리계획서 4종(MAN_070~100), 벤치마킹/프로세스(ANL_010/040)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80" b="0">
                <a:solidFill>
                  <a:srgbClr val="1E293B"/>
                </a:solidFill>
                <a:latin typeface="맑은 고딕"/>
              </a:rPr>
              <a:t>• 화면설계서(DEG_050), 아키텍처구성도(DEG_090/091), 매뉴얼/완료보고(IMP_010~090)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80" b="0">
                <a:solidFill>
                  <a:srgbClr val="1E293B"/>
                </a:solidFill>
                <a:latin typeface="맑은 고딕"/>
              </a:rPr>
              <a:t/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80" b="0">
                <a:solidFill>
                  <a:srgbClr val="1E293B"/>
                </a:solidFill>
                <a:latin typeface="맑은 고딕"/>
              </a:rPr>
              <a:t>■ 편집 및 레이아웃 규격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80" b="0">
                <a:solidFill>
                  <a:srgbClr val="1E293B"/>
                </a:solidFill>
                <a:latin typeface="맑은 고딕"/>
              </a:rPr>
              <a:t>• 슬라이드 크기 : 16:9 와이드스크린 (33.867cm × 19.05cm)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80" b="0">
                <a:solidFill>
                  <a:srgbClr val="1E293B"/>
                </a:solidFill>
                <a:latin typeface="맑은 고딕"/>
              </a:rPr>
              <a:t>• 상단 구조 : 브레드크럼 + 산출물 ID + 헤드라인 제목 + 핵심 거버닝 메시지(Governing Message)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80" b="0">
                <a:solidFill>
                  <a:srgbClr val="1E293B"/>
                </a:solidFill>
                <a:latin typeface="맑은 고딕"/>
              </a:rPr>
              <a:t>• 하단 푸터 : 한빛글로벌 SyncGuard AI | 대외비 | 페이지 번호 | 발주사·수행사 명시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5779008"/>
            <a:ext cx="11274552" cy="502920"/>
          </a:xfrm>
          <a:prstGeom prst="rect">
            <a:avLst/>
          </a:prstGeom>
          <a:solidFill>
            <a:srgbClr val="EEF3FE"/>
          </a:solidFill>
          <a:ln w="1270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57200" y="5779008"/>
            <a:ext cx="91440" cy="50292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8368" y="5852160"/>
            <a:ext cx="1092708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050" b="1">
                <a:solidFill>
                  <a:srgbClr val="0F172A"/>
                </a:solidFill>
                <a:latin typeface="맑은 고딕"/>
              </a:rPr>
              <a:t>문서 품질 원칙 : 모든 산출물은 '표지(승인란) - 문서이력 - 목차 - 본문'의 4단 표준 구조를 준수하며, 미완성 공란(TBD) 없이 제출합니다.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777240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050" b="1">
                <a:solidFill>
                  <a:srgbClr val="1D4ED8"/>
                </a:solidFill>
                <a:latin typeface="맑은 고딕"/>
              </a:rPr>
              <a:t>문서관리 계획서   &gt;   5. 산출물 검토·승인 프로세스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3920" y="201168"/>
            <a:ext cx="3227832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20000"/>
              </a:lnSpc>
              <a:spcAft>
                <a:spcPts val="200"/>
              </a:spcAft>
            </a:pPr>
            <a:r>
              <a:rPr sz="1000" b="1">
                <a:solidFill>
                  <a:srgbClr val="64748B"/>
                </a:solidFill>
                <a:latin typeface="맑은 고딕"/>
              </a:rPr>
              <a:t>산출물 ID : EMP_MAN_070  |  버전 : v1.0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38912"/>
            <a:ext cx="11274552" cy="42062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2100" b="1">
                <a:solidFill>
                  <a:srgbClr val="0F172A"/>
                </a:solidFill>
                <a:latin typeface="맑은 고딕"/>
              </a:rPr>
              <a:t>5. 산출물 작성·검토·승인 5단계 품질보증 워크플로우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77824"/>
            <a:ext cx="11274552" cy="31089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200" b="0">
                <a:solidFill>
                  <a:srgbClr val="64748B"/>
                </a:solidFill>
                <a:latin typeface="맑은 고딕"/>
              </a:rPr>
              <a:t>모든 산출물은 내부 동료 검토와 PMO 품질 검수를 통과한 후 발주사에 공식 제출되며, 승인 완료 시 기준선(Baseline)으로 확정됩니다.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16152"/>
            <a:ext cx="11274552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6419088"/>
            <a:ext cx="11274552" cy="13716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455664"/>
            <a:ext cx="502920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900" b="0">
                <a:solidFill>
                  <a:srgbClr val="64748B"/>
                </a:solidFill>
                <a:latin typeface="맑은 고딕"/>
              </a:rPr>
              <a:t>한빛글로벌 SyncGuard AI 시스템 구축  |  문서관리 계획서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6455664"/>
            <a:ext cx="1216152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20000"/>
              </a:lnSpc>
              <a:spcAft>
                <a:spcPts val="200"/>
              </a:spcAft>
            </a:pPr>
            <a:r>
              <a:rPr sz="900" b="1">
                <a:solidFill>
                  <a:srgbClr val="64748B"/>
                </a:solidFill>
                <a:latin typeface="맑은 고딕"/>
              </a:rPr>
              <a:t>7 / 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59752" y="6455664"/>
            <a:ext cx="457200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20000"/>
              </a:lnSpc>
              <a:spcAft>
                <a:spcPts val="200"/>
              </a:spcAft>
            </a:pPr>
            <a:r>
              <a:rPr sz="900" b="0">
                <a:solidFill>
                  <a:srgbClr val="64748B"/>
                </a:solidFill>
                <a:latin typeface="맑은 고딕"/>
              </a:rPr>
              <a:t>발주사 : HANBIT GLOBAL   |   수행사 : ㈜엠파시 (Empasy Inc.)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371600"/>
            <a:ext cx="2148840" cy="2514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1371600"/>
            <a:ext cx="2148840" cy="64008"/>
          </a:xfrm>
          <a:prstGeom prst="rect">
            <a:avLst/>
          </a:prstGeom>
          <a:solidFill>
            <a:srgbClr val="0F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03504" y="1508760"/>
            <a:ext cx="996696" cy="256032"/>
          </a:xfrm>
          <a:prstGeom prst="roundRect">
            <a:avLst/>
          </a:prstGeom>
          <a:solidFill>
            <a:srgbClr val="0F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50" b="1">
                <a:solidFill>
                  <a:srgbClr val="FFFFFF"/>
                </a:solidFill>
                <a:latin typeface="맑은 고딕"/>
              </a:rPr>
              <a:t>STEP 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91640" y="1490472"/>
            <a:ext cx="768096" cy="31089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150" b="1">
                <a:solidFill>
                  <a:srgbClr val="0F172A"/>
                </a:solidFill>
                <a:latin typeface="맑은 고딕"/>
              </a:rPr>
              <a:t>초안 작성 (Draft)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3504" y="1837943"/>
            <a:ext cx="1856232" cy="195681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19" b="0">
                <a:solidFill>
                  <a:srgbClr val="1E293B"/>
                </a:solidFill>
                <a:latin typeface="맑은 고딕"/>
              </a:rPr>
              <a:t>[담당 파트 리드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19" b="0">
                <a:solidFill>
                  <a:srgbClr val="1E293B"/>
                </a:solidFill>
                <a:latin typeface="맑은 고딕"/>
              </a:rPr>
              <a:t>(AI·개발·기획·DB)]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19" b="0">
                <a:solidFill>
                  <a:srgbClr val="1E293B"/>
                </a:solidFill>
                <a:latin typeface="맑은 고딕"/>
              </a:rPr>
              <a:t/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19" b="0">
                <a:solidFill>
                  <a:srgbClr val="1E293B"/>
                </a:solidFill>
                <a:latin typeface="맑은 고딕"/>
              </a:rPr>
              <a:t>• 표준 템플릿 기반 초안 작성 (v0.1)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19" b="0">
                <a:solidFill>
                  <a:srgbClr val="1E293B"/>
                </a:solidFill>
                <a:latin typeface="맑은 고딕"/>
              </a:rPr>
              <a:t>• 선행 산출물 및 요구사항 ID 매핑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19" b="0">
                <a:solidFill>
                  <a:srgbClr val="1E293B"/>
                </a:solidFill>
                <a:latin typeface="맑은 고딕"/>
              </a:rPr>
              <a:t>• 자체 체크리스트 1차 점검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0" y="1371600"/>
            <a:ext cx="2148840" cy="2514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743200" y="1371600"/>
            <a:ext cx="2148840" cy="64008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2889504" y="1508760"/>
            <a:ext cx="996696" cy="256032"/>
          </a:xfrm>
          <a:prstGeom prst="round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50" b="1">
                <a:solidFill>
                  <a:srgbClr val="FFFFFF"/>
                </a:solidFill>
                <a:latin typeface="맑은 고딕"/>
              </a:rPr>
              <a:t>STEP 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977639" y="1490472"/>
            <a:ext cx="768096" cy="31089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150" b="1">
                <a:solidFill>
                  <a:srgbClr val="0F172A"/>
                </a:solidFill>
                <a:latin typeface="맑은 고딕"/>
              </a:rPr>
              <a:t>동료 검토 (Peer Review)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889504" y="1837943"/>
            <a:ext cx="1856232" cy="195681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19" b="0">
                <a:solidFill>
                  <a:srgbClr val="1E293B"/>
                </a:solidFill>
                <a:latin typeface="맑은 고딕"/>
              </a:rPr>
              <a:t>[총괄 AA (박준혁)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19" b="0">
                <a:solidFill>
                  <a:srgbClr val="1E293B"/>
                </a:solidFill>
                <a:latin typeface="맑은 고딕"/>
              </a:rPr>
              <a:t>연계 파트 리더]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19" b="0">
                <a:solidFill>
                  <a:srgbClr val="1E293B"/>
                </a:solidFill>
                <a:latin typeface="맑은 고딕"/>
              </a:rPr>
              <a:t/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19" b="0">
                <a:solidFill>
                  <a:srgbClr val="1E293B"/>
                </a:solidFill>
                <a:latin typeface="맑은 고딕"/>
              </a:rPr>
              <a:t>• 아키텍처·데이터·화면 간 정합성 교차 검토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19" b="0">
                <a:solidFill>
                  <a:srgbClr val="1E293B"/>
                </a:solidFill>
                <a:latin typeface="맑은 고딕"/>
              </a:rPr>
              <a:t>• 기술적 실현 가능성 및 성능/보안 기준 확인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19" b="0">
                <a:solidFill>
                  <a:srgbClr val="1E293B"/>
                </a:solidFill>
                <a:latin typeface="맑은 고딕"/>
              </a:rPr>
              <a:t>• 보완 사항 반영 (v0.5)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0" y="1371600"/>
            <a:ext cx="2148840" cy="2514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029200" y="1371600"/>
            <a:ext cx="2148840" cy="6400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5175504" y="1508760"/>
            <a:ext cx="996696" cy="256032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50" b="1">
                <a:solidFill>
                  <a:srgbClr val="FFFFFF"/>
                </a:solidFill>
                <a:latin typeface="맑은 고딕"/>
              </a:rPr>
              <a:t>STEP 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63640" y="1490472"/>
            <a:ext cx="768096" cy="31089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150" b="1">
                <a:solidFill>
                  <a:srgbClr val="0F172A"/>
                </a:solidFill>
                <a:latin typeface="맑은 고딕"/>
              </a:rPr>
              <a:t>PMO 품질 검수 (QA)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75504" y="1837943"/>
            <a:ext cx="1856232" cy="195681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19" b="0">
                <a:solidFill>
                  <a:srgbClr val="1E293B"/>
                </a:solidFill>
                <a:latin typeface="맑은 고딕"/>
              </a:rPr>
              <a:t>[수행사 PMO (이지훈)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19" b="0">
                <a:solidFill>
                  <a:srgbClr val="1E293B"/>
                </a:solidFill>
                <a:latin typeface="맑은 고딕"/>
              </a:rPr>
              <a:t>수행 PM (김태윤)]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19" b="0">
                <a:solidFill>
                  <a:srgbClr val="1E293B"/>
                </a:solidFill>
                <a:latin typeface="맑은 고딕"/>
              </a:rPr>
              <a:t/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19" b="0">
                <a:solidFill>
                  <a:srgbClr val="1E293B"/>
                </a:solidFill>
                <a:latin typeface="맑은 고딕"/>
              </a:rPr>
              <a:t>• 표준 양식, 오탈자, 용어 일관성 검수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19" b="0">
                <a:solidFill>
                  <a:srgbClr val="1E293B"/>
                </a:solidFill>
                <a:latin typeface="맑은 고딕"/>
              </a:rPr>
              <a:t>• 요구사항추적표(RTVM) 누락 여부 대조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19" b="0">
                <a:solidFill>
                  <a:srgbClr val="1E293B"/>
                </a:solidFill>
                <a:latin typeface="맑은 고딕"/>
              </a:rPr>
              <a:t>• 고객 제출용 검토본 확정 (v0.9)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315200" y="1371600"/>
            <a:ext cx="2148840" cy="2514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315200" y="1371600"/>
            <a:ext cx="2148840" cy="6400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7461504" y="1508760"/>
            <a:ext cx="996696" cy="256032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50" b="1">
                <a:solidFill>
                  <a:srgbClr val="FFFFFF"/>
                </a:solidFill>
                <a:latin typeface="맑은 고딕"/>
              </a:rPr>
              <a:t>STEP 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49640" y="1490472"/>
            <a:ext cx="768096" cy="31089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150" b="1">
                <a:solidFill>
                  <a:srgbClr val="0F172A"/>
                </a:solidFill>
                <a:latin typeface="맑은 고딕"/>
              </a:rPr>
              <a:t>발주사 검토 및 피드백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61504" y="1837943"/>
            <a:ext cx="1856232" cy="195681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19" b="0">
                <a:solidFill>
                  <a:srgbClr val="1E293B"/>
                </a:solidFill>
                <a:latin typeface="맑은 고딕"/>
              </a:rPr>
              <a:t>[한빛글로벌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19" b="0">
                <a:solidFill>
                  <a:srgbClr val="1E293B"/>
                </a:solidFill>
                <a:latin typeface="맑은 고딕"/>
              </a:rPr>
              <a:t>현업/기술PM · RA Lab]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19" b="0">
                <a:solidFill>
                  <a:srgbClr val="1E293B"/>
                </a:solidFill>
                <a:latin typeface="맑은 고딕"/>
              </a:rPr>
              <a:t/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19" b="0">
                <a:solidFill>
                  <a:srgbClr val="1E293B"/>
                </a:solidFill>
                <a:latin typeface="맑은 고딕"/>
              </a:rPr>
              <a:t>• 주간회의 또는 단계별 보고회 상정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19" b="0">
                <a:solidFill>
                  <a:srgbClr val="1E293B"/>
                </a:solidFill>
                <a:latin typeface="맑은 고딕"/>
              </a:rPr>
              <a:t>• 현업(RA 4인) 및 정보전략팀 실무 검토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19" b="0">
                <a:solidFill>
                  <a:srgbClr val="1E293B"/>
                </a:solidFill>
                <a:latin typeface="맑은 고딕"/>
              </a:rPr>
              <a:t>• 수정·보완 요청사항 회의록(MAN_020) 기록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601200" y="1371600"/>
            <a:ext cx="2148840" cy="2514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601200" y="1371600"/>
            <a:ext cx="2148840" cy="64008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9747504" y="1508760"/>
            <a:ext cx="996696" cy="256032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50" b="1">
                <a:solidFill>
                  <a:srgbClr val="FFFFFF"/>
                </a:solidFill>
                <a:latin typeface="맑은 고딕"/>
              </a:rPr>
              <a:t>STEP 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835640" y="1490472"/>
            <a:ext cx="768096" cy="31089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150" b="1">
                <a:solidFill>
                  <a:srgbClr val="0F172A"/>
                </a:solidFill>
                <a:latin typeface="맑은 고딕"/>
              </a:rPr>
              <a:t>최종 승인 및 기준선 확정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747504" y="1837943"/>
            <a:ext cx="1856232" cy="195681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19" b="0">
                <a:solidFill>
                  <a:srgbClr val="1E293B"/>
                </a:solidFill>
                <a:latin typeface="맑은 고딕"/>
              </a:rPr>
              <a:t>[발주사 PM 승인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19" b="0">
                <a:solidFill>
                  <a:srgbClr val="1E293B"/>
                </a:solidFill>
                <a:latin typeface="맑은 고딕"/>
              </a:rPr>
              <a:t>구글 드라이브 배포]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19" b="0">
                <a:solidFill>
                  <a:srgbClr val="1E293B"/>
                </a:solidFill>
                <a:latin typeface="맑은 고딕"/>
              </a:rPr>
              <a:t/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19" b="0">
                <a:solidFill>
                  <a:srgbClr val="1E293B"/>
                </a:solidFill>
                <a:latin typeface="맑은 고딕"/>
              </a:rPr>
              <a:t>• 피드백 100% 반영 확인 및 승인 날인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19" b="0">
                <a:solidFill>
                  <a:srgbClr val="1E293B"/>
                </a:solidFill>
                <a:latin typeface="맑은 고딕"/>
              </a:rPr>
              <a:t>• 정식 버전(v1.0) 승격 및 Baseline 설정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19" b="0">
                <a:solidFill>
                  <a:srgbClr val="1E293B"/>
                </a:solidFill>
                <a:latin typeface="맑은 고딕"/>
              </a:rPr>
              <a:t>• 지정 폴더 등재 및 구버전 백업 이동</a:t>
            </a:r>
          </a:p>
        </p:txBody>
      </p:sp>
      <p:graphicFrame>
        <p:nvGraphicFramePr>
          <p:cNvPr id="36" name="Table 35"/>
          <p:cNvGraphicFramePr>
            <a:graphicFrameLocks noGrp="1"/>
          </p:cNvGraphicFramePr>
          <p:nvPr/>
        </p:nvGraphicFramePr>
        <p:xfrm>
          <a:off x="457200" y="4069080"/>
          <a:ext cx="11274552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1828800"/>
                <a:gridCol w="2377440"/>
                <a:gridCol w="3685032"/>
                <a:gridCol w="1371600"/>
              </a:tblGrid>
              <a:tr h="548640"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검토 구분</a:t>
                      </a:r>
                    </a:p>
                  </a:txBody>
                  <a:tcPr anchor="ctr" marT="45720" marB="45720" marL="73152" marR="73152">
                    <a:solidFill>
                      <a:srgbClr val="0F2340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검토 시점</a:t>
                      </a:r>
                    </a:p>
                  </a:txBody>
                  <a:tcPr anchor="ctr" marT="45720" marB="45720" marL="73152" marR="73152">
                    <a:solidFill>
                      <a:srgbClr val="0F2340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주관 및 참석자</a:t>
                      </a:r>
                    </a:p>
                  </a:txBody>
                  <a:tcPr anchor="ctr" marT="45720" marB="45720" marL="73152" marR="73152">
                    <a:solidFill>
                      <a:srgbClr val="0F2340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중점 검수 항목</a:t>
                      </a:r>
                    </a:p>
                  </a:txBody>
                  <a:tcPr anchor="ctr" marT="45720" marB="45720" marL="73152" marR="73152">
                    <a:solidFill>
                      <a:srgbClr val="0F2340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결과 기록물</a:t>
                      </a:r>
                    </a:p>
                  </a:txBody>
                  <a:tcPr anchor="ctr" marT="45720" marB="45720" marL="73152" marR="73152">
                    <a:solidFill>
                      <a:srgbClr val="0F2340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50" b="1">
                          <a:solidFill>
                            <a:srgbClr val="1E293B"/>
                          </a:solidFill>
                          <a:latin typeface="맑은 고딕"/>
                        </a:rPr>
                        <a:t>내부 동료 검토 (Peer Review)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rgbClr val="1E293B"/>
                          </a:solidFill>
                          <a:latin typeface="맑은 고딕"/>
                        </a:rPr>
                        <a:t>산출물 초안 완료 시 (수시)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rgbClr val="1E293B"/>
                          </a:solidFill>
                          <a:latin typeface="맑은 고딕"/>
                        </a:rPr>
                        <a:t>총괄 AA, 개발리드, 파트 작성자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rgbClr val="1E293B"/>
                          </a:solidFill>
                          <a:latin typeface="맑은 고딕"/>
                        </a:rPr>
                        <a:t>설계-구현 간 기술적 모순, 인터페이스 파라미터 일치성, 누락 기능 유무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rgbClr val="1E293B"/>
                          </a:solidFill>
                          <a:latin typeface="맑은 고딕"/>
                        </a:rPr>
                        <a:t>검토 코멘트 내역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50" b="1">
                          <a:solidFill>
                            <a:srgbClr val="1E293B"/>
                          </a:solidFill>
                          <a:latin typeface="맑은 고딕"/>
                        </a:rPr>
                        <a:t>PMO 산출물 품질 감사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rgbClr val="1E293B"/>
                          </a:solidFill>
                          <a:latin typeface="맑은 고딕"/>
                        </a:rPr>
                        <a:t>발주사 제출 2일 전 (D-2)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rgbClr val="1E293B"/>
                          </a:solidFill>
                          <a:latin typeface="맑은 고딕"/>
                        </a:rPr>
                        <a:t>수행사 PMO (이지훈), 수행 PM (김태윤)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rgbClr val="1E293B"/>
                          </a:solidFill>
                          <a:latin typeface="맑은 고딕"/>
                        </a:rPr>
                        <a:t>표준 템플릿/ID 준수, RTVM 추적표 1:1 매핑률, 문서 버전/개정이력 무결성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rgbClr val="1E293B"/>
                          </a:solidFill>
                          <a:latin typeface="맑은 고딕"/>
                        </a:rPr>
                        <a:t>품질체크리스트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50" b="1">
                          <a:solidFill>
                            <a:srgbClr val="1E293B"/>
                          </a:solidFill>
                          <a:latin typeface="맑은 고딕"/>
                        </a:rPr>
                        <a:t>단계말 Gate 공식 검수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rgbClr val="1E293B"/>
                          </a:solidFill>
                          <a:latin typeface="맑은 고딕"/>
                        </a:rPr>
                        <a:t>M1~M6 각 마일스톤 도래 시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rgbClr val="1E293B"/>
                          </a:solidFill>
                          <a:latin typeface="맑은 고딕"/>
                        </a:rPr>
                        <a:t>발주사 PM(정민수/한승우), RA Lab, 수행 PM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rgbClr val="1E293B"/>
                          </a:solidFill>
                          <a:latin typeface="맑은 고딕"/>
                        </a:rPr>
                        <a:t>비즈니스 요구사항 충족도, 현업 사용성, 보안/인프라 규정 준수 여부 최종 승인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rgbClr val="1E293B"/>
                          </a:solidFill>
                          <a:latin typeface="맑은 고딕"/>
                        </a:rPr>
                        <a:t>회의록(MAN_020) / 검수확인서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777240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050" b="1">
                <a:solidFill>
                  <a:srgbClr val="1D4ED8"/>
                </a:solidFill>
                <a:latin typeface="맑은 고딕"/>
              </a:rPr>
              <a:t>문서관리 계획서   &gt;   6. 버전 관리 및 디렉터리 구조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3920" y="201168"/>
            <a:ext cx="3227832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20000"/>
              </a:lnSpc>
              <a:spcAft>
                <a:spcPts val="200"/>
              </a:spcAft>
            </a:pPr>
            <a:r>
              <a:rPr sz="1000" b="1">
                <a:solidFill>
                  <a:srgbClr val="64748B"/>
                </a:solidFill>
                <a:latin typeface="맑은 고딕"/>
              </a:rPr>
              <a:t>산출물 ID : EMP_MAN_070  |  버전 : v1.0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38912"/>
            <a:ext cx="11274552" cy="42062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2100" b="1">
                <a:solidFill>
                  <a:srgbClr val="0F172A"/>
                </a:solidFill>
                <a:latin typeface="맑은 고딕"/>
              </a:rPr>
              <a:t>6. 문서 버전 부여 규칙, 변경 통제 및 공유 저장소 디렉터리 표준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77824"/>
            <a:ext cx="11274552" cy="31089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200" b="0">
                <a:solidFill>
                  <a:srgbClr val="64748B"/>
                </a:solidFill>
                <a:latin typeface="맑은 고딕"/>
              </a:rPr>
              <a:t>승인된 산출물(v1.0 이상)의 변경은 반드시 변경관리 절차(CCB)를 거쳐야 하며, 표준 폴더 트리에 따라 일원화하여 보관합니다.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16152"/>
            <a:ext cx="11274552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6419088"/>
            <a:ext cx="11274552" cy="13716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455664"/>
            <a:ext cx="502920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900" b="0">
                <a:solidFill>
                  <a:srgbClr val="64748B"/>
                </a:solidFill>
                <a:latin typeface="맑은 고딕"/>
              </a:rPr>
              <a:t>한빛글로벌 SyncGuard AI 시스템 구축  |  문서관리 계획서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6455664"/>
            <a:ext cx="1216152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20000"/>
              </a:lnSpc>
              <a:spcAft>
                <a:spcPts val="200"/>
              </a:spcAft>
            </a:pPr>
            <a:r>
              <a:rPr sz="900" b="1">
                <a:solidFill>
                  <a:srgbClr val="64748B"/>
                </a:solidFill>
                <a:latin typeface="맑은 고딕"/>
              </a:rPr>
              <a:t>8 / 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59752" y="6455664"/>
            <a:ext cx="457200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20000"/>
              </a:lnSpc>
              <a:spcAft>
                <a:spcPts val="200"/>
              </a:spcAft>
            </a:pPr>
            <a:r>
              <a:rPr sz="900" b="0">
                <a:solidFill>
                  <a:srgbClr val="64748B"/>
                </a:solidFill>
                <a:latin typeface="맑은 고딕"/>
              </a:rPr>
              <a:t>발주사 : HANBIT GLOBAL   |   수행사 : ㈜엠파시 (Empasy Inc.)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457200" y="1371600"/>
          <a:ext cx="6720840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34440"/>
                <a:gridCol w="960120"/>
                <a:gridCol w="2331720"/>
                <a:gridCol w="1143000"/>
                <a:gridCol w="1051560"/>
              </a:tblGrid>
              <a:tr h="502920"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버전 구분</a:t>
                      </a:r>
                    </a:p>
                  </a:txBody>
                  <a:tcPr anchor="ctr" marT="45720" marB="45720" marL="73152" marR="73152">
                    <a:solidFill>
                      <a:srgbClr val="0F2340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버전 표기</a:t>
                      </a:r>
                    </a:p>
                  </a:txBody>
                  <a:tcPr anchor="ctr" marT="45720" marB="45720" marL="73152" marR="73152">
                    <a:solidFill>
                      <a:srgbClr val="0F2340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적용 상태 및 부여 기준</a:t>
                      </a:r>
                    </a:p>
                  </a:txBody>
                  <a:tcPr anchor="ctr" marT="45720" marB="45720" marL="73152" marR="73152">
                    <a:solidFill>
                      <a:srgbClr val="0F2340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변경 승인 권한</a:t>
                      </a:r>
                    </a:p>
                  </a:txBody>
                  <a:tcPr anchor="ctr" marT="45720" marB="45720" marL="73152" marR="73152">
                    <a:solidFill>
                      <a:srgbClr val="0F2340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보관 위치</a:t>
                      </a:r>
                    </a:p>
                  </a:txBody>
                  <a:tcPr anchor="ctr" marT="45720" marB="45720" marL="73152" marR="73152">
                    <a:solidFill>
                      <a:srgbClr val="0F2340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00" b="1">
                          <a:solidFill>
                            <a:srgbClr val="1E293B"/>
                          </a:solidFill>
                          <a:latin typeface="맑은 고딕"/>
                        </a:rPr>
                        <a:t>초안 (Draft)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00" b="1">
                          <a:solidFill>
                            <a:srgbClr val="1E293B"/>
                          </a:solidFill>
                          <a:latin typeface="맑은 고딕"/>
                        </a:rPr>
                        <a:t>v0.1 ~ v0.8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00" b="0">
                          <a:solidFill>
                            <a:srgbClr val="1E293B"/>
                          </a:solidFill>
                          <a:latin typeface="맑은 고딕"/>
                        </a:rPr>
                        <a:t>작성자 최초 작성 및 파트 내부 수정·보완 중인 상태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00" b="0">
                          <a:solidFill>
                            <a:srgbClr val="1E293B"/>
                          </a:solidFill>
                          <a:latin typeface="맑은 고딕"/>
                        </a:rPr>
                        <a:t>담당 파트 리드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00" b="0">
                          <a:solidFill>
                            <a:srgbClr val="1E293B"/>
                          </a:solidFill>
                          <a:latin typeface="맑은 고딕"/>
                        </a:rPr>
                        <a:t>작업 폴더 / 로컬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00" b="1">
                          <a:solidFill>
                            <a:srgbClr val="1E293B"/>
                          </a:solidFill>
                          <a:latin typeface="맑은 고딕"/>
                        </a:rPr>
                        <a:t>제출 검토본 (Review)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00" b="1">
                          <a:solidFill>
                            <a:srgbClr val="1E293B"/>
                          </a:solidFill>
                          <a:latin typeface="맑은 고딕"/>
                        </a:rPr>
                        <a:t>v0.9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00" b="0">
                          <a:solidFill>
                            <a:srgbClr val="1E293B"/>
                          </a:solidFill>
                          <a:latin typeface="맑은 고딕"/>
                        </a:rPr>
                        <a:t>수행사 PMO 품질 검수를 마치고 발주사 검토를 위해 공식 상정한 버전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00" b="0">
                          <a:solidFill>
                            <a:srgbClr val="1E293B"/>
                          </a:solidFill>
                          <a:latin typeface="맑은 고딕"/>
                        </a:rPr>
                        <a:t>수행 PM / PMO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00" b="0">
                          <a:solidFill>
                            <a:srgbClr val="1E293B"/>
                          </a:solidFill>
                          <a:latin typeface="맑은 고딕"/>
                        </a:rPr>
                        <a:t>단계별 공식 폴더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00" b="1">
                          <a:solidFill>
                            <a:srgbClr val="1E293B"/>
                          </a:solidFill>
                          <a:latin typeface="맑은 고딕"/>
                        </a:rPr>
                        <a:t>최초 승인본 (Baseline)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00" b="1">
                          <a:solidFill>
                            <a:srgbClr val="1E293B"/>
                          </a:solidFill>
                          <a:latin typeface="맑은 고딕"/>
                        </a:rPr>
                        <a:t>v1.0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00" b="0">
                          <a:solidFill>
                            <a:srgbClr val="1E293B"/>
                          </a:solidFill>
                          <a:latin typeface="맑은 고딕"/>
                        </a:rPr>
                        <a:t>발주사 검토 및 피드백 반영을 완료하여 공식 승인된 기준선(Baseline) 버전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00" b="0">
                          <a:solidFill>
                            <a:srgbClr val="1E293B"/>
                          </a:solidFill>
                          <a:latin typeface="맑은 고딕"/>
                        </a:rPr>
                        <a:t>발주사 PM (정민수/한승우)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00" b="0">
                          <a:solidFill>
                            <a:srgbClr val="1E293B"/>
                          </a:solidFill>
                          <a:latin typeface="맑은 고딕"/>
                        </a:rPr>
                        <a:t>단계별 공식 폴더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00" b="1">
                          <a:solidFill>
                            <a:srgbClr val="1E293B"/>
                          </a:solidFill>
                          <a:latin typeface="맑은 고딕"/>
                        </a:rPr>
                        <a:t>부분 개정본 (Minor)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00" b="1">
                          <a:solidFill>
                            <a:srgbClr val="1E293B"/>
                          </a:solidFill>
                          <a:latin typeface="맑은 고딕"/>
                        </a:rPr>
                        <a:t>v1.1, v1.2 ...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00" b="0">
                          <a:solidFill>
                            <a:srgbClr val="1E293B"/>
                          </a:solidFill>
                          <a:latin typeface="맑은 고딕"/>
                        </a:rPr>
                        <a:t>기준선 확정 후 기능 보완, 연계 규격 상세화, PoC 결과 반영 등 부분 개정 시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00" b="0">
                          <a:solidFill>
                            <a:srgbClr val="1E293B"/>
                          </a:solidFill>
                          <a:latin typeface="맑은 고딕"/>
                        </a:rPr>
                        <a:t>양사 PM 합의 (변경대장 기록)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00" b="0">
                          <a:solidFill>
                            <a:srgbClr val="1E293B"/>
                          </a:solidFill>
                          <a:latin typeface="맑은 고딕"/>
                        </a:rPr>
                        <a:t>공식 폴더 (구버전은 백업폴더 이동)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00" b="1">
                          <a:solidFill>
                            <a:srgbClr val="1E293B"/>
                          </a:solidFill>
                          <a:latin typeface="맑은 고딕"/>
                        </a:rPr>
                        <a:t>전면 개정본 (Major)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00" b="1">
                          <a:solidFill>
                            <a:srgbClr val="1E293B"/>
                          </a:solidFill>
                          <a:latin typeface="맑은 고딕"/>
                        </a:rPr>
                        <a:t>v2.0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00" b="0">
                          <a:solidFill>
                            <a:srgbClr val="1E293B"/>
                          </a:solidFill>
                          <a:latin typeface="맑은 고딕"/>
                        </a:rPr>
                        <a:t>사업 범위의 중대한 변경이나 아키텍처 전면 재설계 등 대규모 변경 승인 시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00" b="0">
                          <a:solidFill>
                            <a:srgbClr val="1E293B"/>
                          </a:solidFill>
                          <a:latin typeface="맑은 고딕"/>
                        </a:rPr>
                        <a:t>양사 총괄 / CCB 공식 의결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00" b="0">
                          <a:solidFill>
                            <a:srgbClr val="1E293B"/>
                          </a:solidFill>
                          <a:latin typeface="맑은 고딕"/>
                        </a:rPr>
                        <a:t>공식 폴더 (구버전은 백업폴더 이동)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2" name="Rectangle 11"/>
          <p:cNvSpPr/>
          <p:nvPr/>
        </p:nvSpPr>
        <p:spPr>
          <a:xfrm>
            <a:off x="457200" y="4526280"/>
            <a:ext cx="6720840" cy="173736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4526280"/>
            <a:ext cx="6720840" cy="64008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03504" y="4663440"/>
            <a:ext cx="868680" cy="256032"/>
          </a:xfrm>
          <a:prstGeom prst="round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50" b="1">
                <a:solidFill>
                  <a:srgbClr val="FFFFFF"/>
                </a:solidFill>
                <a:latin typeface="맑은 고딕"/>
              </a:rPr>
              <a:t>형상 통제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63624" y="4645152"/>
            <a:ext cx="5468112" cy="31089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200" b="1">
                <a:solidFill>
                  <a:srgbClr val="0F172A"/>
                </a:solidFill>
                <a:latin typeface="맑은 고딕"/>
              </a:rPr>
              <a:t>기준선(Baseline) 변경 통제 및 아카이빙 원칙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3504" y="4992624"/>
            <a:ext cx="6428231" cy="1179575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50" b="0">
                <a:solidFill>
                  <a:srgbClr val="1E293B"/>
                </a:solidFill>
                <a:latin typeface="맑은 고딕"/>
              </a:rPr>
              <a:t>• 변경 요청 접수 : M1 설계승인 이후 문서 변경 발생 시 변경관리대장(EMP_MAN_060)에 변경사유 및 영향도 등록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50" b="0">
                <a:solidFill>
                  <a:srgbClr val="1E293B"/>
                </a:solidFill>
                <a:latin typeface="맑은 고딕"/>
              </a:rPr>
              <a:t>• 구버전 보존 규칙 : v1.1을 배포할 때 기존 v1.0 파일은 절대 삭제하지 않고 [9. 기타 &gt; 00. 구버전_백업]으로 이동 보관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50" b="0">
                <a:solidFill>
                  <a:srgbClr val="1E293B"/>
                </a:solidFill>
                <a:latin typeface="맑은 고딕"/>
              </a:rPr>
              <a:t>• 문서-코드 동기화 : Git 저장소(소스코드/DDL) 태그 버전과 설계 문서 버전을 주간 단위로 대조 감사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60920" y="1371600"/>
            <a:ext cx="4370832" cy="4892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360920" y="1371600"/>
            <a:ext cx="4370832" cy="64008"/>
          </a:xfrm>
          <a:prstGeom prst="rect">
            <a:avLst/>
          </a:prstGeom>
          <a:solidFill>
            <a:srgbClr val="0F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507224" y="1508760"/>
            <a:ext cx="1636776" cy="256032"/>
          </a:xfrm>
          <a:prstGeom prst="roundRect">
            <a:avLst/>
          </a:prstGeom>
          <a:solidFill>
            <a:srgbClr val="0F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50" b="1">
                <a:solidFill>
                  <a:srgbClr val="FFFFFF"/>
                </a:solidFill>
                <a:latin typeface="맑은 고딕"/>
              </a:rPr>
              <a:t>FOLDER TREE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35440" y="1490472"/>
            <a:ext cx="2350008" cy="31089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250" b="1">
                <a:solidFill>
                  <a:srgbClr val="0F172A"/>
                </a:solidFill>
                <a:latin typeface="맑은 고딕"/>
              </a:rPr>
              <a:t>공유 구글 드라이브 표준 디렉터리 구조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07224" y="1837943"/>
            <a:ext cx="4078224" cy="433425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19" b="0">
                <a:solidFill>
                  <a:srgbClr val="1E293B"/>
                </a:solidFill>
                <a:latin typeface="맑은 고딕"/>
              </a:rPr>
              <a:t>📁 syncguard_ai (프로젝트 루트)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19" b="0">
                <a:solidFill>
                  <a:srgbClr val="1E293B"/>
                </a:solidFill>
                <a:latin typeface="맑은 고딕"/>
              </a:rPr>
              <a:t> ├── 📁 0.관리 (Management)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19" b="0">
                <a:solidFill>
                  <a:srgbClr val="1E293B"/>
                </a:solidFill>
                <a:latin typeface="맑은 고딕"/>
              </a:rPr>
              <a:t> │    ├── 📁 01. 회의록 (EMP_MAN_020_회의록 / 녹취)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19" b="0">
                <a:solidFill>
                  <a:srgbClr val="1E293B"/>
                </a:solidFill>
                <a:latin typeface="맑은 고딕"/>
              </a:rPr>
              <a:t> │    ├── 📁 02. 주간보고 (EMP_MAN_010_주간업무보고서)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19" b="0">
                <a:solidFill>
                  <a:srgbClr val="1E293B"/>
                </a:solidFill>
                <a:latin typeface="맑은 고딕"/>
              </a:rPr>
              <a:t> │    └── 📄 이슈(030)·결함(040)·공수(050)·변경(060)·계획서(070~100)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19" b="0">
                <a:solidFill>
                  <a:srgbClr val="1E293B"/>
                </a:solidFill>
                <a:latin typeface="맑은 고딕"/>
              </a:rPr>
              <a:t> ├── 📁 1.착수 (Initiation)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19" b="0">
                <a:solidFill>
                  <a:srgbClr val="1E293B"/>
                </a:solidFill>
                <a:latin typeface="맑은 고딕"/>
              </a:rPr>
              <a:t> │    └── 📄 착수보고서(000), 사업수행계획서(010), WBS(020)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19" b="0">
                <a:solidFill>
                  <a:srgbClr val="1E293B"/>
                </a:solidFill>
                <a:latin typeface="맑은 고딕"/>
              </a:rPr>
              <a:t> ├── 📁 2.분석 (Analysis)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19" b="0">
                <a:solidFill>
                  <a:srgbClr val="1E293B"/>
                </a:solidFill>
                <a:latin typeface="맑은 고딕"/>
              </a:rPr>
              <a:t> │    └── 📄 벤치마킹(010), 요구사항(020), 추적표(030), 연계협의(050)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19" b="0">
                <a:solidFill>
                  <a:srgbClr val="1E293B"/>
                </a:solidFill>
                <a:latin typeface="맑은 고딕"/>
              </a:rPr>
              <a:t> ├── 📁 3.설계 (Design)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19" b="0">
                <a:solidFill>
                  <a:srgbClr val="1E293B"/>
                </a:solidFill>
                <a:latin typeface="맑은 고딕"/>
              </a:rPr>
              <a:t> │    └── 📄 IA(010), 기능(020), 화면(050), DB(080), 아키텍처(090) 등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19" b="0">
                <a:solidFill>
                  <a:srgbClr val="1E293B"/>
                </a:solidFill>
                <a:latin typeface="맑은 고딕"/>
              </a:rPr>
              <a:t> ├── 📁 4.구현 (Execution)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19" b="0">
                <a:solidFill>
                  <a:srgbClr val="1E293B"/>
                </a:solidFill>
                <a:latin typeface="맑은 고딕"/>
              </a:rPr>
              <a:t> │    └── 📄 규칙사전(010), 프롬프트명세(020), ProductLab연계(030)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19" b="0">
                <a:solidFill>
                  <a:srgbClr val="1E293B"/>
                </a:solidFill>
                <a:latin typeface="맑은 고딕"/>
              </a:rPr>
              <a:t> ├── 📁 5.테스트 (Test)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19" b="0">
                <a:solidFill>
                  <a:srgbClr val="1E293B"/>
                </a:solidFill>
                <a:latin typeface="맑은 고딕"/>
              </a:rPr>
              <a:t> │    └── 📄 단위(010), 통합(020), 보안(030), 성능(040), 골든셋(050)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19" b="0">
                <a:solidFill>
                  <a:srgbClr val="1E293B"/>
                </a:solidFill>
                <a:latin typeface="맑은 고딕"/>
              </a:rPr>
              <a:t> ├── 📁 6.이행 (Implementation)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19" b="0">
                <a:solidFill>
                  <a:srgbClr val="1E293B"/>
                </a:solidFill>
                <a:latin typeface="맑은 고딕"/>
              </a:rPr>
              <a:t> │    └── 📄 이행계획(010), 인수인계(030), 검수(040), 매뉴얼(050/060)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19" b="0">
                <a:solidFill>
                  <a:srgbClr val="1E293B"/>
                </a:solidFill>
                <a:latin typeface="맑은 고딕"/>
              </a:rPr>
              <a:t> └── 📁 9. 기타 / 📁 00. 구버전_백업 (이전 버전 아카이브)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777240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050" b="1">
                <a:solidFill>
                  <a:srgbClr val="1D4ED8"/>
                </a:solidFill>
                <a:latin typeface="맑은 고딕"/>
              </a:rPr>
              <a:t>문서관리 계획서   &gt;   7. 문서 보안 및 인수인계 계획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3920" y="201168"/>
            <a:ext cx="3227832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20000"/>
              </a:lnSpc>
              <a:spcAft>
                <a:spcPts val="200"/>
              </a:spcAft>
            </a:pPr>
            <a:r>
              <a:rPr sz="1000" b="1">
                <a:solidFill>
                  <a:srgbClr val="64748B"/>
                </a:solidFill>
                <a:latin typeface="맑은 고딕"/>
              </a:rPr>
              <a:t>산출물 ID : EMP_MAN_070  |  버전 : v1.0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38912"/>
            <a:ext cx="11274552" cy="42062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2100" b="1">
                <a:solidFill>
                  <a:srgbClr val="0F172A"/>
                </a:solidFill>
                <a:latin typeface="맑은 고딕"/>
              </a:rPr>
              <a:t>7. 문서 보안 등급별 통제 기준 및 최종 산출물 인수인계 절차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77824"/>
            <a:ext cx="11274552" cy="31089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200" b="0">
                <a:solidFill>
                  <a:srgbClr val="64748B"/>
                </a:solidFill>
                <a:latin typeface="맑은 고딕"/>
              </a:rPr>
              <a:t>화장품 신제품 시안과 사내 인프라 정보를 보호하기 위해 3단계 보안 등급을 적용하고, 종료 시 28종 전수를 검증·인계합니다.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16152"/>
            <a:ext cx="11274552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6419088"/>
            <a:ext cx="11274552" cy="13716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455664"/>
            <a:ext cx="502920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900" b="0">
                <a:solidFill>
                  <a:srgbClr val="64748B"/>
                </a:solidFill>
                <a:latin typeface="맑은 고딕"/>
              </a:rPr>
              <a:t>한빛글로벌 SyncGuard AI 시스템 구축  |  문서관리 계획서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6455664"/>
            <a:ext cx="1216152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20000"/>
              </a:lnSpc>
              <a:spcAft>
                <a:spcPts val="200"/>
              </a:spcAft>
            </a:pPr>
            <a:r>
              <a:rPr sz="900" b="1">
                <a:solidFill>
                  <a:srgbClr val="64748B"/>
                </a:solidFill>
                <a:latin typeface="맑은 고딕"/>
              </a:rPr>
              <a:t>9 / 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59752" y="6455664"/>
            <a:ext cx="457200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20000"/>
              </a:lnSpc>
              <a:spcAft>
                <a:spcPts val="200"/>
              </a:spcAft>
            </a:pPr>
            <a:r>
              <a:rPr sz="900" b="0">
                <a:solidFill>
                  <a:srgbClr val="64748B"/>
                </a:solidFill>
                <a:latin typeface="맑은 고딕"/>
              </a:rPr>
              <a:t>발주사 : HANBIT GLOBAL   |   수행사 : ㈜엠파시 (Empasy Inc.)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457200" y="1371600"/>
          <a:ext cx="11274552" cy="2606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2926080"/>
                <a:gridCol w="1920240"/>
                <a:gridCol w="3227832"/>
                <a:gridCol w="1828800"/>
              </a:tblGrid>
              <a:tr h="651510"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보안 등급</a:t>
                      </a:r>
                    </a:p>
                  </a:txBody>
                  <a:tcPr anchor="ctr" marT="45720" marB="45720" marL="73152" marR="73152">
                    <a:solidFill>
                      <a:srgbClr val="0F2340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대상 문서 및 데이터</a:t>
                      </a:r>
                    </a:p>
                  </a:txBody>
                  <a:tcPr anchor="ctr" marT="45720" marB="45720" marL="73152" marR="73152">
                    <a:solidFill>
                      <a:srgbClr val="0F2340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열람 및 접근 권한</a:t>
                      </a:r>
                    </a:p>
                  </a:txBody>
                  <a:tcPr anchor="ctr" marT="45720" marB="45720" marL="73152" marR="73152">
                    <a:solidFill>
                      <a:srgbClr val="0F2340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보관 및 전송 통제 기준</a:t>
                      </a:r>
                    </a:p>
                  </a:txBody>
                  <a:tcPr anchor="ctr" marT="45720" marB="45720" marL="73152" marR="73152">
                    <a:solidFill>
                      <a:srgbClr val="0F2340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파기 / 이관 기준</a:t>
                      </a:r>
                    </a:p>
                  </a:txBody>
                  <a:tcPr anchor="ctr" marT="45720" marB="45720" marL="73152" marR="73152">
                    <a:solidFill>
                      <a:srgbClr val="0F2340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</a:tr>
              <a:tr h="651510"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19" b="1">
                          <a:solidFill>
                            <a:srgbClr val="DC2626"/>
                          </a:solidFill>
                          <a:latin typeface="맑은 고딕"/>
                        </a:rPr>
                        <a:t>극비 (Secret)</a:t>
                      </a:r>
                    </a:p>
                  </a:txBody>
                  <a:tcPr anchor="ctr" marT="45720" marB="45720" marL="73152" marR="73152">
                    <a:solidFill>
                      <a:srgbClr val="FEE2E2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19" b="0">
                          <a:solidFill>
                            <a:srgbClr val="1E293B"/>
                          </a:solidFill>
                          <a:latin typeface="맑은 고딕"/>
                        </a:rPr>
                        <a:t>• 미출시 신제품 광고 시안/영상 원본</a:t>
                      </a:r>
                    </a:p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19" b="0">
                          <a:solidFill>
                            <a:srgbClr val="1E293B"/>
                          </a:solidFill>
                          <a:latin typeface="맑은 고딕"/>
                        </a:rPr>
                        <a:t>• 서버 SSH 키, DB 접속계정, IAM 시크릿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19" b="0">
                          <a:solidFill>
                            <a:srgbClr val="1E293B"/>
                          </a:solidFill>
                          <a:latin typeface="맑은 고딕"/>
                        </a:rPr>
                        <a:t>발주사 승인 인력에 한함</a:t>
                      </a:r>
                    </a:p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19" b="0">
                          <a:solidFill>
                            <a:srgbClr val="1E293B"/>
                          </a:solidFill>
                          <a:latin typeface="맑은 고딕"/>
                        </a:rPr>
                        <a:t>(인가된 IP / CA-PAM)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19" b="0">
                          <a:solidFill>
                            <a:srgbClr val="1E293B"/>
                          </a:solidFill>
                          <a:latin typeface="맑은 고딕"/>
                        </a:rPr>
                        <a:t>• 외부 반출 및 로컬 PC 임의 저장 절대 금지</a:t>
                      </a:r>
                    </a:p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19" b="0">
                          <a:solidFill>
                            <a:srgbClr val="1E293B"/>
                          </a:solidFill>
                          <a:latin typeface="맑은 고딕"/>
                        </a:rPr>
                        <a:t>• 상용 LLM 전송 시 비학습(Zero-Retention) 채널 강제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19" b="0">
                          <a:solidFill>
                            <a:srgbClr val="1E293B"/>
                          </a:solidFill>
                          <a:latin typeface="맑은 고딕"/>
                        </a:rPr>
                        <a:t>사업 종료 시 수행사 보유본</a:t>
                      </a:r>
                    </a:p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19" b="0">
                          <a:solidFill>
                            <a:srgbClr val="1E293B"/>
                          </a:solidFill>
                          <a:latin typeface="맑은 고딕"/>
                        </a:rPr>
                        <a:t>100% 영구 삭제 및 확인서 제출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</a:tr>
              <a:tr h="651510"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19" b="1">
                          <a:solidFill>
                            <a:srgbClr val="1E293B"/>
                          </a:solidFill>
                          <a:latin typeface="맑은 고딕"/>
                        </a:rPr>
                        <a:t>대외비 (Confidential)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19" b="0">
                          <a:solidFill>
                            <a:srgbClr val="1E293B"/>
                          </a:solidFill>
                          <a:latin typeface="맑은 고딕"/>
                        </a:rPr>
                        <a:t>• 아키텍처정의서, 인프라구성도, DB명세서</a:t>
                      </a:r>
                    </a:p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19" b="0">
                          <a:solidFill>
                            <a:srgbClr val="1E293B"/>
                          </a:solidFill>
                          <a:latin typeface="맑은 고딕"/>
                        </a:rPr>
                        <a:t>• 요구사항정의서, 회의록, 주간보고, 소스코드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19" b="0">
                          <a:solidFill>
                            <a:srgbClr val="1E293B"/>
                          </a:solidFill>
                          <a:latin typeface="맑은 고딕"/>
                        </a:rPr>
                        <a:t>프로젝트 참여자 전원</a:t>
                      </a:r>
                    </a:p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19" b="0">
                          <a:solidFill>
                            <a:srgbClr val="1E293B"/>
                          </a:solidFill>
                          <a:latin typeface="맑은 고딕"/>
                        </a:rPr>
                        <a:t>(보안서약서 제출 인력)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19" b="0">
                          <a:solidFill>
                            <a:srgbClr val="1E293B"/>
                          </a:solidFill>
                          <a:latin typeface="맑은 고딕"/>
                        </a:rPr>
                        <a:t>• 문서 상/하단 '대외비' 표기 의무화</a:t>
                      </a:r>
                    </a:p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19" b="0">
                          <a:solidFill>
                            <a:srgbClr val="1E293B"/>
                          </a:solidFill>
                          <a:latin typeface="맑은 고딕"/>
                        </a:rPr>
                        <a:t>• 인가된 공유 구글 드라이브 및 사내망 내에서만 유통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19" b="0">
                          <a:solidFill>
                            <a:srgbClr val="1E293B"/>
                          </a:solidFill>
                          <a:latin typeface="맑은 고딕"/>
                        </a:rPr>
                        <a:t>최종 검수 시 발주사에 전수 인계 후</a:t>
                      </a:r>
                    </a:p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19" b="0">
                          <a:solidFill>
                            <a:srgbClr val="1E293B"/>
                          </a:solidFill>
                          <a:latin typeface="맑은 고딕"/>
                        </a:rPr>
                        <a:t>수행사 사본 파기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</a:tr>
              <a:tr h="651510"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19" b="1">
                          <a:solidFill>
                            <a:srgbClr val="1E293B"/>
                          </a:solidFill>
                          <a:latin typeface="맑은 고딕"/>
                        </a:rPr>
                        <a:t>일반 (Internal)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19" b="0">
                          <a:solidFill>
                            <a:srgbClr val="1E293B"/>
                          </a:solidFill>
                          <a:latin typeface="맑은 고딕"/>
                        </a:rPr>
                        <a:t>• 표준 문서 양식 템플릿(공란)</a:t>
                      </a:r>
                    </a:p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19" b="0">
                          <a:solidFill>
                            <a:srgbClr val="1E293B"/>
                          </a:solidFill>
                          <a:latin typeface="맑은 고딕"/>
                        </a:rPr>
                        <a:t>• 공개 법령 가이드라인(식약처 고시 원문)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19" b="0">
                          <a:solidFill>
                            <a:srgbClr val="1E293B"/>
                          </a:solidFill>
                          <a:latin typeface="맑은 고딕"/>
                        </a:rPr>
                        <a:t>프로젝트 관계자 및</a:t>
                      </a:r>
                    </a:p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19" b="0">
                          <a:solidFill>
                            <a:srgbClr val="1E293B"/>
                          </a:solidFill>
                          <a:latin typeface="맑은 고딕"/>
                        </a:rPr>
                        <a:t>사내 PMO 조직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19" b="0">
                          <a:solidFill>
                            <a:srgbClr val="1E293B"/>
                          </a:solidFill>
                          <a:latin typeface="맑은 고딕"/>
                        </a:rPr>
                        <a:t>• 사내 표준 산출물 레포지토리 등록 및 활용 가능</a:t>
                      </a:r>
                    </a:p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19" b="0">
                          <a:solidFill>
                            <a:srgbClr val="1E293B"/>
                          </a:solidFill>
                          <a:latin typeface="맑은 고딕"/>
                        </a:rPr>
                        <a:t>• 고객사 고유 식별정보 제거 후 템플릿화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19" b="0">
                          <a:solidFill>
                            <a:srgbClr val="1E293B"/>
                          </a:solidFill>
                          <a:latin typeface="맑은 고딕"/>
                        </a:rPr>
                        <a:t>전사 지식자산(PMO 템플릿)으로</a:t>
                      </a:r>
                    </a:p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19" b="0">
                          <a:solidFill>
                            <a:srgbClr val="1E293B"/>
                          </a:solidFill>
                          <a:latin typeface="맑은 고딕"/>
                        </a:rPr>
                        <a:t>영구 보존 활용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2" name="Rectangle 11"/>
          <p:cNvSpPr/>
          <p:nvPr/>
        </p:nvSpPr>
        <p:spPr>
          <a:xfrm>
            <a:off x="457200" y="4160520"/>
            <a:ext cx="3630168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4160520"/>
            <a:ext cx="3630168" cy="64008"/>
          </a:xfrm>
          <a:prstGeom prst="rect">
            <a:avLst/>
          </a:prstGeom>
          <a:solidFill>
            <a:srgbClr val="0F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03504" y="4297680"/>
            <a:ext cx="777240" cy="256032"/>
          </a:xfrm>
          <a:prstGeom prst="roundRect">
            <a:avLst/>
          </a:prstGeom>
          <a:solidFill>
            <a:srgbClr val="0F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50" b="1">
                <a:solidFill>
                  <a:srgbClr val="FFFFFF"/>
                </a:solidFill>
                <a:latin typeface="맑은 고딕"/>
              </a:rPr>
              <a:t>인계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72184" y="4279392"/>
            <a:ext cx="2468880" cy="31089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150" b="1">
                <a:solidFill>
                  <a:srgbClr val="0F172A"/>
                </a:solidFill>
                <a:latin typeface="맑은 고딕"/>
              </a:rPr>
              <a:t>1단계 : 산출물 전수 목록 및 버전 대조 (D-14)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3504" y="4626864"/>
            <a:ext cx="3337560" cy="1545335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50" b="0">
                <a:solidFill>
                  <a:srgbClr val="1E293B"/>
                </a:solidFill>
                <a:latin typeface="맑은 고딕"/>
              </a:rPr>
              <a:t>• 인수인계계획서(EMP_IMP_030) 기준 28종 산출물 전수 유무 및 최종 승인 버전(v1.0↑) 일치 여부 PMO 전수 실사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50" b="0">
                <a:solidFill>
                  <a:srgbClr val="1E293B"/>
                </a:solidFill>
                <a:latin typeface="맑은 고딕"/>
              </a:rPr>
              <a:t>• 소스코드, DB DDL/DML, AI 프롬프트/규칙사전과 문서 간 최종 정합성 확인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79392" y="4160520"/>
            <a:ext cx="3630168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279392" y="4160520"/>
            <a:ext cx="3630168" cy="64008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425696" y="4297680"/>
            <a:ext cx="777240" cy="256032"/>
          </a:xfrm>
          <a:prstGeom prst="round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50" b="1">
                <a:solidFill>
                  <a:srgbClr val="FFFFFF"/>
                </a:solidFill>
                <a:latin typeface="맑은 고딕"/>
              </a:rPr>
              <a:t>인계 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94375" y="4279392"/>
            <a:ext cx="2468880" cy="31089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150" b="1">
                <a:solidFill>
                  <a:srgbClr val="0F172A"/>
                </a:solidFill>
                <a:latin typeface="맑은 고딕"/>
              </a:rPr>
              <a:t>2단계 : 운영자/사용자 교육 및 실습 검증 (D-7)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25696" y="4626864"/>
            <a:ext cx="3337560" cy="1545335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50" b="0">
                <a:solidFill>
                  <a:srgbClr val="1E293B"/>
                </a:solidFill>
                <a:latin typeface="맑은 고딕"/>
              </a:rPr>
              <a:t>• 운영자매뉴얼(IMP_060) 및 사용자매뉴얼(IMP_050) 기반 IT운영팀(4명)·RA 실무자(18명) 기술 이전 교육 실시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50" b="0">
                <a:solidFill>
                  <a:srgbClr val="1E293B"/>
                </a:solidFill>
                <a:latin typeface="맑은 고딕"/>
              </a:rPr>
              <a:t>• 교육 도중 도출된 매뉴얼 보완 사항 즉시 반영 및 교육결과보고서(IMP_070) 채택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101583" y="4160520"/>
            <a:ext cx="3630168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101583" y="4160520"/>
            <a:ext cx="3630168" cy="6400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247888" y="4297680"/>
            <a:ext cx="777240" cy="256032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50" b="1">
                <a:solidFill>
                  <a:srgbClr val="FFFFFF"/>
                </a:solidFill>
                <a:latin typeface="맑은 고딕"/>
              </a:rPr>
              <a:t>인계 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16567" y="4279392"/>
            <a:ext cx="2468880" cy="31089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150" b="1">
                <a:solidFill>
                  <a:srgbClr val="0F172A"/>
                </a:solidFill>
                <a:latin typeface="맑은 고딕"/>
              </a:rPr>
              <a:t>3단계 : 최종 검수확인서 날인 및 인계 완료 (D-Day)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47888" y="4626864"/>
            <a:ext cx="3337560" cy="1545335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50" b="0">
                <a:solidFill>
                  <a:srgbClr val="1E293B"/>
                </a:solidFill>
                <a:latin typeface="맑은 고딕"/>
              </a:rPr>
              <a:t>• 발주사 지정 저장소(구글 드라이브 및 사내 문서함)에 최종 산출물 패키지 납품 완료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50" b="0">
                <a:solidFill>
                  <a:srgbClr val="1E293B"/>
                </a:solidFill>
                <a:latin typeface="맑은 고딕"/>
              </a:rPr>
              <a:t>• 검수확인서(EMP_IMP_040) 및 인수인계 확인서 양사 대표/PM 상호 서명 날인으로 공식 인계 종결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777240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050" b="1">
                <a:solidFill>
                  <a:srgbClr val="1D4ED8"/>
                </a:solidFill>
                <a:latin typeface="맑은 고딕"/>
              </a:rPr>
              <a:t>문서관리 계획서   &gt;   8. 산출물 품질 검수 체크리스트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3920" y="201168"/>
            <a:ext cx="3227832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20000"/>
              </a:lnSpc>
              <a:spcAft>
                <a:spcPts val="200"/>
              </a:spcAft>
            </a:pPr>
            <a:r>
              <a:rPr sz="1000" b="1">
                <a:solidFill>
                  <a:srgbClr val="64748B"/>
                </a:solidFill>
                <a:latin typeface="맑은 고딕"/>
              </a:rPr>
              <a:t>산출물 ID : EMP_MAN_070  |  버전 : v1.0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38912"/>
            <a:ext cx="11274552" cy="42062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2100" b="1">
                <a:solidFill>
                  <a:srgbClr val="0F172A"/>
                </a:solidFill>
                <a:latin typeface="맑은 고딕"/>
              </a:rPr>
              <a:t>8. [템플릿] 단계별 산출물 품질보증(QA) 검수 체크리스트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77824"/>
            <a:ext cx="11274552" cy="31089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200" b="0">
                <a:solidFill>
                  <a:srgbClr val="64748B"/>
                </a:solidFill>
                <a:latin typeface="맑은 고딕"/>
              </a:rPr>
              <a:t>수행사 PMO 및 발주사 검수 담당자가 마일스톤(M1~M6) 산출물 승인 심사 시 공통으로 활용하는 표준 점검표입니다.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16152"/>
            <a:ext cx="11274552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6419088"/>
            <a:ext cx="11274552" cy="13716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455664"/>
            <a:ext cx="502920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900" b="0">
                <a:solidFill>
                  <a:srgbClr val="64748B"/>
                </a:solidFill>
                <a:latin typeface="맑은 고딕"/>
              </a:rPr>
              <a:t>한빛글로벌 SyncGuard AI 시스템 구축  |  문서관리 계획서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6455664"/>
            <a:ext cx="1216152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20000"/>
              </a:lnSpc>
              <a:spcAft>
                <a:spcPts val="200"/>
              </a:spcAft>
            </a:pPr>
            <a:r>
              <a:rPr sz="900" b="1">
                <a:solidFill>
                  <a:srgbClr val="64748B"/>
                </a:solidFill>
                <a:latin typeface="맑은 고딕"/>
              </a:rPr>
              <a:t>10 / 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59752" y="6455664"/>
            <a:ext cx="457200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20000"/>
              </a:lnSpc>
              <a:spcAft>
                <a:spcPts val="200"/>
              </a:spcAft>
            </a:pPr>
            <a:r>
              <a:rPr sz="900" b="0">
                <a:solidFill>
                  <a:srgbClr val="64748B"/>
                </a:solidFill>
                <a:latin typeface="맑은 고딕"/>
              </a:rPr>
              <a:t>발주사 : HANBIT GLOBAL   |   수행사 : ㈜엠파시 (Empasy Inc.)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457200" y="1371600"/>
          <a:ext cx="11274552" cy="4251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34440"/>
                <a:gridCol w="502920"/>
                <a:gridCol w="5193792"/>
                <a:gridCol w="1508760"/>
                <a:gridCol w="1097280"/>
                <a:gridCol w="1737360"/>
              </a:tblGrid>
              <a:tr h="472440"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점검 영역</a:t>
                      </a:r>
                    </a:p>
                  </a:txBody>
                  <a:tcPr anchor="ctr" marT="45720" marB="45720" marL="73152" marR="73152">
                    <a:solidFill>
                      <a:srgbClr val="0F2340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No</a:t>
                      </a:r>
                    </a:p>
                  </a:txBody>
                  <a:tcPr anchor="ctr" marT="45720" marB="45720" marL="73152" marR="73152">
                    <a:solidFill>
                      <a:srgbClr val="0F2340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세부 품질 검수 항목 (Check Criteria)</a:t>
                      </a:r>
                    </a:p>
                  </a:txBody>
                  <a:tcPr anchor="ctr" marT="45720" marB="45720" marL="73152" marR="73152">
                    <a:solidFill>
                      <a:srgbClr val="0F2340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검증 기준 / 목표치</a:t>
                      </a:r>
                    </a:p>
                  </a:txBody>
                  <a:tcPr anchor="ctr" marT="45720" marB="45720" marL="73152" marR="73152">
                    <a:solidFill>
                      <a:srgbClr val="0F2340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점검 결과</a:t>
                      </a:r>
                    </a:p>
                  </a:txBody>
                  <a:tcPr anchor="ctr" marT="45720" marB="45720" marL="73152" marR="73152">
                    <a:solidFill>
                      <a:srgbClr val="0F2340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비고 / 조치사항</a:t>
                      </a:r>
                    </a:p>
                  </a:txBody>
                  <a:tcPr anchor="ctr" marT="45720" marB="45720" marL="73152" marR="73152">
                    <a:solidFill>
                      <a:srgbClr val="0F2340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</a:tr>
              <a:tr h="472440"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19" b="1">
                          <a:solidFill>
                            <a:srgbClr val="1E293B"/>
                          </a:solidFill>
                          <a:latin typeface="맑은 고딕"/>
                        </a:rPr>
                        <a:t>표준 준수성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19" b="1">
                          <a:solidFill>
                            <a:srgbClr val="1E293B"/>
                          </a:solidFill>
                          <a:latin typeface="맑은 고딕"/>
                        </a:rPr>
                        <a:t>1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19" b="0">
                          <a:solidFill>
                            <a:srgbClr val="1E293B"/>
                          </a:solidFill>
                          <a:latin typeface="맑은 고딕"/>
                        </a:rPr>
                        <a:t>산출물 파일명 및 문서 ID가 전사 명명 규칙(EMP_[단계]_[번호])을 준수하였는가?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19" b="0">
                          <a:solidFill>
                            <a:srgbClr val="1E293B"/>
                          </a:solidFill>
                          <a:latin typeface="맑은 고딕"/>
                        </a:rPr>
                        <a:t>100% 일치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19" b="1">
                          <a:solidFill>
                            <a:srgbClr val="16A34A"/>
                          </a:solidFill>
                          <a:latin typeface="맑은 고딕"/>
                        </a:rPr>
                        <a:t>적합 (PASS)</a:t>
                      </a:r>
                    </a:p>
                  </a:txBody>
                  <a:tcPr anchor="ctr" marT="45720" marB="45720" marL="73152" marR="73152">
                    <a:solidFill>
                      <a:srgbClr val="DCFCE7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19" b="0">
                          <a:solidFill>
                            <a:srgbClr val="1E293B"/>
                          </a:solidFill>
                          <a:latin typeface="맑은 고딕"/>
                        </a:rPr>
                        <a:t>표지/푸터 ID 일치 확인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</a:tr>
              <a:tr h="472440"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19" b="1">
                          <a:solidFill>
                            <a:srgbClr val="1E293B"/>
                          </a:solidFill>
                          <a:latin typeface="맑은 고딕"/>
                        </a:rPr>
                        <a:t>표준 준수성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19" b="1">
                          <a:solidFill>
                            <a:srgbClr val="1E293B"/>
                          </a:solidFill>
                          <a:latin typeface="맑은 고딕"/>
                        </a:rPr>
                        <a:t>2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19" b="0">
                          <a:solidFill>
                            <a:srgbClr val="1E293B"/>
                          </a:solidFill>
                          <a:latin typeface="맑은 고딕"/>
                        </a:rPr>
                        <a:t>표지(승인란), 문서 제·개정 이력, 목차, 페이지 번호가 누락 없이 포함되었는가?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19" b="0">
                          <a:solidFill>
                            <a:srgbClr val="1E293B"/>
                          </a:solidFill>
                          <a:latin typeface="맑은 고딕"/>
                        </a:rPr>
                        <a:t>필수 4요소 완비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19" b="1">
                          <a:solidFill>
                            <a:srgbClr val="16A34A"/>
                          </a:solidFill>
                          <a:latin typeface="맑은 고딕"/>
                        </a:rPr>
                        <a:t>적합 (PASS)</a:t>
                      </a:r>
                    </a:p>
                  </a:txBody>
                  <a:tcPr anchor="ctr" marT="45720" marB="45720" marL="73152" marR="73152">
                    <a:solidFill>
                      <a:srgbClr val="DCFCE7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19" b="0">
                          <a:solidFill>
                            <a:srgbClr val="1E293B"/>
                          </a:solidFill>
                          <a:latin typeface="맑은 고딕"/>
                        </a:rPr>
                        <a:t>결재란 담당/승인자 명시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</a:tr>
              <a:tr h="472440"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19" b="1">
                          <a:solidFill>
                            <a:srgbClr val="1E293B"/>
                          </a:solidFill>
                          <a:latin typeface="맑은 고딕"/>
                        </a:rPr>
                        <a:t>완전성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19" b="1">
                          <a:solidFill>
                            <a:srgbClr val="1E293B"/>
                          </a:solidFill>
                          <a:latin typeface="맑은 고딕"/>
                        </a:rPr>
                        <a:t>3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19" b="0">
                          <a:solidFill>
                            <a:srgbClr val="1E293B"/>
                          </a:solidFill>
                          <a:latin typeface="맑은 고딕"/>
                        </a:rPr>
                        <a:t>문서 내 미확정 공란('TBD', '추후 작성', 'OOO')이나 깨진 이미지/링크가 없는가?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19" b="0">
                          <a:solidFill>
                            <a:srgbClr val="1E293B"/>
                          </a:solidFill>
                          <a:latin typeface="맑은 고딕"/>
                        </a:rPr>
                        <a:t>미기재 항목 0건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19" b="1">
                          <a:solidFill>
                            <a:srgbClr val="16A34A"/>
                          </a:solidFill>
                          <a:latin typeface="맑은 고딕"/>
                        </a:rPr>
                        <a:t>적합 (PASS)</a:t>
                      </a:r>
                    </a:p>
                  </a:txBody>
                  <a:tcPr anchor="ctr" marT="45720" marB="45720" marL="73152" marR="73152">
                    <a:solidFill>
                      <a:srgbClr val="DCFCE7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19" b="0">
                          <a:solidFill>
                            <a:srgbClr val="1E293B"/>
                          </a:solidFill>
                          <a:latin typeface="맑은 고딕"/>
                        </a:rPr>
                        <a:t>PMO 전수 스캔 완료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</a:tr>
              <a:tr h="472440"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19" b="1">
                          <a:solidFill>
                            <a:srgbClr val="1E293B"/>
                          </a:solidFill>
                          <a:latin typeface="맑은 고딕"/>
                        </a:rPr>
                        <a:t>일관성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19" b="1">
                          <a:solidFill>
                            <a:srgbClr val="1E293B"/>
                          </a:solidFill>
                          <a:latin typeface="맑은 고딕"/>
                        </a:rPr>
                        <a:t>4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19" b="0">
                          <a:solidFill>
                            <a:srgbClr val="1E293B"/>
                          </a:solidFill>
                          <a:latin typeface="맑은 고딕"/>
                        </a:rPr>
                        <a:t>표준용어정의서(DEG_060) 및 코드정의서(DEG_070)의 명칭과 테이블/화면 용어가 일치하는가?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19" b="0">
                          <a:solidFill>
                            <a:srgbClr val="1E293B"/>
                          </a:solidFill>
                          <a:latin typeface="맑은 고딕"/>
                        </a:rPr>
                        <a:t>용어 불일치 0건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19" b="1">
                          <a:solidFill>
                            <a:srgbClr val="16A34A"/>
                          </a:solidFill>
                          <a:latin typeface="맑은 고딕"/>
                        </a:rPr>
                        <a:t>적합 (PASS)</a:t>
                      </a:r>
                    </a:p>
                  </a:txBody>
                  <a:tcPr anchor="ctr" marT="45720" marB="45720" marL="73152" marR="73152">
                    <a:solidFill>
                      <a:srgbClr val="DCFCE7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19" b="0">
                          <a:solidFill>
                            <a:srgbClr val="1E293B"/>
                          </a:solidFill>
                          <a:latin typeface="맑은 고딕"/>
                        </a:rPr>
                        <a:t>도메인 용어 통일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</a:tr>
              <a:tr h="472440"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19" b="1">
                          <a:solidFill>
                            <a:srgbClr val="1E293B"/>
                          </a:solidFill>
                          <a:latin typeface="맑은 고딕"/>
                        </a:rPr>
                        <a:t>추적성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19" b="1">
                          <a:solidFill>
                            <a:srgbClr val="1E293B"/>
                          </a:solidFill>
                          <a:latin typeface="맑은 고딕"/>
                        </a:rPr>
                        <a:t>5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19" b="0">
                          <a:solidFill>
                            <a:srgbClr val="1E293B"/>
                          </a:solidFill>
                          <a:latin typeface="맑은 고딕"/>
                        </a:rPr>
                        <a:t>요구사항정의서(ANL_020)의 요구사항 ID가 요구사항추적표(RTVM)에 1:1로 매핑되었는가?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19" b="0">
                          <a:solidFill>
                            <a:srgbClr val="1E293B"/>
                          </a:solidFill>
                          <a:latin typeface="맑은 고딕"/>
                        </a:rPr>
                        <a:t>추적 매핑률 100%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19" b="1">
                          <a:solidFill>
                            <a:srgbClr val="16A34A"/>
                          </a:solidFill>
                          <a:latin typeface="맑은 고딕"/>
                        </a:rPr>
                        <a:t>적합 (PASS)</a:t>
                      </a:r>
                    </a:p>
                  </a:txBody>
                  <a:tcPr anchor="ctr" marT="45720" marB="45720" marL="73152" marR="73152">
                    <a:solidFill>
                      <a:srgbClr val="DCFCE7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19" b="0">
                          <a:solidFill>
                            <a:srgbClr val="1E293B"/>
                          </a:solidFill>
                          <a:latin typeface="맑은 고딕"/>
                        </a:rPr>
                        <a:t>REQ-01~08, F-01~43 전수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</a:tr>
              <a:tr h="472440"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19" b="1">
                          <a:solidFill>
                            <a:srgbClr val="1E293B"/>
                          </a:solidFill>
                          <a:latin typeface="맑은 고딕"/>
                        </a:rPr>
                        <a:t>정합성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19" b="1">
                          <a:solidFill>
                            <a:srgbClr val="1E293B"/>
                          </a:solidFill>
                          <a:latin typeface="맑은 고딕"/>
                        </a:rPr>
                        <a:t>6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19" b="0">
                          <a:solidFill>
                            <a:srgbClr val="1E293B"/>
                          </a:solidFill>
                          <a:latin typeface="맑은 고딕"/>
                        </a:rPr>
                        <a:t>아키텍처정의서(DEG_090), 인프라구성도(DEG_091), 방화벽 매트릭스 간 포트/URL이 일치하는가?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19" b="0">
                          <a:solidFill>
                            <a:srgbClr val="1E293B"/>
                          </a:solidFill>
                          <a:latin typeface="맑은 고딕"/>
                        </a:rPr>
                        <a:t>구성 불일치 0건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19" b="1">
                          <a:solidFill>
                            <a:srgbClr val="16A34A"/>
                          </a:solidFill>
                          <a:latin typeface="맑은 고딕"/>
                        </a:rPr>
                        <a:t>적합 (PASS)</a:t>
                      </a:r>
                    </a:p>
                  </a:txBody>
                  <a:tcPr anchor="ctr" marT="45720" marB="45720" marL="73152" marR="73152">
                    <a:solidFill>
                      <a:srgbClr val="DCFCE7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19" b="0">
                          <a:solidFill>
                            <a:srgbClr val="1E293B"/>
                          </a:solidFill>
                          <a:latin typeface="맑은 고딕"/>
                        </a:rPr>
                        <a:t>ALB 분리 및 포트 일치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</a:tr>
              <a:tr h="472440"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19" b="1">
                          <a:solidFill>
                            <a:srgbClr val="1E293B"/>
                          </a:solidFill>
                          <a:latin typeface="맑은 고딕"/>
                        </a:rPr>
                        <a:t>검증 가능성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19" b="1">
                          <a:solidFill>
                            <a:srgbClr val="1E293B"/>
                          </a:solidFill>
                          <a:latin typeface="맑은 고딕"/>
                        </a:rPr>
                        <a:t>7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19" b="0">
                          <a:solidFill>
                            <a:srgbClr val="1E293B"/>
                          </a:solidFill>
                          <a:latin typeface="맑은 고딕"/>
                        </a:rPr>
                        <a:t>통합테스트시나리오(TST_020) 및 골든셋평가보고서(TST_050)에 정량적 합격 기준이 명시되었는가?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19" b="0">
                          <a:solidFill>
                            <a:srgbClr val="1E293B"/>
                          </a:solidFill>
                          <a:latin typeface="맑은 고딕"/>
                        </a:rPr>
                        <a:t>목표치/실측치 완비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19" b="1">
                          <a:solidFill>
                            <a:srgbClr val="16A34A"/>
                          </a:solidFill>
                          <a:latin typeface="맑은 고딕"/>
                        </a:rPr>
                        <a:t>적합 (PASS)</a:t>
                      </a:r>
                    </a:p>
                  </a:txBody>
                  <a:tcPr anchor="ctr" marT="45720" marB="45720" marL="73152" marR="73152">
                    <a:solidFill>
                      <a:srgbClr val="DCFCE7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19" b="0">
                          <a:solidFill>
                            <a:srgbClr val="1E293B"/>
                          </a:solidFill>
                          <a:latin typeface="맑은 고딕"/>
                        </a:rPr>
                        <a:t>검출률 95%+, 일치율 90%+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</a:tr>
              <a:tr h="472440"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19" b="1">
                          <a:solidFill>
                            <a:srgbClr val="1E293B"/>
                          </a:solidFill>
                          <a:latin typeface="맑은 고딕"/>
                        </a:rPr>
                        <a:t>보안 및 형상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19" b="1">
                          <a:solidFill>
                            <a:srgbClr val="1E293B"/>
                          </a:solidFill>
                          <a:latin typeface="맑은 고딕"/>
                        </a:rPr>
                        <a:t>8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19" b="0">
                          <a:solidFill>
                            <a:srgbClr val="1E293B"/>
                          </a:solidFill>
                          <a:latin typeface="맑은 고딕"/>
                        </a:rPr>
                        <a:t>민감정보(실제 패스워드/API Key 평문) 노출이 없으며, 이전 버전이 백업 폴더에 보관되었는가?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19" b="0">
                          <a:solidFill>
                            <a:srgbClr val="1E293B"/>
                          </a:solidFill>
                          <a:latin typeface="맑은 고딕"/>
                        </a:rPr>
                        <a:t>보안 위반 0건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19" b="1">
                          <a:solidFill>
                            <a:srgbClr val="16A34A"/>
                          </a:solidFill>
                          <a:latin typeface="맑은 고딕"/>
                        </a:rPr>
                        <a:t>적합 (PASS)</a:t>
                      </a:r>
                    </a:p>
                  </a:txBody>
                  <a:tcPr anchor="ctr" marT="45720" marB="45720" marL="73152" marR="73152">
                    <a:solidFill>
                      <a:srgbClr val="DCFCE7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19" b="0">
                          <a:solidFill>
                            <a:srgbClr val="1E293B"/>
                          </a:solidFill>
                          <a:latin typeface="맑은 고딕"/>
                        </a:rPr>
                        <a:t>00. 구버전_백업 이동 확인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2" name="Rectangle 11"/>
          <p:cNvSpPr/>
          <p:nvPr/>
        </p:nvSpPr>
        <p:spPr>
          <a:xfrm>
            <a:off x="457200" y="5779008"/>
            <a:ext cx="11274552" cy="502920"/>
          </a:xfrm>
          <a:prstGeom prst="rect">
            <a:avLst/>
          </a:prstGeom>
          <a:solidFill>
            <a:srgbClr val="EEF3FE"/>
          </a:solidFill>
          <a:ln w="1270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5779008"/>
            <a:ext cx="91440" cy="50292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5852160"/>
            <a:ext cx="1092708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050" b="1">
                <a:solidFill>
                  <a:srgbClr val="0F172A"/>
                </a:solidFill>
                <a:latin typeface="맑은 고딕"/>
              </a:rPr>
              <a:t>활용 방법 : 각 마일스톤(M1~M6) 산출물 리뷰 회의 시 본 체크리스트를 첨부하여 '적합(PASS)' 판정 시 정식 승인본(v1.0)으로 확정합니다.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>주식회사 엠파시 (Empasy Inc.)</Company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주식회사 엠파시 (Empasy Inc.)</cp:lastModifiedBy>
  <cp:revision>1</cp:revision>
  <dcterms:created xsi:type="dcterms:W3CDTF">2013-01-27T09:14:16Z</dcterms:created>
  <dcterms:modified xsi:type="dcterms:W3CDTF">2013-01-27T09:15:58Z</dcterms:modified>
  <cp:category/>
</cp:coreProperties>
</file>