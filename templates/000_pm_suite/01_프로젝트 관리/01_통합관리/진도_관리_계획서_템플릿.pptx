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0" y="0"/>
            <a:ext cx="3779215" cy="6858000"/>
          </a:xfrm>
          <a:prstGeom prst="rect">
            <a:avLst/>
          </a:prstGeom>
          <a:solidFill>
            <a:srgbClr val="162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594360"/>
            <a:ext cx="4754880" cy="347472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40080"/>
            <a:ext cx="45720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93C5FD"/>
                </a:solidFill>
                <a:latin typeface="맑은 고딕"/>
              </a:rPr>
              <a:t>산출물 ID : EMP_MAN_090   |   버전 : v1.0   |   표준 관리 템플릿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91440" cy="22402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1664208"/>
            <a:ext cx="73152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800" b="1">
                <a:solidFill>
                  <a:srgbClr val="93C5FD"/>
                </a:solidFill>
                <a:latin typeface="맑은 고딕"/>
              </a:rPr>
              <a:t>한빛글로벌 SyncFlow AI 시스템 구축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121408"/>
            <a:ext cx="731520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맑은 고딕"/>
              </a:rPr>
              <a:t>진도 관리 계획서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944368"/>
            <a:ext cx="73152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맑은 고딕"/>
              </a:rPr>
              <a:t>Progress &amp; Schedule Performance Management Plan (공공·엔터프라이즈 표준)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429000"/>
            <a:ext cx="7132320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E2E8F0"/>
                </a:solidFill>
                <a:latin typeface="맑은 고딕"/>
              </a:rPr>
              <a:t>작업분할구조도(WBS) 기반 단계별·과업별 가중치 배분, 진척률 산정 산식, S-Curve 성과 측정, 진도 편차(SV) 3단계 임계치 통제 및 지연 만회 절차를 정의합니다.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822960" y="4434840"/>
          <a:ext cx="713232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5669280"/>
              </a:tblGrid>
              <a:tr h="374903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93C5FD"/>
                          </a:solidFill>
                          <a:latin typeface="맑은 고딕"/>
                        </a:rPr>
                        <a:t>사 업 명</a:t>
                      </a:r>
                    </a:p>
                  </a:txBody>
                  <a:tcPr anchor="ctr" marT="45720" marB="45720" marL="73152" marR="73152">
                    <a:solidFill>
                      <a:srgbClr val="162E52"/>
                    </a:solidFill>
                    <a:lnL w="6350" cmpd="sng">
                      <a:solidFill>
                        <a:srgbClr val="1E3A5F"/>
                      </a:solidFill>
                    </a:lnL>
                    <a:lnR w="6350" cmpd="sng">
                      <a:solidFill>
                        <a:srgbClr val="1E3A5F"/>
                      </a:solidFill>
                    </a:lnR>
                    <a:lnT w="6350" cmpd="sng">
                      <a:solidFill>
                        <a:srgbClr val="1E3A5F"/>
                      </a:solidFill>
                    </a:lnT>
                    <a:lnB w="6350" cmpd="sng">
                      <a:solidFill>
                        <a:srgbClr val="1E3A5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맑은 고딕"/>
                        </a:rPr>
                        <a:t>한빛글로벌 SyncFlow AI 시스템 구축 용역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1E3A5F"/>
                      </a:solidFill>
                    </a:lnL>
                    <a:lnR w="6350" cmpd="sng">
                      <a:solidFill>
                        <a:srgbClr val="1E3A5F"/>
                      </a:solidFill>
                    </a:lnR>
                    <a:lnT w="6350" cmpd="sng">
                      <a:solidFill>
                        <a:srgbClr val="1E3A5F"/>
                      </a:solidFill>
                    </a:lnT>
                    <a:lnB w="6350" cmpd="sng">
                      <a:solidFill>
                        <a:srgbClr val="1E3A5F"/>
                      </a:solidFill>
                    </a:lnB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93C5FD"/>
                          </a:solidFill>
                          <a:latin typeface="맑은 고딕"/>
                        </a:rPr>
                        <a:t>사 업 기 간</a:t>
                      </a:r>
                    </a:p>
                  </a:txBody>
                  <a:tcPr anchor="ctr" marT="45720" marB="45720" marL="73152" marR="73152">
                    <a:solidFill>
                      <a:srgbClr val="162E52"/>
                    </a:solidFill>
                    <a:lnL w="6350" cmpd="sng">
                      <a:solidFill>
                        <a:srgbClr val="1E3A5F"/>
                      </a:solidFill>
                    </a:lnL>
                    <a:lnR w="6350" cmpd="sng">
                      <a:solidFill>
                        <a:srgbClr val="1E3A5F"/>
                      </a:solidFill>
                    </a:lnR>
                    <a:lnT w="6350" cmpd="sng">
                      <a:solidFill>
                        <a:srgbClr val="1E3A5F"/>
                      </a:solidFill>
                    </a:lnT>
                    <a:lnB w="6350" cmpd="sng">
                      <a:solidFill>
                        <a:srgbClr val="1E3A5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맑은 고딕"/>
                        </a:rPr>
                        <a:t>2026. 10. 16. ~ 2027. 05. 31. (약 7.5개월 / 33주)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1E3A5F"/>
                      </a:solidFill>
                    </a:lnL>
                    <a:lnR w="6350" cmpd="sng">
                      <a:solidFill>
                        <a:srgbClr val="1E3A5F"/>
                      </a:solidFill>
                    </a:lnR>
                    <a:lnT w="6350" cmpd="sng">
                      <a:solidFill>
                        <a:srgbClr val="1E3A5F"/>
                      </a:solidFill>
                    </a:lnT>
                    <a:lnB w="6350" cmpd="sng">
                      <a:solidFill>
                        <a:srgbClr val="1E3A5F"/>
                      </a:solidFill>
                    </a:lnB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93C5FD"/>
                          </a:solidFill>
                          <a:latin typeface="맑은 고딕"/>
                        </a:rPr>
                        <a:t>발 주 기 관</a:t>
                      </a:r>
                    </a:p>
                  </a:txBody>
                  <a:tcPr anchor="ctr" marT="45720" marB="45720" marL="73152" marR="73152">
                    <a:solidFill>
                      <a:srgbClr val="162E52"/>
                    </a:solidFill>
                    <a:lnL w="6350" cmpd="sng">
                      <a:solidFill>
                        <a:srgbClr val="1E3A5F"/>
                      </a:solidFill>
                    </a:lnL>
                    <a:lnR w="6350" cmpd="sng">
                      <a:solidFill>
                        <a:srgbClr val="1E3A5F"/>
                      </a:solidFill>
                    </a:lnR>
                    <a:lnT w="6350" cmpd="sng">
                      <a:solidFill>
                        <a:srgbClr val="1E3A5F"/>
                      </a:solidFill>
                    </a:lnT>
                    <a:lnB w="6350" cmpd="sng">
                      <a:solidFill>
                        <a:srgbClr val="1E3A5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맑은 고딕"/>
                        </a:rPr>
                        <a:t>주식회사 한빛글로벌 (공급망혁신팀 / ERP플랫폼기획팀 / 품질법무검증팀)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1E3A5F"/>
                      </a:solidFill>
                    </a:lnL>
                    <a:lnR w="6350" cmpd="sng">
                      <a:solidFill>
                        <a:srgbClr val="1E3A5F"/>
                      </a:solidFill>
                    </a:lnR>
                    <a:lnT w="6350" cmpd="sng">
                      <a:solidFill>
                        <a:srgbClr val="1E3A5F"/>
                      </a:solidFill>
                    </a:lnT>
                    <a:lnB w="6350" cmpd="sng">
                      <a:solidFill>
                        <a:srgbClr val="1E3A5F"/>
                      </a:solidFill>
                    </a:lnB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93C5FD"/>
                          </a:solidFill>
                          <a:latin typeface="맑은 고딕"/>
                        </a:rPr>
                        <a:t>수 행 기 관</a:t>
                      </a:r>
                    </a:p>
                  </a:txBody>
                  <a:tcPr anchor="ctr" marT="45720" marB="45720" marL="73152" marR="73152">
                    <a:solidFill>
                      <a:srgbClr val="162E52"/>
                    </a:solidFill>
                    <a:lnL w="6350" cmpd="sng">
                      <a:solidFill>
                        <a:srgbClr val="1E3A5F"/>
                      </a:solidFill>
                    </a:lnL>
                    <a:lnR w="6350" cmpd="sng">
                      <a:solidFill>
                        <a:srgbClr val="1E3A5F"/>
                      </a:solidFill>
                    </a:lnR>
                    <a:lnT w="6350" cmpd="sng">
                      <a:solidFill>
                        <a:srgbClr val="1E3A5F"/>
                      </a:solidFill>
                    </a:lnT>
                    <a:lnB w="6350" cmpd="sng">
                      <a:solidFill>
                        <a:srgbClr val="1E3A5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맑은 고딕"/>
                        </a:rPr>
                        <a:t>주식회사 엠파시 (협력사: ㈜데이터브릿지)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1E3A5F"/>
                      </a:solidFill>
                    </a:lnL>
                    <a:lnR w="6350" cmpd="sng">
                      <a:solidFill>
                        <a:srgbClr val="1E3A5F"/>
                      </a:solidFill>
                    </a:lnR>
                    <a:lnT w="6350" cmpd="sng">
                      <a:solidFill>
                        <a:srgbClr val="1E3A5F"/>
                      </a:solidFill>
                    </a:lnT>
                    <a:lnB w="6350" cmpd="sng">
                      <a:solidFill>
                        <a:srgbClr val="1E3A5F"/>
                      </a:solidFill>
                    </a:lnB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93C5FD"/>
                          </a:solidFill>
                          <a:latin typeface="맑은 고딕"/>
                        </a:rPr>
                        <a:t>작 성 일 자</a:t>
                      </a:r>
                    </a:p>
                  </a:txBody>
                  <a:tcPr anchor="ctr" marT="45720" marB="45720" marL="73152" marR="73152">
                    <a:solidFill>
                      <a:srgbClr val="162E52"/>
                    </a:solidFill>
                    <a:lnL w="6350" cmpd="sng">
                      <a:solidFill>
                        <a:srgbClr val="1E3A5F"/>
                      </a:solidFill>
                    </a:lnL>
                    <a:lnR w="6350" cmpd="sng">
                      <a:solidFill>
                        <a:srgbClr val="1E3A5F"/>
                      </a:solidFill>
                    </a:lnR>
                    <a:lnT w="6350" cmpd="sng">
                      <a:solidFill>
                        <a:srgbClr val="1E3A5F"/>
                      </a:solidFill>
                    </a:lnT>
                    <a:lnB w="6350" cmpd="sng">
                      <a:solidFill>
                        <a:srgbClr val="1E3A5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맑은 고딕"/>
                        </a:rPr>
                        <a:t>2026. 10. 28.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1E3A5F"/>
                      </a:solidFill>
                    </a:lnL>
                    <a:lnR w="6350" cmpd="sng">
                      <a:solidFill>
                        <a:srgbClr val="1E3A5F"/>
                      </a:solidFill>
                    </a:lnR>
                    <a:lnT w="6350" cmpd="sng">
                      <a:solidFill>
                        <a:srgbClr val="1E3A5F"/>
                      </a:solidFill>
                    </a:lnT>
                    <a:lnB w="6350" cmpd="sng">
                      <a:solidFill>
                        <a:srgbClr val="1E3A5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8732520" y="4069080"/>
            <a:ext cx="301752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93C5FD"/>
                </a:solidFill>
                <a:latin typeface="맑은 고딕"/>
              </a:rPr>
              <a:t>■ 산출물 검토 및 승인 확인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8732520" y="4434840"/>
          <a:ext cx="301752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097280"/>
                <a:gridCol w="1097280"/>
              </a:tblGrid>
              <a:tr h="468629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구 분</a:t>
                      </a:r>
                    </a:p>
                  </a:txBody>
                  <a:tcPr anchor="ctr" marT="45720" marB="45720" marL="73152" marR="73152">
                    <a:solidFill>
                      <a:srgbClr val="1D4ED8"/>
                    </a:solidFill>
                    <a:lnL w="6350" cmpd="sng">
                      <a:solidFill>
                        <a:srgbClr val="475569"/>
                      </a:solidFill>
                    </a:lnL>
                    <a:lnR w="6350" cmpd="sng">
                      <a:solidFill>
                        <a:srgbClr val="475569"/>
                      </a:solidFill>
                    </a:lnR>
                    <a:lnT w="6350" cmpd="sng">
                      <a:solidFill>
                        <a:srgbClr val="475569"/>
                      </a:solidFill>
                    </a:lnT>
                    <a:lnB w="6350" cmpd="sng">
                      <a:solidFill>
                        <a:srgbClr val="47556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수행사 (엠파시)</a:t>
                      </a:r>
                    </a:p>
                  </a:txBody>
                  <a:tcPr anchor="ctr" marT="45720" marB="45720" marL="73152" marR="73152">
                    <a:solidFill>
                      <a:srgbClr val="1D4ED8"/>
                    </a:solidFill>
                    <a:lnL w="6350" cmpd="sng">
                      <a:solidFill>
                        <a:srgbClr val="475569"/>
                      </a:solidFill>
                    </a:lnL>
                    <a:lnR w="6350" cmpd="sng">
                      <a:solidFill>
                        <a:srgbClr val="475569"/>
                      </a:solidFill>
                    </a:lnR>
                    <a:lnT w="6350" cmpd="sng">
                      <a:solidFill>
                        <a:srgbClr val="475569"/>
                      </a:solidFill>
                    </a:lnT>
                    <a:lnB w="6350" cmpd="sng">
                      <a:solidFill>
                        <a:srgbClr val="47556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발주사 (한빛글로벌)</a:t>
                      </a:r>
                    </a:p>
                  </a:txBody>
                  <a:tcPr anchor="ctr" marT="45720" marB="45720" marL="73152" marR="73152">
                    <a:solidFill>
                      <a:srgbClr val="1D4ED8"/>
                    </a:solidFill>
                    <a:lnL w="6350" cmpd="sng">
                      <a:solidFill>
                        <a:srgbClr val="475569"/>
                      </a:solidFill>
                    </a:lnL>
                    <a:lnR w="6350" cmpd="sng">
                      <a:solidFill>
                        <a:srgbClr val="475569"/>
                      </a:solidFill>
                    </a:lnR>
                    <a:lnT w="6350" cmpd="sng">
                      <a:solidFill>
                        <a:srgbClr val="475569"/>
                      </a:solidFill>
                    </a:lnT>
                    <a:lnB w="6350" cmpd="sng">
                      <a:solidFill>
                        <a:srgbClr val="475569"/>
                      </a:solidFill>
                    </a:lnB>
                  </a:tcPr>
                </a:tc>
              </a:tr>
              <a:tr h="468629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E2E8F0"/>
                          </a:solidFill>
                          <a:latin typeface="맑은 고딕"/>
                        </a:rPr>
                        <a:t>담 당 자</a:t>
                      </a:r>
                    </a:p>
                  </a:txBody>
                  <a:tcPr anchor="ctr" marT="45720" marB="45720" marL="73152" marR="73152">
                    <a:solidFill>
                      <a:srgbClr val="1E3A5F"/>
                    </a:solidFill>
                    <a:lnL w="6350" cmpd="sng">
                      <a:solidFill>
                        <a:srgbClr val="475569"/>
                      </a:solidFill>
                    </a:lnL>
                    <a:lnR w="6350" cmpd="sng">
                      <a:solidFill>
                        <a:srgbClr val="475569"/>
                      </a:solidFill>
                    </a:lnR>
                    <a:lnT w="6350" cmpd="sng">
                      <a:solidFill>
                        <a:srgbClr val="475569"/>
                      </a:solidFill>
                    </a:lnT>
                    <a:lnB w="6350" cmpd="sng">
                      <a:solidFill>
                        <a:srgbClr val="47556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FFFFFF"/>
                          </a:solidFill>
                          <a:latin typeface="맑은 고딕"/>
                        </a:rPr>
                        <a:t>김태윤 PM</a:t>
                      </a:r>
                    </a:p>
                  </a:txBody>
                  <a:tcPr anchor="ctr" marT="45720" marB="45720" marL="73152" marR="73152">
                    <a:solidFill>
                      <a:srgbClr val="162E52"/>
                    </a:solidFill>
                    <a:lnL w="6350" cmpd="sng">
                      <a:solidFill>
                        <a:srgbClr val="475569"/>
                      </a:solidFill>
                    </a:lnL>
                    <a:lnR w="6350" cmpd="sng">
                      <a:solidFill>
                        <a:srgbClr val="475569"/>
                      </a:solidFill>
                    </a:lnR>
                    <a:lnT w="6350" cmpd="sng">
                      <a:solidFill>
                        <a:srgbClr val="475569"/>
                      </a:solidFill>
                    </a:lnT>
                    <a:lnB w="6350" cmpd="sng">
                      <a:solidFill>
                        <a:srgbClr val="47556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FFFFFF"/>
                          </a:solidFill>
                          <a:latin typeface="맑은 고딕"/>
                        </a:rPr>
                        <a:t>정민수 PM</a:t>
                      </a:r>
                    </a:p>
                  </a:txBody>
                  <a:tcPr anchor="ctr" marT="45720" marB="45720" marL="73152" marR="73152">
                    <a:solidFill>
                      <a:srgbClr val="162E52"/>
                    </a:solidFill>
                    <a:lnL w="6350" cmpd="sng">
                      <a:solidFill>
                        <a:srgbClr val="475569"/>
                      </a:solidFill>
                    </a:lnL>
                    <a:lnR w="6350" cmpd="sng">
                      <a:solidFill>
                        <a:srgbClr val="475569"/>
                      </a:solidFill>
                    </a:lnR>
                    <a:lnT w="6350" cmpd="sng">
                      <a:solidFill>
                        <a:srgbClr val="475569"/>
                      </a:solidFill>
                    </a:lnT>
                    <a:lnB w="6350" cmpd="sng">
                      <a:solidFill>
                        <a:srgbClr val="475569"/>
                      </a:solidFill>
                    </a:lnB>
                  </a:tcPr>
                </a:tc>
              </a:tr>
              <a:tr h="468629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E2E8F0"/>
                          </a:solidFill>
                          <a:latin typeface="맑은 고딕"/>
                        </a:rPr>
                        <a:t>검 토 자</a:t>
                      </a:r>
                    </a:p>
                  </a:txBody>
                  <a:tcPr anchor="ctr" marT="45720" marB="45720" marL="73152" marR="73152">
                    <a:solidFill>
                      <a:srgbClr val="1E3A5F"/>
                    </a:solidFill>
                    <a:lnL w="6350" cmpd="sng">
                      <a:solidFill>
                        <a:srgbClr val="475569"/>
                      </a:solidFill>
                    </a:lnL>
                    <a:lnR w="6350" cmpd="sng">
                      <a:solidFill>
                        <a:srgbClr val="475569"/>
                      </a:solidFill>
                    </a:lnR>
                    <a:lnT w="6350" cmpd="sng">
                      <a:solidFill>
                        <a:srgbClr val="475569"/>
                      </a:solidFill>
                    </a:lnT>
                    <a:lnB w="6350" cmpd="sng">
                      <a:solidFill>
                        <a:srgbClr val="47556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FFFFFF"/>
                          </a:solidFill>
                          <a:latin typeface="맑은 고딕"/>
                        </a:rPr>
                        <a:t>박준혁 AA</a:t>
                      </a:r>
                    </a:p>
                  </a:txBody>
                  <a:tcPr anchor="ctr" marT="45720" marB="45720" marL="73152" marR="73152">
                    <a:solidFill>
                      <a:srgbClr val="162E52"/>
                    </a:solidFill>
                    <a:lnL w="6350" cmpd="sng">
                      <a:solidFill>
                        <a:srgbClr val="475569"/>
                      </a:solidFill>
                    </a:lnL>
                    <a:lnR w="6350" cmpd="sng">
                      <a:solidFill>
                        <a:srgbClr val="475569"/>
                      </a:solidFill>
                    </a:lnR>
                    <a:lnT w="6350" cmpd="sng">
                      <a:solidFill>
                        <a:srgbClr val="475569"/>
                      </a:solidFill>
                    </a:lnT>
                    <a:lnB w="6350" cmpd="sng">
                      <a:solidFill>
                        <a:srgbClr val="47556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FFFFFF"/>
                          </a:solidFill>
                          <a:latin typeface="맑은 고딕"/>
                        </a:rPr>
                        <a:t>한승우 PM</a:t>
                      </a:r>
                    </a:p>
                  </a:txBody>
                  <a:tcPr anchor="ctr" marT="45720" marB="45720" marL="73152" marR="73152">
                    <a:solidFill>
                      <a:srgbClr val="162E52"/>
                    </a:solidFill>
                    <a:lnL w="6350" cmpd="sng">
                      <a:solidFill>
                        <a:srgbClr val="475569"/>
                      </a:solidFill>
                    </a:lnL>
                    <a:lnR w="6350" cmpd="sng">
                      <a:solidFill>
                        <a:srgbClr val="475569"/>
                      </a:solidFill>
                    </a:lnR>
                    <a:lnT w="6350" cmpd="sng">
                      <a:solidFill>
                        <a:srgbClr val="475569"/>
                      </a:solidFill>
                    </a:lnT>
                    <a:lnB w="6350" cmpd="sng">
                      <a:solidFill>
                        <a:srgbClr val="475569"/>
                      </a:solidFill>
                    </a:lnB>
                  </a:tcPr>
                </a:tc>
              </a:tr>
              <a:tr h="468632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E2E8F0"/>
                          </a:solidFill>
                          <a:latin typeface="맑은 고딕"/>
                        </a:rPr>
                        <a:t>승 인(인)</a:t>
                      </a:r>
                    </a:p>
                  </a:txBody>
                  <a:tcPr anchor="ctr" marT="45720" marB="45720" marL="73152" marR="73152">
                    <a:solidFill>
                      <a:srgbClr val="1E3A5F"/>
                    </a:solidFill>
                    <a:lnL w="6350" cmpd="sng">
                      <a:solidFill>
                        <a:srgbClr val="475569"/>
                      </a:solidFill>
                    </a:lnL>
                    <a:lnR w="6350" cmpd="sng">
                      <a:solidFill>
                        <a:srgbClr val="475569"/>
                      </a:solidFill>
                    </a:lnR>
                    <a:lnT w="6350" cmpd="sng">
                      <a:solidFill>
                        <a:srgbClr val="475569"/>
                      </a:solidFill>
                    </a:lnT>
                    <a:lnB w="6350" cmpd="sng">
                      <a:solidFill>
                        <a:srgbClr val="47556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FFFFFF"/>
                          </a:solidFill>
                          <a:latin typeface="맑은 고딕"/>
                        </a:rPr>
                        <a:t>(서명 / 인)</a:t>
                      </a:r>
                    </a:p>
                  </a:txBody>
                  <a:tcPr anchor="ctr" marT="45720" marB="45720" marL="73152" marR="73152">
                    <a:solidFill>
                      <a:srgbClr val="162E52"/>
                    </a:solidFill>
                    <a:lnL w="6350" cmpd="sng">
                      <a:solidFill>
                        <a:srgbClr val="475569"/>
                      </a:solidFill>
                    </a:lnL>
                    <a:lnR w="6350" cmpd="sng">
                      <a:solidFill>
                        <a:srgbClr val="475569"/>
                      </a:solidFill>
                    </a:lnR>
                    <a:lnT w="6350" cmpd="sng">
                      <a:solidFill>
                        <a:srgbClr val="475569"/>
                      </a:solidFill>
                    </a:lnT>
                    <a:lnB w="6350" cmpd="sng">
                      <a:solidFill>
                        <a:srgbClr val="47556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FFFFFF"/>
                          </a:solidFill>
                          <a:latin typeface="맑은 고딕"/>
                        </a:rPr>
                        <a:t>(서명 / 인)</a:t>
                      </a:r>
                    </a:p>
                  </a:txBody>
                  <a:tcPr anchor="ctr" marT="45720" marB="45720" marL="73152" marR="73152">
                    <a:solidFill>
                      <a:srgbClr val="162E52"/>
                    </a:solidFill>
                    <a:lnL w="6350" cmpd="sng">
                      <a:solidFill>
                        <a:srgbClr val="475569"/>
                      </a:solidFill>
                    </a:lnL>
                    <a:lnR w="6350" cmpd="sng">
                      <a:solidFill>
                        <a:srgbClr val="475569"/>
                      </a:solidFill>
                    </a:lnR>
                    <a:lnT w="6350" cmpd="sng">
                      <a:solidFill>
                        <a:srgbClr val="475569"/>
                      </a:solidFill>
                    </a:lnT>
                    <a:lnB w="6350" cmpd="sng">
                      <a:solidFill>
                        <a:srgbClr val="475569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8732520" y="1143000"/>
            <a:ext cx="3017520" cy="2697480"/>
          </a:xfrm>
          <a:prstGeom prst="rect">
            <a:avLst/>
          </a:prstGeom>
          <a:solidFill>
            <a:srgbClr val="0F2942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32520" y="1143000"/>
            <a:ext cx="3017520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878824" y="1280160"/>
            <a:ext cx="1252728" cy="25603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TEMPLATE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22992" y="1261872"/>
            <a:ext cx="1380743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표준 템플릿 활용 안내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78824" y="1609343"/>
            <a:ext cx="2724912" cy="21396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맑은 고딕"/>
              </a:rPr>
              <a:t>• 본 문서는 전사 표준 프로젝트 관리 템플릿이자 한빛글로벌 SyncFlow AI 실전 기준서입니다.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맑은 고딕"/>
              </a:rPr>
              <a:t>• 타 프로젝트 적용 시 표지, 문서이력, WBS/조직/인프라 표의 프로젝트 고유 항목만 교체하여 즉시 활용 가능합니다.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맑은 고딕"/>
              </a:rPr>
              <a:t>• 문서 번호 체계: [수행사코드]_MAN_[순번]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맑은 고딕"/>
              </a:rPr>
              <a:t>진도 관리 계획서   &gt;   0. 문서 이력 및 목차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01168"/>
            <a:ext cx="322783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64748B"/>
                </a:solidFill>
                <a:latin typeface="맑은 고딕"/>
              </a:rPr>
              <a:t>산출물 ID : EMP_MAN_090  |  버전 :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74552" cy="4206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100" b="1">
                <a:solidFill>
                  <a:srgbClr val="0F172A"/>
                </a:solidFill>
                <a:latin typeface="맑은 고딕"/>
              </a:rPr>
              <a:t>문서 제·개정 이력 및 목차 (Document History &amp; Contents)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77824"/>
            <a:ext cx="11274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본 계획서의 제·개정 이력과 전체 장표 구성을 정의하며, 프로젝트 규모에 따라 테일러링(Tailoring)하여 적용합니다.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6152"/>
            <a:ext cx="1127455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455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50292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한빛글로벌 SyncFlow AI 시스템 구축  |  진도 관리 계획서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55664"/>
            <a:ext cx="121615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900" b="1">
                <a:solidFill>
                  <a:srgbClr val="64748B"/>
                </a:solidFill>
                <a:latin typeface="맑은 고딕"/>
              </a:rPr>
              <a:t>2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9752" y="6455664"/>
            <a:ext cx="4572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발주사 : HANBIT GLOBAL   |   수행사 : ㈜엠파시 (Empasy Inc.)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353312"/>
            <a:ext cx="55778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맑은 고딕"/>
              </a:rPr>
              <a:t>■ 문서 제·개정 이력 (Revision History)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1691640"/>
          <a:ext cx="562356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960120"/>
                <a:gridCol w="1005840"/>
                <a:gridCol w="2148840"/>
                <a:gridCol w="914400"/>
              </a:tblGrid>
              <a:tr h="58293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버전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개정일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주요 제·개정 내역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</a:rPr>
                        <a:t>작성/승인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58293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0F2942"/>
                          </a:solidFill>
                          <a:latin typeface="맑은 고딕"/>
                        </a:rPr>
                        <a:t>v0.9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2026-10-15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초안 작성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공공 SW사업 진도관리 지침 및 WBS(EMP_INT_020) 기준 진도관리 계획 수립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김태윤 PM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58293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0F2942"/>
                          </a:solidFill>
                          <a:latin typeface="맑은 고딕"/>
                        </a:rPr>
                        <a:t>v1.0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2026-10-16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착수 승인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5대 공정 단계 가중치(10/15/40/20/15%) 및 6대 마일스톤(M1~M6) 확정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김태윤 / 정민수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58293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1">
                          <a:solidFill>
                            <a:srgbClr val="0F2942"/>
                          </a:solidFill>
                          <a:latin typeface="맑은 고딕"/>
                        </a:rPr>
                        <a:t>v1.1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2026-10-28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실측 반영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WBS v1.1 초기 진도 실측치(계획 1.0% vs 실적 1.2%) 및 지연 만회 템플릿 반영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0F2942"/>
                          </a:solidFill>
                          <a:latin typeface="맑은 고딕"/>
                        </a:rPr>
                        <a:t>이지훈 PMO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457200" y="4187952"/>
            <a:ext cx="5623560" cy="2057400"/>
          </a:xfrm>
          <a:prstGeom prst="rect">
            <a:avLst/>
          </a:prstGeom>
          <a:solidFill>
            <a:srgbClr val="EEF3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187952"/>
            <a:ext cx="5623560" cy="640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3504" y="4325112"/>
            <a:ext cx="868680" cy="256032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작성 지침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63624" y="4306824"/>
            <a:ext cx="437083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0F172A"/>
                </a:solidFill>
                <a:latin typeface="맑은 고딕"/>
              </a:rPr>
              <a:t>타 프로젝트 재활용 및 테일러링(Tailoring) 작성 지침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" y="4654296"/>
            <a:ext cx="5330952" cy="149961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F2942"/>
                </a:solidFill>
                <a:latin typeface="맑은 고딕"/>
              </a:rPr>
              <a:t>1. 프로젝트 규모별 적용 기준 : 대형(L, 5억↑/6개월↑) 전 항목 필수(M), 중형(M) 핵심 항목 필수, 소형(S) 약식 통합 적용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F2942"/>
                </a:solidFill>
                <a:latin typeface="맑은 고딕"/>
              </a:rPr>
              <a:t>2. 기준선(Baseline) 설정 : 착수보고회 및 M1 설계승인 시점에 본 계획서의 지표를 확정하고 변경 시 양사 PM 합의 필수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F2942"/>
                </a:solidFill>
                <a:latin typeface="맑은 고딕"/>
              </a:rPr>
              <a:t>3. 교체 필수 항목 : SyncFlow AI 시스템 구축 사업, [발주사/수행사 조직], [사업기간 및 M1~M6 일정], [산출물 ID 체계], [인력/인프라 수량]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F2942"/>
                </a:solidFill>
                <a:latin typeface="맑은 고딕"/>
              </a:rPr>
              <a:t>4. 연계 문서 : 사업수행계획서(EMP_INT_010), WBS(EMP_INT_020), 주간보고서(EMP_MAN_010), 투입공수(EMP_MAN_050)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1353312"/>
            <a:ext cx="5422392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맑은 고딕"/>
              </a:rPr>
              <a:t>■ 목차 및 장표 구성 (Table of Contents)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1691640"/>
            <a:ext cx="542239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1691640"/>
            <a:ext cx="594360" cy="5486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1819656"/>
            <a:ext cx="5943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1737360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맑은 고딕"/>
              </a:rPr>
              <a:t>1. 진도 관리 목적 및 3각 동기화 원칙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22592" y="1965960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맑은 고딕"/>
              </a:rPr>
              <a:t>WBS × 주간보고 × 월별투입공수 1:1 연동 및 산출물 기반 완료 인정 원칙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1837944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1D4ED8"/>
                </a:solidFill>
                <a:latin typeface="맑은 고딕"/>
              </a:rPr>
              <a:t>3쪽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2295144"/>
            <a:ext cx="5422392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2295144"/>
            <a:ext cx="594360" cy="5486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2423160"/>
            <a:ext cx="5943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22592" y="2340863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맑은 고딕"/>
              </a:rPr>
              <a:t>2. 5대 공정 단계별 가중치 및 마일스톤 기준선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22592" y="2569463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맑은 고딕"/>
              </a:rPr>
              <a:t>분석(10%)·설계(15%)·구현(40%)·시험(20%)·이행(15%) 및 M1~M6 Gate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18520" y="2441448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1D4ED8"/>
                </a:solidFill>
                <a:latin typeface="맑은 고딕"/>
              </a:rPr>
              <a:t>4쪽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2898648"/>
            <a:ext cx="542239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60" y="2898648"/>
            <a:ext cx="594360" cy="5486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3026664"/>
            <a:ext cx="5943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22592" y="2944368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맑은 고딕"/>
              </a:rPr>
              <a:t>3. 단위 작업(Task) 진척률 측정 산식 및 인정 기준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22592" y="3172968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맑은 고딕"/>
              </a:rPr>
              <a:t>문서 산출물(0/30/70/100%) 및 개발 모듈(0/40/80/100%) 객관적 측정 규칙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18520" y="3044952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1D4ED8"/>
                </a:solidFill>
                <a:latin typeface="맑은 고딕"/>
              </a:rPr>
              <a:t>5쪽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3502152"/>
            <a:ext cx="5422392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09360" y="3502152"/>
            <a:ext cx="594360" cy="5486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0" y="3630168"/>
            <a:ext cx="5943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Ⅳ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22592" y="3547872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맑은 고딕"/>
              </a:rPr>
              <a:t>4. 프로젝트 진도 현황 대시보드 및 S-Curve 모델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22592" y="3776472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맑은 고딕"/>
              </a:rPr>
              <a:t>12대 핵심 과업 가중치·현재 실적(1.2%) 및 월별 누적 계획 공정률 추이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18520" y="3648456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1D4ED8"/>
                </a:solidFill>
                <a:latin typeface="맑은 고딕"/>
              </a:rPr>
              <a:t>6쪽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4105656"/>
            <a:ext cx="542239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09360" y="4105656"/>
            <a:ext cx="594360" cy="5486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0" y="4233672"/>
            <a:ext cx="5943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22592" y="4151376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맑은 고딕"/>
              </a:rPr>
              <a:t>5. 진도 편차(SV) 3단계 신호등 임계치 및 대응 체계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22592" y="4379976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맑은 고딕"/>
              </a:rPr>
              <a:t>양호(-5%p 이내) / 보통(-5~-10%p) / 미흡(-10%p 이상) 단계별 조치 프로토콜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18520" y="4251960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1D4ED8"/>
                </a:solidFill>
                <a:latin typeface="맑은 고딕"/>
              </a:rPr>
              <a:t>7쪽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09360" y="4709160"/>
            <a:ext cx="5422392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309360" y="4709160"/>
            <a:ext cx="594360" cy="5486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09360" y="4837176"/>
            <a:ext cx="5943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Ⅵ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22592" y="4754880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맑은 고딕"/>
              </a:rPr>
              <a:t>6. AI 과제 특화 진도·품질 결합 Gate 검증 기준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22592" y="4983480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맑은 고딕"/>
              </a:rPr>
              <a:t>기능 진도율 + AI 정량 품질(검출률 95%+, 일치율 90%+) 동시 충족 원칙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018520" y="4855464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1D4ED8"/>
                </a:solidFill>
                <a:latin typeface="맑은 고딕"/>
              </a:rPr>
              <a:t>8쪽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0" y="5312664"/>
            <a:ext cx="542239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309360" y="5312664"/>
            <a:ext cx="594360" cy="5486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09360" y="5440679"/>
            <a:ext cx="5943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Ⅶ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22592" y="5358383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맑은 고딕"/>
              </a:rPr>
              <a:t>7. 주간·월간 진도 점검 사이클 및 일정 변경 통제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22592" y="5586983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맑은 고딕"/>
              </a:rPr>
              <a:t>매주 WBS 갱신 사이클 및 기준선(Baseline) 변경 승인 프로세스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018520" y="5458968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1D4ED8"/>
                </a:solidFill>
                <a:latin typeface="맑은 고딕"/>
              </a:rPr>
              <a:t>9쪽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09360" y="5916167"/>
            <a:ext cx="5422392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309360" y="5916167"/>
            <a:ext cx="594360" cy="5486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09360" y="6044183"/>
            <a:ext cx="5943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Ⅷ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022592" y="5961887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맑은 고딕"/>
              </a:rPr>
              <a:t>8. 지연 과업 만회 대책서(Catch-up Plan) 템플릿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022592" y="6190487"/>
            <a:ext cx="3977639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64748B"/>
                </a:solidFill>
                <a:latin typeface="맑은 고딕"/>
              </a:rPr>
              <a:t>지연 발생 시 원인 분석·병렬투입·일정 만회 계획을 수립하는 표준 양식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018520" y="6062471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1D4ED8"/>
                </a:solidFill>
                <a:latin typeface="맑은 고딕"/>
              </a:rPr>
              <a:t>10쪽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맑은 고딕"/>
              </a:rPr>
              <a:t>진도 관리 계획서   &gt;   1. 진도 관리 목적 및 기본 원칙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01168"/>
            <a:ext cx="322783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64748B"/>
                </a:solidFill>
                <a:latin typeface="맑은 고딕"/>
              </a:rPr>
              <a:t>산출물 ID : EMP_MAN_090  |  버전 :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74552" cy="4206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100" b="1">
                <a:solidFill>
                  <a:srgbClr val="0F172A"/>
                </a:solidFill>
                <a:latin typeface="맑은 고딕"/>
              </a:rPr>
              <a:t>1. 진도 관리 기본 원칙 및 3대 관리 문서 동기화 체계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77824"/>
            <a:ext cx="11274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주관적 추정에 의한 진도율 부풀리기(90% 증후군)를 원천 배제하고, 검증 가능한 산출물과 실측 데이터에 기반하여 진도를 통제합니다.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6152"/>
            <a:ext cx="1127455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455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50292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한빛글로벌 SyncFlow AI 시스템 구축  |  진도 관리 계획서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55664"/>
            <a:ext cx="121615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900" b="1">
                <a:solidFill>
                  <a:srgbClr val="64748B"/>
                </a:solidFill>
                <a:latin typeface="맑은 고딕"/>
              </a:rPr>
              <a:t>3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9752" y="6455664"/>
            <a:ext cx="4572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발주사 : HANBIT GLOBAL   |   수행사 : ㈜엠파시 (Empasy Inc.)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5559552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371600"/>
            <a:ext cx="5559552" cy="64008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508760"/>
            <a:ext cx="3429000" cy="256032"/>
          </a:xfrm>
          <a:prstGeom prst="round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WBS · 주간보고 · 월별투입공수 완벽 일치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23944" y="1490472"/>
            <a:ext cx="1746503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맑은 고딕"/>
              </a:rPr>
              <a:t>01 3대 관리 대장 1:1 동기화 (Tri-Sync)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1837943"/>
            <a:ext cx="5266944" cy="14996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0F2942"/>
                </a:solidFill>
                <a:latin typeface="맑은 고딕"/>
              </a:rPr>
              <a:t>• 작업분할구조도 WBS(EMP_INT_020)의 계획/실적 진도율을 주간업무보고서(EMP_MAN_010)에 매주 금요일 1:1 자동 반영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0F2942"/>
                </a:solidFill>
                <a:latin typeface="맑은 고딕"/>
              </a:rPr>
              <a:t>• 월별투입공수 관리대장(EMP_MAN_050)의 실제 투입 M/M와 공정 진행률을 교차 대조하여 생산성 편차 분석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0F2942"/>
                </a:solidFill>
                <a:latin typeface="맑은 고딕"/>
              </a:rPr>
              <a:t>• 문서 간 수치 불일치 발생을 원천 차단하기 위해 WBS 마스터 시트를 유일한 진도 산출 원천(SSOT)으로 지정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1371600"/>
            <a:ext cx="5559552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1371600"/>
            <a:ext cx="5559552" cy="640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18504" y="1508760"/>
            <a:ext cx="3044952" cy="256032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주관적 구두 보고 배제 · 실물 증거주의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54896" y="1490472"/>
            <a:ext cx="2130551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맑은 고딕"/>
              </a:rPr>
              <a:t>02 산출물·검증 기반 진도 인정 (Earned Progress)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8504" y="1837943"/>
            <a:ext cx="5266944" cy="14996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0F2942"/>
                </a:solidFill>
                <a:latin typeface="맑은 고딕"/>
              </a:rPr>
              <a:t>• 담당자의 주관적 체감 진도('거의 다 됐음 90%')를 불인정하고, 산출물 상태와 테스트 통과 여부에 따른 단계별 가중치만 부여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0F2942"/>
                </a:solidFill>
                <a:latin typeface="맑은 고딕"/>
              </a:rPr>
              <a:t>• 모든 단위 작업(Work Package)은 발주사 검토 완료 또는 통합테스트 통과 시에만 최종 100% 완료로 인정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0F2942"/>
                </a:solidFill>
                <a:latin typeface="맑은 고딕"/>
              </a:rPr>
              <a:t>• 1주~2주 단위로 쪼개진 세부 활동(Activity) 단위로 진도를 측정하여 미세 지연을 조기에 포착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584448"/>
            <a:ext cx="5559552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584448"/>
            <a:ext cx="5559552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03504" y="3721608"/>
            <a:ext cx="3300984" cy="25603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전체 오픈일을 좌우하는 핵심 병목 과업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95928" y="3703320"/>
            <a:ext cx="1874519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맑은 고딕"/>
              </a:rPr>
              <a:t>03 임계 경로(Critical Path) 집중 통제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" y="4050792"/>
            <a:ext cx="5266944" cy="149961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0F2942"/>
                </a:solidFill>
                <a:latin typeface="맑은 고딕"/>
              </a:rPr>
              <a:t>• 3단계 AI 판정 엔진(규칙+RAG+LLM), PLM-Nexus 시험검증DB 연계, 사내 SSO/SRM-Portal 방화벽 개통을 핵심 임계 경로로 지정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0F2942"/>
                </a:solidFill>
                <a:latin typeface="맑은 고딕"/>
              </a:rPr>
              <a:t>• 임계 경로 상의 과업은 단 1일의 지연도 후속 통합테스트(M5)에 직접 파급되므로 주 2회 집중 모니터링 수행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0F2942"/>
                </a:solidFill>
                <a:latin typeface="맑은 고딕"/>
              </a:rPr>
              <a:t>• 외부 의존성(인프라/계정/인터페이스) 지연 시 대체 Mock 서버를 선행 가동하여 개발 블로커 제거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3584448"/>
            <a:ext cx="5559552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2200" y="3584448"/>
            <a:ext cx="5559552" cy="640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18504" y="3721608"/>
            <a:ext cx="3813048" cy="25603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-5%p 주의 / -10%p 위험 신호등 자동 경보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22992" y="3703320"/>
            <a:ext cx="1362455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맑은 고딕"/>
              </a:rPr>
              <a:t>04 정량적 편차 임계치 및 즉시 만회 (Catch-up)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18504" y="4050792"/>
            <a:ext cx="5266944" cy="149961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0F2942"/>
                </a:solidFill>
                <a:latin typeface="맑은 고딕"/>
              </a:rPr>
              <a:t>• 계획 진도율 대비 실적 진도율 차이(SV = 실적% - 계획%)를 매주 산출하여 3단계 신호등(양호/보통/미흡) 부여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0F2942"/>
                </a:solidFill>
                <a:latin typeface="맑은 고딕"/>
              </a:rPr>
              <a:t>• 편차 -5%p 초과 시 리스크 등록 및 선행 병렬 작업(Fast-Tracking) 가동, -10%p 초과 시 추가 인력 투입(Crashing)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0F2942"/>
                </a:solidFill>
                <a:latin typeface="맑은 고딕"/>
              </a:rPr>
              <a:t>• 차주 주간보고 시 반드시 '지연 과업 만회 대책서'를 첨부하여 2주 이내 계획선(Baseline) 복귀 강제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779008"/>
            <a:ext cx="11274552" cy="502920"/>
          </a:xfrm>
          <a:prstGeom prst="rect">
            <a:avLst/>
          </a:prstGeom>
          <a:solidFill>
            <a:srgbClr val="EEF3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5779008"/>
            <a:ext cx="91440" cy="5029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5852160"/>
            <a:ext cx="109270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0F172A"/>
                </a:solidFill>
                <a:latin typeface="맑은 고딕"/>
              </a:rPr>
              <a:t>진도 관리 핵심 산식 : 전체 공정률(%) = Σ [단계별 가중치(%) × 단계 내 세부 과업 실적 진도율(%)]  |  달성률(%) = (실적 공정률 ÷ 계획 공정률) × 100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맑은 고딕"/>
              </a:rPr>
              <a:t>진도 관리 계획서   &gt;   2. 공정 단계별 가중치 및 마일스톤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01168"/>
            <a:ext cx="322783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64748B"/>
                </a:solidFill>
                <a:latin typeface="맑은 고딕"/>
              </a:rPr>
              <a:t>산출물 ID : EMP_MAN_090  |  버전 :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74552" cy="4206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100" b="1">
                <a:solidFill>
                  <a:srgbClr val="0F172A"/>
                </a:solidFill>
                <a:latin typeface="맑은 고딕"/>
              </a:rPr>
              <a:t>2. 5대 공정 단계별 표준 가중치 배분 및 6대 마일스톤(M1~M6) 기준선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77824"/>
            <a:ext cx="11274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총 사업 기간(2026.10.16 ~ 2027.05.31, 33주)의 투입 공수와 과업 난이도를 반영하여 5대 단계별 가중치(합계 100%)를 설정하였습니다.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6152"/>
            <a:ext cx="1127455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455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50292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한빛글로벌 SyncFlow AI 시스템 구축  |  진도 관리 계획서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55664"/>
            <a:ext cx="121615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900" b="1">
                <a:solidFill>
                  <a:srgbClr val="64748B"/>
                </a:solidFill>
                <a:latin typeface="맑은 고딕"/>
              </a:rPr>
              <a:t>4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9752" y="6455664"/>
            <a:ext cx="4572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발주사 : HANBIT GLOBAL   |   수행사 : ㈜엠파시 (Empasy Inc.)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371600"/>
          <a:ext cx="11274552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1508760"/>
                <a:gridCol w="1737360"/>
                <a:gridCol w="1005840"/>
                <a:gridCol w="1005840"/>
                <a:gridCol w="1508760"/>
                <a:gridCol w="3639312"/>
              </a:tblGrid>
              <a:tr h="47244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WBS 코드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공정 단계명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수행 기간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단계 가중치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누적 가중치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연계 마일스톤 (Gate)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핵심 완료 조건 및 승인 산출물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0F2942"/>
                          </a:solidFill>
                          <a:latin typeface="맑은 고딕"/>
                        </a:rPr>
                        <a:t>1.0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0F2942"/>
                          </a:solidFill>
                          <a:latin typeface="맑은 고딕"/>
                        </a:rPr>
                        <a:t>1. 분석 및 기획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2026.10.16 ~ 2026.11.20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0F2942"/>
                          </a:solidFill>
                          <a:latin typeface="맑은 고딕"/>
                        </a:rPr>
                        <a:t>10.0%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10.0%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착수 (10/19)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분석완료 (11월중)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요구사항정의서(43개 기능), 추적표(RTVM), AS-IS 분석, 4대 연계규격협의서 확정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0F2942"/>
                          </a:solidFill>
                          <a:latin typeface="맑은 고딕"/>
                        </a:rPr>
                        <a:t>2.0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0F2942"/>
                          </a:solidFill>
                          <a:latin typeface="맑은 고딕"/>
                        </a:rPr>
                        <a:t>2. 상세 설계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2026.11.02 ~ 2026.12.18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0F2942"/>
                          </a:solidFill>
                          <a:latin typeface="맑은 고딕"/>
                        </a:rPr>
                        <a:t>15.0%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25.0%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M1 설계승인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(2026.11월 말)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화면설계서(DEG_050), 아키텍처(DEG_090), 물리/논리DB, AI 판정/프롬프트 설계 승인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0F2942"/>
                          </a:solidFill>
                          <a:latin typeface="맑은 고딕"/>
                        </a:rPr>
                        <a:t>3.0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0F2942"/>
                          </a:solidFill>
                          <a:latin typeface="맑은 고딕"/>
                        </a:rPr>
                        <a:t>3. 구현 및 연계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2026.12.01 ~ 2027.03.31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0F2942"/>
                          </a:solidFill>
                          <a:latin typeface="맑은 고딕"/>
                        </a:rPr>
                        <a:t>40.0%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65.0%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M2·M3 (1월말)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M4 구현완료 (3월말)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3단계 AI 엔진, 100대 규칙사전, Side-by-Side 뷰어, PLM-Nexus 시험검증DB 및 SSO/SRM-Portal 연계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0F2942"/>
                          </a:solidFill>
                          <a:latin typeface="맑은 고딕"/>
                        </a:rPr>
                        <a:t>4.0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0F2942"/>
                          </a:solidFill>
                          <a:latin typeface="맑은 고딕"/>
                        </a:rPr>
                        <a:t>4. 시험 및 검증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2027.03.15 ~ 2027.04.30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0F2942"/>
                          </a:solidFill>
                          <a:latin typeface="맑은 고딕"/>
                        </a:rPr>
                        <a:t>20.0%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85.0%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M5 파일럿완료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(2027.04.30)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단위/통합테스트 100%, 보안/성능시험 통과, 골든셋(검출률 95%+, 일치율 90%+) 현업 검증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0F2942"/>
                          </a:solidFill>
                          <a:latin typeface="맑은 고딕"/>
                        </a:rPr>
                        <a:t>5.0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0F2942"/>
                          </a:solidFill>
                          <a:latin typeface="맑은 고딕"/>
                        </a:rPr>
                        <a:t>5. 이행 및 안정화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2027.04.26 ~ 2027.05.31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0F2942"/>
                          </a:solidFill>
                          <a:latin typeface="맑은 고딕"/>
                        </a:rPr>
                        <a:t>15.0%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100.0%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M6 그랜드오픈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(2027.05.31)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상용 컷오버 이행, 시범운영/교육 완료, 28종 산출물 인수인계 및 최종 검수확인서 날인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57200" y="4389120"/>
            <a:ext cx="176479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4389120"/>
            <a:ext cx="1764792" cy="64008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3504" y="4526280"/>
            <a:ext cx="1472184" cy="256032"/>
          </a:xfrm>
          <a:prstGeom prst="round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2026. 11월 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67128" y="4507992"/>
            <a:ext cx="-9144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맑은 고딕"/>
              </a:rPr>
              <a:t>M1 설계승인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" y="4855464"/>
            <a:ext cx="1472184" cy="127101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0F2942"/>
                </a:solidFill>
                <a:latin typeface="맑은 고딕"/>
              </a:rPr>
              <a:t>목표 누적 20%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0F2942"/>
                </a:solidFill>
                <a:latin typeface="맑은 고딕"/>
              </a:rPr>
              <a:t>요구사항·UI·DB·AI 설계 확정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59152" y="4389120"/>
            <a:ext cx="176479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59152" y="4389120"/>
            <a:ext cx="1764792" cy="640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505456" y="4526280"/>
            <a:ext cx="1472184" cy="256032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2027. 01월 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9079" y="4507992"/>
            <a:ext cx="-9144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맑은 고딕"/>
              </a:rPr>
              <a:t>M2 엔진검증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05456" y="4855464"/>
            <a:ext cx="1472184" cy="127101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0F2942"/>
                </a:solidFill>
                <a:latin typeface="맑은 고딕"/>
              </a:rPr>
              <a:t>목표 누적 42%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0F2942"/>
                </a:solidFill>
                <a:latin typeface="맑은 고딕"/>
              </a:rPr>
              <a:t>3단계 AI 엔진·100대 규칙 검증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61104" y="4389120"/>
            <a:ext cx="176479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61104" y="4389120"/>
            <a:ext cx="1764792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407408" y="4526280"/>
            <a:ext cx="1472184" cy="25603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2027. 01월 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71031" y="4507992"/>
            <a:ext cx="-9144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맑은 고딕"/>
              </a:rPr>
              <a:t>M3 시험검증DB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07408" y="4855464"/>
            <a:ext cx="1472184" cy="127101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0F2942"/>
                </a:solidFill>
                <a:latin typeface="맑은 고딕"/>
              </a:rPr>
              <a:t>목표 누적 45%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0F2942"/>
                </a:solidFill>
                <a:latin typeface="맑은 고딕"/>
              </a:rPr>
              <a:t>PLM-Nexus 시험성적서 DB 연동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3056" y="4389120"/>
            <a:ext cx="176479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63056" y="4389120"/>
            <a:ext cx="1764792" cy="640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309360" y="4526280"/>
            <a:ext cx="1472184" cy="256032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2027. 03월 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72983" y="4507992"/>
            <a:ext cx="-9144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맑은 고딕"/>
              </a:rPr>
              <a:t>M4 구현완료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4855464"/>
            <a:ext cx="1472184" cy="127101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0F2942"/>
                </a:solidFill>
                <a:latin typeface="맑은 고딕"/>
              </a:rPr>
              <a:t>목표 누적 65%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0F2942"/>
                </a:solidFill>
                <a:latin typeface="맑은 고딕"/>
              </a:rPr>
              <a:t>43개 전 기능·뷰어·연계 완비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65008" y="4389120"/>
            <a:ext cx="176479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65008" y="4389120"/>
            <a:ext cx="1764792" cy="640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211312" y="4526280"/>
            <a:ext cx="1472184" cy="25603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2027. 04. 30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74936" y="4507992"/>
            <a:ext cx="-9144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맑은 고딕"/>
              </a:rPr>
              <a:t>M5 파일럿완료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2" y="4855464"/>
            <a:ext cx="1472184" cy="127101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0F2942"/>
                </a:solidFill>
                <a:latin typeface="맑은 고딕"/>
              </a:rPr>
              <a:t>목표 누적 85%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0F2942"/>
                </a:solidFill>
                <a:latin typeface="맑은 고딕"/>
              </a:rPr>
              <a:t>골든셋(95%/90%) 현업 UAT 통과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966960" y="4389120"/>
            <a:ext cx="176479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966960" y="4389120"/>
            <a:ext cx="1764792" cy="640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0113264" y="4526280"/>
            <a:ext cx="1472184" cy="256032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2027. 05. 31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676888" y="4507992"/>
            <a:ext cx="-9144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맑은 고딕"/>
              </a:rPr>
              <a:t>M6 그랜드오픈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13264" y="4855464"/>
            <a:ext cx="1472184" cy="1271015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0F2942"/>
                </a:solidFill>
                <a:latin typeface="맑은 고딕"/>
              </a:rPr>
              <a:t>목표 누적 100%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0F2942"/>
                </a:solidFill>
                <a:latin typeface="맑은 고딕"/>
              </a:rPr>
              <a:t>상용 가동·교육·최종 검수 완료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맑은 고딕"/>
              </a:rPr>
              <a:t>진도 관리 계획서   &gt;   3. 진척률 측정 산식 및 완료 인정 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01168"/>
            <a:ext cx="322783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64748B"/>
                </a:solidFill>
                <a:latin typeface="맑은 고딕"/>
              </a:rPr>
              <a:t>산출물 ID : EMP_MAN_090  |  버전 :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74552" cy="4206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100" b="1">
                <a:solidFill>
                  <a:srgbClr val="0F172A"/>
                </a:solidFill>
                <a:latin typeface="맑은 고딕"/>
              </a:rPr>
              <a:t>3. 과업 유형별(문서 산출물 vs SW/AI 개발 모듈) 진척률 객관화 측정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77824"/>
            <a:ext cx="11274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담당자의 자의적 판단을 배제하기 위해 과업 산출물의 상태(Milestone Step)에 따라 인정 진도율을 정량적으로 고정합니다.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6152"/>
            <a:ext cx="1127455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455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50292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한빛글로벌 SyncFlow AI 시스템 구축  |  진도 관리 계획서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55664"/>
            <a:ext cx="121615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900" b="1">
                <a:solidFill>
                  <a:srgbClr val="64748B"/>
                </a:solidFill>
                <a:latin typeface="맑은 고딕"/>
              </a:rPr>
              <a:t>5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9752" y="6455664"/>
            <a:ext cx="4572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발주사 : HANBIT GLOBAL   |   수행사 : ㈜엠파시 (Empasy Inc.)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553212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371600"/>
            <a:ext cx="5532120" cy="64008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508760"/>
            <a:ext cx="1892808" cy="256032"/>
          </a:xfrm>
          <a:prstGeom prst="round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DOCUMENT RULE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87752" y="1490472"/>
            <a:ext cx="3255263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80" b="1">
                <a:solidFill>
                  <a:srgbClr val="0F172A"/>
                </a:solidFill>
                <a:latin typeface="맑은 고딕"/>
              </a:rPr>
              <a:t>유형 A : 기획 · 분석 · 설계 · 관리 문서 산출물 (0 / 30 / 70 / 90 / 100% Rule)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1837943"/>
            <a:ext cx="5239512" cy="36941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30" b="0">
                <a:solidFill>
                  <a:srgbClr val="0F2942"/>
                </a:solidFill>
                <a:latin typeface="맑은 고딕"/>
              </a:rPr>
              <a:t>■ 0% (착수 전 / 준비 중)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30" b="0">
                <a:solidFill>
                  <a:srgbClr val="0F2942"/>
                </a:solidFill>
                <a:latin typeface="맑은 고딕"/>
              </a:rPr>
              <a:t>• 목차 구성 또는 기초 자료 수집 단계 (초안 문서 미생성 상태)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30" b="0">
                <a:solidFill>
                  <a:srgbClr val="0F2942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30" b="0">
                <a:solidFill>
                  <a:srgbClr val="0F2942"/>
                </a:solidFill>
                <a:latin typeface="맑은 고딕"/>
              </a:rPr>
              <a:t>■ 30% (초안 작성 중 - Draft v0.1 ~ v0.4)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30" b="0">
                <a:solidFill>
                  <a:srgbClr val="0F2942"/>
                </a:solidFill>
                <a:latin typeface="맑은 고딕"/>
              </a:rPr>
              <a:t>• 표준 템플릿에 맞춰 주요 챕터 초안이 50% 이상 작성된 상태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30" b="0">
                <a:solidFill>
                  <a:srgbClr val="0F2942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30" b="0">
                <a:solidFill>
                  <a:srgbClr val="0F2942"/>
                </a:solidFill>
                <a:latin typeface="맑은 고딕"/>
              </a:rPr>
              <a:t>■ 70% (내부 동료 검토 및 PMO 검수 완료 - v0.5 ~ v0.8)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30" b="0">
                <a:solidFill>
                  <a:srgbClr val="0F2942"/>
                </a:solidFill>
                <a:latin typeface="맑은 고딕"/>
              </a:rPr>
              <a:t>• 전체 항목 작성을 완료하고 총괄 AA 동료 검토 및 PMO 품질 검수를 통과한 상태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30" b="0">
                <a:solidFill>
                  <a:srgbClr val="0F2942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30" b="0">
                <a:solidFill>
                  <a:srgbClr val="0F2942"/>
                </a:solidFill>
                <a:latin typeface="맑은 고딕"/>
              </a:rPr>
              <a:t>■ 90% (발주사 공식 제출 및 리뷰 상정 - Review v0.9)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30" b="0">
                <a:solidFill>
                  <a:srgbClr val="0F2942"/>
                </a:solidFill>
                <a:latin typeface="맑은 고딕"/>
              </a:rPr>
              <a:t>• 발주사(현업/기술 PM, 품질법무검증팀)에 공식 제출되어 검토 회의가 진행 중인 상태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30" b="0">
                <a:solidFill>
                  <a:srgbClr val="0F2942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30" b="0">
                <a:solidFill>
                  <a:srgbClr val="0F2942"/>
                </a:solidFill>
                <a:latin typeface="맑은 고딕"/>
              </a:rPr>
              <a:t>■ 100% (발주사 피드백 반영 및 최종 승인 완료 - Baseline v1.0)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30" b="0">
                <a:solidFill>
                  <a:srgbClr val="0F2942"/>
                </a:solidFill>
                <a:latin typeface="맑은 고딕"/>
              </a:rPr>
              <a:t>• 고객 보완 요청사항을 100% 반영하여 공식 승인(구글 드라이브 정식 등재)된 상태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2" y="1371600"/>
            <a:ext cx="553212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9632" y="1371600"/>
            <a:ext cx="5532120" cy="640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1508760"/>
            <a:ext cx="2276856" cy="256032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DEVELOPMENT RULE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14232" y="1490472"/>
            <a:ext cx="2871215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80" b="1">
                <a:solidFill>
                  <a:srgbClr val="0F172A"/>
                </a:solidFill>
                <a:latin typeface="맑은 고딕"/>
              </a:rPr>
              <a:t>유형 B : 응용 SW · AI 엔진 · 인터페이스 개발 과업 (0 / 20 / 50 / 80 / 100% Rule)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1837943"/>
            <a:ext cx="5239512" cy="36941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30" b="0">
                <a:solidFill>
                  <a:srgbClr val="0F2942"/>
                </a:solidFill>
                <a:latin typeface="맑은 고딕"/>
              </a:rPr>
              <a:t>■ 0% (미착수)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30" b="0">
                <a:solidFill>
                  <a:srgbClr val="0F2942"/>
                </a:solidFill>
                <a:latin typeface="맑은 고딕"/>
              </a:rPr>
              <a:t>• 설계서 검토 중이거나 개발 브랜치/환경 미생성 상태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30" b="0">
                <a:solidFill>
                  <a:srgbClr val="0F2942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30" b="0">
                <a:solidFill>
                  <a:srgbClr val="0F2942"/>
                </a:solidFill>
                <a:latin typeface="맑은 고딕"/>
              </a:rPr>
              <a:t>■ 20% (기본 구조 및 스켈레톤 구현)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30" b="0">
                <a:solidFill>
                  <a:srgbClr val="0F2942"/>
                </a:solidFill>
                <a:latin typeface="맑은 고딕"/>
              </a:rPr>
              <a:t>• DB 테이블(DDL), API 엔드포인트 인터페이스, 화면 기본 레이아웃 생성 완료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30" b="0">
                <a:solidFill>
                  <a:srgbClr val="0F2942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30" b="0">
                <a:solidFill>
                  <a:srgbClr val="0F2942"/>
                </a:solidFill>
                <a:latin typeface="맑은 고딕"/>
              </a:rPr>
              <a:t>■ 50% (핵심 비즈니스/AI 로직 코딩 완료)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30" b="0">
                <a:solidFill>
                  <a:srgbClr val="0F2942"/>
                </a:solidFill>
                <a:latin typeface="맑은 고딕"/>
              </a:rPr>
              <a:t>• 주요 기능 로직(규칙 매칭, RAG 검색, 프롬프트 호출, 화면 이벤트) 로컬 구현 완료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30" b="0">
                <a:solidFill>
                  <a:srgbClr val="0F2942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30" b="0">
                <a:solidFill>
                  <a:srgbClr val="0F2942"/>
                </a:solidFill>
                <a:latin typeface="맑은 고딕"/>
              </a:rPr>
              <a:t>■ 80% (개발계 배포 및 단위 테스트 통과)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30" b="0">
                <a:solidFill>
                  <a:srgbClr val="0F2942"/>
                </a:solidFill>
                <a:latin typeface="맑은 고딕"/>
              </a:rPr>
              <a:t>• DEV 클러스터(EKS) 배포 완료 및 개발자 단위테스트케이스(TST_010) 100% 통과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30" b="0">
                <a:solidFill>
                  <a:srgbClr val="0F2942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30" b="0">
                <a:solidFill>
                  <a:srgbClr val="0F2942"/>
                </a:solidFill>
                <a:latin typeface="맑은 고딕"/>
              </a:rPr>
              <a:t>■ 100% (통합/연계 테스트 통과 및 결함 조치 완료)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30" b="0">
                <a:solidFill>
                  <a:srgbClr val="0F2942"/>
                </a:solidFill>
                <a:latin typeface="맑은 고딕"/>
              </a:rPr>
              <a:t>• STG 환경 통합테스트(TST_020) 및 현업/QA 검수 통과 (Critical/Major 결함 0건)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79008"/>
            <a:ext cx="11274552" cy="502920"/>
          </a:xfrm>
          <a:prstGeom prst="rect">
            <a:avLst/>
          </a:prstGeom>
          <a:solidFill>
            <a:srgbClr val="EEF3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5779008"/>
            <a:ext cx="91440" cy="5029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5852160"/>
            <a:ext cx="109270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0F172A"/>
                </a:solidFill>
                <a:latin typeface="맑은 고딕"/>
              </a:rPr>
              <a:t>엄격 통제 원칙 : 어떠한 과업도 발주사 검토(문서) 또는 개발계 단위테스트 검증(코드) 없이는 80% 이상의 진도율을 부여할 수 없습니다 (90% 증후군 방지).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맑은 고딕"/>
              </a:rPr>
              <a:t>진도 관리 계획서   &gt;   4. 진도 현황 대시보드 및 S-Curve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01168"/>
            <a:ext cx="322783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64748B"/>
                </a:solidFill>
                <a:latin typeface="맑은 고딕"/>
              </a:rPr>
              <a:t>산출물 ID : EMP_MAN_090  |  버전 :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74552" cy="4206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100" b="1">
                <a:solidFill>
                  <a:srgbClr val="0F172A"/>
                </a:solidFill>
                <a:latin typeface="맑은 고딕"/>
              </a:rPr>
              <a:t>4. WBS 12대 중분류 과업별 가중치 배분 및 현재 진도 실측 현황 (WBS v1.1 기준)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77824"/>
            <a:ext cx="11274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착수 초기(10월 말 기준) 전체 계획 공정률 1.0% 대비 실적 1.2%(달성률 120.0%)로 순항 중이며, 월별 누적 S-Curve 목표선을 관리합니다.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6152"/>
            <a:ext cx="1127455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455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50292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한빛글로벌 SyncFlow AI 시스템 구축  |  진도 관리 계획서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55664"/>
            <a:ext cx="121615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900" b="1">
                <a:solidFill>
                  <a:srgbClr val="64748B"/>
                </a:solidFill>
                <a:latin typeface="맑은 고딕"/>
              </a:rPr>
              <a:t>6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9752" y="6455664"/>
            <a:ext cx="4572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발주사 : HANBIT GLOBAL   |   수행사 : ㈜엠파시 (Empasy Inc.)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353312"/>
          <a:ext cx="11274552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/>
                <a:gridCol w="1691640"/>
                <a:gridCol w="3547872"/>
                <a:gridCol w="914400"/>
                <a:gridCol w="868680"/>
                <a:gridCol w="868680"/>
                <a:gridCol w="1234440"/>
                <a:gridCol w="1371600"/>
              </a:tblGrid>
              <a:tr h="35204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WBS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5대 공정 단계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12대 중분류 핵심 과업명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과업 가중치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계획 진도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실적 진도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달성률 / 상태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일정 구간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35204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1.1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1. 분석 및 기획 (10%)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착수 및 기준선 수립 (착수보고, 수행계획, WBS)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3.0%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25.0%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30.0%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16A34A"/>
                          </a:solidFill>
                          <a:latin typeface="맑은 고딕"/>
                        </a:rPr>
                        <a:t>120% (양호)</a:t>
                      </a:r>
                    </a:p>
                  </a:txBody>
                  <a:tcPr anchor="ctr" marT="45720" marB="45720" marL="73152" marR="73152">
                    <a:solidFill>
                      <a:srgbClr val="DCFCE7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10.16 ~ 10.30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35204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1.2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1. 분석 및 기획 (10%)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현행(AS-IS) 업무·문서·규칙 정밀 분석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4.0%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6.3%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7.5%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16A34A"/>
                          </a:solidFill>
                          <a:latin typeface="맑은 고딕"/>
                        </a:rPr>
                        <a:t>119% (양호)</a:t>
                      </a:r>
                    </a:p>
                  </a:txBody>
                  <a:tcPr anchor="ctr" marT="45720" marB="45720" marL="73152" marR="73152">
                    <a:solidFill>
                      <a:srgbClr val="DCFCE7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10.19 ~ 11.13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35204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1.3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1. 분석 및 기획 (10%)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요구사항 정의(43개 기능) 및 4대 연계 규격 확정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3.0%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0.0%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0.0%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16A34A"/>
                          </a:solidFill>
                          <a:latin typeface="맑은 고딕"/>
                        </a:rPr>
                        <a:t>일정 내 (양호)</a:t>
                      </a:r>
                    </a:p>
                  </a:txBody>
                  <a:tcPr anchor="ctr" marT="45720" marB="45720" marL="73152" marR="73152">
                    <a:solidFill>
                      <a:srgbClr val="DCFCE7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10.26 ~ 11.20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35204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2.1~2.3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2. 상세 설계 (15%)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UI/UX 화면설계(5%) + 데이터/인프라(5%) + AI엔진 설계(5%)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15.0%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0.0%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0.0%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11월 착수 예정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11.02 ~ 12.18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35204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3.1~3.2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3. 구현 및 연계 (40%)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인프라/공통기반(8%) + 파일 인제스천/전처리 파이프라인(10%)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18.0%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0.0%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0.0%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12월 착수 예정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12.01 ~ 02.19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35204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3.3~3.4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3. 구현 및 연계 (40%)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3단계 AI 판정 엔진(12%) + 대조 뷰어/워크플로우/연계(10%)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22.0%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0.0%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0.0%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12월 착수 예정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12.14 ~ 03.31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35204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4.1~4.2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4. 시험 및 검증 (20%)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단위/통합/성능/보안 시험(10%) + 골든셋/파일럿 검증(10%)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20.0%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0.0%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0.0%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27.03 착수 예정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03.15 ~ 04.30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35204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5.1~5.2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5. 이행 및 안정화 (15%)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컷오버 이행/교육/매뉴얼(8%) + 그랜드오픈/초기안정화(7%)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15.0%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0.0%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0.0%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27.04 착수 예정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04.26 ~ 05.31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352044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합계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전체 프로젝트 총괄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8대 영역 43개 요구사항 · 28종 공식 산출물 통합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0F2942"/>
                          </a:solidFill>
                          <a:latin typeface="맑은 고딕"/>
                        </a:rPr>
                        <a:t>100.0%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1.0%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1.2%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1">
                          <a:solidFill>
                            <a:srgbClr val="16A34A"/>
                          </a:solidFill>
                          <a:latin typeface="맑은 고딕"/>
                        </a:rPr>
                        <a:t>120.0% (양호)</a:t>
                      </a:r>
                    </a:p>
                  </a:txBody>
                  <a:tcPr anchor="ctr" marT="45720" marB="45720" marL="73152" marR="73152">
                    <a:solidFill>
                      <a:srgbClr val="DCFCE7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80" b="0">
                          <a:solidFill>
                            <a:srgbClr val="0F2942"/>
                          </a:solidFill>
                          <a:latin typeface="맑은 고딕"/>
                        </a:rPr>
                        <a:t>26.10.16~27.05.31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57200" y="5010912"/>
            <a:ext cx="11274552" cy="1261872"/>
          </a:xfrm>
          <a:prstGeom prst="rect">
            <a:avLst/>
          </a:prstGeom>
          <a:solidFill>
            <a:srgbClr val="EEF3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5010912"/>
            <a:ext cx="11274552" cy="64008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3504" y="5148072"/>
            <a:ext cx="1124712" cy="256032"/>
          </a:xfrm>
          <a:prstGeom prst="round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S-CURVE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19656" y="5129784"/>
            <a:ext cx="976579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1">
                <a:solidFill>
                  <a:srgbClr val="0F172A"/>
                </a:solidFill>
                <a:latin typeface="맑은 고딕"/>
              </a:rPr>
              <a:t>월별 누적 계획 공정률 기준선 (S-Curve Monthly Baseline)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" y="5477256"/>
            <a:ext cx="10981944" cy="70408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F2942"/>
                </a:solidFill>
                <a:latin typeface="맑은 고딕"/>
              </a:rPr>
              <a:t>• [2026.10월 말] 3.0% (착수 완료)  ➔  [11월 말 / M1] 20.0% (분석 완료·설계 승인)  ➔  [12월 말] 30.0% (설계 완료·인프라/기반 구축)  ➔  [2027.01월 말 / M2·M3] 45.0% (AI 엔진·시험검증DB 검증)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0F2942"/>
                </a:solidFill>
                <a:latin typeface="맑은 고딕"/>
              </a:rPr>
              <a:t>• [2027.02월 말] 55.0% (전처리·뷰어 구현)  ➔  [03월 말 / M4] 65.0% (전체 기능·연계 구현 완료)  ➔  [04월 말 / M5] 85.0% (통합시험·골든셋·파일럿 완료)  ➔  [05월 말 / M6] 100.0% (그랜드오픈·최종검수)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맑은 고딕"/>
              </a:rPr>
              <a:t>진도 관리 계획서   &gt;   5. 진도 편차 임계치 및 대응 체계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01168"/>
            <a:ext cx="322783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64748B"/>
                </a:solidFill>
                <a:latin typeface="맑은 고딕"/>
              </a:rPr>
              <a:t>산출물 ID : EMP_MAN_090  |  버전 :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74552" cy="4206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100" b="1">
                <a:solidFill>
                  <a:srgbClr val="0F172A"/>
                </a:solidFill>
                <a:latin typeface="맑은 고딕"/>
              </a:rPr>
              <a:t>5. 진도 편차(Schedule Variance) 3단계 신호등 임계치 및 단계별 통제 절차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77824"/>
            <a:ext cx="11274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사업수행계획서(공공 표준) 기준에 의거하여 주간 진도 편차(실적% - 계획%)에 따라 기계적인 리스크/이슈 등록 및 만회 조치를 실행합니다.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6152"/>
            <a:ext cx="1127455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455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50292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한빛글로벌 SyncFlow AI 시스템 구축  |  진도 관리 계획서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55664"/>
            <a:ext cx="121615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900" b="1">
                <a:solidFill>
                  <a:srgbClr val="64748B"/>
                </a:solidFill>
                <a:latin typeface="맑은 고딕"/>
              </a:rPr>
              <a:t>7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9752" y="6455664"/>
            <a:ext cx="4572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발주사 : HANBIT GLOBAL   |   수행사 : ㈜엠파시 (Empasy Inc.)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371600"/>
          <a:ext cx="11274552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508760"/>
                <a:gridCol w="1234440"/>
                <a:gridCol w="2514600"/>
                <a:gridCol w="3227832"/>
                <a:gridCol w="1371600"/>
              </a:tblGrid>
              <a:tr h="74295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신호등 등급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진도 편차 (SV) 기준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달성률 기준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상태 정의 및 판단 기준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필수 통제 조치 (Action Protocol)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보고 및 관리 주체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16A34A"/>
                          </a:solidFill>
                          <a:latin typeface="맑은 고딕"/>
                        </a:rPr>
                        <a:t>양호 (Green)</a:t>
                      </a:r>
                    </a:p>
                  </a:txBody>
                  <a:tcPr anchor="ctr" marT="45720" marB="45720" marL="73152" marR="73152">
                    <a:solidFill>
                      <a:srgbClr val="DCFCE7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0F2942"/>
                          </a:solidFill>
                          <a:latin typeface="맑은 고딕"/>
                        </a:rPr>
                        <a:t>편차 -5%p 이내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0F2942"/>
                          </a:solidFill>
                          <a:latin typeface="맑은 고딕"/>
                        </a:rPr>
                        <a:t>(SV &gt; -5.0%p)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달성률 95% 이상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• 계획 일정 대비 정상 수행 중이거나 선행 달성 중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• 마일스톤(M1~M6) 완료일에 영향 없음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• 현행 WBS 일정 계획 유지 및 주간 정례 점검 지속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• 차주 선행 가능 과업 사전 준비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수행 PM / 파트장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(주간정례보고)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D97706"/>
                          </a:solidFill>
                          <a:latin typeface="맑은 고딕"/>
                        </a:rPr>
                        <a:t>보통 / 주의 (Yellow)</a:t>
                      </a:r>
                    </a:p>
                  </a:txBody>
                  <a:tcPr anchor="ctr" marT="45720" marB="45720" marL="73152" marR="73152">
                    <a:solidFill>
                      <a:srgbClr val="FEF3C7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0F2942"/>
                          </a:solidFill>
                          <a:latin typeface="맑은 고딕"/>
                        </a:rPr>
                        <a:t>편차 -5%p ~ -10%p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0F2942"/>
                          </a:solidFill>
                          <a:latin typeface="맑은 고딕"/>
                        </a:rPr>
                        <a:t>(-10%p &lt; SV ≤ -5%p)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달성률 90% ~ 95%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• 특정 단위 과업에서 경미한 지연 발생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• 방치 시 후속 연계 과업으로 지연 전이 우려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• 리스크관리대장 등록 및 지연 원인 정밀 분석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• 선·후행 작업 병렬 수행(Fast-Tracking) 및 야간/주말 만회 작업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• 1주 이내 양호(Green) 복귀 목표 설정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수행 PM ➔ 발주사 PM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(Level 2 집중관리)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74295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DC2626"/>
                          </a:solidFill>
                          <a:latin typeface="맑은 고딕"/>
                        </a:rPr>
                        <a:t>미흡 / 위험 (Red)</a:t>
                      </a:r>
                    </a:p>
                  </a:txBody>
                  <a:tcPr anchor="ctr" marT="45720" marB="45720" marL="73152" marR="73152">
                    <a:solidFill>
                      <a:srgbClr val="FEE2E2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0F2942"/>
                          </a:solidFill>
                          <a:latin typeface="맑은 고딕"/>
                        </a:rPr>
                        <a:t>편차 -10%p 이상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0F2942"/>
                          </a:solidFill>
                          <a:latin typeface="맑은 고딕"/>
                        </a:rPr>
                        <a:t>(SV ≤ -10.0%p)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달성률 90% 미만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• 주요 마일스톤 또는 임계 경로(Critical Path) 지연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• 외부 연계 불능 또는 중대 기술 결함 발생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• 공식 이슈관리대장(EMP_MAN_030) '긴급(High)' 등록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• '지연 과업 만회 대책서(Catch-up Plan)' 공식 제출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• 본사 예비 전문인력 추가 투입(Crashing) 또는 대체 구현 실행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사업총괄 / 양사 PM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(Level 3 긴급대책회의)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57200" y="4498848"/>
            <a:ext cx="363016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4498848"/>
            <a:ext cx="3630168" cy="64008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3504" y="4636008"/>
            <a:ext cx="1124712" cy="256032"/>
          </a:xfrm>
          <a:prstGeom prst="round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만회 기법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19656" y="4617720"/>
            <a:ext cx="212140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1">
                <a:solidFill>
                  <a:srgbClr val="0F172A"/>
                </a:solidFill>
                <a:latin typeface="맑은 고딕"/>
              </a:rPr>
              <a:t>기법 1 : Fast-Tracking (공정 병렬화)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" y="4965192"/>
            <a:ext cx="3337560" cy="119786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0F2942"/>
                </a:solidFill>
                <a:latin typeface="맑은 고딕"/>
              </a:rPr>
              <a:t>• 선행 작업이 100% 끝나기 전에 확정된 부분부터 후속 작업을 중첩 착수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0F2942"/>
                </a:solidFill>
                <a:latin typeface="맑은 고딕"/>
              </a:rPr>
              <a:t>• 예: 화면설계서 전체 승인 전 확정된 공통 레이아웃/인증 화면부터 프론트 선행 개발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9392" y="4498848"/>
            <a:ext cx="363016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79392" y="4498848"/>
            <a:ext cx="3630168" cy="640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25696" y="4636008"/>
            <a:ext cx="1124712" cy="256032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만회 기법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41848" y="4617720"/>
            <a:ext cx="212140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1">
                <a:solidFill>
                  <a:srgbClr val="0F172A"/>
                </a:solidFill>
                <a:latin typeface="맑은 고딕"/>
              </a:rPr>
              <a:t>기법 2 : Crashing (핵심 자원 집중/추가 투입)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25696" y="4965192"/>
            <a:ext cx="3337560" cy="119786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0F2942"/>
                </a:solidFill>
                <a:latin typeface="맑은 고딕"/>
              </a:rPr>
              <a:t>• 임계 경로 지연 과업에 시니어 엔지니어 또는 본사 예비 인력을 무상 추가 투입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0F2942"/>
                </a:solidFill>
                <a:latin typeface="맑은 고딕"/>
              </a:rPr>
              <a:t>• 예: 문서 파싱/OCR 또는 시험검증DB 매핑 병목 시 AI·백엔드 인력 집중 배치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01583" y="4498848"/>
            <a:ext cx="363016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01583" y="4498848"/>
            <a:ext cx="3630168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47888" y="4636008"/>
            <a:ext cx="1124712" cy="25603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만회 기법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4040" y="4617720"/>
            <a:ext cx="212140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1">
                <a:solidFill>
                  <a:srgbClr val="0F172A"/>
                </a:solidFill>
                <a:latin typeface="맑은 고딕"/>
              </a:rPr>
              <a:t>기법 3 : Mock-up &amp; Stub 선행 검증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7888" y="4965192"/>
            <a:ext cx="3337560" cy="119786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0F2942"/>
                </a:solidFill>
                <a:latin typeface="맑은 고딕"/>
              </a:rPr>
              <a:t>• 외부 시스템(SSO, SRM-Portal, PLM-Nexus) 방화벽이나 API 지연 시 표준 Mock 서버 즉시 구축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19" b="0">
                <a:solidFill>
                  <a:srgbClr val="0F2942"/>
                </a:solidFill>
                <a:latin typeface="맑은 고딕"/>
              </a:rPr>
              <a:t>• 내부 비즈니스 로직과 UI를 100% 선행 완성 후 실제 개통 시 엔드포인트만 전환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맑은 고딕"/>
              </a:rPr>
              <a:t>진도 관리 계획서   &gt;   6. AI 과제 특화 진도·품질 Gate 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01168"/>
            <a:ext cx="322783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64748B"/>
                </a:solidFill>
                <a:latin typeface="맑은 고딕"/>
              </a:rPr>
              <a:t>산출물 ID : EMP_MAN_090  |  버전 :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74552" cy="4206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100" b="1">
                <a:solidFill>
                  <a:srgbClr val="0F172A"/>
                </a:solidFill>
                <a:latin typeface="맑은 고딕"/>
              </a:rPr>
              <a:t>6. AI 프로젝트 특화 '진도율 + AI 정량 품질 지표' 결합 Gate 승인 체계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77824"/>
            <a:ext cx="11274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단순히 화면과 API 코딩이 끝났다고 구현 완료(100%)로 인정하지 않으며, AI 판정 정확도와 성능 목표치를 통과해야 마일스톤을 승인합니다.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6152"/>
            <a:ext cx="1127455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455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50292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한빛글로벌 SyncFlow AI 시스템 구축  |  진도 관리 계획서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55664"/>
            <a:ext cx="121615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900" b="1">
                <a:solidFill>
                  <a:srgbClr val="64748B"/>
                </a:solidFill>
                <a:latin typeface="맑은 고딕"/>
              </a:rPr>
              <a:t>8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9752" y="6455664"/>
            <a:ext cx="4572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발주사 : HANBIT GLOBAL   |   수행사 : ㈜엠파시 (Empasy Inc.)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371600"/>
          <a:ext cx="11274551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143000"/>
                <a:gridCol w="1417320"/>
                <a:gridCol w="3822191"/>
                <a:gridCol w="1737360"/>
                <a:gridCol w="1737360"/>
              </a:tblGrid>
              <a:tr h="81534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마일스톤 Gate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검증 시점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대상 WBS 과업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정량적 품질 통과 기준 (Exit Criteria)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검증 방법 및 근거 산출물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미달 시 통제 조치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81534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1">
                          <a:solidFill>
                            <a:srgbClr val="0F2942"/>
                          </a:solidFill>
                          <a:latin typeface="맑은 고딕"/>
                        </a:rPr>
                        <a:t>Gate 1 (M1)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1">
                          <a:solidFill>
                            <a:srgbClr val="0F2942"/>
                          </a:solidFill>
                          <a:latin typeface="맑은 고딕"/>
                        </a:rPr>
                        <a:t>설계 기준선 승인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1">
                          <a:solidFill>
                            <a:srgbClr val="0F2942"/>
                          </a:solidFill>
                          <a:latin typeface="맑은 고딕"/>
                        </a:rPr>
                        <a:t>2026. 11월 말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0F2942"/>
                          </a:solidFill>
                          <a:latin typeface="맑은 고딕"/>
                        </a:rPr>
                        <a:t>1.분석 (10%)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0F2942"/>
                          </a:solidFill>
                          <a:latin typeface="맑은 고딕"/>
                        </a:rPr>
                        <a:t>2.설계 (15%)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0F2942"/>
                          </a:solidFill>
                          <a:latin typeface="맑은 고딕"/>
                        </a:rPr>
                        <a:t>• 8대 영역 43개 기능 요구사항 추적성(RTVM) 100% 매핑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0F2942"/>
                          </a:solidFill>
                          <a:latin typeface="맑은 고딕"/>
                        </a:rPr>
                        <a:t>• 화면설계서, DB명세서, 3단계 AI 아키텍처 발주사 승인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0F2942"/>
                          </a:solidFill>
                          <a:latin typeface="맑은 고딕"/>
                        </a:rPr>
                        <a:t>설계 리뷰 워크숍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0F2942"/>
                          </a:solidFill>
                          <a:latin typeface="맑은 고딕"/>
                        </a:rPr>
                        <a:t>요구사항추적표(ANL_030)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0F2942"/>
                          </a:solidFill>
                          <a:latin typeface="맑은 고딕"/>
                        </a:rPr>
                        <a:t>미승인 화면/테이블 보완 후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0F2942"/>
                          </a:solidFill>
                          <a:latin typeface="맑은 고딕"/>
                        </a:rPr>
                        <a:t>재심사 (구현 착수 보류)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81534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1">
                          <a:solidFill>
                            <a:srgbClr val="0F2942"/>
                          </a:solidFill>
                          <a:latin typeface="맑은 고딕"/>
                        </a:rPr>
                        <a:t>Gate 2 (M2·M3)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1">
                          <a:solidFill>
                            <a:srgbClr val="0F2942"/>
                          </a:solidFill>
                          <a:latin typeface="맑은 고딕"/>
                        </a:rPr>
                        <a:t>엔진 &amp; 시험검증DB 검증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1">
                          <a:solidFill>
                            <a:srgbClr val="0F2942"/>
                          </a:solidFill>
                          <a:latin typeface="맑은 고딕"/>
                        </a:rPr>
                        <a:t>2027. 01월 말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0F2942"/>
                          </a:solidFill>
                          <a:latin typeface="맑은 고딕"/>
                        </a:rPr>
                        <a:t>3.3 AI 판정 엔진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0F2942"/>
                          </a:solidFill>
                          <a:latin typeface="맑은 고딕"/>
                        </a:rPr>
                        <a:t>3.4 PLM-Nexus 연계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0F2942"/>
                          </a:solidFill>
                          <a:latin typeface="맑은 고딕"/>
                        </a:rPr>
                        <a:t>• 1단계 100대 규칙사전 정규식/형태소 매칭 정상 동작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0F2942"/>
                          </a:solidFill>
                          <a:latin typeface="맑은 고딕"/>
                        </a:rPr>
                        <a:t>• 2단계 공정위·표준원 가이드라인 pgvector(1536d) 하이브리드 검색 연동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0F2942"/>
                          </a:solidFill>
                          <a:latin typeface="맑은 고딕"/>
                        </a:rPr>
                        <a:t>• PLM-Nexus 원소재·성능규격·시험결과 시험검증 데이터 API 조회 성공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0F2942"/>
                          </a:solidFill>
                          <a:latin typeface="맑은 고딕"/>
                        </a:rPr>
                        <a:t>중간 시연회 (PoC/Pilot)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0F2942"/>
                          </a:solidFill>
                          <a:latin typeface="맑은 고딕"/>
                        </a:rPr>
                        <a:t>규칙정의서(EXE_010)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0F2942"/>
                          </a:solidFill>
                          <a:latin typeface="맑은 고딕"/>
                        </a:rPr>
                        <a:t>연계명세서(EXE_030)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0F2942"/>
                          </a:solidFill>
                          <a:latin typeface="맑은 고딕"/>
                        </a:rPr>
                        <a:t>검색 임계치·청킹 전략 재튜닝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0F2942"/>
                          </a:solidFill>
                          <a:latin typeface="맑은 고딕"/>
                        </a:rPr>
                        <a:t>시험검증 쿼리 인덱스 최적화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81534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1">
                          <a:solidFill>
                            <a:srgbClr val="0F2942"/>
                          </a:solidFill>
                          <a:latin typeface="맑은 고딕"/>
                        </a:rPr>
                        <a:t>Gate 3 (M4)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1">
                          <a:solidFill>
                            <a:srgbClr val="0F2942"/>
                          </a:solidFill>
                          <a:latin typeface="맑은 고딕"/>
                        </a:rPr>
                        <a:t>전체 기능 구현 완료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1">
                          <a:solidFill>
                            <a:srgbClr val="0F2942"/>
                          </a:solidFill>
                          <a:latin typeface="맑은 고딕"/>
                        </a:rPr>
                        <a:t>2027. 03월 말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0F2942"/>
                          </a:solidFill>
                          <a:latin typeface="맑은 고딕"/>
                        </a:rPr>
                        <a:t>3.1~3.4 구현 전체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0F2942"/>
                          </a:solidFill>
                          <a:latin typeface="맑은 고딕"/>
                        </a:rPr>
                        <a:t>(누적 65%)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0F2942"/>
                          </a:solidFill>
                          <a:latin typeface="맑은 고딕"/>
                        </a:rPr>
                        <a:t>• 다중 포맷(PDF/PPTX/DOCX/이미지/영상) 파싱 및 OCR 완료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0F2942"/>
                          </a:solidFill>
                          <a:latin typeface="맑은 고딕"/>
                        </a:rPr>
                        <a:t>• Canvas 2D Side-by-Side 대조 뷰어 및 바운딩 박스 하이라이트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0F2942"/>
                          </a:solidFill>
                          <a:latin typeface="맑은 고딕"/>
                        </a:rPr>
                        <a:t>• 단위테스트케이스(TST_010) 100% 수행 및 통과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0F2942"/>
                          </a:solidFill>
                          <a:latin typeface="맑은 고딕"/>
                        </a:rPr>
                        <a:t>개발계(DEV) 전수 시연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0F2942"/>
                          </a:solidFill>
                          <a:latin typeface="맑은 고딕"/>
                        </a:rPr>
                        <a:t>단위테스트(TST_010)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0F2942"/>
                          </a:solidFill>
                          <a:latin typeface="맑은 고딕"/>
                        </a:rPr>
                        <a:t>결함관리대장(MAN_040) 등록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0F2942"/>
                          </a:solidFill>
                          <a:latin typeface="맑은 고딕"/>
                        </a:rPr>
                        <a:t>전수 패치 후 M5 진입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81534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1">
                          <a:solidFill>
                            <a:srgbClr val="0F2942"/>
                          </a:solidFill>
                          <a:latin typeface="맑은 고딕"/>
                        </a:rPr>
                        <a:t>Gate 4 (M5)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1">
                          <a:solidFill>
                            <a:srgbClr val="0F2942"/>
                          </a:solidFill>
                          <a:latin typeface="맑은 고딕"/>
                        </a:rPr>
                        <a:t>골든셋 &amp; 파일럿 승인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1">
                          <a:solidFill>
                            <a:srgbClr val="0F2942"/>
                          </a:solidFill>
                          <a:latin typeface="맑은 고딕"/>
                        </a:rPr>
                        <a:t>2027. 04. 30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0F2942"/>
                          </a:solidFill>
                          <a:latin typeface="맑은 고딕"/>
                        </a:rPr>
                        <a:t>4.1 통합/성능/보안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0F2942"/>
                          </a:solidFill>
                          <a:latin typeface="맑은 고딕"/>
                        </a:rPr>
                        <a:t>4.2 골든셋/파일럿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0F2942"/>
                          </a:solidFill>
                          <a:latin typeface="맑은 고딕"/>
                        </a:rPr>
                        <a:t>• [AI 핵심 KPI] 금지표현 검출률(Recall) 95% 이상 달성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0F2942"/>
                          </a:solidFill>
                          <a:latin typeface="맑은 고딕"/>
                        </a:rPr>
                        <a:t>• [AI 핵심 KPI] QA 전문 인력 판정 일치율(Accuracy) 90% 이상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0F2942"/>
                          </a:solidFill>
                          <a:latin typeface="맑은 고딕"/>
                        </a:rPr>
                        <a:t>• 단건 문서 평균 분석 처리 시간 목표 SLA 충족 및 보안 취약점 조치 100%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0F2942"/>
                          </a:solidFill>
                          <a:latin typeface="맑은 고딕"/>
                        </a:rPr>
                        <a:t>품질법무검증팀 골든셋 시험검증 평가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0F2942"/>
                          </a:solidFill>
                          <a:latin typeface="맑은 고딕"/>
                        </a:rPr>
                        <a:t>골든셋보고서(TST_050)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0F2942"/>
                          </a:solidFill>
                          <a:latin typeface="맑은 고딕"/>
                        </a:rPr>
                        <a:t>성능/보안결과(TST_030/040)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0F2942"/>
                          </a:solidFill>
                          <a:latin typeface="맑은 고딕"/>
                        </a:rPr>
                        <a:t>오탐/미탐 케이스 규칙 추가 및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0F2942"/>
                          </a:solidFill>
                          <a:latin typeface="맑은 고딕"/>
                        </a:rPr>
                        <a:t>Few-shot 프롬프트 집중 튜닝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81534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1">
                          <a:solidFill>
                            <a:srgbClr val="0F2942"/>
                          </a:solidFill>
                          <a:latin typeface="맑은 고딕"/>
                        </a:rPr>
                        <a:t>Gate 5 (M6)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1">
                          <a:solidFill>
                            <a:srgbClr val="0F2942"/>
                          </a:solidFill>
                          <a:latin typeface="맑은 고딕"/>
                        </a:rPr>
                        <a:t>그랜드오픈 &amp; 최종검수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1">
                          <a:solidFill>
                            <a:srgbClr val="0F2942"/>
                          </a:solidFill>
                          <a:latin typeface="맑은 고딕"/>
                        </a:rPr>
                        <a:t>2027. 05. 31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0F2942"/>
                          </a:solidFill>
                          <a:latin typeface="맑은 고딕"/>
                        </a:rPr>
                        <a:t>5.1 상용 컷오버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0F2942"/>
                          </a:solidFill>
                          <a:latin typeface="맑은 고딕"/>
                        </a:rPr>
                        <a:t>5.2 안정화/검수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0F2942"/>
                          </a:solidFill>
                          <a:latin typeface="맑은 고딕"/>
                        </a:rPr>
                        <a:t>• PRD 환경 무중단 컷오버 및 초기 안정화 중대 장애 0건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0F2942"/>
                          </a:solidFill>
                          <a:latin typeface="맑은 고딕"/>
                        </a:rPr>
                        <a:t>• 28종 산출물 전수 납품 및 사용자/운영자 교육 수료율 100%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0F2942"/>
                          </a:solidFill>
                          <a:latin typeface="맑은 고딕"/>
                        </a:rPr>
                        <a:t>인수인계서(IMP_030)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0F2942"/>
                          </a:solidFill>
                          <a:latin typeface="맑은 고딕"/>
                        </a:rPr>
                        <a:t>검수확인서(IMP_040)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0F2942"/>
                          </a:solidFill>
                          <a:latin typeface="맑은 고딕"/>
                        </a:rPr>
                        <a:t>안정화 기간 연장 지원 및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890" b="0">
                          <a:solidFill>
                            <a:srgbClr val="0F2942"/>
                          </a:solidFill>
                          <a:latin typeface="맑은 고딕"/>
                        </a:rPr>
                        <a:t>하자보수 체제 즉시 전환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맑은 고딕"/>
              </a:rPr>
              <a:t>진도 관리 계획서   &gt;   7. 주간·월간 점검 사이클 및 변경 통제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01168"/>
            <a:ext cx="322783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64748B"/>
                </a:solidFill>
                <a:latin typeface="맑은 고딕"/>
              </a:rPr>
              <a:t>산출물 ID : EMP_MAN_090  |  버전 :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74552" cy="4206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100" b="1">
                <a:solidFill>
                  <a:srgbClr val="0F172A"/>
                </a:solidFill>
                <a:latin typeface="맑은 고딕"/>
              </a:rPr>
              <a:t>7. 주간 진도 점검 사이클 및 WBS 일정 기준선(Baseline) 변경 통제 절차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77824"/>
            <a:ext cx="11274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매주 정해진 요일·시간에 따라 진도 실적을 수집·검증·보고하며, 승인된 마일스톤 일정의 임의 변경은 엄격히 통제합니다.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6152"/>
            <a:ext cx="1127455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455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50292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한빛글로벌 SyncFlow AI 시스템 구축  |  진도 관리 계획서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55664"/>
            <a:ext cx="121615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900" b="1">
                <a:solidFill>
                  <a:srgbClr val="64748B"/>
                </a:solidFill>
                <a:latin typeface="맑은 고딕"/>
              </a:rPr>
              <a:t>9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9752" y="6455664"/>
            <a:ext cx="4572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발주사 : HANBIT GLOBAL   |   수행사 : ㈜엠파시 (Empasy Inc.)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2679192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371600"/>
            <a:ext cx="2679192" cy="64008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508760"/>
            <a:ext cx="1764792" cy="256032"/>
          </a:xfrm>
          <a:prstGeom prst="round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매주 목요일 15:00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59736" y="1490472"/>
            <a:ext cx="5303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20" b="1">
                <a:solidFill>
                  <a:srgbClr val="0F172A"/>
                </a:solidFill>
                <a:latin typeface="맑은 고딕"/>
              </a:rPr>
              <a:t>1. 파트별 실적 입력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1837943"/>
            <a:ext cx="2386584" cy="16367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0F2942"/>
                </a:solidFill>
                <a:latin typeface="맑은 고딕"/>
              </a:rPr>
              <a:t>• AI, 백엔드, 프론트, 기획, 데이터브릿지 각 파트 리드가 금주 완료 작업 및 산출물 상태 제출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0F2942"/>
                </a:solidFill>
                <a:latin typeface="맑은 고딕"/>
              </a:rPr>
              <a:t>• 단위테스트 결과 및 산출물 파일 링크 첨부 필수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19272" y="1371600"/>
            <a:ext cx="2679192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19272" y="1371600"/>
            <a:ext cx="2679192" cy="640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465576" y="1508760"/>
            <a:ext cx="1764792" cy="256032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매주 목요일 17:30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21808" y="1490472"/>
            <a:ext cx="5303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20" b="1">
                <a:solidFill>
                  <a:srgbClr val="0F172A"/>
                </a:solidFill>
                <a:latin typeface="맑은 고딕"/>
              </a:rPr>
              <a:t>2. PMO 실사 및 WBS 갱신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65576" y="1837943"/>
            <a:ext cx="2386584" cy="16367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0F2942"/>
                </a:solidFill>
                <a:latin typeface="맑은 고딕"/>
              </a:rPr>
              <a:t>• PMO(이지훈)가 실제 구글 드라이브 산출물 및 Git/테스트 결과 대조 실사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0F2942"/>
                </a:solidFill>
                <a:latin typeface="맑은 고딕"/>
              </a:rPr>
              <a:t>• WBS(EMP_INT_020) 실적 진도율, 달성률, 신호등 자동 산출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81344" y="1371600"/>
            <a:ext cx="2679192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1371600"/>
            <a:ext cx="2679192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27648" y="1508760"/>
            <a:ext cx="1764792" cy="25603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매주 금요일 09:30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79" y="1490472"/>
            <a:ext cx="5303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20" b="1">
                <a:solidFill>
                  <a:srgbClr val="0F172A"/>
                </a:solidFill>
                <a:latin typeface="맑은 고딕"/>
              </a:rPr>
              <a:t>3. 편차 분석 및 보고서 배포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7648" y="1837943"/>
            <a:ext cx="2386584" cy="16367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0F2942"/>
                </a:solidFill>
                <a:latin typeface="맑은 고딕"/>
              </a:rPr>
              <a:t>• 수행 PM(김태윤)이 계획 대비 편차(SV) 분석 및 차주 중점 계획 수립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0F2942"/>
                </a:solidFill>
                <a:latin typeface="맑은 고딕"/>
              </a:rPr>
              <a:t>• 주간업무보고서(EMP_MAN_010) 발주사 사전 배포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43416" y="1371600"/>
            <a:ext cx="2679192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43416" y="1371600"/>
            <a:ext cx="2679192" cy="640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189720" y="1508760"/>
            <a:ext cx="1764792" cy="256032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맑은 고딕"/>
              </a:rPr>
              <a:t>매주 금요일 13:30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45952" y="1490472"/>
            <a:ext cx="5303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20" b="1">
                <a:solidFill>
                  <a:srgbClr val="0F172A"/>
                </a:solidFill>
                <a:latin typeface="맑은 고딕"/>
              </a:rPr>
              <a:t>4. 주간정례회의 및 확정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20" y="1837943"/>
            <a:ext cx="2386584" cy="16367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0F2942"/>
                </a:solidFill>
                <a:latin typeface="맑은 고딕"/>
              </a:rPr>
              <a:t>• 발주사 PM과 주간 진도 리뷰 및 협조요청 의결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 b="0">
                <a:solidFill>
                  <a:srgbClr val="0F2942"/>
                </a:solidFill>
                <a:latin typeface="맑은 고딕"/>
              </a:rPr>
              <a:t>• 지연 과업 발생 시 차주 만회 목표치 합의 및 회의록(MAN_020) 기록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457200" y="3749039"/>
          <a:ext cx="11274552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474720"/>
                <a:gridCol w="1828800"/>
                <a:gridCol w="3867912"/>
              </a:tblGrid>
              <a:tr h="62865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일정 변경 유형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판단 기준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승인 권한자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변경 통제 및 기록 절차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62865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0F2942"/>
                          </a:solidFill>
                          <a:latin typeface="맑은 고딕"/>
                        </a:rPr>
                        <a:t>단위 작업 내 일정 미세 조정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0F2942"/>
                          </a:solidFill>
                          <a:latin typeface="맑은 고딕"/>
                        </a:rPr>
                        <a:t>(Minor Schedule Shift)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• 동일 단계 내에서 마일스톤(M1~M6) 완료일에 영향을 주지 않는 1주 이내 선·후행 작업 조정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수행 PM (김태윤)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(발주사 PM 주간보고 공유)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• WBS 세부 작업 일정 조정 후 주간보고서(MAN_010)에 사유 명시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• 전체 단계 가중치 및 마일스톤 기준선은 불변 유지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62865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0F2942"/>
                          </a:solidFill>
                          <a:latin typeface="맑은 고딕"/>
                        </a:rPr>
                        <a:t>주요 산출물 납기 또는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0F2942"/>
                          </a:solidFill>
                          <a:latin typeface="맑은 고딕"/>
                        </a:rPr>
                        <a:t>중간 마일스톤(M1~M5) 변경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• 외부 인터페이스(SSO/SRM-Portal/PLM-Nexus) 지연, 정책 변경 등으로 마일스톤 일자 변경 필요 시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발주사 현업/기술 PM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(정민수 / 한승우 합의)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• 변경관리대장(EMP_MAN_060)에 변경 요청서 및 영향도 분석 등록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• 양사 PM 합의 후 WBS 버전 업그레이드(예: v1.1 ➔ v1.2) 및 구버전 백업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628650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0F2942"/>
                          </a:solidFill>
                          <a:latin typeface="맑은 고딕"/>
                        </a:rPr>
                        <a:t>최종 계약 종료일(M6) 또는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0F2942"/>
                          </a:solidFill>
                          <a:latin typeface="맑은 고딕"/>
                        </a:rPr>
                        <a:t>핵심 과업 범위 변경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• 천재지변, 발주사 전사 정책 변경 등 불가항력 사유로 전체 사업 기간 조정이 필요한 경우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양사 사업 총괄 / 대표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(공식 변경 계약 체결)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• 공식 변경통제위원회(CCB) 개최 및 공문 수발신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• 사업수행계획서(INT_010) 및 WBS(INT_020) 전면 개정(v2.0)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77724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1D4ED8"/>
                </a:solidFill>
                <a:latin typeface="맑은 고딕"/>
              </a:rPr>
              <a:t>진도 관리 계획서   &gt;   8. 지연 과업 만회 대책서 템플릿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01168"/>
            <a:ext cx="322783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1000" b="1">
                <a:solidFill>
                  <a:srgbClr val="64748B"/>
                </a:solidFill>
                <a:latin typeface="맑은 고딕"/>
              </a:rPr>
              <a:t>산출물 ID : EMP_MAN_090  |  버전 :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274552" cy="4206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100" b="1">
                <a:solidFill>
                  <a:srgbClr val="0F172A"/>
                </a:solidFill>
                <a:latin typeface="맑은 고딕"/>
              </a:rPr>
              <a:t>8. [템플릿] 지연 과업 만회 대책서 (Schedule Catch-up Action Plan)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77824"/>
            <a:ext cx="11274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64748B"/>
                </a:solidFill>
                <a:latin typeface="맑은 고딕"/>
              </a:rPr>
              <a:t>주간 점검 시 진도 편차 -5%p(주의) 또는 -10%p(미흡) 발생 과업에 대해 원인 분석과 복귀 일정을 보고하는 표준 양식입니다.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6152"/>
            <a:ext cx="1127455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6419088"/>
            <a:ext cx="11274552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50292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한빛글로벌 SyncFlow AI 시스템 구축  |  진도 관리 계획서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55664"/>
            <a:ext cx="121615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900" b="1">
                <a:solidFill>
                  <a:srgbClr val="64748B"/>
                </a:solidFill>
                <a:latin typeface="맑은 고딕"/>
              </a:rPr>
              <a:t>10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9752" y="6455664"/>
            <a:ext cx="4572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20000"/>
              </a:lnSpc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맑은 고딕"/>
              </a:rPr>
              <a:t>발주사 : HANBIT GLOBAL   |   수행사 : ㈜엠파시 (Empasy Inc.)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371600"/>
          <a:ext cx="11274552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7479792"/>
                <a:gridCol w="1737360"/>
              </a:tblGrid>
              <a:tr h="607422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항목 구분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세부 작성 내용 (예시 포함 — 실무 발생 시 본 양식으로 작성)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관련 문서 / 비고</a:t>
                      </a:r>
                    </a:p>
                  </a:txBody>
                  <a:tcPr anchor="ctr" marT="45720" marB="45720" marL="73152" marR="73152">
                    <a:solidFill>
                      <a:srgbClr val="0F2340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607422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0F2942"/>
                          </a:solidFill>
                          <a:latin typeface="맑은 고딕"/>
                        </a:rPr>
                        <a:t>1. 지연 과업 식별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• WBS 코드 및 과업명 : [예시: 3.2.2 설계도면 음성(STT) 및 핵심 프레임 추출 파이프라인 구현]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• 담당 파트 / 담당자 : AI 엔지니어 파트 / 박진우 수석 선임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WBS (EMP_INT_020)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607422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0F2942"/>
                          </a:solidFill>
                          <a:latin typeface="맑은 고딕"/>
                        </a:rPr>
                        <a:t>2. 계획 대비 진도 편차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• 당초 계획 완료일 : 2027-02-05   |   금주 계획 진도율 : 80.0%   |   금주 실적 진도율 : 65.0%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• 진도 편차(SV) : -15.0%p (달성률 81.3% ➔ 🔴 미흡/Red 등급 발령)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주간보고 (EMP_MAN_010)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607422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0F2942"/>
                          </a:solidFill>
                          <a:latin typeface="맑은 고딕"/>
                        </a:rPr>
                        <a:t>3. 지연 근본 원인 분석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0F2942"/>
                          </a:solidFill>
                          <a:latin typeface="맑은 고딕"/>
                        </a:rPr>
                        <a:t>(Root Cause)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• 대용량(300MB+) 고해상도 구매계약 설계도면 업로드 시 FFmpeg 프레임 추출 메모리 점유 증가로 처리 지연 발생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• 배경 음악이 강한 영상에서 STT 텍스트 오인식 보정 로직 추가 구현 소요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이슈대장 (EMP_MAN_030)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이슈번호 ISS-012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607422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0F2942"/>
                          </a:solidFill>
                          <a:latin typeface="맑은 고딕"/>
                        </a:rPr>
                        <a:t>4. 후속 공정 영향도 분석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• 후속 과업 [3.3.3 설계도면 구간 타임스탬프 매핑] 착수가 3일 지연될 우려가 있으나, 문서(PDF/이미지) 판정 라인에는 영향 없음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• M4 구현완료(03.31) 마일스톤에는 영향 없도록 2주 내 만회 필요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Critical Path 영향 분석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607422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0F2942"/>
                          </a:solidFill>
                          <a:latin typeface="맑은 고딕"/>
                        </a:rPr>
                        <a:t>5. 세부 만회 대책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0F2942"/>
                          </a:solidFill>
                          <a:latin typeface="맑은 고딕"/>
                        </a:rPr>
                        <a:t>(Catch-up Actions)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• [기술 조치] 영상 스트리밍 청크 분할 처리 및 피크 프레임 샘플링 주기를 0.5초 단위로 최적화하여 메모리 점유 60% 절감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• [자원 조치] 백엔드 시니어 개발자 1명을 5일간 추가 병렬 배치(Crashing)하여 비동기 큐(Worker) 처리 전담 구현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투입공수 (EMP_MAN_050)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자체 무상 추가지원</a:t>
                      </a:r>
                    </a:p>
                  </a:txBody>
                  <a:tcPr anchor="ctr" marT="45720" marB="45720" marL="73152" marR="73152">
                    <a:solidFill>
                      <a:srgbClr val="FFFFFF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  <a:tr h="607428"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0F2942"/>
                          </a:solidFill>
                          <a:latin typeface="맑은 고딕"/>
                        </a:rPr>
                        <a:t>6. 정상화 목표 일정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1">
                          <a:solidFill>
                            <a:srgbClr val="0F2942"/>
                          </a:solidFill>
                          <a:latin typeface="맑은 고딕"/>
                        </a:rPr>
                        <a:t>및 일별 체크포인트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• [D+3일] 청크 분할 및 비동기 Worker 패치 완료 (진도 80% 회복)</a:t>
                      </a: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• [D+7일] 샘플 구매계약 영상 20종 단위테스트 통과 및 정상 기준선(100%) 완전 복귀 완료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차주 주간회의 시</a:t>
                      </a:r>
                    </a:p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19" b="0">
                          <a:solidFill>
                            <a:srgbClr val="0F2942"/>
                          </a:solidFill>
                          <a:latin typeface="맑은 고딕"/>
                        </a:rPr>
                        <a:t>종결 확인</a:t>
                      </a:r>
                    </a:p>
                  </a:txBody>
                  <a:tcPr anchor="ctr" marT="45720" marB="45720" marL="73152" marR="73152">
                    <a:solidFill>
                      <a:srgbClr val="F1F5F9"/>
                    </a:solidFill>
                    <a:lnL w="6350" cmpd="sng">
                      <a:solidFill>
                        <a:srgbClr val="CBD5E1"/>
                      </a:solidFill>
                    </a:lnL>
                    <a:lnR w="6350" cmpd="sng">
                      <a:solidFill>
                        <a:srgbClr val="CBD5E1"/>
                      </a:solidFill>
                    </a:lnR>
                    <a:lnT w="6350" cmpd="sng">
                      <a:solidFill>
                        <a:srgbClr val="CBD5E1"/>
                      </a:solidFill>
                    </a:lnT>
                    <a:lnB w="6350" cmpd="sng">
                      <a:solidFill>
                        <a:srgbClr val="CBD5E1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57200" y="5779008"/>
            <a:ext cx="11274552" cy="502920"/>
          </a:xfrm>
          <a:prstGeom prst="rect">
            <a:avLst/>
          </a:prstGeom>
          <a:solidFill>
            <a:srgbClr val="EEF3FE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5779008"/>
            <a:ext cx="91440" cy="5029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5852160"/>
            <a:ext cx="109270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>
                <a:solidFill>
                  <a:srgbClr val="0F172A"/>
                </a:solidFill>
                <a:latin typeface="맑은 고딕"/>
              </a:rPr>
              <a:t>운용 원칙 : 만회 대책서가 발동된 과업은 정상 궤도(편차 -5%p 이내)로 복귀할 때까지 매주 금요일 주간정례보고의 최우선 안건으로 추적 관리합니다.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>주식회사 엠파시 (Empasy Inc.)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주식회사 엠파시 (Empasy Inc.)</cp:lastModifiedBy>
  <cp:revision>1</cp:revision>
  <dcterms:created xsi:type="dcterms:W3CDTF">2013-01-27T09:14:16Z</dcterms:created>
  <dcterms:modified xsi:type="dcterms:W3CDTF">2013-01-27T09:15:58Z</dcterms:modified>
  <cp:category/>
</cp:coreProperties>
</file>