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74" r:id="rId9"/>
    <p:sldId id="275" r:id="rId10"/>
    <p:sldId id="276" r:id="rId11"/>
    <p:sldId id="268" r:id="rId12"/>
    <p:sldId id="273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4FF"/>
    <a:srgbClr val="9DC3E6"/>
    <a:srgbClr val="5BA1FF"/>
    <a:srgbClr val="CDE2FF"/>
    <a:srgbClr val="006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59796EA-F582-7F36-475C-77E6F047A8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29" b="46290"/>
          <a:stretch/>
        </p:blipFill>
        <p:spPr>
          <a:xfrm>
            <a:off x="0" y="-1"/>
            <a:ext cx="12192000" cy="376129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846F443-C7A8-B271-4A58-80D830A64CB4}"/>
              </a:ext>
            </a:extLst>
          </p:cNvPr>
          <p:cNvSpPr/>
          <p:nvPr userDrawn="1"/>
        </p:nvSpPr>
        <p:spPr>
          <a:xfrm>
            <a:off x="0" y="3694176"/>
            <a:ext cx="12192000" cy="6711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4FF366-6CB2-28E6-7B86-E7C98D62A8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029" y="156043"/>
            <a:ext cx="1502917" cy="37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6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250CBBA-60B0-4381-A096-EF6116BDD5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878" y="328785"/>
            <a:ext cx="11129530" cy="421850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E34D3B-F8A0-4E6F-8935-7280A9B9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2D94-F03D-474A-8633-98CF47B78698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4B2447-4087-4760-8ECE-B7708138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F5348E-7274-429F-AD7E-2A9F7344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016FD-8D8B-4E5C-A1AF-AD3300A33B7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E1C8B7-3B28-4BD0-BC72-4C26291445F3}"/>
              </a:ext>
            </a:extLst>
          </p:cNvPr>
          <p:cNvSpPr/>
          <p:nvPr userDrawn="1"/>
        </p:nvSpPr>
        <p:spPr>
          <a:xfrm>
            <a:off x="0" y="815445"/>
            <a:ext cx="12192000" cy="176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00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19CEB82-8EF3-4540-A3E9-E90FE66CD90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AA159-5BC0-4CAF-B442-397AE1C58DF3}"/>
              </a:ext>
            </a:extLst>
          </p:cNvPr>
          <p:cNvSpPr txBox="1"/>
          <p:nvPr userDrawn="1"/>
        </p:nvSpPr>
        <p:spPr>
          <a:xfrm>
            <a:off x="6954492" y="953458"/>
            <a:ext cx="1689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spc="-15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ko-KR" sz="3200" spc="-150" dirty="0">
                <a:solidFill>
                  <a:schemeClr val="tx1"/>
                </a:solidFill>
                <a:latin typeface="+mn-ea"/>
                <a:ea typeface="+mn-ea"/>
              </a:rPr>
              <a:t>ontents</a:t>
            </a:r>
            <a:endParaRPr lang="ko-KR" altLang="en-US" sz="3200" spc="-15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00A2EF3-DF1B-42A8-9D58-225FBF064C17}"/>
              </a:ext>
            </a:extLst>
          </p:cNvPr>
          <p:cNvCxnSpPr/>
          <p:nvPr userDrawn="1"/>
        </p:nvCxnSpPr>
        <p:spPr>
          <a:xfrm>
            <a:off x="7070102" y="1781666"/>
            <a:ext cx="330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3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1FB82E-B689-6B6A-2875-3894801FFF12}"/>
              </a:ext>
            </a:extLst>
          </p:cNvPr>
          <p:cNvSpPr txBox="1"/>
          <p:nvPr userDrawn="1"/>
        </p:nvSpPr>
        <p:spPr>
          <a:xfrm>
            <a:off x="0" y="2997296"/>
            <a:ext cx="12192000" cy="538793"/>
          </a:xfrm>
          <a:prstGeom prst="rect">
            <a:avLst/>
          </a:prstGeom>
          <a:noFill/>
        </p:spPr>
        <p:txBody>
          <a:bodyPr wrap="square" lIns="0" tIns="36000" rIns="0" bIns="36000" rtlCol="0" anchor="t">
            <a:spAutoFit/>
          </a:bodyPr>
          <a:lstStyle/>
          <a:p>
            <a:pPr algn="ctr" latinLnBrk="0">
              <a:lnSpc>
                <a:spcPct val="120000"/>
              </a:lnSpc>
            </a:pPr>
            <a:r>
              <a:rPr lang="ko-KR" altLang="en-US" sz="2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8471644-284A-5270-BFEF-45AA6D5A641C}"/>
              </a:ext>
            </a:extLst>
          </p:cNvPr>
          <p:cNvCxnSpPr/>
          <p:nvPr userDrawn="1"/>
        </p:nvCxnSpPr>
        <p:spPr>
          <a:xfrm>
            <a:off x="2498103" y="3733016"/>
            <a:ext cx="71078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7C3C58C-C22D-E605-3E48-B1BDC4B84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195" y="4022122"/>
            <a:ext cx="1615610" cy="4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205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3BFACF-D361-4F4A-A848-197808D63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FE1D87-FA3F-45D6-8020-86B2EB2EC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EAA22-CF3F-4F79-BB4E-2D6950EDD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12D94-F03D-474A-8633-98CF47B78698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5E291-AAA2-4090-966E-896B78521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F16EA-4600-4C2B-A65E-D1FFB6C55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016FD-8D8B-4E5C-A1AF-AD3300A33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54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7" r:id="rId3"/>
    <p:sldLayoutId id="214748365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71BF169-B508-60A9-E266-D1DC4AC1401D}"/>
              </a:ext>
            </a:extLst>
          </p:cNvPr>
          <p:cNvSpPr/>
          <p:nvPr/>
        </p:nvSpPr>
        <p:spPr>
          <a:xfrm>
            <a:off x="2896000" y="3000000"/>
            <a:ext cx="6400000" cy="130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b"/>
          <a:lstStyle/>
          <a:p>
            <a:pPr algn="ctr">
              <a:spcAft>
                <a:spcPts val="1000"/>
              </a:spcAft>
              <a:defRPr sz="1400" b="0">
                <a:solidFill>
                  <a:srgbClr val="475569"/>
                </a:solidFill>
              </a:defRPr>
            </a:pPr>
            <a:r>
              <a:t>한빛글로벌 SyncGuard AI 시스템 구축</a:t>
            </a:r>
          </a:p>
          <a:p>
            <a:pPr algn="ctr">
              <a:defRPr sz="2600" b="1">
                <a:solidFill>
                  <a:srgbClr val="0F172A"/>
                </a:solidFill>
              </a:defRPr>
            </a:pPr>
            <a:r>
              <a:t>사업수행계획서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F64FA-1856-921E-BC65-D76D17201480}"/>
              </a:ext>
            </a:extLst>
          </p:cNvPr>
          <p:cNvSpPr txBox="1"/>
          <p:nvPr/>
        </p:nvSpPr>
        <p:spPr>
          <a:xfrm>
            <a:off x="10144817" y="482077"/>
            <a:ext cx="1842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200"/>
            </a:pPr>
            <a:r>
              <a:t>산출물ID : EMP_INT_010   |   버전 : v1.0   |   작성일 : 2026. 10. 16.</a:t>
            </a:r>
            <a:br/>
            <a:r>
              <a:t>발주사 : HANBIT GLOBAL   |   수행사 : EMPASY</a:t>
            </a:r>
            <a:endParaRPr lang="ko-KR" altLang="en-US" sz="12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C30FDA6-78DD-B219-5868-C81CE4260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96516"/>
              </p:ext>
            </p:extLst>
          </p:nvPr>
        </p:nvGraphicFramePr>
        <p:xfrm>
          <a:off x="9095750" y="5214966"/>
          <a:ext cx="2901178" cy="148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6461">
                  <a:extLst>
                    <a:ext uri="{9D8B030D-6E8A-4147-A177-3AD203B41FA5}">
                      <a16:colId xmlns:a16="http://schemas.microsoft.com/office/drawing/2014/main" val="851051069"/>
                    </a:ext>
                  </a:extLst>
                </a:gridCol>
                <a:gridCol w="844128">
                  <a:extLst>
                    <a:ext uri="{9D8B030D-6E8A-4147-A177-3AD203B41FA5}">
                      <a16:colId xmlns:a16="http://schemas.microsoft.com/office/drawing/2014/main" val="7757185"/>
                    </a:ext>
                  </a:extLst>
                </a:gridCol>
                <a:gridCol w="606461">
                  <a:extLst>
                    <a:ext uri="{9D8B030D-6E8A-4147-A177-3AD203B41FA5}">
                      <a16:colId xmlns:a16="http://schemas.microsoft.com/office/drawing/2014/main" val="3328489124"/>
                    </a:ext>
                  </a:extLst>
                </a:gridCol>
                <a:gridCol w="844128">
                  <a:extLst>
                    <a:ext uri="{9D8B030D-6E8A-4147-A177-3AD203B41FA5}">
                      <a16:colId xmlns:a16="http://schemas.microsoft.com/office/drawing/2014/main" val="3311728044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수행사 (EMPASY)</a:t>
                      </a: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sz="900">
                          <a:solidFill>
                            <a:srgbClr val="1E293B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발주사 (한빛글로벌)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sz="900">
                          <a:solidFill>
                            <a:srgbClr val="1E293B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33782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담당자</a:t>
                      </a: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lang="ko-KR" altLang="en-US" sz="1050" u="none" strike="noStrike" dirty="0">
                          <a:effectLst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승인자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lang="ko-KR" altLang="en-US" sz="1050" u="none" strike="noStrike" dirty="0">
                          <a:effectLst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77320"/>
                  </a:ext>
                </a:extLst>
              </a:tr>
              <a:tr h="942975">
                <a:tc gridSpan="2"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(인)</a:t>
                      </a:r>
                    </a:p>
                  </a:txBody>
                  <a:tcPr marL="0" marR="142875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sz="900">
                          <a:solidFill>
                            <a:srgbClr val="1E293B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(인)</a:t>
                      </a:r>
                    </a:p>
                  </a:txBody>
                  <a:tcPr marL="0" marR="14287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sz="900">
                          <a:solidFill>
                            <a:srgbClr val="1E293B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447493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5FF59C5-BCF7-B2E3-708C-706808F87F36}"/>
              </a:ext>
            </a:extLst>
          </p:cNvPr>
          <p:cNvCxnSpPr/>
          <p:nvPr/>
        </p:nvCxnSpPr>
        <p:spPr>
          <a:xfrm>
            <a:off x="0" y="3538330"/>
            <a:ext cx="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E22CE2-9967-E416-7959-795B65194DA0}"/>
              </a:ext>
            </a:extLst>
          </p:cNvPr>
          <p:cNvSpPr txBox="1"/>
          <p:nvPr/>
        </p:nvSpPr>
        <p:spPr>
          <a:xfrm>
            <a:off x="5602916" y="3221066"/>
            <a:ext cx="986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39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7C48DB-D5A3-6496-25F3-3E450B0199CE}"/>
              </a:ext>
            </a:extLst>
          </p:cNvPr>
          <p:cNvSpPr txBox="1"/>
          <p:nvPr/>
        </p:nvSpPr>
        <p:spPr>
          <a:xfrm>
            <a:off x="6987712" y="2036990"/>
            <a:ext cx="259237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en-US" altLang="ko-KR" sz="1400" b="1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배경 및 범위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일정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(WBS)</a:t>
            </a: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b="1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진행 및 산출물</a:t>
            </a:r>
            <a:endParaRPr lang="en-US" altLang="ko-KR" sz="1400" b="1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 방안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이슈 대응 계획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(Risk Management)</a:t>
            </a: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보고 계획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산출물 내역</a:t>
            </a:r>
          </a:p>
          <a:p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b="1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인력투입계획</a:t>
            </a:r>
            <a:endParaRPr lang="en-US" altLang="ko-KR" sz="1400" b="1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 수행 조직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투입 계획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b="1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협조 요청사항</a:t>
            </a:r>
            <a:endParaRPr lang="en-US" altLang="ko-KR" sz="1400" b="1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#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61878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3B9BF1-1C6C-484A-94D1-FA20672ABFD2}"/>
              </a:ext>
            </a:extLst>
          </p:cNvPr>
          <p:cNvSpPr/>
          <p:nvPr/>
        </p:nvSpPr>
        <p:spPr>
          <a:xfrm>
            <a:off x="4007963" y="3148553"/>
            <a:ext cx="4176074" cy="10558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pc="-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C20D-EEB4-42B6-BACA-6C12EFB17854}"/>
              </a:ext>
            </a:extLst>
          </p:cNvPr>
          <p:cNvSpPr txBox="1"/>
          <p:nvPr/>
        </p:nvSpPr>
        <p:spPr>
          <a:xfrm>
            <a:off x="5056293" y="4749978"/>
            <a:ext cx="2276585" cy="700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배경 및 범위</a:t>
            </a:r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일정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(WBS)</a:t>
            </a:r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701334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135E6F2-787B-4EA2-9551-A14714115C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프로젝트 배경 및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엠파시(EMPASY)는 한빛글로벌 SyncGuard AI 시스템 구축을 통해 제품 표시·광고 가이드라인 준수 여부를 AI로 사전 심의하고, RA 전문가 판단을 지원하여 법적 리스크를 최소화하고 심의 업무 생산성을 혁신적으로 향상시키고자 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■ 추진 배경 및 목표</a:t>
            </a:r>
            <a:br/>
            <a:br/>
            <a:r>
              <a:t>1. 추진 배경</a:t>
            </a:r>
            <a:br/>
            <a:r>
              <a:t>   • 식약처 및 공정위 제품 표시·광고 관리 가이드라인 규제 강화</a:t>
            </a:r>
            <a:br/>
            <a:r>
              <a:t>   • 마케팅 상세페이지, SNS, 패키지 등 다변화된 시안 급증</a:t>
            </a:r>
            <a:br/>
            <a:r>
              <a:t>   • 수작업 법령/원장 검색에 따른 RA 부서의 심의 병목 해소 필요</a:t>
            </a:r>
            <a:br/>
            <a:br/>
            <a:r>
              <a:t>2. 사업 목표</a:t>
            </a:r>
            <a:br/>
            <a:r>
              <a:t>   • AI 사전 심의를 통한 1차 검토 자동화 및 업무 속도 50% 이상 단축</a:t>
            </a:r>
            <a:br/>
            <a:r>
              <a:t>   • 3단계 판정 엔진으로 법령 위반 및 표시광고 리스크 선제 차단</a:t>
            </a:r>
            <a:br/>
            <a:r>
              <a:t>   • RA 전문가 최종 승인 및 소명용 불변 감사로그 구축</a:t>
            </a:r>
            <a:br/>
            <a:br/>
            <a:r>
              <a:t>3. 사업 기간 : 2026. 10. 16. ~ 2027. 05. 31. (7.5개월)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■ 프로젝트 구축 범위 (8대 영역 · 43개 세부 기능)</a:t>
            </a:r>
            <a:br/>
            <a:br/>
            <a:r>
              <a:t>• 01. 시안 파일 처리 및 OCR (6개) : PPTX/PDF 파싱, 이미지 OCR 추출, 문장 분리/정제</a:t>
            </a:r>
            <a:br/>
            <a:r>
              <a:t>• 02. 3단계 AI 판정 (4개) : 룰 점검 ➔ 하이브리드 RAG 근거 검색 ➔ 문맥 판정 Agent</a:t>
            </a:r>
            <a:br/>
            <a:r>
              <a:t>• 03. 문안 정제 및 대조 (3개) : 대체 표현 권장안 생성, 실증 필요 여부 분석</a:t>
            </a:r>
            <a:br/>
            <a:r>
              <a:t>• 04. 공통 및 기반 (8개) : 역할별 권한(RBAC), 인앱/메일 알림, 공식 PDF 리포트</a:t>
            </a:r>
            <a:br/>
            <a:r>
              <a:t>• 05. 사용자 화면 (6개) : 2D 캔버스 대조 뷰어, 실증 검증 화면, RA 확정 UI</a:t>
            </a:r>
            <a:br/>
            <a:r>
              <a:t>• 06. 품질 관리 (4개) : 골든셋 벤치마크 평가, 심의 확정 불변 감사 로그</a:t>
            </a:r>
            <a:br/>
            <a:r>
              <a:t>• 07. 외부 연계 (4개) : 사내 SSO, MarketingHub 회신, KT레몬 동기화, ProductLab 연동</a:t>
            </a:r>
            <a:br/>
            <a:r>
              <a:t>• 08. 관리자/운영 (6개) : 표현 사전, 규제 문서 RAG, AI 설정, 운영 통계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316338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858493-1167-4B27-83DC-EB43177E0A9F}"/>
              </a:ext>
            </a:extLst>
          </p:cNvPr>
          <p:cNvSpPr txBox="1"/>
          <p:nvPr/>
        </p:nvSpPr>
        <p:spPr>
          <a:xfrm>
            <a:off x="408878" y="945562"/>
            <a:ext cx="5392823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2026년 10월 16일부터 2027년 5월 31일까지 7.5개월간 12개 주요 작업을 진행하며, 마일스톤 M1~M6를 둡니다.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94C2B15-D3A0-405F-97C1-D1509F2E52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프로젝트 일정 </a:t>
            </a:r>
            <a:r>
              <a:rPr lang="en-US" altLang="ko-KR" dirty="0"/>
              <a:t>(WBS)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B5E49-5987-22F7-BF0A-1F43530397BD}"/>
              </a:ext>
            </a:extLst>
          </p:cNvPr>
          <p:cNvSpPr txBox="1"/>
          <p:nvPr/>
        </p:nvSpPr>
        <p:spPr>
          <a:xfrm>
            <a:off x="146304" y="6529215"/>
            <a:ext cx="46875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Light" panose="00000300000000000000" pitchFamily="2" charset="-127"/>
              </a:rPr>
              <a:t>※ 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Light" panose="00000300000000000000" pitchFamily="2" charset="-127"/>
              </a:rPr>
              <a:t>본 프로젝트 일정은 요건 확정 및 개발 방향 논의 후 조정될 수 있습니다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52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주요 작업 과업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수행 기간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주요 마일스톤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분석·기획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[01] 착수, 요구사항·연계 규격 정의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PM·데이터브릿지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2026.10 ~ 2026.11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착수보고 (10.16)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[02] 화면·DB·IA·연계 상세 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기획·개발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2026.11 ~ 2026.12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M1 설계승인 (11월말)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[03] 규칙 사전·근거 검색·Agent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2026.12 ~ 2027.01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[04] 3단계 판정 엔진·프롬프트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2027.01 ~ 2027.03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M2 중간보고 (1월말)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개발·연계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[05] 화면 개발 및 결과 파일 고도화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풀스택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2026.12 ~ 2027.03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M4 구현완료 (3월말)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개발·연계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[06] SSO·MarketingHub·KT레몬 연계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개발 1·2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2026.12 ~ 2027.02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실증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[07] ProductLab 실증자료 DB 구축·연동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데이터브릿지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2026.12 ~ 2027.02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M3 실증연계 (2월말)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시험·검증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[08] 통합·연계·보안·성능 시험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데이터브릿지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2027.03 ~ 2027.04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품질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[09] 골든셋 평가·엔진 미세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2027.03 ~ 2027.04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M5 파일럿완료 (4월말)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현업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[10] 마케터·RA 현업 파일럿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2027.04 ~ 2027.05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이행·오픈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[11] 운영 이관·교육·검수 및 오픈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PM·전체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2027.05 ~ 2027.05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M6 그랜드오픈 (5.31)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52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발주사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[12] 자료 제공·골든셋 정답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발주사 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2026.10 ~ 2027.05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상시 검수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417674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3B9BF1-1C6C-484A-94D1-FA20672ABFD2}"/>
              </a:ext>
            </a:extLst>
          </p:cNvPr>
          <p:cNvSpPr/>
          <p:nvPr/>
        </p:nvSpPr>
        <p:spPr>
          <a:xfrm>
            <a:off x="3799160" y="3148553"/>
            <a:ext cx="4593681" cy="10558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pc="-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진행 및 산출물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CCF9DC-DC85-CBF1-D93B-CEA95D6F60A4}"/>
              </a:ext>
            </a:extLst>
          </p:cNvPr>
          <p:cNvSpPr txBox="1"/>
          <p:nvPr/>
        </p:nvSpPr>
        <p:spPr>
          <a:xfrm>
            <a:off x="4501397" y="4749978"/>
            <a:ext cx="3313728" cy="1343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 방안</a:t>
            </a:r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이슈 대응 계획 </a:t>
            </a:r>
            <a:r>
              <a:rPr lang="en-US" altLang="ko-KR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(Risk Management)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보고 계획</a:t>
            </a:r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산출물 내역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944104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구축 방안</a:t>
            </a: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사용자 화면, 업무 서버, AI 판정 엔진, 데이터 저장소로 역할을 분리하고 사내 시스템 4종과 안정적으로 연계합니다.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1. 사용자 화면 (Vue 3 / Vite)</a:t>
            </a:r>
            <a:br/>
            <a:r>
              <a:t>• 마케터/연구원/RA/관리자 전용 웹 화면</a:t>
            </a:r>
            <a:br/>
            <a:r>
              <a:t>• Canvas 2D Side-by-Side 슬라이드 뷰어</a:t>
            </a:r>
            <a:br/>
            <a:r>
              <a:t>• 문장별 위반/주의/적합 3색 하이라이트</a:t>
            </a:r>
            <a:br/>
            <a:r>
              <a:t>• 실증 자료 검증 및 RA 최종 승인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9202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2. 업무 서버 (Spring Boot 3)</a:t>
            </a:r>
            <a:br/>
            <a:r>
              <a:t>• 심의 요청 접수 및 상태 머신 관리</a:t>
            </a:r>
            <a:br/>
            <a:r>
              <a:t>• 판정 결과 집계 및 RA 확정 처리</a:t>
            </a:r>
            <a:br/>
            <a:r>
              <a:t>• 수정 불가 불변 감사로그(소명용) 저장</a:t>
            </a:r>
            <a:br/>
            <a:r>
              <a:t>• 공식 PDF/Excel 리포트 생성 및 알림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9202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3. AI 판정 엔진 (3단계 하이브리드)</a:t>
            </a:r>
            <a:br/>
            <a:r>
              <a:t>• 1단계 : 표현 사전 기반 키워드/정규식 고속 룰 점검</a:t>
            </a:r>
            <a:br/>
            <a:r>
              <a:t>• 2단계 : 식약처 가이드라인 하이브리드 RAG 근거 검색</a:t>
            </a:r>
            <a:br/>
            <a:r>
              <a:t>• 3단계 : LLM 문맥 판정, 안전 대체문구 추천 Agent</a:t>
            </a:r>
            <a:br/>
            <a:r>
              <a:t>• 환각 방지 가드레일 및 실증 필요 여부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4. 데이터 계층 (PostgreSQL 16)</a:t>
            </a:r>
            <a:br/>
            <a:r>
              <a:t>• PostgreSQL 16 + pgvector (규제 조항 벡터 임베딩)</a:t>
            </a:r>
            <a:br/>
            <a:r>
              <a:t>• Redis 캐시 (고속 세션 및 룰 사전 캐싱)</a:t>
            </a:r>
            <a:br/>
            <a:r>
              <a:t>• MinIO / S3 파일 스토리지 (시안 및 리포트 원본)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1148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5. 사내 연계 4종 (Enterprise Integration)• 사내 SSO : SAML 2.0 / OIDC 기반 통합 계정 인증• MarketingHub : 심의 완료 시 결과 요약 및 PDF URL 자동 회신• KT 레몬(Option) : 전성분 및 배합한도(%) 기준 데이터 일배치• ProductLab : 세포효능 보고서 및 실증자료 연동 (데이터브릿지)</a:t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31497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이슈 대응 계획 </a:t>
            </a:r>
            <a:r>
              <a:rPr lang="en-US" altLang="ko-KR" dirty="0"/>
              <a:t>(Risk Management)</a:t>
            </a:r>
          </a:p>
        </p:txBody>
      </p:sp>
      <p:graphicFrame>
        <p:nvGraphicFramePr>
          <p:cNvPr id="33" name="표 33">
            <a:extLst>
              <a:ext uri="{FF2B5EF4-FFF2-40B4-BE49-F238E27FC236}">
                <a16:creationId xmlns:a16="http://schemas.microsoft.com/office/drawing/2014/main" id="{A566E6F2-D43C-1FF2-188F-FFA8AE619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288963"/>
              </p:ext>
            </p:extLst>
          </p:nvPr>
        </p:nvGraphicFramePr>
        <p:xfrm>
          <a:off x="408878" y="1514373"/>
          <a:ext cx="11377738" cy="4936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968">
                  <a:extLst>
                    <a:ext uri="{9D8B030D-6E8A-4147-A177-3AD203B41FA5}">
                      <a16:colId xmlns:a16="http://schemas.microsoft.com/office/drawing/2014/main" val="427813779"/>
                    </a:ext>
                  </a:extLst>
                </a:gridCol>
                <a:gridCol w="4452159">
                  <a:extLst>
                    <a:ext uri="{9D8B030D-6E8A-4147-A177-3AD203B41FA5}">
                      <a16:colId xmlns:a16="http://schemas.microsoft.com/office/drawing/2014/main" val="3263781789"/>
                    </a:ext>
                  </a:extLst>
                </a:gridCol>
                <a:gridCol w="5847611">
                  <a:extLst>
                    <a:ext uri="{9D8B030D-6E8A-4147-A177-3AD203B41FA5}">
                      <a16:colId xmlns:a16="http://schemas.microsoft.com/office/drawing/2014/main" val="3434092828"/>
                    </a:ext>
                  </a:extLst>
                </a:gridCol>
              </a:tblGrid>
              <a:tr h="404229">
                <a:tc>
                  <a:txBody>
                    <a:bodyPr/>
                    <a:lstStyle/>
                    <a:p>
                      <a:pPr algn="ctr" latinLnBrk="1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범주 구성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Risk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항목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경감 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522343"/>
                  </a:ext>
                </a:extLst>
              </a:tr>
              <a:tr h="106313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AI 판정 품질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1) AI 환각(Hallucination) 및 판정 오류 가능성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2) 법령 해석의 오탐/미탐으로 인한 법적 리스크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1) 식약처 법령 청크 근거 기반 프롬프트 엔지니어링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2) 실증 매핑 가드레일 및 골든셋(정밀도 90% 이상) 지속 벤치마크 검증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3) RA 전문가 최종 승인 프로세스 의무화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309628"/>
                  </a:ext>
                </a:extLst>
              </a:tr>
              <a:tr h="6460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사내 대외 연계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1) 사내 SSO, MarketingHub, KT레몬, ProductLab 연계 지연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2) 연계 인터페이스 규격 변경 및 네트워크 방화벽 이슈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1) 10~11월 초기에 인터페이스 규격 조기 확정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2) 가상 연계기(Mock Server)를 선제 구축하여 개발 일정 독립성 확보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3) 정보전략팀 및 담당 부서 실무 협의체 가동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17097"/>
                  </a:ext>
                </a:extLst>
              </a:tr>
              <a:tr h="85476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비정형 데이터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1) 복잡한 PPTX/PDF 및 이미지 시안 OCR 파싱 실패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2) 저해상도 텍스트 오인식 및 바운딩 박스 위치 오류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1) 다중 OCR 엔진 전처리(기울기/DPI 보정) 적용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2) 신뢰도 점수 기반 저신뢰 문장 자동 플래그 부여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3) Side-by-Side 뷰어에서 마케터/RA 수동 교정 UI 제공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630551"/>
                  </a:ext>
                </a:extLst>
              </a:tr>
              <a:tr h="11730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규제/소명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1) 공정위/식약처 대외 사후 소명 시 데이터 정합성 문제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2) 심의 당시의 판정 근거 및 원본 스냅샷 유실 위험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1) RA 최종 확정 시점의 스냅샷을 수정/삭제가 불가능한 불변 감사 테이블(review_history_immutable)에 영구 보존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2) 원본 시안, 추출 문장, AI 판정, RA 코멘트 일체 해시 검증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537463"/>
                  </a:ext>
                </a:extLst>
              </a:tr>
              <a:tr h="794920">
                <a:tc>
                  <a:txBody>
                    <a:bodyPr/>
                    <a:lstStyle/>
                    <a:p>
                      <a:pPr algn="ctr" latinLnBrk="1"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개발 인프라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fontAlgn="base">
                        <a:spcBef>
                          <a:spcPts val="600"/>
                        </a:spcBef>
                        <a:spcAft>
                          <a:spcPct val="0"/>
                        </a:spcAft>
                        <a:buAutoNum type="arabicParenR"/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kumimoji="1" lang="en-US" altLang="ko-KR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kumimoji="1" lang="ko-KR" altLang="en-US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대상 시스템과 관련된 기술 문서가 충분한가</a:t>
                      </a:r>
                      <a:r>
                        <a:rPr kumimoji="1" lang="en-US" altLang="ko-KR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?</a:t>
                      </a:r>
                    </a:p>
                    <a:p>
                      <a:pPr marL="88900" indent="-88900" fontAlgn="base">
                        <a:spcBef>
                          <a:spcPts val="600"/>
                        </a:spcBef>
                        <a:spcAft>
                          <a:spcPct val="0"/>
                        </a:spcAft>
                        <a:buAutoNum type="arabicParenR"/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kumimoji="1" lang="ko-KR" altLang="en-US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개발을 위한 장비 지원과 </a:t>
                      </a:r>
                      <a:r>
                        <a:rPr kumimoji="1" lang="en-US" altLang="ko-KR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Network </a:t>
                      </a:r>
                      <a:r>
                        <a:rPr kumimoji="1" lang="ko-KR" altLang="en-US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지원은 문제 없는가</a:t>
                      </a:r>
                      <a:r>
                        <a:rPr kumimoji="1" lang="en-US" altLang="ko-KR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fontAlgn="base">
                        <a:spcBef>
                          <a:spcPts val="600"/>
                        </a:spcBef>
                        <a:spcAft>
                          <a:spcPct val="0"/>
                        </a:spcAft>
                        <a:buAutoNum type="arabicParenR"/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사전 필요 문서 리스트를 요청</a:t>
                      </a: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미비한 부분이 있을 경우 분석기간 추가 산정하고 운영팀과 협의를 통해 보완</a:t>
                      </a:r>
                      <a:endParaRPr kumimoji="1"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pPr marL="88900" indent="-88900" fontAlgn="base">
                        <a:spcBef>
                          <a:spcPts val="600"/>
                        </a:spcBef>
                        <a:spcAft>
                          <a:spcPct val="0"/>
                        </a:spcAft>
                        <a:buAutoNum type="arabicParenR"/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AS-IS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개발 시스템</a:t>
                      </a: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활용</a:t>
                      </a: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필요 시 신규 장비 투입을 통해 기존</a:t>
                      </a: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시스템 영향도 없이 진행</a:t>
                      </a:r>
                      <a:endParaRPr kumimoji="1"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401791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30863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보고 계획</a:t>
            </a:r>
            <a:endParaRPr lang="en-US" altLang="ko-KR" dirty="0"/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BDAE0ABD-D1C7-2695-1FD2-631B708C7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436137"/>
              </p:ext>
            </p:extLst>
          </p:nvPr>
        </p:nvGraphicFramePr>
        <p:xfrm>
          <a:off x="805730" y="1543060"/>
          <a:ext cx="10580541" cy="469200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37935">
                  <a:extLst>
                    <a:ext uri="{9D8B030D-6E8A-4147-A177-3AD203B41FA5}">
                      <a16:colId xmlns:a16="http://schemas.microsoft.com/office/drawing/2014/main" val="233756219"/>
                    </a:ext>
                  </a:extLst>
                </a:gridCol>
                <a:gridCol w="2104756">
                  <a:extLst>
                    <a:ext uri="{9D8B030D-6E8A-4147-A177-3AD203B41FA5}">
                      <a16:colId xmlns:a16="http://schemas.microsoft.com/office/drawing/2014/main" val="1621839204"/>
                    </a:ext>
                  </a:extLst>
                </a:gridCol>
                <a:gridCol w="5621146">
                  <a:extLst>
                    <a:ext uri="{9D8B030D-6E8A-4147-A177-3AD203B41FA5}">
                      <a16:colId xmlns:a16="http://schemas.microsoft.com/office/drawing/2014/main" val="2427579227"/>
                    </a:ext>
                  </a:extLst>
                </a:gridCol>
                <a:gridCol w="1116704">
                  <a:extLst>
                    <a:ext uri="{9D8B030D-6E8A-4147-A177-3AD203B41FA5}">
                      <a16:colId xmlns:a16="http://schemas.microsoft.com/office/drawing/2014/main" val="4135589121"/>
                    </a:ext>
                  </a:extLst>
                </a:gridCol>
              </a:tblGrid>
              <a:tr h="4019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kumimoji="0" lang="ko-KR" altLang="en-US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Bold" panose="00000800000000000000" pitchFamily="2" charset="-127"/>
                        </a:rPr>
                        <a:t>구분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KoPubWorld돋움체 Bold" panose="00000800000000000000" pitchFamily="2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kumimoji="0" lang="ko-KR" altLang="en-US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Bold" panose="00000800000000000000" pitchFamily="2" charset="-127"/>
                        </a:rPr>
                        <a:t>종류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KoPubWorld돋움체 Bold" panose="00000800000000000000" pitchFamily="2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kumimoji="0" lang="ko-KR" altLang="en-US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Bold" panose="00000800000000000000" pitchFamily="2" charset="-127"/>
                        </a:rPr>
                        <a:t>역할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KoPubWorld돋움체 Bold" panose="00000800000000000000" pitchFamily="2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rPr kumimoji="0" lang="ko-KR" altLang="en-US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Bold" panose="00000800000000000000" pitchFamily="2" charset="-127"/>
                        </a:rPr>
                        <a:t>주기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KoPubWorld돋움체 Bold" panose="00000800000000000000" pitchFamily="2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971">
                <a:tc rowSpan="3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정기 보고</a:t>
                      </a:r>
                    </a:p>
                  </a:txBody>
                  <a:tcPr marL="42203" marR="42203" marT="22860" marB="228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주간업무보고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주간업무 계획 대비 실적, 차주계획 보고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주요 이슈/위험요소 및 대응계획 공유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매주 금요일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402620"/>
                  </a:ext>
                </a:extLst>
              </a:tr>
              <a:tr h="676352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정기 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월간진척보고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월간 공정률 및 마일스톤 달성도 점검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월별 투입 공수 및 리소스 관리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매월 말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940731"/>
                  </a:ext>
                </a:extLst>
              </a:tr>
              <a:tr h="476971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단계별 보고</a:t>
                      </a:r>
                    </a:p>
                  </a:txBody>
                  <a:tcPr marL="42203" marR="42203" marT="22860" marB="2286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착수보고서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사업개요, 수행범위, 일정(WBS), 추진조직 확정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착수 시 (10.16)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333553"/>
                  </a:ext>
                </a:extLst>
              </a:tr>
              <a:tr h="602394">
                <a:tc rowSpan="4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단계별 보고</a:t>
                      </a:r>
                    </a:p>
                  </a:txBody>
                  <a:tcPr marL="42203" marR="42203" marT="22860" marB="228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설계승인보고 (M1)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화면설계서, IA, DB명세서, 연계정의서 승인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11월말 (M1)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092417"/>
                  </a:ext>
                </a:extLst>
              </a:tr>
              <a:tr h="995536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단계별 보고</a:t>
                      </a:r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중간보고 (M2)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3단계 AI 판정 엔진 1차 검증 및 핵심 기능 시연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1월말 (M2)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615560"/>
                  </a:ext>
                </a:extLst>
              </a:tr>
              <a:tr h="530934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단계별 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완료보고서 (M6)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현업 파일럿 완료, 시스템 이관 및 최종 검수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5월말 (M6)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569380"/>
                  </a:ext>
                </a:extLst>
              </a:tr>
              <a:tr h="530934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비정기 보고</a:t>
                      </a:r>
                    </a:p>
                  </a:txBody>
                  <a:tcPr marL="42203" marR="42203" marT="22860" marB="2286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이슈/수시보고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긴급 리스크 발생 시 실무 워킹그룹 소집 및 대응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수시 (발생 시)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54618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281873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인력 투입 계획</a:t>
            </a: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사업 총괄 및 전문 기술 분야별 최적의 전담 인력으로 수행 조직을 구성합니다.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발주사 조직 (한빛글로벌)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담당 역할 및 업무 범위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수행사 조직 (엠파시 (EMPASY))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담당 역할 및 업무 범위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총괄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사업 총괄 관리, 부서 간 조율 및 주요 의사결정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수행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사업 총괄 관리, 공정/품질/산출물 통제 및 대외 소통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RA 전문가 그룹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심의 기준 수립, 골든셋 정답 검증, 파일럿 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3단계 판정 엔진, RAG 파이프라인, 프롬프트, 골든셋 튜닝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정보전략팀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SSO, MarketingHub, KT레몬 연계 인프라 및 보안 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풀스택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Canvas 2D 슬라이드 뷰어, 사용자/어드민 UI, 리포트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현업 마케터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시안 검토 파일럿 참여, 화면 사용성 피드백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백엔드 개발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Spring Boot 비즈니스 로직, 심의 상태 관리, SSO/MarketingHub 연계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연구원 그룹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ProductLab 실증자료 연동 협의 및 효능 매핑 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백엔드 개발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KT 레몬(Option) 성분 동기화 배치, 불변 감사로그, 권한/코드 관리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인프라 담당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운영 서버 자원 할당 및 네트워크 방화벽 오픈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실증 DB 전담 (데이터브릿지)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ProductLab 세포효능 및 기술원 실증 DB 구축·연동 전담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18047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프로젝트 산출물 내역</a:t>
            </a:r>
            <a:endParaRPr lang="en-US" altLang="ko-KR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B12429F-7DB7-43F0-A01B-527AB7D1F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096806"/>
              </p:ext>
            </p:extLst>
          </p:nvPr>
        </p:nvGraphicFramePr>
        <p:xfrm>
          <a:off x="584200" y="1517323"/>
          <a:ext cx="11054522" cy="4904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3844">
                  <a:extLst>
                    <a:ext uri="{9D8B030D-6E8A-4147-A177-3AD203B41FA5}">
                      <a16:colId xmlns:a16="http://schemas.microsoft.com/office/drawing/2014/main" val="610825466"/>
                    </a:ext>
                  </a:extLst>
                </a:gridCol>
                <a:gridCol w="1438156">
                  <a:extLst>
                    <a:ext uri="{9D8B030D-6E8A-4147-A177-3AD203B41FA5}">
                      <a16:colId xmlns:a16="http://schemas.microsoft.com/office/drawing/2014/main" val="2592207854"/>
                    </a:ext>
                  </a:extLst>
                </a:gridCol>
                <a:gridCol w="4075043">
                  <a:extLst>
                    <a:ext uri="{9D8B030D-6E8A-4147-A177-3AD203B41FA5}">
                      <a16:colId xmlns:a16="http://schemas.microsoft.com/office/drawing/2014/main" val="160730656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024510660"/>
                    </a:ext>
                  </a:extLst>
                </a:gridCol>
                <a:gridCol w="2305879">
                  <a:extLst>
                    <a:ext uri="{9D8B030D-6E8A-4147-A177-3AD203B41FA5}">
                      <a16:colId xmlns:a16="http://schemas.microsoft.com/office/drawing/2014/main" val="3754976417"/>
                    </a:ext>
                  </a:extLst>
                </a:gridCol>
              </a:tblGrid>
              <a:tr h="345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</a:t>
                      </a:r>
                      <a:endParaRPr 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  <a:endParaRPr lang="ko-KR" alt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산출물 명</a:t>
                      </a:r>
                      <a:endParaRPr lang="ko-KR" alt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Format</a:t>
                      </a:r>
                      <a:endParaRPr 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  <a:endParaRPr lang="ko-KR" alt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449133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착수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착수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사업수행계획서 (EMP_INT_010), WBS (EMP_INT_020), 착수보고서 (EMP_INT_000)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PPTX, XLSM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착수 2주 이내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851671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분석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분석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요구사항정의서 (EMP_ANL_020), 요구사항추적표 (EMP_ANL_030), AS-IS 프로세스정의서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XLSX, PPTX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11월초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708229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정보구조도 (EMP_DEG_010), 기능정의서 (EMP_DEG_020), 정책정의서 (EMP_DEG_030)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XLSX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M1 (11월말)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426042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화면설계서 (EMP_DEG_050), 데이터베이스명세서 (EMP_DEG_080), 아키텍처정의서 (EMP_DEG_090)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PPTX, XLSX, DOC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M1 (11월말)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85279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인터페이스설계서 (EMP_DEG_120), 배치프로그램설계서, CRUD Matrix (EMP_DEG_140)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XLSX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M1 (11월말)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75590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구현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구현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소스코드, 프롬프트명세서, ProductLab 연계명세서, 단위시험결과서 (EMP_TST_010)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CODE, XLSX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M2~M4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765737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시험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시험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통합시험시나리오/결과서 (EMP_TST_020), 보안점검결과서, 골든셋 평가보고서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XLSX, PPTX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M5 (4월말)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43410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이행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이행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사용자매뉴얼 (EMP_IMP_050), 운영자매뉴얼 (EMP_IMP_060), 시스템 완료보고서 (EMP_IMP_080)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PPTX, DOC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M6 (5월말)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8918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16674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673281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135845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114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85729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53514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6102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33232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375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2075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090154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핵심요구사항 </a:t>
            </a:r>
            <a:endParaRPr lang="en-US" altLang="ko-KR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B12429F-7DB7-43F0-A01B-527AB7D1F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544934"/>
              </p:ext>
            </p:extLst>
          </p:nvPr>
        </p:nvGraphicFramePr>
        <p:xfrm>
          <a:off x="456184" y="1624928"/>
          <a:ext cx="11257281" cy="43642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5728">
                  <a:extLst>
                    <a:ext uri="{9D8B030D-6E8A-4147-A177-3AD203B41FA5}">
                      <a16:colId xmlns:a16="http://schemas.microsoft.com/office/drawing/2014/main" val="696109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771456883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1607306560"/>
                    </a:ext>
                  </a:extLst>
                </a:gridCol>
                <a:gridCol w="5833873">
                  <a:extLst>
                    <a:ext uri="{9D8B030D-6E8A-4147-A177-3AD203B41FA5}">
                      <a16:colId xmlns:a16="http://schemas.microsoft.com/office/drawing/2014/main" val="1024510660"/>
                    </a:ext>
                  </a:extLst>
                </a:gridCol>
              </a:tblGrid>
              <a:tr h="3641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요구사항번호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핵심내용</a:t>
                      </a:r>
                      <a:endParaRPr lang="ko-KR" altLang="en-US" sz="12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세부내용</a:t>
                      </a:r>
                      <a:endParaRPr lang="en-US" sz="12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449133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REQ-01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데이터 처리 (F-01~06)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PPTX/PDF 시안 파싱, OCR 추출, 문장 분리/정제, 규제 문서 수집/임베딩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RA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929286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REQ-02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3단계 AI 판정 (F-07~09, 11)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1단계 표현사전 룰 점검 ➔ 2단계 RAG 근거 검색 ➔ 3단계 문맥 위험도 판정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RA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007547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REQ-03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문안 정제 및 대조 (F-10, 12, 16)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대체 권장 표현 생성, 실증 필요 여부 분석, 1차 검토 자동 오케스트레이션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RA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709879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REQ-04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공통 및 기반 (F-17~24)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역할별 권한(RBAC), 인앱/메일 알림, 시안 파일 업로드, 심의 의뢰/조회, 공식 PDF 리포트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RA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784506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REQ-05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사용자 화면 (F-25~30)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Canvas 2D 대조 뷰어, 문장별 3색 하이라이트, 실증 검증 화면, RA 최종 승인 UI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RA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962363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REQ-06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품질 관리 (F-31~34)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골든셋 벤치마크 평가, 심의 확정 불변 감사 로그, RA 피드백 사전 자동 갱신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RA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16821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REQ-07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외부 연계 (F-35~37)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사내 SSO(OIDC), MarketingHub 심의 결과 회신, KT 레몬(Option) 성분 동기화, ProductLab 실증 연동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RA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093423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REQ-08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관리자/운영 (F-38~43)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사용자 관리, 규제 문서 RAG 관리, 표현 사전 관리, 프롬프트/모델 튜닝, 운영 통계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RA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24868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189587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073403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176917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722715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396414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936556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301308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840965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3B9BF1-1C6C-484A-94D1-FA20672ABFD2}"/>
              </a:ext>
            </a:extLst>
          </p:cNvPr>
          <p:cNvSpPr/>
          <p:nvPr/>
        </p:nvSpPr>
        <p:spPr>
          <a:xfrm>
            <a:off x="3799160" y="3148553"/>
            <a:ext cx="4593681" cy="10558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pc="-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협조 요청 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960613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협조 요청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t>성공적인 사업 완수를 위해 발주사(한빛글로벌)의 적극적인 협조를 요청드립니다.1. 심의 기준 및 과거 판정 데이터 제공   • 골든셋 구축을 위한 과거 심의 사례, 위반 판정 이력 및 식약처 소명 자료 조기 제공   • 화장품 브랜드별 고유 소구 가이드 및 우선 심의 대상 제품군 정의 협조2. 사내 연계 시스템 인터페이스 협조   • 사내 SSO(OIDC), MarketingHub, KT 레몬(Option), ProductLab 연계 규격 및 개발/테스트 계정 10~11월 중 확정   • 연계 담당 부서(정보전략팀, 기술원, KT레몬 담당) 실무 협의 미팅 지원3. RA 전문가 의사결정 채널 운영   • 3단계 판정 로직 및 표현 사전(금지/주의/허용) 검수를 위한 RA 실무 워킹그룹 참여   • 마일스톤(M1~M6) 단계별 산출물에 대한 신속한 피드백 및 승인4. 현업 사용자 파일럿 참여   • 4월 중 마케터 및 RA 담당자의 실제 시안 검토 파일럿 참여 및 사용성 피드백 제공</a:t>
            </a:r>
            <a:br/>
            <a:br/>
            <a:r>
              <a:t/>
            </a:r>
            <a:br/>
            <a:r>
              <a:t/>
            </a:r>
            <a:br/>
            <a:r>
              <a:t/>
            </a:r>
            <a:br/>
            <a:br/>
            <a:r>
              <a:t/>
            </a:r>
            <a:br/>
            <a:r>
              <a:t/>
            </a:r>
            <a:br/>
            <a:r>
              <a:t/>
            </a:r>
            <a:br/>
            <a:br/>
            <a:r>
              <a:t/>
            </a:r>
            <a:br/>
            <a:r>
              <a:t/>
            </a:r>
            <a:br/>
            <a:r>
              <a:t/>
            </a:r>
            <a:br/>
            <a:br/>
            <a:r>
              <a:t/>
            </a:r>
            <a:br/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3425550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168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2533</Words>
  <Application>Microsoft Office PowerPoint</Application>
  <PresentationFormat>와이드스크린</PresentationFormat>
  <Paragraphs>307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주식회사 엠파시 (Empasy Inc.)</dc:creator>
  <cp:lastModifiedBy>주식회사 엠파시 (Empasy Inc.)</cp:lastModifiedBy>
  <cp:revision>143</cp:revision>
  <dcterms:created xsi:type="dcterms:W3CDTF">2021-12-20T02:13:26Z</dcterms:created>
  <dcterms:modified xsi:type="dcterms:W3CDTF">2026-10-15T20:56:46Z</dcterms:modified>
</cp:coreProperties>
</file>