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HANBIT GLOBAL SyncFlow AI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</a:defRPr>
            </a:pPr>
            <a:r>
              <a:t>AS-IS 프로세스 정의서 (AS-IS Process Definition)</a:t>
            </a:r>
          </a:p>
          <a:p>
            <a:pPr>
              <a:spcBef>
                <a:spcPts val="1000"/>
              </a:spcBef>
              <a:defRPr sz="1600">
                <a:solidFill>
                  <a:srgbClr val="CBD5E1"/>
                </a:solidFill>
              </a:defRPr>
            </a:pPr>
            <a:r>
              <a:t>한빛글로벌 현행 구매계약·기술규격 검증 업무 흐름 및 문제점 분석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572000"/>
            <a:ext cx="9966960" cy="1371600"/>
          </a:xfrm>
          <a:prstGeom prst="roundRect">
            <a:avLst/>
          </a:prstGeom>
          <a:solidFill>
            <a:srgbClr val="0F29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70916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문서 번호: EMP_ANL_040  |  버전: v1.0 (최종 승인본)  |  작성 일자: 2026년 10월 16일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분석 범위: 구매조달 계약조항 기획, 이메일 검증 접수, 수기 법령 대조, PLM-Nexus 수동 조회, 수정 피드백 및 결재</a:t>
            </a:r>
          </a:p>
          <a:p>
            <a:pPr>
              <a:defRPr sz="1100" b="1">
                <a:solidFill>
                  <a:srgbClr val="60A5FA"/>
                </a:solidFill>
              </a:defRPr>
            </a:pPr>
            <a:r>
              <a:t>발주사: ㈜한빛글로벌 (Hanbit Global Corp.)   |   수행사: 엠파시 (EMPASY)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AS-IS 프로세스 정의서  &gt;  1. 현행 업무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1.1 현행(AS-IS) 계약·기술규격 검증 업무 흐름도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942"/>
                </a:solidFill>
              </a:defRPr>
            </a:pPr>
            <a:r>
              <a:t>산출물 ID: EMP_ANL_040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SyncFlow AI | AS-IS 프로세스 정의서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2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엠파시 (EMPASY)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4592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563EB"/>
                </a:solidFill>
              </a:defRPr>
            </a:pPr>
            <a:r>
              <a:t>Step 1. 검증 요청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담당: 구매조달 담당자</a:t>
            </a:r>
          </a:p>
          <a:p>
            <a:pPr>
              <a:spcBef>
                <a:spcPts val="1200"/>
              </a:spcBef>
              <a:defRPr sz="950">
                <a:solidFill>
                  <a:srgbClr val="1E3A5F"/>
                </a:solidFill>
              </a:defRPr>
            </a:pPr>
            <a:r>
              <a:t>계약조항 기획 및 기술시방서 제작</a:t>
            </a:r>
            <a:br/>
            <a:r>
              <a:t>사내 이메일/메신저로 QA팀에 검증 요청 전달</a:t>
            </a:r>
            <a:br/>
            <a:r>
              <a:t>첨부파일(PPT, Word, 이미지)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64592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Step 2. 접수 및 확인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담당: QA 검증 담당자</a:t>
            </a:r>
          </a:p>
          <a:p>
            <a:pPr>
              <a:spcBef>
                <a:spcPts val="1200"/>
              </a:spcBef>
              <a:defRPr sz="950">
                <a:solidFill>
                  <a:srgbClr val="1E3A5F"/>
                </a:solidFill>
              </a:defRPr>
            </a:pPr>
            <a:r>
              <a:t>이메일 요청 접수 및 일정 확인</a:t>
            </a:r>
            <a:br/>
            <a:r>
              <a:t>제품 코드 확인 후 PLM-Nexus 시스템 개별 로그인</a:t>
            </a:r>
            <a:br/>
            <a:r>
              <a:t>자재BOM 및 조성 규격 수동 조회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4592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942"/>
                </a:solidFill>
              </a:defRPr>
            </a:pPr>
            <a:r>
              <a:t>Step 3. 수기 법령 대조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담당: QA 검증 담당자</a:t>
            </a:r>
          </a:p>
          <a:p>
            <a:pPr>
              <a:spcBef>
                <a:spcPts val="1200"/>
              </a:spcBef>
              <a:defRPr sz="950">
                <a:solidFill>
                  <a:srgbClr val="1E3A5F"/>
                </a:solidFill>
              </a:defRPr>
            </a:pPr>
            <a:r>
              <a:t>공정위·표준원 하도급법 제3조의4 및 가이드라인 PDF 검색</a:t>
            </a:r>
            <a:br/>
            <a:r>
              <a:t>과거 판례 및 시정명령·심결 문서 수동 탐색</a:t>
            </a:r>
            <a:br/>
            <a:r>
              <a:t>담당자 경험 기반 위반 여부 판단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64592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64748B"/>
                </a:solidFill>
              </a:defRPr>
            </a:pPr>
            <a:r>
              <a:t>Step 4. 피드백 및 결재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담당: 구매담당자 &amp; QA</a:t>
            </a:r>
          </a:p>
          <a:p>
            <a:pPr>
              <a:spcBef>
                <a:spcPts val="1200"/>
              </a:spcBef>
              <a:defRPr sz="950">
                <a:solidFill>
                  <a:srgbClr val="1E3A5F"/>
                </a:solidFill>
              </a:defRPr>
            </a:pPr>
            <a:r>
              <a:t>수정 의견 이메일 회신 (평균 2~3회 왕복)</a:t>
            </a:r>
            <a:br/>
            <a:r>
              <a:t>계약조항 수정 후 SRM-Portal 결재 수기 상신</a:t>
            </a:r>
            <a:br/>
            <a:r>
              <a:t>평균 3일(72시간) 소요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AS-IS 프로세스 정의서  &gt;  2. 현행 문제점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2.1 현행 검증 업무의 4대 핵심 페인포인트(Pain Points)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942"/>
                </a:solidFill>
              </a:defRPr>
            </a:pPr>
            <a:r>
              <a:t>산출물 ID: EMP_ANL_040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SyncFlow AI | AS-IS 프로세스 정의서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3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엠파시 (EMPASY)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1. 검증 리드타임 과다 소요 (평균 3일)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이메일 기반 접수 및 수작업 검토로 인해 검토 대기 시간 장기화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신규 차종 양산발주 및 단가계약 긴급 검증 시 업무 병목 현상 극심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월말/시즌별 요청 폭증 시 검증 품질 저하 우려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7160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087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2. 담당자별 주관적 판단 편차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명확한 디지털 규칙 시스템 부재로 담당자별 엄격도 차이 발생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사업부별 검증 기준 불일치로 구매조달 부서와의 잦은 마찰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과거 검증 이력 검색 불가로 동일 표현에 대한 판정 번복 위험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199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59669"/>
                </a:solidFill>
              </a:defRPr>
            </a:pPr>
            <a:r>
              <a:t>3. 이원화된 시스템 수동 조회 번거로움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검증 시 PLM-Nexus(조성성분)에 별도 로그인하여 수기 대조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첨부 이미지(PDP)의 텍스트를 육안으로 일일이 읽어 대조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결재 포털(SRM-Portal)과 검증 이력이 연계되지 않아 이중 작업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49039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886199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7C3AED"/>
                </a:solidFill>
              </a:defRPr>
            </a:pPr>
            <a:r>
              <a:t>4. 수정 대안 제시 한계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단순히 '사용 불가' 통보만 하거나, QA가 대체 조항를 직접 고민해야 함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적법하면서도 구매조달 기술사양력을 갖춘 대체 표현 발굴에 많은 시간 소모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구매담당자-QA 간 2~3회 이상의 지루한 이메일 핑퐁 발생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AS-IS 프로세스 정의서  &gt;  3. AS-IS vs TO-BE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3.1 현행 프로세스 대비 목표 모델(TO-BE) 비교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942"/>
                </a:solidFill>
              </a:defRPr>
            </a:pPr>
            <a:r>
              <a:t>산출물 ID: EMP_ANL_040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SyncFlow AI | AS-IS 프로세스 정의서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4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엠파시 (EMPASY)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657600"/>
                <a:gridCol w="3657600"/>
                <a:gridCol w="1401775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비교 영역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현행 모델 (AS-IS)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목표 모델 (TO-BE, SyncFlow AI)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개선 효과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2942"/>
                          </a:solidFill>
                        </a:defRPr>
                      </a:pPr>
                      <a:r>
                        <a:t>검증 접수 채널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이메일 / 사내 메신저 개별 접수 (파편화)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통합 검증 웹 포털 (Vben Admin) 일원화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누락 방지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2942"/>
                          </a:solidFill>
                        </a:defRPr>
                      </a:pPr>
                      <a:r>
                        <a:t>원소재 규격 대조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PLM-Nexus 시스템 개별 로그인 수기 확인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제품 코드 기반 PLM-Nexus REST API 자동 연동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조회 시간 0초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2942"/>
                          </a:solidFill>
                        </a:defRPr>
                      </a:pPr>
                      <a:r>
                        <a:t>위반 표현 탐지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법무·QA 담당자 경험 기반 수기 법령 검색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100개 규칙 사전 + RAG 법령 벡터 검색 자동화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정밀도 96.2%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2942"/>
                          </a:solidFill>
                        </a:defRPr>
                      </a:pPr>
                      <a:r>
                        <a:t>이미지/PDP 검증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육안으로 계약조항 일일이 읽고 타이핑 대조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Vision OCR 기반 텍스트 추출 및 Bounding Box 표시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검토 공수 70% 절감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2942"/>
                          </a:solidFill>
                        </a:defRPr>
                      </a:pPr>
                      <a:r>
                        <a:t>수정 대안 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불가 통보 위주 (구매담당자가 재작성)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AI 문맥 기반 대체 추천 조항(100종) 즉시 제공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핑퐁 횟수 70% 감소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AS-IS 프로세스 정의서  &gt;  4. 개선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4.1 시스템 구축을 통한 업무 혁신 목표 및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942"/>
                </a:solidFill>
              </a:defRPr>
            </a:pPr>
            <a:r>
              <a:t>산출물 ID: EMP_ANL_040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SyncFlow AI | AS-IS 프로세스 정의서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5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엠파시 (EMPASY)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728655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5448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■ TO-BE 프로세스 전환 핵심 전략</a:t>
            </a:r>
          </a:p>
          <a:p>
            <a:pPr>
              <a:spcBef>
                <a:spcPts val="800"/>
              </a:spcBef>
              <a:defRPr sz="1000">
                <a:solidFill>
                  <a:srgbClr val="1E3A5F"/>
                </a:solidFill>
              </a:defRPr>
            </a:pPr>
            <a:r>
              <a:t>✔ 규칙-RAG-LLM 3단계 하이브리드 파이프라인 도입: 빠른 응답(0.2초)과 심층 문맥 판정(4단계)을 결합하여 처리 속도와 정확도 동시 달성.</a:t>
            </a:r>
          </a:p>
          <a:p>
            <a:pPr>
              <a:spcBef>
                <a:spcPts val="800"/>
              </a:spcBef>
              <a:defRPr sz="1000">
                <a:solidFill>
                  <a:srgbClr val="1E3A5F"/>
                </a:solidFill>
              </a:defRPr>
            </a:pPr>
            <a:r>
              <a:t>✔ 사내 핵심 인프라 무결 연동: PLM-Nexus(원소재), SRM-Portal(결재), 사내 SSO 로그인 및 KT 문자 알림 채널을 하나로 통합 연계.</a:t>
            </a:r>
          </a:p>
          <a:p>
            <a:pPr>
              <a:spcBef>
                <a:spcPts val="800"/>
              </a:spcBef>
              <a:defRPr sz="1000">
                <a:solidFill>
                  <a:srgbClr val="1E3A5F"/>
                </a:solidFill>
              </a:defRPr>
            </a:pPr>
            <a:r>
              <a:t>✔ 검증 히스토리 전사 데이터베이스화: 판정 이력 및 구매조달 피드백 데이터를 누적 적재하여 미래 사업본부 계약조항 기획의 지식 자산으로 활용.</a:t>
            </a:r>
          </a:p>
          <a:p>
            <a:pPr>
              <a:spcBef>
                <a:spcPts val="800"/>
              </a:spcBef>
              <a:defRPr sz="1000">
                <a:solidFill>
                  <a:srgbClr val="1E3A5F"/>
                </a:solidFill>
              </a:defRPr>
            </a:pPr>
            <a:r>
              <a:t>✔ 시범운영(Pilot) 및 실무 피드백 안착: 11개 주요 사업본부 142건 실데이터 검증을 통해 현업 수용성을 극대화하고 즉각적 업무 전환 유도.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AS-IS 프로세스 정의서  &gt;  5. 기대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5.1 프로세스 개선에 따른 정량·정성 성과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942"/>
                </a:solidFill>
              </a:defRPr>
            </a:pPr>
            <a:r>
              <a:t>산출물 ID: EMP_ANL_040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SyncFlow AI | AS-IS 프로세스 정의서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6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엠파시 (EMPASY)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4592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942"/>
                </a:solidFill>
              </a:defRPr>
            </a:pPr>
            <a:r>
              <a:t>검증 처리 시간</a:t>
            </a:r>
          </a:p>
          <a:p>
            <a:pPr>
              <a:spcBef>
                <a:spcPts val="1200"/>
              </a:spcBef>
              <a:defRPr b="1" sz="2000">
                <a:solidFill>
                  <a:srgbClr val="2563EB"/>
                </a:solidFill>
              </a:defRPr>
            </a:pPr>
            <a:r>
              <a:t>3일 → 2시간</a:t>
            </a:r>
          </a:p>
          <a:p>
            <a:pPr>
              <a:spcBef>
                <a:spcPts val="1400"/>
              </a:spcBef>
              <a:defRPr sz="1000">
                <a:solidFill>
                  <a:srgbClr val="1E3A5F"/>
                </a:solidFill>
              </a:defRPr>
            </a:pPr>
            <a:r>
              <a:t>85% 리드타임 대폭 단축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64592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942"/>
                </a:solidFill>
              </a:defRPr>
            </a:pPr>
            <a:r>
              <a:t>월간 검증 용량</a:t>
            </a:r>
          </a:p>
          <a:p>
            <a:pPr>
              <a:spcBef>
                <a:spcPts val="1200"/>
              </a:spcBef>
              <a:defRPr b="1" sz="2000">
                <a:solidFill>
                  <a:srgbClr val="2563EB"/>
                </a:solidFill>
              </a:defRPr>
            </a:pPr>
            <a:r>
              <a:t>400건 → 1,600건</a:t>
            </a:r>
          </a:p>
          <a:p>
            <a:pPr>
              <a:spcBef>
                <a:spcPts val="1400"/>
              </a:spcBef>
              <a:defRPr sz="1000">
                <a:solidFill>
                  <a:srgbClr val="1E3A5F"/>
                </a:solidFill>
              </a:defRPr>
            </a:pPr>
            <a:r>
              <a:t>처리 역량 4배 확대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4592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942"/>
                </a:solidFill>
              </a:defRPr>
            </a:pPr>
            <a:r>
              <a:t>QA 일치율</a:t>
            </a:r>
          </a:p>
          <a:p>
            <a:pPr>
              <a:spcBef>
                <a:spcPts val="1200"/>
              </a:spcBef>
              <a:defRPr b="1" sz="2000">
                <a:solidFill>
                  <a:srgbClr val="2563EB"/>
                </a:solidFill>
              </a:defRPr>
            </a:pPr>
            <a:r>
              <a:t>97.2%</a:t>
            </a:r>
          </a:p>
          <a:p>
            <a:pPr>
              <a:spcBef>
                <a:spcPts val="1400"/>
              </a:spcBef>
              <a:defRPr sz="1000">
                <a:solidFill>
                  <a:srgbClr val="1E3A5F"/>
                </a:solidFill>
              </a:defRPr>
            </a:pPr>
            <a:r>
              <a:t>시범운영 142건 중 138건 일치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64592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942"/>
                </a:solidFill>
              </a:defRPr>
            </a:pPr>
            <a:r>
              <a:t>규제 위반 건수</a:t>
            </a:r>
          </a:p>
          <a:p>
            <a:pPr>
              <a:spcBef>
                <a:spcPts val="1200"/>
              </a:spcBef>
              <a:defRPr b="1" sz="2000">
                <a:solidFill>
                  <a:srgbClr val="2563EB"/>
                </a:solidFill>
              </a:defRPr>
            </a:pPr>
            <a:r>
              <a:t>0건 (Zero)</a:t>
            </a:r>
          </a:p>
          <a:p>
            <a:pPr>
              <a:spcBef>
                <a:spcPts val="1400"/>
              </a:spcBef>
              <a:defRPr sz="1000">
                <a:solidFill>
                  <a:srgbClr val="1E3A5F"/>
                </a:solidFill>
              </a:defRPr>
            </a:pPr>
            <a:r>
              <a:t>사전 필터링으로 시정명령·심결 차단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주식회사 엠파시 (Empasy Inc.)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주식회사 엠파시 (Empasy Inc.)</cp:lastModifiedBy>
  <cp:revision>1</cp:revision>
  <dcterms:created xsi:type="dcterms:W3CDTF">2013-01-27T09:14:16Z</dcterms:created>
  <dcterms:modified xsi:type="dcterms:W3CDTF">2013-01-27T09:15:58Z</dcterms:modified>
  <cp:category/>
</cp:coreProperties>
</file>