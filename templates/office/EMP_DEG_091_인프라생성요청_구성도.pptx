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579" r:id="rId2"/>
    <p:sldId id="1575" r:id="rId3"/>
    <p:sldId id="1581" r:id="rId13"/>
    <p:sldId id="1582" r:id="rId14"/>
    <p:sldId id="158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135278F-57DD-4893-9479-EB2DA63EBBF6}">
          <p14:sldIdLst>
            <p14:sldId id="1579"/>
          </p14:sldIdLst>
        </p14:section>
        <p14:section name="아키텍처 구성도" id="{FD284D7D-723D-46F1-A7BD-F16D23A47549}">
          <p14:sldIdLst>
            <p14:sldId id="1575"/>
            <p14:sldId id="1576"/>
            <p14:sldId id="1577"/>
            <p14:sldId id="15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260"/>
    <a:srgbClr val="3C4562"/>
    <a:srgbClr val="424142"/>
    <a:srgbClr val="2684FF"/>
    <a:srgbClr val="4472C4"/>
    <a:srgbClr val="9DC3E6"/>
    <a:srgbClr val="5BA1FF"/>
    <a:srgbClr val="CDE2FF"/>
    <a:srgbClr val="006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7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D0A39-BEE6-4132-A839-59208CC4F81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C5734-FF2C-4983-83DD-D6BAA87DD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31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94422ED-CE72-9F62-4D79-E284C1696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46290"/>
          <a:stretch/>
        </p:blipFill>
        <p:spPr>
          <a:xfrm>
            <a:off x="0" y="-1"/>
            <a:ext cx="12192000" cy="376129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53BE800-4937-C21F-DA04-A6E5AE2D82DC}"/>
              </a:ext>
            </a:extLst>
          </p:cNvPr>
          <p:cNvSpPr/>
          <p:nvPr userDrawn="1"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69A189-66A8-7B65-ED3A-2E8EEFBC1F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29" y="156043"/>
            <a:ext cx="1502917" cy="375729"/>
          </a:xfrm>
          <a:prstGeom prst="rect">
            <a:avLst/>
          </a:prstGeom>
        </p:spPr>
      </p:pic>
      <p:sp>
        <p:nvSpPr>
          <p:cNvPr id="5" name="Text Box 11">
            <a:extLst>
              <a:ext uri="{FF2B5EF4-FFF2-40B4-BE49-F238E27FC236}">
                <a16:creationId xmlns:a16="http://schemas.microsoft.com/office/drawing/2014/main" id="{2792E748-1B90-4FB5-8D5C-00C8A6AEBF4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223312" y="227595"/>
            <a:ext cx="1081087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9pPr>
          </a:lstStyle>
          <a:p>
            <a:pPr>
              <a:defRPr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대외비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對外秘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defRPr/>
            </a:pP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87806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0B933F-6160-53A4-FE1B-CED3CFB04E8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D8EC1-D45B-4C7D-BBED-95AE66BA5C9D}"/>
              </a:ext>
            </a:extLst>
          </p:cNvPr>
          <p:cNvSpPr txBox="1"/>
          <p:nvPr userDrawn="1"/>
        </p:nvSpPr>
        <p:spPr>
          <a:xfrm>
            <a:off x="6954492" y="953458"/>
            <a:ext cx="1689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spc="-1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ko-KR" sz="3200" spc="-150" dirty="0">
                <a:solidFill>
                  <a:schemeClr val="tx1"/>
                </a:solidFill>
                <a:latin typeface="+mn-ea"/>
                <a:ea typeface="+mn-ea"/>
              </a:rPr>
              <a:t>ontents</a:t>
            </a:r>
            <a:endParaRPr lang="ko-KR" altLang="en-US" sz="3200" spc="-15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5138B77-B58E-476C-89F3-72BCF9E0D75E}"/>
              </a:ext>
            </a:extLst>
          </p:cNvPr>
          <p:cNvCxnSpPr/>
          <p:nvPr userDrawn="1"/>
        </p:nvCxnSpPr>
        <p:spPr>
          <a:xfrm>
            <a:off x="7070102" y="1781666"/>
            <a:ext cx="330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약양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F20957-8D48-4CE4-A09F-C7F6A6ACBB29}"/>
              </a:ext>
            </a:extLst>
          </p:cNvPr>
          <p:cNvSpPr txBox="1"/>
          <p:nvPr userDrawn="1"/>
        </p:nvSpPr>
        <p:spPr>
          <a:xfrm>
            <a:off x="10984081" y="123988"/>
            <a:ext cx="10679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spc="-150" dirty="0">
                <a:latin typeface="+mn-ea"/>
                <a:ea typeface="+mn-ea"/>
              </a:rPr>
              <a:t>아키텍처 정의서</a:t>
            </a:r>
            <a:endParaRPr lang="en-US" altLang="ko-KR" sz="1100" spc="-150" dirty="0">
              <a:latin typeface="+mn-ea"/>
              <a:ea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7FFB5-0193-4948-B721-FD0F86CC0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56139" y="6455165"/>
            <a:ext cx="12797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D5A016FD-8D8B-4E5C-A1AF-AD3300A33B7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3AAFBA0-5A57-47B8-8E0E-0FEA005E06B8}"/>
              </a:ext>
            </a:extLst>
          </p:cNvPr>
          <p:cNvCxnSpPr/>
          <p:nvPr userDrawn="1"/>
        </p:nvCxnSpPr>
        <p:spPr>
          <a:xfrm>
            <a:off x="0" y="443622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E937CC-4A66-4C38-94C9-19D9F9DD23A0}"/>
              </a:ext>
            </a:extLst>
          </p:cNvPr>
          <p:cNvCxnSpPr/>
          <p:nvPr userDrawn="1"/>
        </p:nvCxnSpPr>
        <p:spPr>
          <a:xfrm>
            <a:off x="0" y="6455165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45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양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D93B4EA6-561F-4AAB-AB42-174CE0F285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211092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5606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048BF520-A4AF-E60B-9614-6E42D9381F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328785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날짜 개체 틀 1">
            <a:extLst>
              <a:ext uri="{FF2B5EF4-FFF2-40B4-BE49-F238E27FC236}">
                <a16:creationId xmlns:a16="http://schemas.microsoft.com/office/drawing/2014/main" id="{8F22B3AF-519B-8481-86F0-85D9D9B8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0F12D94-F03D-474A-8633-98CF47B7869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2">
            <a:extLst>
              <a:ext uri="{FF2B5EF4-FFF2-40B4-BE49-F238E27FC236}">
                <a16:creationId xmlns:a16="http://schemas.microsoft.com/office/drawing/2014/main" id="{5323B82C-F5B7-50B1-23C8-577C2071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AC05B5F-89A6-00EF-B6E8-FDECBE03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5A016FD-8D8B-4E5C-A1AF-AD3300A33B7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EEBBA1-2362-3D76-43AB-060BD0877D76}"/>
              </a:ext>
            </a:extLst>
          </p:cNvPr>
          <p:cNvSpPr/>
          <p:nvPr userDrawn="1"/>
        </p:nvSpPr>
        <p:spPr>
          <a:xfrm>
            <a:off x="0" y="815445"/>
            <a:ext cx="12192000" cy="176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00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0E16A-4CF9-2C7C-4C9D-CEDCA8023A6E}"/>
              </a:ext>
            </a:extLst>
          </p:cNvPr>
          <p:cNvSpPr txBox="1"/>
          <p:nvPr userDrawn="1"/>
        </p:nvSpPr>
        <p:spPr>
          <a:xfrm>
            <a:off x="0" y="2997296"/>
            <a:ext cx="12192000" cy="538793"/>
          </a:xfrm>
          <a:prstGeom prst="rect">
            <a:avLst/>
          </a:prstGeom>
          <a:noFill/>
        </p:spPr>
        <p:txBody>
          <a:bodyPr wrap="square" lIns="0" tIns="36000" rIns="0" bIns="36000" rtlCol="0" anchor="t">
            <a:spAutoFit/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CFE50F-E23C-8A32-4D65-3C9DA0D8E156}"/>
              </a:ext>
            </a:extLst>
          </p:cNvPr>
          <p:cNvCxnSpPr/>
          <p:nvPr userDrawn="1"/>
        </p:nvCxnSpPr>
        <p:spPr>
          <a:xfrm>
            <a:off x="2498103" y="3733016"/>
            <a:ext cx="71078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0C516253-18C6-FDCB-E285-5590C4126D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95" y="4022122"/>
            <a:ext cx="1615610" cy="4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383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3BFACF-D361-4F4A-A848-197808D63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E1D87-FA3F-45D6-8020-86B2EB2E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EAA22-CF3F-4F79-BB4E-2D6950EDD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12D94-F03D-474A-8633-98CF47B78698}" type="datetimeFigureOut">
              <a:rPr lang="ko-KR" altLang="en-US" smtClean="0"/>
              <a:t>2026-10-16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5E291-AAA2-4090-966E-896B78521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F16EA-4600-4C2B-A65E-D1FFB6C55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16FD-8D8B-4E5C-A1AF-AD3300A33B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54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8" r:id="rId3"/>
    <p:sldLayoutId id="2147483659" r:id="rId4"/>
    <p:sldLayoutId id="2147483655" r:id="rId5"/>
    <p:sldLayoutId id="2147483657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1238A3-568F-98D0-10CB-05EC33735E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58710D-0B68-1AEF-309C-E038F119DC2B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1A73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9C169-D59B-BBDB-89E7-CDDC4FAEB69C}"/>
              </a:ext>
            </a:extLst>
          </p:cNvPr>
          <p:cNvSpPr/>
          <p:nvPr/>
        </p:nvSpPr>
        <p:spPr>
          <a:xfrm>
            <a:off x="203200" y="0"/>
            <a:ext cx="11988800" cy="50800"/>
          </a:xfrm>
          <a:prstGeom prst="rect">
            <a:avLst/>
          </a:prstGeom>
          <a:solidFill>
            <a:srgbClr val="1A73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997673-7209-0643-5735-DD5CE7219276}"/>
              </a:ext>
            </a:extLst>
          </p:cNvPr>
          <p:cNvSpPr/>
          <p:nvPr/>
        </p:nvSpPr>
        <p:spPr>
          <a:xfrm>
            <a:off x="698500" y="825500"/>
            <a:ext cx="3302000" cy="330200"/>
          </a:xfrm>
          <a:prstGeom prst="roundRect">
            <a:avLst/>
          </a:prstGeom>
          <a:solidFill>
            <a:srgbClr val="002345"/>
          </a:solidFill>
          <a:ln w="15240">
            <a:solidFill>
              <a:srgbClr val="1A73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</a:rPr>
              <a:t>HANBIT GLOBAL ENTERPRISE AI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BD969-D0B4-FE6B-645D-307ECDFBC92F}"/>
              </a:ext>
            </a:extLst>
          </p:cNvPr>
          <p:cNvSpPr txBox="1"/>
          <p:nvPr/>
        </p:nvSpPr>
        <p:spPr>
          <a:xfrm>
            <a:off x="4191000" y="863600"/>
            <a:ext cx="3175000" cy="246221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60A5FA"/>
                </a:solidFill>
                <a:latin typeface="Malgun Gothic"/>
              </a:rPr>
              <a:t>[EMP_DEG_091] 인프라 생성 요청 산출물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BDAC0-17DA-4F2B-4077-B8FA5394BBDA}"/>
              </a:ext>
            </a:extLst>
          </p:cNvPr>
          <p:cNvSpPr txBox="1"/>
          <p:nvPr/>
        </p:nvSpPr>
        <p:spPr>
          <a:xfrm>
            <a:off x="635000" y="1524000"/>
            <a:ext cx="10795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SyncGuard AI </a:t>
            </a:r>
            <a:r>
              <a:rPr lang="ko-KR" altLang="en-US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시스템 구축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9F712-DDFE-35B9-BD43-8E095BA24DE2}"/>
              </a:ext>
            </a:extLst>
          </p:cNvPr>
          <p:cNvSpPr txBox="1"/>
          <p:nvPr/>
        </p:nvSpPr>
        <p:spPr>
          <a:xfrm>
            <a:off x="660400" y="2476500"/>
            <a:ext cx="10795000" cy="400110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>
                <a:solidFill>
                  <a:srgbClr val="60A5FA"/>
                </a:solidFill>
                <a:latin typeface="Malgun Gothic"/>
              </a:rPr>
              <a:t>AWS EKS 인프라 생성 요청 구성도 (5대 모듈 통합콘솔/서버 분리)</a:t>
            </a:r>
            <a:endParaRPr lang="ko-KR" altLang="en-US" sz="2000" b="1">
              <a:solidFill>
                <a:srgbClr val="DFE9F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0557D-3717-FE82-71B3-5346ED99D709}"/>
              </a:ext>
            </a:extLst>
          </p:cNvPr>
          <p:cNvSpPr txBox="1"/>
          <p:nvPr/>
        </p:nvSpPr>
        <p:spPr>
          <a:xfrm>
            <a:off x="660400" y="3073400"/>
            <a:ext cx="10795000" cy="269304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20" b="0">
                <a:solidFill>
                  <a:srgbClr val="94A3B8"/>
                </a:solidFill>
                <a:latin typeface="Malgun Gothic"/>
              </a:rPr>
              <a:t>마케팅허브·프로덕트랩 연계 · AWS EKS 5대 모듈(통합 웹 Client/fe / 업무 BE / 대외연계 API / AI Agent / Batch) · PostgreSQL 16(pgvector 1536d)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2BC9956-5CCC-E648-FD32-8D7925BD6BE7}"/>
              </a:ext>
            </a:extLst>
          </p:cNvPr>
          <p:cNvSpPr/>
          <p:nvPr/>
        </p:nvSpPr>
        <p:spPr>
          <a:xfrm>
            <a:off x="660400" y="3873500"/>
            <a:ext cx="10668000" cy="2222500"/>
          </a:xfrm>
          <a:prstGeom prst="roundRect">
            <a:avLst/>
          </a:prstGeom>
          <a:solidFill>
            <a:srgbClr val="102136"/>
          </a:solidFill>
          <a:ln w="12700">
            <a:solidFill>
              <a:srgbClr val="204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15779-F4C5-C974-7922-B4035D3FF81D}"/>
              </a:ext>
            </a:extLst>
          </p:cNvPr>
          <p:cNvSpPr txBox="1"/>
          <p:nvPr/>
        </p:nvSpPr>
        <p:spPr>
          <a:xfrm>
            <a:off x="889000" y="4000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프로젝트명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A1FB0-244E-B6D7-EF81-453618371318}"/>
              </a:ext>
            </a:extLst>
          </p:cNvPr>
          <p:cNvSpPr txBox="1"/>
          <p:nvPr/>
        </p:nvSpPr>
        <p:spPr>
          <a:xfrm>
            <a:off x="1968500" y="4000500"/>
            <a:ext cx="4064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>
                <a:solidFill>
                  <a:srgbClr val="F0E8E2"/>
                </a:solidFill>
              </a:rPr>
              <a:t>한빛글로벌 </a:t>
            </a:r>
            <a:r>
              <a:rPr lang="en-US" altLang="ko-KR" sz="950">
                <a:solidFill>
                  <a:srgbClr val="F0E8E2"/>
                </a:solidFill>
              </a:rPr>
              <a:t>SyncGuard AI </a:t>
            </a:r>
            <a:r>
              <a:rPr lang="ko-KR" altLang="en-US" sz="950">
                <a:solidFill>
                  <a:srgbClr val="F0E8E2"/>
                </a:solidFill>
              </a:rPr>
              <a:t>시스템 구축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439E7E-C3C6-FC84-1CE0-4D115912C428}"/>
              </a:ext>
            </a:extLst>
          </p:cNvPr>
          <p:cNvSpPr txBox="1"/>
          <p:nvPr/>
        </p:nvSpPr>
        <p:spPr>
          <a:xfrm>
            <a:off x="6223000" y="4000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문서버전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8A3281-0667-8A24-C352-96977ED751D4}"/>
              </a:ext>
            </a:extLst>
          </p:cNvPr>
          <p:cNvSpPr txBox="1"/>
          <p:nvPr/>
        </p:nvSpPr>
        <p:spPr>
          <a:xfrm>
            <a:off x="7302500" y="4000500"/>
            <a:ext cx="3810000" cy="238527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19" b="1">
                <a:solidFill>
                  <a:srgbClr val="60A5FA"/>
                </a:solidFill>
                <a:latin typeface="Malgun Gothic"/>
              </a:rPr>
              <a:t>v1.3 (BO/대외연계 ALB 분리 · BE/API➔Agent 호출 · AI 피크프레임+웹 장면보정 · S3 Intelligent-Tiering · AP 기본스펙 · 방화벽 URL 반영)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D9A45-D22B-2673-3986-9DDE84A6CEB4}"/>
              </a:ext>
            </a:extLst>
          </p:cNvPr>
          <p:cNvSpPr txBox="1"/>
          <p:nvPr/>
        </p:nvSpPr>
        <p:spPr>
          <a:xfrm>
            <a:off x="889000" y="4381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발주사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8D6FFF-FD9D-67D1-8379-A99C494E59C2}"/>
              </a:ext>
            </a:extLst>
          </p:cNvPr>
          <p:cNvSpPr txBox="1"/>
          <p:nvPr/>
        </p:nvSpPr>
        <p:spPr>
          <a:xfrm>
            <a:off x="1968500" y="4381500"/>
            <a:ext cx="4064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>
                <a:solidFill>
                  <a:srgbClr val="F0E8E2"/>
                </a:solidFill>
              </a:rPr>
              <a:t>주식회사 한빛글로벌 </a:t>
            </a:r>
            <a:r>
              <a:rPr lang="en-US" altLang="ko-KR" sz="950">
                <a:solidFill>
                  <a:srgbClr val="F0E8E2"/>
                </a:solidFill>
              </a:rPr>
              <a:t>(HANBIT GLOBAL)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EBBF26-8DF3-D69F-25E9-CC04A1309E53}"/>
              </a:ext>
            </a:extLst>
          </p:cNvPr>
          <p:cNvSpPr txBox="1"/>
          <p:nvPr/>
        </p:nvSpPr>
        <p:spPr>
          <a:xfrm>
            <a:off x="6223000" y="4381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승인일자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6F518-EE34-18B4-DF04-3EDCAF375E24}"/>
              </a:ext>
            </a:extLst>
          </p:cNvPr>
          <p:cNvSpPr txBox="1"/>
          <p:nvPr/>
        </p:nvSpPr>
        <p:spPr>
          <a:xfrm>
            <a:off x="7302500" y="4381500"/>
            <a:ext cx="3810000" cy="238527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Malgun Gothic"/>
              </a:rPr>
              <a:t>2026. 10. 27.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D80290-518B-1DB9-2EA0-7158CA4B1901}"/>
              </a:ext>
            </a:extLst>
          </p:cNvPr>
          <p:cNvSpPr txBox="1"/>
          <p:nvPr/>
        </p:nvSpPr>
        <p:spPr>
          <a:xfrm>
            <a:off x="889000" y="4762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수행사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BD8A19-7D61-CE0B-95BA-340325C35933}"/>
              </a:ext>
            </a:extLst>
          </p:cNvPr>
          <p:cNvSpPr txBox="1"/>
          <p:nvPr/>
        </p:nvSpPr>
        <p:spPr>
          <a:xfrm>
            <a:off x="1968500" y="4762500"/>
            <a:ext cx="4064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>
                <a:solidFill>
                  <a:srgbClr val="F0E8E2"/>
                </a:solidFill>
              </a:rPr>
              <a:t>주식회사 엠파시 </a:t>
            </a:r>
            <a:r>
              <a:rPr lang="en-US" altLang="ko-KR" sz="950">
                <a:solidFill>
                  <a:srgbClr val="F0E8E2"/>
                </a:solidFill>
              </a:rPr>
              <a:t>(EMPASY) / </a:t>
            </a:r>
            <a:r>
              <a:rPr lang="ko-KR" altLang="en-US" sz="950">
                <a:solidFill>
                  <a:srgbClr val="F0E8E2"/>
                </a:solidFill>
              </a:rPr>
              <a:t>주식회사 엠파시 </a:t>
            </a:r>
            <a:r>
              <a:rPr lang="en-US" altLang="ko-KR" sz="950">
                <a:solidFill>
                  <a:srgbClr val="F0E8E2"/>
                </a:solidFill>
              </a:rPr>
              <a:t>(EMPASY)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F2539D-C8B7-80A9-3297-AB63DF8A3246}"/>
              </a:ext>
            </a:extLst>
          </p:cNvPr>
          <p:cNvSpPr txBox="1"/>
          <p:nvPr/>
        </p:nvSpPr>
        <p:spPr>
          <a:xfrm>
            <a:off x="6223000" y="4762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배포환경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E451E8-5F9F-C267-5710-FA032C876A24}"/>
              </a:ext>
            </a:extLst>
          </p:cNvPr>
          <p:cNvSpPr txBox="1"/>
          <p:nvPr/>
        </p:nvSpPr>
        <p:spPr>
          <a:xfrm>
            <a:off x="7302500" y="4762500"/>
            <a:ext cx="3810000" cy="238527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19" b="0">
                <a:solidFill>
                  <a:srgbClr val="FFFFFF"/>
                </a:solidFill>
                <a:latin typeface="Malgun Gothic"/>
              </a:rPr>
              <a:t>AWS EKS Kubernetes (개발 DEV · 스테이지 STG · 운영 PRD 분리)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9522FC-27E9-3DE8-AFBB-AAAA5D2C7290}"/>
              </a:ext>
            </a:extLst>
          </p:cNvPr>
          <p:cNvSpPr txBox="1"/>
          <p:nvPr/>
        </p:nvSpPr>
        <p:spPr>
          <a:xfrm>
            <a:off x="889000" y="5143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대상 플랫폼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FF7C36-C861-F09C-3443-9F6E65474383}"/>
              </a:ext>
            </a:extLst>
          </p:cNvPr>
          <p:cNvSpPr txBox="1"/>
          <p:nvPr/>
        </p:nvSpPr>
        <p:spPr>
          <a:xfrm>
            <a:off x="1968500" y="5143500"/>
            <a:ext cx="4064000" cy="238527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19" b="0">
                <a:solidFill>
                  <a:srgbClr val="FFFFFF"/>
                </a:solidFill>
                <a:latin typeface="Malgun Gothic"/>
              </a:rPr>
              <a:t>5대 모듈: 통합 웹(Client/fe) · 업무서버(be) · 대외API(api) · AI Agent · Batch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C4FEA6-2B00-E7E8-ECDA-4F46C7CBE0DF}"/>
              </a:ext>
            </a:extLst>
          </p:cNvPr>
          <p:cNvSpPr txBox="1"/>
          <p:nvPr/>
        </p:nvSpPr>
        <p:spPr>
          <a:xfrm>
            <a:off x="6223000" y="5143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연계시스템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730423-E5E7-3851-5EB8-3844755B8E82}"/>
              </a:ext>
            </a:extLst>
          </p:cNvPr>
          <p:cNvSpPr txBox="1"/>
          <p:nvPr/>
        </p:nvSpPr>
        <p:spPr>
          <a:xfrm>
            <a:off x="7302500" y="5143500"/>
            <a:ext cx="3810000" cy="238527"/>
          </a:xfrm>
          <a:prstGeom prst="rect">
            <a:avLst/>
          </a:prstGeom>
          <a:noFill/>
        </p:spPr>
        <p:txBody>
          <a:bodyPr vert="horz" rtlCol="0" wrap="square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Malgun Gothic"/>
              </a:rPr>
              <a:t>사내 SSO/IAM · MarketingHub(의뢰/결과 HTML·JSON 연동) · ProductLab(02:00배치) · 네이버/패들OCR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E9F88E-10E9-DDF1-DC0E-1DE6E207C7EA}"/>
              </a:ext>
            </a:extLst>
          </p:cNvPr>
          <p:cNvSpPr txBox="1"/>
          <p:nvPr/>
        </p:nvSpPr>
        <p:spPr>
          <a:xfrm>
            <a:off x="889000" y="5524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관련 산출물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8BEC67-21E3-00FD-F65D-CFEDDC40A61F}"/>
              </a:ext>
            </a:extLst>
          </p:cNvPr>
          <p:cNvSpPr txBox="1"/>
          <p:nvPr/>
        </p:nvSpPr>
        <p:spPr>
          <a:xfrm>
            <a:off x="1968500" y="5524500"/>
            <a:ext cx="406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>
                <a:solidFill>
                  <a:srgbClr val="F0E8E2"/>
                </a:solidFill>
              </a:rPr>
              <a:t>기능정의서</a:t>
            </a:r>
            <a:r>
              <a:rPr lang="en-US" altLang="ko-KR" sz="950">
                <a:solidFill>
                  <a:srgbClr val="F0E8E2"/>
                </a:solidFill>
              </a:rPr>
              <a:t>(EMP_DEG_020) · DB</a:t>
            </a:r>
            <a:r>
              <a:rPr lang="ko-KR" altLang="en-US" sz="950">
                <a:solidFill>
                  <a:srgbClr val="F0E8E2"/>
                </a:solidFill>
              </a:rPr>
              <a:t>명세서</a:t>
            </a:r>
            <a:r>
              <a:rPr lang="en-US" altLang="ko-KR" sz="950">
                <a:solidFill>
                  <a:srgbClr val="F0E8E2"/>
                </a:solidFill>
              </a:rPr>
              <a:t>(EMP_DEG_080) · </a:t>
            </a:r>
            <a:r>
              <a:rPr lang="ko-KR" altLang="en-US" sz="950">
                <a:solidFill>
                  <a:srgbClr val="F0E8E2"/>
                </a:solidFill>
              </a:rPr>
              <a:t>아키텍처정의서</a:t>
            </a:r>
            <a:r>
              <a:rPr lang="en-US" altLang="ko-KR" sz="950">
                <a:solidFill>
                  <a:srgbClr val="F0E8E2"/>
                </a:solidFill>
              </a:rPr>
              <a:t>(EMP_DEG_090)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6CC635-81F3-A861-AB46-CE736E02F9E1}"/>
              </a:ext>
            </a:extLst>
          </p:cNvPr>
          <p:cNvSpPr txBox="1"/>
          <p:nvPr/>
        </p:nvSpPr>
        <p:spPr>
          <a:xfrm>
            <a:off x="6223000" y="5524500"/>
            <a:ext cx="1079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 b="1">
                <a:solidFill>
                  <a:srgbClr val="1A73C7"/>
                </a:solidFill>
              </a:rPr>
              <a:t>▪ 보안등급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E1FE2D-D2BC-2FDA-49C4-D2003B59F3A3}"/>
              </a:ext>
            </a:extLst>
          </p:cNvPr>
          <p:cNvSpPr txBox="1"/>
          <p:nvPr/>
        </p:nvSpPr>
        <p:spPr>
          <a:xfrm>
            <a:off x="7302500" y="5524500"/>
            <a:ext cx="3810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50">
                <a:solidFill>
                  <a:srgbClr val="F0E8E2"/>
                </a:solidFill>
              </a:rPr>
              <a:t>대외비 </a:t>
            </a:r>
            <a:r>
              <a:rPr lang="en-US" altLang="ko-KR" sz="950">
                <a:solidFill>
                  <a:srgbClr val="F0E8E2"/>
                </a:solidFill>
              </a:rPr>
              <a:t>(CONFIDENTIAL)</a:t>
            </a:r>
            <a:endParaRPr lang="ko-KR" altLang="en-US" sz="950">
              <a:solidFill>
                <a:srgbClr val="F0E8E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A53523-4C91-BA35-F1CD-67757333381B}"/>
              </a:ext>
            </a:extLst>
          </p:cNvPr>
          <p:cNvSpPr txBox="1"/>
          <p:nvPr/>
        </p:nvSpPr>
        <p:spPr>
          <a:xfrm>
            <a:off x="660400" y="6286500"/>
            <a:ext cx="1066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0">
                <a:solidFill>
                  <a:srgbClr val="607080"/>
                </a:solidFill>
              </a:rPr>
              <a:t>Copyright © 2026 HANBIT GLOBAL CORPORATION &amp; EMPASY Inc. All Rights Reserved.</a:t>
            </a:r>
            <a:endParaRPr lang="ko-KR" altLang="en-US" sz="850">
              <a:solidFill>
                <a:srgbClr val="607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35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9768" y="603504"/>
            <a:ext cx="11247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2C6C"/>
                </a:solidFill>
                <a:latin typeface="Malgun Gothic"/>
              </a:rPr>
              <a:t>한빛글로벌 AWS EKS 환경별(DEV·STG·PRD) 분리 · 물리적 ALB 2개 분리(BO용 / 대외연계용) · 5대 모듈(통합웹·업무BE·대외API·AI Agent·Batch)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024128"/>
            <a:ext cx="384048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37160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E293B"/>
                </a:solidFill>
                <a:latin typeface="Malgun Gothic"/>
              </a:rPr>
              <a:t>사용자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55448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algun Gothic"/>
              </a:rPr>
              <a:t>마케터(마케팅허브 심의의뢰 · 결과 조회)</a:t>
            </a:r>
          </a:p>
          <a:p>
            <a:pPr algn="ctr"/>
            <a:r>
              <a:rPr sz="680" b="0">
                <a:solidFill>
                  <a:srgbClr val="475569"/>
                </a:solidFill>
                <a:latin typeface="Malgun Gothic"/>
              </a:rPr>
              <a:t>RA·관리자(BO ALB ➔ 통합웹 :3104)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960120"/>
            <a:ext cx="3154680" cy="1024128"/>
          </a:xfrm>
          <a:prstGeom prst="rect">
            <a:avLst/>
          </a:prstGeom>
          <a:noFill/>
          <a:ln w="952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53328" y="1097280"/>
            <a:ext cx="384048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800" b="1">
                <a:solidFill>
                  <a:srgbClr val="FFFFFF"/>
                </a:solidFill>
                <a:latin typeface="KoPub돋움체 Light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44752"/>
            <a:ext cx="2788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E293B"/>
                </a:solidFill>
                <a:latin typeface="Malgun Gothic"/>
              </a:rPr>
              <a:t>기업용 상용 LLM &amp; OCR 엔진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18488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A73C7"/>
                </a:solidFill>
                <a:latin typeface="Malgun Gothic"/>
              </a:rPr>
              <a:t>비학습 상용 LLM · 1536d 임베딩 Outbound</a:t>
            </a:r>
          </a:p>
          <a:p>
            <a:pPr algn="ctr"/>
            <a:r>
              <a:rPr sz="620" b="0">
                <a:solidFill>
                  <a:srgbClr val="475569"/>
                </a:solidFill>
                <a:latin typeface="Malgun Gothic"/>
              </a:rPr>
              <a:t>네이버 클로바 OCR(*.apigw.ntruss.com) / 패들OCR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960120"/>
            <a:ext cx="3611880" cy="1024128"/>
          </a:xfrm>
          <a:prstGeom prst="rect">
            <a:avLst/>
          </a:prstGeom>
          <a:noFill/>
          <a:ln w="9525">
            <a:solidFill>
              <a:srgbClr val="3F7E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69680" y="1115568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650" b="1">
                <a:solidFill>
                  <a:srgbClr val="FFFFFF"/>
                </a:solidFill>
                <a:latin typeface="KoPub돋움체 Light"/>
              </a:rPr>
              <a:t>MKTHUB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444752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E293B"/>
                </a:solidFill>
                <a:latin typeface="Malgun Gothic"/>
              </a:rPr>
              <a:t>MarketingHub / ProductLab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618488"/>
            <a:ext cx="17190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1E293B"/>
                </a:solidFill>
                <a:latin typeface="Malgun Gothic"/>
              </a:rPr>
              <a:t>마케팅허브 ➔ 대외연계 ALB(:443) 단독 오픈</a:t>
            </a:r>
          </a:p>
          <a:p>
            <a:pPr algn="ctr"/>
            <a:r>
              <a:rPr sz="610" b="0">
                <a:solidFill>
                  <a:srgbClr val="7A3EC4"/>
                </a:solidFill>
                <a:latin typeface="Malgun Gothic"/>
              </a:rPr>
              <a:t>ProductLab: 매일 02:00 일배치 / [Option] 레몬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115568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248" y="144475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E293B"/>
                </a:solidFill>
                <a:latin typeface="Malgun Gothic"/>
              </a:rPr>
              <a:t>사내 SSO (HB-SSO IAM)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61848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475569"/>
                </a:solidFill>
                <a:latin typeface="Malgun Gothic"/>
              </a:rPr>
              <a:t>통합 웹 콘솔(:3104) 사내 IAM 역할별 권한 인가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475569"/>
                </a:solidFill>
                <a:latin typeface="Malgun Gothic"/>
              </a:rPr>
              <a:t>SAML 2.0 · OIDC 인증 및 역할별 접근 통제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148840"/>
            <a:ext cx="11430000" cy="4434840"/>
          </a:xfrm>
          <a:prstGeom prst="rect">
            <a:avLst/>
          </a:prstGeom>
          <a:noFill/>
          <a:ln w="12700">
            <a:solidFill>
              <a:srgbClr val="5A6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2221992"/>
            <a:ext cx="155448" cy="155448"/>
          </a:xfrm>
          <a:prstGeom prst="rect">
            <a:avLst/>
          </a:prstGeom>
          <a:solidFill>
            <a:srgbClr val="5A6C7D"/>
          </a:solidFill>
          <a:ln w="12700">
            <a:solidFill>
              <a:srgbClr val="5A6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220827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750" b="1">
                <a:solidFill>
                  <a:srgbClr val="595F66"/>
                </a:solidFill>
                <a:latin typeface="KoPub돋움체 Light"/>
              </a:rPr>
              <a:t>AWS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468880"/>
            <a:ext cx="11027664" cy="4005072"/>
          </a:xfrm>
          <a:prstGeom prst="rect">
            <a:avLst/>
          </a:prstGeom>
          <a:noFill/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2542032"/>
            <a:ext cx="155448" cy="155448"/>
          </a:xfrm>
          <a:prstGeom prst="rect">
            <a:avLst/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528315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750" b="1">
                <a:solidFill>
                  <a:srgbClr val="595F66"/>
                </a:solidFill>
                <a:latin typeface="KoPub돋움체 Light"/>
              </a:rPr>
              <a:t>VPC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2761488"/>
            <a:ext cx="8321040" cy="841248"/>
          </a:xfrm>
          <a:prstGeom prst="rect">
            <a:avLst/>
          </a:prstGeom>
          <a:solidFill>
            <a:srgbClr val="F2F7FC"/>
          </a:solidFill>
          <a:ln w="1143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1248" y="2816352"/>
            <a:ext cx="155448" cy="155448"/>
          </a:xfrm>
          <a:prstGeom prst="rect">
            <a:avLst/>
          </a:prstGeom>
          <a:solidFill>
            <a:srgbClr val="3F7EBF"/>
          </a:solidFill>
          <a:ln w="1270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" y="2802636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595F66"/>
                </a:solidFill>
                <a:latin typeface="KoPub돋움체 Light"/>
              </a:rPr>
              <a:t>Private subnet (LB 물리 분리)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3017520"/>
            <a:ext cx="566928" cy="365760"/>
          </a:xfrm>
          <a:prstGeom prst="roundRect">
            <a:avLst>
              <a:gd name="adj" fmla="val 18000"/>
            </a:avLst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KoPub돋움체 Light"/>
              </a:rPr>
              <a:t>BO ALB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410712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E293B"/>
                </a:solidFill>
                <a:latin typeface="Malgun Gothic"/>
              </a:rPr>
              <a:t>syncguard-ai-bo-prv-alb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3035808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D7100"/>
                </a:solidFill>
                <a:latin typeface="Malgun Gothic"/>
              </a:rPr>
              <a:t>[BO ALB] 사용자대역 오픈(:443)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8" y="3209544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475569"/>
                </a:solidFill>
                <a:latin typeface="Malgun Gothic"/>
              </a:rPr>
              <a:t>통합웹(:3104) · 업무BE(:18080)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" y="3694176"/>
            <a:ext cx="8321040" cy="1627632"/>
          </a:xfrm>
          <a:prstGeom prst="rect">
            <a:avLst/>
          </a:prstGeom>
          <a:noFill/>
          <a:ln w="1143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41248" y="3721608"/>
            <a:ext cx="155448" cy="155448"/>
          </a:xfrm>
          <a:prstGeom prst="rect">
            <a:avLst/>
          </a:prstGeom>
          <a:solidFill>
            <a:srgbClr val="3F7EBF"/>
          </a:solidFill>
          <a:ln w="1270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3703320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A73C7"/>
                </a:solidFill>
                <a:latin typeface="Malgun Gothic"/>
              </a:rPr>
              <a:t>Private subnet (App / EKS)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" y="3950208"/>
            <a:ext cx="7991856" cy="1298448"/>
          </a:xfrm>
          <a:prstGeom prst="rect">
            <a:avLst/>
          </a:prstGeom>
          <a:noFill/>
          <a:ln w="1143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05840" y="3941063"/>
            <a:ext cx="155448" cy="155448"/>
          </a:xfrm>
          <a:prstGeom prst="rect">
            <a:avLst/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Malgun Gothic"/>
              </a:rPr>
              <a:t>EKS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" y="4151376"/>
            <a:ext cx="7735824" cy="1042415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33856" y="4151376"/>
            <a:ext cx="155448" cy="155448"/>
          </a:xfrm>
          <a:prstGeom prst="rect">
            <a:avLst/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Malgun Gothic"/>
              </a:rPr>
              <a:t>POD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60000" y="4315968"/>
            <a:ext cx="1780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6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ED7100"/>
                </a:solidFill>
                <a:latin typeface="Malgun Gothic"/>
              </a:rPr>
              <a:t>① 통합 웹 &amp; 업무서버 (코어)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1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Client/fe(:3104) + server-be(:18080)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E293B"/>
                </a:solidFill>
                <a:latin typeface="Malgun Gothic"/>
              </a:rPr>
              <a:t>웹 영상재생·특정화면 멈춤 장면 추가/편집/삭제</a:t>
            </a: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BO➔Agent 호출 · 상충탐지 · RA확정 · 백오피스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0000" y="4315968"/>
            <a:ext cx="1780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9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ED7100"/>
                </a:solidFill>
                <a:latin typeface="Malgun Gothic"/>
              </a:rPr>
              <a:t>② 대외 연계 &amp; 파일 API 서버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9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server-api (:18085)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E293B"/>
                </a:solidFill>
                <a:latin typeface="Malgun Gothic"/>
              </a:rPr>
              <a:t>마케팅허브 전용 ALB 인바운드 · 결과 웹훅 회신</a:t>
            </a: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300MB S3 업로드 · API➔Agent EKS Service 호출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0000" y="4315968"/>
            <a:ext cx="1780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1A73C7"/>
                </a:solidFill>
                <a:latin typeface="Malgun Gothic"/>
              </a:rPr>
              <a:t>③ AI Agent (심의 에이전트)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7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1A73C7"/>
          </a:solidFill>
          <a:ln w="12700">
            <a:solidFill>
              <a:srgbClr val="1A7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server-ai-agent (:18083)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E293B"/>
                </a:solidFill>
                <a:latin typeface="Malgun Gothic"/>
              </a:rPr>
              <a:t>OpenCV 피크프레임 1차 자동추출 + 웹 보정장면 분석</a:t>
            </a: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네이버/패들 OCR · 동시 4건 세마포어 + QUEUED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50000" y="4315968"/>
            <a:ext cx="1780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5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7A3EC4"/>
                </a:solidFill>
                <a:latin typeface="Malgun Gothic"/>
              </a:rPr>
              <a:t>④ Batch (일배치 스케줄러)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0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7A3EC4"/>
          </a:solidFill>
          <a:ln w="12700">
            <a:solidFill>
              <a:srgbClr val="7A3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5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server-batch (:18084)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E293B"/>
                </a:solidFill>
                <a:latin typeface="Malgun Gothic"/>
              </a:rPr>
              <a:t>매일 02:00 ProductLab 전성분·실증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30" b="0">
                <a:solidFill>
                  <a:srgbClr val="475569"/>
                </a:solidFill>
                <a:latin typeface="Malgun Gothic"/>
              </a:rPr>
              <a:t>02:30 KT레몬 · 법령 Diff 벡터화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" y="5413248"/>
            <a:ext cx="8321040" cy="960120"/>
          </a:xfrm>
          <a:prstGeom prst="rect">
            <a:avLst/>
          </a:prstGeom>
          <a:noFill/>
          <a:ln w="1143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1248" y="5468112"/>
            <a:ext cx="155448" cy="155448"/>
          </a:xfrm>
          <a:prstGeom prst="rect">
            <a:avLst/>
          </a:prstGeom>
          <a:solidFill>
            <a:srgbClr val="3F7EBF"/>
          </a:solidFill>
          <a:ln w="1270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271" y="544982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A73C7"/>
                </a:solidFill>
                <a:latin typeface="Malgun Gothic"/>
              </a:rPr>
              <a:t>Private subnet (DB)</a:t>
            </a:r>
          </a:p>
        </p:txBody>
      </p:sp>
      <p:sp>
        <p:nvSpPr>
          <p:cNvPr id="63" name="Oval 62"/>
          <p:cNvSpPr/>
          <p:nvPr/>
        </p:nvSpPr>
        <p:spPr>
          <a:xfrm>
            <a:off x="2148840" y="5605272"/>
            <a:ext cx="475488" cy="475488"/>
          </a:xfrm>
          <a:prstGeom prst="ellipse">
            <a:avLst/>
          </a:prstGeom>
          <a:solidFill>
            <a:srgbClr val="2E3A8C"/>
          </a:solidFill>
          <a:ln w="12700">
            <a:solidFill>
              <a:srgbClr val="2E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800" b="1">
                <a:solidFill>
                  <a:srgbClr val="FFFFFF"/>
                </a:solidFill>
                <a:latin typeface="KoPub돋움체 Light"/>
              </a:rPr>
              <a:t>PG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08760" y="6089904"/>
            <a:ext cx="1755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E293B"/>
                </a:solidFill>
                <a:latin typeface="Malgun Gothic"/>
              </a:rPr>
              <a:t>PostgreSQL 16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6236208"/>
            <a:ext cx="212140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475569"/>
                </a:solidFill>
                <a:latin typeface="Malgun Gothic"/>
              </a:rPr>
              <a:t>hb_syncguard_ai DB  ·  :5432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63240" y="5724144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1E293B"/>
                </a:solidFill>
                <a:latin typeface="Malgun Gothic"/>
              </a:rPr>
              <a:t>• 심의 마스터 · 대기열(QUEUED/FAILED) · 과거 상충 탐지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1E293B"/>
                </a:solidFill>
                <a:latin typeface="Malgun Gothic"/>
              </a:rPr>
              <a:t>• 골든셋(Golden Set) · 불변 감사 원장(WORM, 25개 테이블)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1E293B"/>
                </a:solidFill>
                <a:latin typeface="Malgun Gothic"/>
              </a:rPr>
              <a:t>• 금지/주의 표현사전 · ProductLab 전성분/실증 캐시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60336" y="5513832"/>
            <a:ext cx="493776" cy="384048"/>
          </a:xfrm>
          <a:prstGeom prst="roundRect">
            <a:avLst>
              <a:gd name="adj" fmla="val 18000"/>
            </a:avLst>
          </a:prstGeom>
          <a:solidFill>
            <a:srgbClr val="1A73C7"/>
          </a:solidFill>
          <a:ln w="12700">
            <a:solidFill>
              <a:srgbClr val="1A7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800" b="1">
                <a:solidFill>
                  <a:srgbClr val="FFFFFF"/>
                </a:solidFill>
                <a:latin typeface="KoPub돋움체 Light"/>
              </a:rPr>
              <a:t>RAG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53328" y="5925312"/>
            <a:ext cx="29077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A73C7"/>
                </a:solidFill>
                <a:latin typeface="Malgun Gothic"/>
              </a:rPr>
              <a:t>pgvector / 하이브리드 RAG (PostgreSQL 통합)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53328" y="6089904"/>
            <a:ext cx="2907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1E293B"/>
                </a:solidFill>
                <a:latin typeface="Malgun Gothic"/>
              </a:rPr>
              <a:t>규제 조항 &amp; 기술원 실증보고서 벡터 색인 (1536d)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475569"/>
                </a:solidFill>
                <a:latin typeface="Malgun Gothic"/>
              </a:rPr>
              <a:t>Cosine Similarity k-NN + BM25 검색  ·  :5432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02368" y="5449824"/>
            <a:ext cx="512064" cy="420624"/>
          </a:xfrm>
          <a:prstGeom prst="roundRect">
            <a:avLst>
              <a:gd name="adj" fmla="val 18000"/>
            </a:avLst>
          </a:prstGeom>
          <a:solidFill>
            <a:srgbClr val="7AA116"/>
          </a:solidFill>
          <a:ln w="12700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800" b="1">
                <a:solidFill>
                  <a:srgbClr val="FFFFFF"/>
                </a:solidFill>
                <a:latin typeface="KoPub돋움체 Light"/>
              </a:rPr>
              <a:t>S3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59070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E293B"/>
                </a:solidFill>
                <a:latin typeface="Malgun Gothic"/>
              </a:rPr>
              <a:t>AWS S3 스토리지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60807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475569"/>
                </a:solidFill>
                <a:latin typeface="Malgun Gothic"/>
              </a:rPr>
              <a:t>Storage Class: Intelligent-Tiering 자동 적용</a:t>
            </a: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300MB 시안·영상 · AI 추출 및 웹 보정 장면 · 리포트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96696" y="1901952"/>
            <a:ext cx="0" cy="1298448"/>
          </a:xfrm>
          <a:prstGeom prst="line">
            <a:avLst/>
          </a:prstGeom>
          <a:ln w="15875">
            <a:solidFill>
              <a:srgbClr val="232F3E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96696" y="3200400"/>
            <a:ext cx="393192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700784" y="3584448"/>
            <a:ext cx="0" cy="71323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870000" y="4727448"/>
            <a:ext cx="150000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404872" y="5157216"/>
            <a:ext cx="45720" cy="43891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2688336" y="5157216"/>
            <a:ext cx="2276856" cy="43891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2688336" y="5157216"/>
            <a:ext cx="4837176" cy="45720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487168" y="523036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650" b="0">
                <a:solidFill>
                  <a:srgbClr val="595F66"/>
                </a:solidFill>
                <a:latin typeface="KoPub돋움체 Light"/>
              </a:rPr>
              <a:t>:5432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942832" y="4956048"/>
            <a:ext cx="822960" cy="576072"/>
          </a:xfrm>
          <a:prstGeom prst="line">
            <a:avLst/>
          </a:prstGeom>
          <a:ln w="13970">
            <a:solidFill>
              <a:srgbClr val="9AA3A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162288" y="495604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Malgun Gothic"/>
              </a:rPr>
              <a:t>BE · API · AGENT · BATCH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5989320" y="2002536"/>
            <a:ext cx="0" cy="2295144"/>
          </a:xfrm>
          <a:prstGeom prst="line">
            <a:avLst/>
          </a:prstGeom>
          <a:ln w="15875">
            <a:solidFill>
              <a:srgbClr val="ED7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458200" y="2002536"/>
            <a:ext cx="0" cy="2295144"/>
          </a:xfrm>
          <a:prstGeom prst="line">
            <a:avLst/>
          </a:prstGeom>
          <a:ln w="15875">
            <a:solidFill>
              <a:srgbClr val="ED7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744200" y="2002536"/>
            <a:ext cx="0" cy="905256"/>
          </a:xfrm>
          <a:prstGeom prst="line">
            <a:avLst/>
          </a:prstGeom>
          <a:ln w="13970">
            <a:solidFill>
              <a:srgbClr val="3F7E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2788920" y="2907792"/>
            <a:ext cx="7955279" cy="0"/>
          </a:xfrm>
          <a:prstGeom prst="line">
            <a:avLst/>
          </a:prstGeom>
          <a:ln w="13970">
            <a:solidFill>
              <a:srgbClr val="3F7EB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063240" y="2761488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650" b="0">
                <a:solidFill>
                  <a:srgbClr val="3F7EBF"/>
                </a:solidFill>
                <a:latin typeface="KoPub돋움체 Light"/>
              </a:rPr>
              <a:t>SSO 인증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62288" y="307238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2C6C"/>
                </a:solidFill>
                <a:latin typeface="Malgun Gothic"/>
              </a:rPr>
              <a:t>네이버OCR(*.apigw.ntruss.com) · LLM · 마케팅허브 방화벽 오픈</a:t>
            </a:r>
          </a:p>
          <a:p>
            <a:pPr algn="l"/>
            <a:r>
              <a:rPr sz="610" b="0">
                <a:solidFill>
                  <a:srgbClr val="475569"/>
                </a:solidFill>
                <a:latin typeface="Malgun Gothic"/>
              </a:rPr>
              <a:t>(BO/API ALB 물리분리 및 BE·API➔Agent EKS Service 통신)</a:t>
            </a:r>
          </a:p>
        </p:txBody>
      </p:sp>
      <p:sp>
        <p:nvSpPr>
          <p:cNvPr id="201" name="cicd-201"/>
          <p:cNvSpPr/>
          <p:nvPr/>
        </p:nvSpPr>
        <p:spPr>
          <a:xfrm>
            <a:off x="1828800" y="961200"/>
            <a:ext cx="2808000" cy="1022400"/>
          </a:xfrm>
          <a:prstGeom prst="rect">
            <a:avLst/>
          </a:prstGeom>
          <a:noFill/>
          <a:ln w="952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3" name="cicd-203"/>
          <p:cNvSpPr/>
          <p:nvPr/>
        </p:nvSpPr>
        <p:spPr>
          <a:xfrm>
            <a:off x="2426400" y="1116000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800" b="1">
                <a:solidFill>
                  <a:srgbClr val="FFFFFF"/>
                </a:solidFill>
                <a:latin typeface="KoPub돋움체 Light"/>
              </a:rPr>
              <a:t>GIT</a:t>
            </a:r>
          </a:p>
        </p:txBody>
      </p:sp>
      <p:sp>
        <p:nvSpPr>
          <p:cNvPr id="204" name="cicd-204"/>
          <p:cNvSpPr txBox="1"/>
          <p:nvPr/>
        </p:nvSpPr>
        <p:spPr>
          <a:xfrm>
            <a:off x="1874519" y="144475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E293B"/>
                </a:solidFill>
                <a:latin typeface="Malgun Gothic"/>
              </a:rPr>
              <a:t>GitLab 저장소 1개</a:t>
            </a:r>
          </a:p>
        </p:txBody>
      </p:sp>
      <p:sp>
        <p:nvSpPr>
          <p:cNvPr id="205" name="cicd-205"/>
          <p:cNvSpPr txBox="1"/>
          <p:nvPr/>
        </p:nvSpPr>
        <p:spPr>
          <a:xfrm>
            <a:off x="1810512" y="161848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475569"/>
                </a:solidFill>
                <a:latin typeface="Malgun Gothic"/>
              </a:rPr>
              <a:t>통합웹·업무BE·대외API·Agent·Batch</a:t>
            </a: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5대 모듈 통합 및 멀티모듈 빌드</a:t>
            </a:r>
          </a:p>
        </p:txBody>
      </p:sp>
      <p:sp>
        <p:nvSpPr>
          <p:cNvPr id="206" name="cicd-206"/>
          <p:cNvSpPr/>
          <p:nvPr/>
        </p:nvSpPr>
        <p:spPr>
          <a:xfrm>
            <a:off x="3841200" y="1116000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algun Gothic"/>
              </a:rPr>
              <a:t>CD</a:t>
            </a:r>
          </a:p>
        </p:txBody>
      </p:sp>
      <p:sp>
        <p:nvSpPr>
          <p:cNvPr id="207" name="cicd-207"/>
          <p:cNvSpPr txBox="1"/>
          <p:nvPr/>
        </p:nvSpPr>
        <p:spPr>
          <a:xfrm>
            <a:off x="3337560" y="144475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E293B"/>
                </a:solidFill>
                <a:latin typeface="Malgun Gothic"/>
              </a:rPr>
              <a:t>GitLab CI + ArgoCD 배포</a:t>
            </a:r>
          </a:p>
        </p:txBody>
      </p:sp>
      <p:sp>
        <p:nvSpPr>
          <p:cNvPr id="208" name="cicd-208"/>
          <p:cNvSpPr txBox="1"/>
          <p:nvPr/>
        </p:nvSpPr>
        <p:spPr>
          <a:xfrm>
            <a:off x="3273552" y="1618488"/>
            <a:ext cx="13898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1A73C7"/>
                </a:solidFill>
                <a:latin typeface="Malgun Gothic"/>
              </a:rPr>
              <a:t>DEV · STG · PRD EKS 자동 배포</a:t>
            </a: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ArgoCD / CodeDeploy 컨테이너 배포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877824"/>
            <a:ext cx="685800" cy="14630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C7"/>
                </a:solidFill>
                <a:latin typeface="Malgun Gothic"/>
              </a:rPr>
              <a:t> INTERFACE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11480" y="201168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0B192C"/>
                </a:solidFill>
                <a:latin typeface="Malgun Gothic"/>
              </a:rPr>
              <a:t>1. 시스템 아키텍처 및 AWS EKS 5대 모듈 배포 구성도</a:t>
            </a:r>
          </a:p>
        </p:txBody>
      </p:sp>
      <p:sp>
        <p:nvSpPr>
          <p:cNvPr id="202" name="cicd-202"/>
          <p:cNvSpPr txBox="1"/>
          <p:nvPr/>
        </p:nvSpPr>
        <p:spPr>
          <a:xfrm>
            <a:off x="1920240" y="877824"/>
            <a:ext cx="475488" cy="14630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E293B"/>
                </a:solidFill>
                <a:latin typeface="Malgun Gothic"/>
              </a:rPr>
              <a:t> CI/CD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877824"/>
            <a:ext cx="658368" cy="14630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E293B"/>
                </a:solidFill>
                <a:latin typeface="Malgun Gothic"/>
              </a:rPr>
              <a:t> EXTERNAL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3895344"/>
            <a:ext cx="4300000" cy="155448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1E293B"/>
                </a:solidFill>
                <a:latin typeface="Malgun Gothic"/>
              </a:rPr>
              <a:t> AWS EKS 클러스터 (통합웹/BE · 대외API · AI Agent · Batch 컨테이너 분리)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4096512"/>
            <a:ext cx="4300000" cy="155448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E293B"/>
                </a:solidFill>
                <a:latin typeface="Malgun Gothic"/>
              </a:rPr>
              <a:t> EKS K8s Service 내부 통신: 업무BE(:18080) &amp; 대외API(:18085) ➔ AI Agent(:18083) 호출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3017520"/>
            <a:ext cx="566928" cy="365760"/>
          </a:xfrm>
          <a:prstGeom prst="roundRect">
            <a:avLst>
              <a:gd name="adj" fmla="val 18000"/>
            </a:avLst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KoPub돋움체 Light"/>
              </a:rPr>
              <a:t>API ALB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410712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E293B"/>
                </a:solidFill>
                <a:latin typeface="Malgun Gothic"/>
              </a:rPr>
              <a:t>syncguard-ai-api-prv-alb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03580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D7100"/>
                </a:solidFill>
                <a:latin typeface="Malgun Gothic"/>
              </a:rPr>
              <a:t>[대외연계 ALB] 마케팅허브만 오픈(:443)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20954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475569"/>
                </a:solidFill>
                <a:latin typeface="Malgun Gothic"/>
              </a:rPr>
              <a:t>대외연계 API(:18085) 단독 라우팅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986784" y="3584448"/>
            <a:ext cx="0" cy="71323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29768" y="603504"/>
            <a:ext cx="11247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02C6C"/>
                </a:solidFill>
                <a:latin typeface="Malgun Gothic"/>
              </a:rPr>
              <a:t>★ 인프라팀 의견 반영: BO ALB(사용자대역 오픈) / 대외연계 ALB(마케팅허브만 오픈) 물리 분리 · BE/API➔Agent EKS Service 통신 · S3 Intelligent-Tiering · AP 기본스펙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024128"/>
            <a:ext cx="384048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37160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E293B"/>
                </a:solidFill>
                <a:latin typeface="Malgun Gothic"/>
              </a:rPr>
              <a:t>사내망 / VPN 사용자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55448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A73C7"/>
                </a:solidFill>
                <a:latin typeface="Malgun Gothic"/>
              </a:rPr>
              <a:t>사내 PC ➔ BO ALB (:443)</a:t>
            </a:r>
          </a:p>
          <a:p>
            <a:pPr algn="ctr"/>
            <a:r>
              <a:rPr sz="630" b="0">
                <a:solidFill>
                  <a:srgbClr val="475569"/>
                </a:solidFill>
                <a:latin typeface="Malgun Gothic"/>
              </a:rPr>
              <a:t>사용자대역 Inbound 허용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960120"/>
            <a:ext cx="3154680" cy="1024128"/>
          </a:xfrm>
          <a:prstGeom prst="rect">
            <a:avLst/>
          </a:prstGeom>
          <a:noFill/>
          <a:ln w="952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53328" y="1097280"/>
            <a:ext cx="384048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800" b="1">
                <a:solidFill>
                  <a:srgbClr val="FFFFFF"/>
                </a:solidFill>
                <a:latin typeface="KoPub돋움체 Light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44752"/>
            <a:ext cx="2788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E293B"/>
                </a:solidFill>
                <a:latin typeface="Malgun Gothic"/>
              </a:rPr>
              <a:t>기업용 LLM &amp; 네이버 OCR (:443)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18488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D82C20"/>
                </a:solidFill>
                <a:latin typeface="Malgun Gothic"/>
              </a:rPr>
              <a:t>비학습 상용 LLM · 1536d 임베딩 Outbound</a:t>
            </a:r>
          </a:p>
          <a:p>
            <a:pPr algn="ctr"/>
            <a:r>
              <a:rPr sz="620" b="0">
                <a:solidFill>
                  <a:srgbClr val="475569"/>
                </a:solidFill>
                <a:latin typeface="Malgun Gothic"/>
              </a:rPr>
              <a:t>네이버 클로바 OCR(*.apigw.ntruss.com) / 패들OCR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960120"/>
            <a:ext cx="3611880" cy="1024128"/>
          </a:xfrm>
          <a:prstGeom prst="rect">
            <a:avLst/>
          </a:prstGeom>
          <a:noFill/>
          <a:ln w="9525">
            <a:solidFill>
              <a:srgbClr val="3F7E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69680" y="1115568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650" b="1">
                <a:solidFill>
                  <a:srgbClr val="FFFFFF"/>
                </a:solidFill>
                <a:latin typeface="KoPub돋움체 Light"/>
              </a:rPr>
              <a:t>MKTHUB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444752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E293B"/>
                </a:solidFill>
                <a:latin typeface="Malgun Gothic"/>
              </a:rPr>
              <a:t>MarketingHub / ProductLab 방화벽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618488"/>
            <a:ext cx="17190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D82C20"/>
                </a:solidFill>
                <a:latin typeface="Malgun Gothic"/>
              </a:rPr>
              <a:t>마케팅허브 ➔ 대외연계 ALB(:443) 단독 오픈</a:t>
            </a:r>
          </a:p>
          <a:p>
            <a:pPr algn="ctr"/>
            <a:r>
              <a:rPr sz="610" b="0">
                <a:solidFill>
                  <a:srgbClr val="7A3EC4"/>
                </a:solidFill>
                <a:latin typeface="Malgun Gothic"/>
              </a:rPr>
              <a:t>ProductLab: 매일 02:00 일배치 / [Option] 레몬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115568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248" y="144475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E293B"/>
                </a:solidFill>
                <a:latin typeface="Malgun Gothic"/>
              </a:rPr>
              <a:t>사내 SSO (HB-SSO IAM)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618488"/>
            <a:ext cx="17556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D82C20"/>
                </a:solidFill>
                <a:latin typeface="Malgun Gothic"/>
              </a:rPr>
              <a:t>업무/API Pod ➔ SSO·IAM (:443) 오픈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475569"/>
                </a:solidFill>
                <a:latin typeface="Malgun Gothic"/>
              </a:rPr>
              <a:t>통합 웹 콘솔(:3104) 사내 IAM 역할별 권한 인가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148840"/>
            <a:ext cx="11430000" cy="4434840"/>
          </a:xfrm>
          <a:prstGeom prst="rect">
            <a:avLst/>
          </a:prstGeom>
          <a:noFill/>
          <a:ln w="12700">
            <a:solidFill>
              <a:srgbClr val="5A6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2221992"/>
            <a:ext cx="155448" cy="155448"/>
          </a:xfrm>
          <a:prstGeom prst="rect">
            <a:avLst/>
          </a:prstGeom>
          <a:solidFill>
            <a:srgbClr val="5A6C7D"/>
          </a:solidFill>
          <a:ln w="12700">
            <a:solidFill>
              <a:srgbClr val="5A6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220827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750" b="1">
                <a:solidFill>
                  <a:srgbClr val="595F66"/>
                </a:solidFill>
                <a:latin typeface="KoPub돋움체 Light"/>
              </a:rPr>
              <a:t>AWS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468880"/>
            <a:ext cx="11027664" cy="4005072"/>
          </a:xfrm>
          <a:prstGeom prst="rect">
            <a:avLst/>
          </a:prstGeom>
          <a:noFill/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2542032"/>
            <a:ext cx="155448" cy="155448"/>
          </a:xfrm>
          <a:prstGeom prst="rect">
            <a:avLst/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528315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750" b="1">
                <a:solidFill>
                  <a:srgbClr val="595F66"/>
                </a:solidFill>
                <a:latin typeface="KoPub돋움체 Light"/>
              </a:rPr>
              <a:t>VPC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2761488"/>
            <a:ext cx="8321040" cy="841248"/>
          </a:xfrm>
          <a:prstGeom prst="rect">
            <a:avLst/>
          </a:prstGeom>
          <a:solidFill>
            <a:srgbClr val="F2F7FC"/>
          </a:solidFill>
          <a:ln w="1143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1248" y="2816352"/>
            <a:ext cx="155448" cy="155448"/>
          </a:xfrm>
          <a:prstGeom prst="rect">
            <a:avLst/>
          </a:prstGeom>
          <a:solidFill>
            <a:srgbClr val="3F7EBF"/>
          </a:solidFill>
          <a:ln w="1270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2798064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D82C20"/>
                </a:solidFill>
                <a:latin typeface="Malgun Gothic"/>
              </a:rPr>
              <a:t>Private subnet (LB 분리) ★요청②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3017520"/>
            <a:ext cx="566928" cy="365760"/>
          </a:xfrm>
          <a:prstGeom prst="roundRect">
            <a:avLst>
              <a:gd name="adj" fmla="val 18000"/>
            </a:avLst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KoPub돋움체 Light"/>
              </a:rPr>
              <a:t>BO ALB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410712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D82C20"/>
                </a:solidFill>
                <a:latin typeface="Malgun Gothic"/>
              </a:rPr>
              <a:t>★ BO: syncguard-ai-bo-prv-alb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3035808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D82C20"/>
                </a:solidFill>
                <a:latin typeface="Malgun Gothic"/>
              </a:rPr>
              <a:t>[BO ALB] 사용자대역 오픈(:443)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8" y="3209544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E293B"/>
                </a:solidFill>
                <a:latin typeface="Malgun Gothic"/>
              </a:rPr>
              <a:t>통합웹(:3104) · 업무BE(:18080)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" y="3694176"/>
            <a:ext cx="8321040" cy="1627632"/>
          </a:xfrm>
          <a:prstGeom prst="rect">
            <a:avLst/>
          </a:prstGeom>
          <a:noFill/>
          <a:ln w="1143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41248" y="3721608"/>
            <a:ext cx="155448" cy="155448"/>
          </a:xfrm>
          <a:prstGeom prst="rect">
            <a:avLst/>
          </a:prstGeom>
          <a:solidFill>
            <a:srgbClr val="3F7EBF"/>
          </a:solidFill>
          <a:ln w="1270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3703320"/>
            <a:ext cx="13350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D82C20"/>
                </a:solidFill>
                <a:latin typeface="Malgun Gothic"/>
              </a:rPr>
              <a:t>Private subnet (EKS) ★요청③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" y="3950208"/>
            <a:ext cx="7991856" cy="1298448"/>
          </a:xfrm>
          <a:prstGeom prst="rect">
            <a:avLst/>
          </a:prstGeom>
          <a:noFill/>
          <a:ln w="1143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05840" y="3941063"/>
            <a:ext cx="155448" cy="155448"/>
          </a:xfrm>
          <a:prstGeom prst="rect">
            <a:avLst/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Malgun Gothic"/>
              </a:rPr>
              <a:t>EKS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" y="4151376"/>
            <a:ext cx="7735824" cy="1042415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33856" y="4151376"/>
            <a:ext cx="155448" cy="155448"/>
          </a:xfrm>
          <a:prstGeom prst="rect">
            <a:avLst/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Malgun Gothic"/>
              </a:rPr>
              <a:t>POD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60000" y="4315968"/>
            <a:ext cx="17800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2C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6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D82C20"/>
                </a:solidFill>
                <a:latin typeface="Malgun Gothic"/>
              </a:rPr>
              <a:t>★ ① 통합 웹 &amp; 업무 파드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1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Client/fe(:3104) + server-be(:18080)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73C7"/>
                </a:solidFill>
                <a:latin typeface="Malgun Gothic"/>
              </a:rPr>
              <a:t>웹 영상재생·특정화면 멈춤 장면 추가/편집/삭제</a:t>
            </a:r>
          </a:p>
          <a:p>
            <a:pPr algn="ctr"/>
            <a:r>
              <a:rPr sz="530" b="0">
                <a:solidFill>
                  <a:srgbClr val="1E293B"/>
                </a:solidFill>
                <a:latin typeface="Malgun Gothic"/>
              </a:rPr>
              <a:t>BO➔Agent 호출 · 상충탐지 · RA확정 · 백오피스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0000" y="4315968"/>
            <a:ext cx="17800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2C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9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D82C20"/>
                </a:solidFill>
                <a:latin typeface="Malgun Gothic"/>
              </a:rPr>
              <a:t>★ ② 대외 연계 API 파드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ED7100"/>
          </a:solidFill>
          <a:ln w="127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9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server-api (:18085)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73C7"/>
                </a:solidFill>
                <a:latin typeface="Malgun Gothic"/>
              </a:rPr>
              <a:t>마케팅허브 전용 ALB 인바운드 · 결과 웹훅 회신</a:t>
            </a:r>
          </a:p>
          <a:p>
            <a:pPr algn="ctr"/>
            <a:r>
              <a:rPr sz="530" b="0">
                <a:solidFill>
                  <a:srgbClr val="1E293B"/>
                </a:solidFill>
                <a:latin typeface="Malgun Gothic"/>
              </a:rPr>
              <a:t>300MB S3 업로드 · API➔Agent EKS Service 호출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0000" y="4315968"/>
            <a:ext cx="17800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2C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D82C20"/>
                </a:solidFill>
                <a:latin typeface="Malgun Gothic"/>
              </a:rPr>
              <a:t>★ ③ AI 에이전트 파드 (4건 큐)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7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1A73C7"/>
          </a:solidFill>
          <a:ln w="12700">
            <a:solidFill>
              <a:srgbClr val="1A7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server-ai-agent (:18083)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73C7"/>
                </a:solidFill>
                <a:latin typeface="Malgun Gothic"/>
              </a:rPr>
              <a:t>OpenCV 피크프레임 1차 자동추출 + 웹 보정장면 분석</a:t>
            </a:r>
          </a:p>
          <a:p>
            <a:pPr algn="ctr"/>
            <a:r>
              <a:rPr sz="530" b="0">
                <a:solidFill>
                  <a:srgbClr val="1E293B"/>
                </a:solidFill>
                <a:latin typeface="Malgun Gothic"/>
              </a:rPr>
              <a:t>네이버/패들 OCR · 동시 4건 세마포어 + QUEUED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50000" y="4315968"/>
            <a:ext cx="17800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2C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50000" y="4334256"/>
            <a:ext cx="178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D82C20"/>
                </a:solidFill>
                <a:latin typeface="Malgun Gothic"/>
              </a:rPr>
              <a:t>★ ④ 배치 파드 (새벽 일배치)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02840" y="4498848"/>
            <a:ext cx="274320" cy="237744"/>
          </a:xfrm>
          <a:prstGeom prst="roundRect">
            <a:avLst>
              <a:gd name="adj" fmla="val 18000"/>
            </a:avLst>
          </a:prstGeom>
          <a:solidFill>
            <a:srgbClr val="7A3EC4"/>
          </a:solidFill>
          <a:ln w="12700">
            <a:solidFill>
              <a:srgbClr val="7A3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50000" y="4727448"/>
            <a:ext cx="17800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server-batch (:18084)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0000" y="4882896"/>
            <a:ext cx="1780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" b="1">
                <a:solidFill>
                  <a:srgbClr val="1A73C7"/>
                </a:solidFill>
                <a:latin typeface="Malgun Gothic"/>
              </a:rPr>
              <a:t>매일 02:00 ProductLab 전성분·실증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30" b="0">
                <a:solidFill>
                  <a:srgbClr val="7A3EC4"/>
                </a:solidFill>
                <a:latin typeface="Malgun Gothic"/>
              </a:rPr>
              <a:t>02:30 KT레몬 · 법령 Diff 벡터화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" y="5413248"/>
            <a:ext cx="8321040" cy="960120"/>
          </a:xfrm>
          <a:prstGeom prst="rect">
            <a:avLst/>
          </a:prstGeom>
          <a:noFill/>
          <a:ln w="1143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1248" y="5468112"/>
            <a:ext cx="155448" cy="155448"/>
          </a:xfrm>
          <a:prstGeom prst="rect">
            <a:avLst/>
          </a:prstGeom>
          <a:solidFill>
            <a:srgbClr val="3F7EBF"/>
          </a:solidFill>
          <a:ln w="12700">
            <a:solidFill>
              <a:srgbClr val="3F7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650" b="1">
                <a:solidFill>
                  <a:srgbClr val="FFFFFF"/>
                </a:solidFill>
                <a:latin typeface="KoPub돋움체 Light"/>
              </a:rPr>
              <a:t>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271" y="5449824"/>
            <a:ext cx="13350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D82C20"/>
                </a:solidFill>
                <a:latin typeface="Malgun Gothic"/>
              </a:rPr>
              <a:t>Private subnet (DB) ★요청④</a:t>
            </a:r>
          </a:p>
        </p:txBody>
      </p:sp>
      <p:sp>
        <p:nvSpPr>
          <p:cNvPr id="63" name="Oval 62"/>
          <p:cNvSpPr/>
          <p:nvPr/>
        </p:nvSpPr>
        <p:spPr>
          <a:xfrm>
            <a:off x="2148840" y="5605272"/>
            <a:ext cx="475488" cy="475488"/>
          </a:xfrm>
          <a:prstGeom prst="ellipse">
            <a:avLst/>
          </a:prstGeom>
          <a:solidFill>
            <a:srgbClr val="2E3A8C"/>
          </a:solidFill>
          <a:ln w="12700">
            <a:solidFill>
              <a:srgbClr val="2E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800" b="1">
                <a:solidFill>
                  <a:srgbClr val="FFFFFF"/>
                </a:solidFill>
                <a:latin typeface="KoPub돋움체 Light"/>
              </a:rPr>
              <a:t>PG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3040" y="6089904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D82C20"/>
                </a:solidFill>
                <a:latin typeface="Malgun Gothic"/>
              </a:rPr>
              <a:t>★ RDS PostgreSQL 16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6236208"/>
            <a:ext cx="212140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1E293B"/>
                </a:solidFill>
                <a:latin typeface="Malgun Gothic"/>
              </a:rPr>
              <a:t>hb_syncguard_ai (:5432)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63240" y="5724144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• 스펙: HB RDS 표준 기본 제공 타입 우선 구성</a:t>
            </a:r>
          </a:p>
          <a:p>
            <a:pPr algn="l"/>
            <a:r>
              <a:rPr sz="620" b="0">
                <a:solidFill>
                  <a:srgbClr val="1E293B"/>
                </a:solidFill>
                <a:latin typeface="Malgun Gothic"/>
              </a:rPr>
              <a:t>  (성능테스트 시 리소스 부족 지속 시 스펙 증설 요청)</a:t>
            </a:r>
          </a:p>
          <a:p>
            <a:pPr algn="l"/>
            <a:r>
              <a:rPr sz="620" b="0">
                <a:solidFill>
                  <a:srgbClr val="1E293B"/>
                </a:solidFill>
                <a:latin typeface="Malgun Gothic"/>
              </a:rPr>
              <a:t>• 단일 PostgreSQL 내 서비스·RAG(1536d) 스키마 통합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60336" y="5513832"/>
            <a:ext cx="493776" cy="384048"/>
          </a:xfrm>
          <a:prstGeom prst="roundRect">
            <a:avLst>
              <a:gd name="adj" fmla="val 18000"/>
            </a:avLst>
          </a:prstGeom>
          <a:solidFill>
            <a:srgbClr val="1A73C7"/>
          </a:solidFill>
          <a:ln w="12700">
            <a:solidFill>
              <a:srgbClr val="1A7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800" b="1">
                <a:solidFill>
                  <a:srgbClr val="FFFFFF"/>
                </a:solidFill>
                <a:latin typeface="KoPub돋움체 Light"/>
              </a:rPr>
              <a:t>RAG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53328" y="5925312"/>
            <a:ext cx="29077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82C20"/>
                </a:solidFill>
                <a:latin typeface="Malgun Gothic"/>
              </a:rPr>
              <a:t>★ pgvector 확장 통합 (PostgreSQL 내장)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53328" y="6089904"/>
            <a:ext cx="2907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1E293B"/>
                </a:solidFill>
                <a:latin typeface="Malgun Gothic"/>
              </a:rPr>
              <a:t>CREATE EXTENSION vector; 필수 활성화 (:5432)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475569"/>
                </a:solidFill>
                <a:latin typeface="Malgun Gothic"/>
              </a:rPr>
              <a:t>규제 조항 · 기술원 보고서 1536차원 HNSW 벡터 인덱스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02368" y="5449824"/>
            <a:ext cx="512064" cy="420624"/>
          </a:xfrm>
          <a:prstGeom prst="roundRect">
            <a:avLst>
              <a:gd name="adj" fmla="val 18000"/>
            </a:avLst>
          </a:prstGeom>
          <a:solidFill>
            <a:srgbClr val="7AA116"/>
          </a:solidFill>
          <a:ln w="12700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800" b="1">
                <a:solidFill>
                  <a:srgbClr val="FFFFFF"/>
                </a:solidFill>
                <a:latin typeface="KoPub돋움체 Light"/>
              </a:rPr>
              <a:t>S3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6840" y="590702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D82C20"/>
                </a:solidFill>
                <a:latin typeface="Malgun Gothic"/>
              </a:rPr>
              <a:t>★ 요청 ⑤ AWS S3 버킷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60807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B192C"/>
                </a:solidFill>
                <a:latin typeface="Malgun Gothic"/>
              </a:rPr>
              <a:t>Storage Class: Intelligent-Tiering 자동 적용</a:t>
            </a:r>
          </a:p>
          <a:p>
            <a:pPr algn="ctr"/>
            <a:r>
              <a:rPr sz="610" b="0">
                <a:solidFill>
                  <a:srgbClr val="1E293B"/>
                </a:solidFill>
                <a:latin typeface="Malgun Gothic"/>
              </a:rPr>
              <a:t>300MB 시안·영상 · AI 추출 및 웹 보정 장면 · 리포트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96696" y="1901952"/>
            <a:ext cx="0" cy="1298448"/>
          </a:xfrm>
          <a:prstGeom prst="line">
            <a:avLst/>
          </a:prstGeom>
          <a:ln w="15875">
            <a:solidFill>
              <a:srgbClr val="232F3E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96696" y="3200400"/>
            <a:ext cx="393192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700784" y="3584448"/>
            <a:ext cx="0" cy="71323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870000" y="4727448"/>
            <a:ext cx="150000" cy="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404872" y="5157216"/>
            <a:ext cx="45720" cy="43891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2688336" y="5157216"/>
            <a:ext cx="2276856" cy="43891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2688336" y="5157216"/>
            <a:ext cx="4837176" cy="457200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487168" y="523036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650" b="0">
                <a:solidFill>
                  <a:srgbClr val="595F66"/>
                </a:solidFill>
                <a:latin typeface="KoPub돋움체 Light"/>
              </a:rPr>
              <a:t>:5432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942832" y="4956048"/>
            <a:ext cx="822960" cy="576072"/>
          </a:xfrm>
          <a:prstGeom prst="line">
            <a:avLst/>
          </a:prstGeom>
          <a:ln w="13970">
            <a:solidFill>
              <a:srgbClr val="9AA3A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162288" y="495604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Malgun Gothic"/>
              </a:rPr>
              <a:t>BE · API · AGENT · BATCH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5989320" y="2002536"/>
            <a:ext cx="0" cy="2295144"/>
          </a:xfrm>
          <a:prstGeom prst="line">
            <a:avLst/>
          </a:prstGeom>
          <a:ln w="15875">
            <a:solidFill>
              <a:srgbClr val="ED7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458200" y="2002536"/>
            <a:ext cx="0" cy="2295144"/>
          </a:xfrm>
          <a:prstGeom prst="line">
            <a:avLst/>
          </a:prstGeom>
          <a:ln w="15875">
            <a:solidFill>
              <a:srgbClr val="ED7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744200" y="2002536"/>
            <a:ext cx="0" cy="905256"/>
          </a:xfrm>
          <a:prstGeom prst="line">
            <a:avLst/>
          </a:prstGeom>
          <a:ln w="13970">
            <a:solidFill>
              <a:srgbClr val="3F7E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2788920" y="2907792"/>
            <a:ext cx="7955279" cy="0"/>
          </a:xfrm>
          <a:prstGeom prst="line">
            <a:avLst/>
          </a:prstGeom>
          <a:ln w="13970">
            <a:solidFill>
              <a:srgbClr val="3F7EB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063240" y="2761488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sz="650" b="0">
                <a:solidFill>
                  <a:srgbClr val="3F7EBF"/>
                </a:solidFill>
                <a:latin typeface="KoPub돋움체 Light"/>
              </a:rPr>
              <a:t>SSO 인증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62288" y="307238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2C6C"/>
                </a:solidFill>
                <a:latin typeface="Malgun Gothic"/>
              </a:rPr>
              <a:t>네이버OCR(*.apigw.ntruss.com) · LLM · 마케팅허브 방화벽 오픈</a:t>
            </a:r>
          </a:p>
          <a:p>
            <a:pPr algn="l"/>
            <a:r>
              <a:rPr sz="610" b="0">
                <a:solidFill>
                  <a:srgbClr val="475569"/>
                </a:solidFill>
                <a:latin typeface="Malgun Gothic"/>
              </a:rPr>
              <a:t>(BO/API ALB 물리분리 및 BE·API➔Agent EKS Service 통신)</a:t>
            </a:r>
          </a:p>
        </p:txBody>
      </p:sp>
      <p:sp>
        <p:nvSpPr>
          <p:cNvPr id="201" name="cicd-201"/>
          <p:cNvSpPr/>
          <p:nvPr/>
        </p:nvSpPr>
        <p:spPr>
          <a:xfrm>
            <a:off x="1828800" y="961200"/>
            <a:ext cx="2808000" cy="1022400"/>
          </a:xfrm>
          <a:prstGeom prst="rect">
            <a:avLst/>
          </a:prstGeom>
          <a:noFill/>
          <a:ln w="952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3" name="cicd-203"/>
          <p:cNvSpPr/>
          <p:nvPr/>
        </p:nvSpPr>
        <p:spPr>
          <a:xfrm>
            <a:off x="2426400" y="1116000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ko-KR" sz="800" b="1">
                <a:solidFill>
                  <a:srgbClr val="FFFFFF"/>
                </a:solidFill>
                <a:latin typeface="KoPub돋움체 Light"/>
              </a:rPr>
              <a:t>GIT</a:t>
            </a:r>
          </a:p>
        </p:txBody>
      </p:sp>
      <p:sp>
        <p:nvSpPr>
          <p:cNvPr id="204" name="cicd-204"/>
          <p:cNvSpPr txBox="1"/>
          <p:nvPr/>
        </p:nvSpPr>
        <p:spPr>
          <a:xfrm>
            <a:off x="1874519" y="144475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82C20"/>
                </a:solidFill>
                <a:latin typeface="Malgun Gothic"/>
              </a:rPr>
              <a:t>★ GitLab 저장소 1개 생성</a:t>
            </a:r>
          </a:p>
        </p:txBody>
      </p:sp>
      <p:sp>
        <p:nvSpPr>
          <p:cNvPr id="205" name="cicd-205"/>
          <p:cNvSpPr txBox="1"/>
          <p:nvPr/>
        </p:nvSpPr>
        <p:spPr>
          <a:xfrm>
            <a:off x="1810512" y="161848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E293B"/>
                </a:solidFill>
                <a:latin typeface="Malgun Gothic"/>
              </a:rPr>
              <a:t>레포지토리명: syncguard-ai</a:t>
            </a: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웹·업무BE·대외API·Agent·Batch 통합</a:t>
            </a:r>
          </a:p>
        </p:txBody>
      </p:sp>
      <p:sp>
        <p:nvSpPr>
          <p:cNvPr id="206" name="cicd-206"/>
          <p:cNvSpPr/>
          <p:nvPr/>
        </p:nvSpPr>
        <p:spPr>
          <a:xfrm>
            <a:off x="3841200" y="1116000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algun Gothic"/>
              </a:rPr>
              <a:t>CD</a:t>
            </a:r>
          </a:p>
        </p:txBody>
      </p:sp>
      <p:sp>
        <p:nvSpPr>
          <p:cNvPr id="207" name="cicd-207"/>
          <p:cNvSpPr txBox="1"/>
          <p:nvPr/>
        </p:nvSpPr>
        <p:spPr>
          <a:xfrm>
            <a:off x="3337560" y="144475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82C20"/>
                </a:solidFill>
                <a:latin typeface="Malgun Gothic"/>
              </a:rPr>
              <a:t>★ GitLab CI + ArgoCD 배포</a:t>
            </a:r>
          </a:p>
        </p:txBody>
      </p:sp>
      <p:sp>
        <p:nvSpPr>
          <p:cNvPr id="208" name="cicd-208"/>
          <p:cNvSpPr txBox="1"/>
          <p:nvPr/>
        </p:nvSpPr>
        <p:spPr>
          <a:xfrm>
            <a:off x="3273552" y="1618488"/>
            <a:ext cx="13898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E293B"/>
                </a:solidFill>
                <a:latin typeface="Malgun Gothic"/>
              </a:rPr>
              <a:t>DEV · STG · PRD EKS 자동배포</a:t>
            </a: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ArgoCD / CodeDeploy 컨테이너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877824"/>
            <a:ext cx="960120" cy="14630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A73C7"/>
                </a:solidFill>
                <a:latin typeface="Malgun Gothic"/>
              </a:rPr>
              <a:t> 사내 방화벽 오픈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11480" y="201168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D82C20"/>
                </a:solidFill>
                <a:latin typeface="Malgun Gothic"/>
              </a:rPr>
              <a:t>6. [인프라팀 협의반영] AWS EKS &amp; 5대 모듈(통합웹·BE·API·Agent·Batch) 구성도</a:t>
            </a:r>
          </a:p>
        </p:txBody>
      </p:sp>
      <p:sp>
        <p:nvSpPr>
          <p:cNvPr id="202" name="cicd-202"/>
          <p:cNvSpPr txBox="1"/>
          <p:nvPr/>
        </p:nvSpPr>
        <p:spPr>
          <a:xfrm>
            <a:off x="1901952" y="877824"/>
            <a:ext cx="960120" cy="14630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D82C20"/>
                </a:solidFill>
                <a:latin typeface="Malgun Gothic"/>
              </a:rPr>
              <a:t> ★ 요청 ① CI/CD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877824"/>
            <a:ext cx="960120" cy="14630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7A3EC4"/>
                </a:solidFill>
                <a:latin typeface="Malgun Gothic"/>
              </a:rPr>
              <a:t> 대외 방화벽 오픈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3895344"/>
            <a:ext cx="4300000" cy="155448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002C6C"/>
                </a:solidFill>
                <a:latin typeface="Malgun Gothic"/>
              </a:rPr>
              <a:t> ★ AWS EKS 클러스터 구성 (통합웹/BE · 대외API · AI Agent · Batch 컨테이너 분리)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4096512"/>
            <a:ext cx="4300000" cy="155448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D82C20"/>
                </a:solidFill>
                <a:latin typeface="Malgun Gothic"/>
              </a:rPr>
              <a:t> ★ EKS K8s Service 통신: 업무BE(:18080) &amp; 대외API(:18085) ➔ AI Agent(:18083) 호출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3017520"/>
            <a:ext cx="566928" cy="365760"/>
          </a:xfrm>
          <a:prstGeom prst="roundRect">
            <a:avLst>
              <a:gd name="adj" fmla="val 18000"/>
            </a:avLst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KoPub돋움체 Light"/>
              </a:rPr>
              <a:t>API ALB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410712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D82C20"/>
                </a:solidFill>
                <a:latin typeface="Malgun Gothic"/>
              </a:rPr>
              <a:t>★ 연계: syncguard-ai-api-prv-alb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03580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D82C20"/>
                </a:solidFill>
                <a:latin typeface="Malgun Gothic"/>
              </a:rPr>
              <a:t>[대외연계 ALB] 마케팅허브만 오픈(:443)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20954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E293B"/>
                </a:solidFill>
                <a:latin typeface="Malgun Gothic"/>
              </a:rPr>
              <a:t>대외연계 API(:18085) 단독 라우팅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986784" y="3584448"/>
            <a:ext cx="0" cy="713232"/>
          </a:xfrm>
          <a:prstGeom prst="line">
            <a:avLst/>
          </a:prstGeom>
          <a:ln w="15875">
            <a:solidFill>
              <a:srgbClr val="232F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50" b="1">
                <a:solidFill>
                  <a:srgbClr val="0B192C"/>
                </a:solidFill>
                <a:latin typeface="Malgun Gothic"/>
              </a:rPr>
              <a:t>7. [인프라팀 협의반영] 환경별(DEV·STG·PRD) EKS &amp; 5대 모듈 상세 블록도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80" b="0">
                <a:solidFill>
                  <a:srgbClr val="475569"/>
                </a:solidFill>
                <a:latin typeface="Malgun Gothic"/>
              </a:rPr>
              <a:t>AWS EKS 기반 환경 분리 및 5대 모듈(①통합 웹 Client/fe · ②메인 업무서버 be · ③대외연계 API · ④AI Agent · ⑤Batch), PostgreSQL(pgvector 1536d 단일DB)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219456"/>
            <a:ext cx="1965960" cy="310896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D82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19" b="1">
                <a:solidFill>
                  <a:srgbClr val="D82C20"/>
                </a:solidFill>
                <a:latin typeface="Malgun Gothic"/>
              </a:rPr>
              <a:t>★ 신규 생성 요청 대상 (NEW)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19456"/>
            <a:ext cx="1965960" cy="3108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80" b="1">
                <a:solidFill>
                  <a:srgbClr val="475569"/>
                </a:solidFill>
                <a:latin typeface="Malgun Gothic"/>
              </a:rPr>
              <a:t>기존 시스템 / 연동 대상 (방화벽 오픈)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474720" cy="1143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D82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987552"/>
            <a:ext cx="3291840" cy="256032"/>
          </a:xfrm>
          <a:prstGeom prst="roundRect">
            <a:avLst>
              <a:gd name="adj" fmla="val 4000"/>
            </a:avLst>
          </a:prstGeom>
          <a:solidFill>
            <a:srgbClr val="D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40" b="1">
                <a:solidFill>
                  <a:srgbClr val="FFFFFF"/>
                </a:solidFill>
                <a:latin typeface="Malgun Gothic"/>
              </a:rPr>
              <a:t>★ [신규 요청 ①] 형상관리 &amp; 환경별 배포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80160"/>
            <a:ext cx="3255264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750" b="1">
                <a:solidFill>
                  <a:srgbClr val="0B192C"/>
                </a:solidFill>
                <a:latin typeface="Malgun Gothic"/>
              </a:rPr>
              <a:t>• GitLab 저장소(syncguard-ai) + ArgoCD / CodeDeploy 컨테이너 자동 배포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740" b="1">
                <a:solidFill>
                  <a:srgbClr val="0B192C"/>
                </a:solidFill>
                <a:latin typeface="Malgun Gothic"/>
              </a:rPr>
              <a:t>• 환경별 브랜치 배포 연동 (develop➔DEV / stage➔STG / main➔PRD)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720" b="0">
                <a:solidFill>
                  <a:srgbClr val="475569"/>
                </a:solidFill>
                <a:latin typeface="Malgun Gothic"/>
              </a:rPr>
              <a:t>• 5대 모듈(Client/fe, server-be, server-api, server-ai-agent, server-batch) 빌드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914400"/>
            <a:ext cx="46634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1A7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69080" y="987552"/>
            <a:ext cx="4480560" cy="256032"/>
          </a:xfrm>
          <a:prstGeom prst="roundRect">
            <a:avLst>
              <a:gd name="adj" fmla="val 4000"/>
            </a:avLst>
          </a:prstGeom>
          <a:solidFill>
            <a:srgbClr val="1A7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40" b="1">
                <a:solidFill>
                  <a:srgbClr val="FFFFFF"/>
                </a:solidFill>
                <a:latin typeface="Malgun Gothic"/>
              </a:rPr>
              <a:t>사내 연계 시스템 (DEV · STG · PRD 환경별 방화벽 오픈 요청)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280160"/>
            <a:ext cx="4443984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750" b="1">
                <a:solidFill>
                  <a:srgbClr val="0B192C"/>
                </a:solidFill>
                <a:latin typeface="Malgun Gothic"/>
              </a:rPr>
              <a:t>• 마케팅허브(MarketingHub): 대외연계 전용 ALB(마케팅허브만 오픈) 경유 의뢰 수신 및 결과(HTML/JSON) 콜백 연동</a:t>
            </a:r>
          </a:p>
          <a:p>
            <a:pPr algn="l"/>
            <a:r>
              <a:rPr sz="750" b="1">
                <a:solidFill>
                  <a:srgbClr val="0B192C"/>
                </a:solidFill>
                <a:latin typeface="Malgun Gothic"/>
              </a:rPr>
              <a:t>• 프로덕트랩(ProductLab): 매일 새벽 02:00 일배치(Batch :18084) 전성분·처방·임상보고서 수집</a:t>
            </a:r>
          </a:p>
          <a:p>
            <a:pPr algn="l"/>
            <a:r>
              <a:rPr sz="750" b="1">
                <a:solidFill>
                  <a:srgbClr val="0B192C"/>
                </a:solidFill>
                <a:latin typeface="Malgun Gothic"/>
              </a:rPr>
              <a:t>• 사내 SSO &amp; IAM: BO 전용 ALB(사용자대역 오픈) 통합 웹(:3104) 접속 시 사내 IAM 권한 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914400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7A3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0" y="987552"/>
            <a:ext cx="2880360" cy="256032"/>
          </a:xfrm>
          <a:prstGeom prst="roundRect">
            <a:avLst>
              <a:gd name="adj" fmla="val 4000"/>
            </a:avLst>
          </a:prstGeom>
          <a:solidFill>
            <a:srgbClr val="7A3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40" b="1">
                <a:solidFill>
                  <a:srgbClr val="FFFFFF"/>
                </a:solidFill>
                <a:latin typeface="Malgun Gothic"/>
              </a:rPr>
              <a:t>대외 AI Gateway / LLM · 네이버 OCR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1280160"/>
            <a:ext cx="2843784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750" b="1">
                <a:solidFill>
                  <a:srgbClr val="0B192C"/>
                </a:solidFill>
                <a:latin typeface="Malgun Gothic"/>
              </a:rPr>
              <a:t>• AI 에이전트(:18083) ➔ Outbound HTTPS(:443) 오픈</a:t>
            </a:r>
          </a:p>
          <a:p>
            <a:pPr algn="l"/>
            <a:r>
              <a:rPr sz="740" b="0">
                <a:solidFill>
                  <a:srgbClr val="1E293B"/>
                </a:solidFill>
                <a:latin typeface="Malgun Gothic"/>
              </a:rPr>
              <a:t>• 네이버 클로바 OCR: *.apigw.ntruss.com (연구소 계약)</a:t>
            </a:r>
          </a:p>
          <a:p>
            <a:pPr algn="l"/>
            <a:r>
              <a:rPr sz="740" b="0">
                <a:solidFill>
                  <a:srgbClr val="1E293B"/>
                </a:solidFill>
                <a:latin typeface="Malgun Gothic"/>
              </a:rPr>
              <a:t>• 기업용 비학습 LLM: api.openai.com / api.anthropic.com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76272"/>
            <a:ext cx="11475720" cy="4434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9050">
            <a:solidFill>
              <a:srgbClr val="002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" y="2249424"/>
            <a:ext cx="5669280" cy="274320"/>
          </a:xfrm>
          <a:prstGeom prst="roundRect">
            <a:avLst>
              <a:gd name="adj" fmla="val 4000"/>
            </a:avLst>
          </a:prstGeom>
          <a:solidFill>
            <a:srgbClr val="002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80" b="1">
                <a:solidFill>
                  <a:srgbClr val="FFFFFF"/>
                </a:solidFill>
                <a:latin typeface="Malgun Gothic"/>
              </a:rPr>
              <a:t>한빛글로벌 AWS Cloud — VPC (개발 DEV · 스테이지 STG · 운영 PRD 환경 분리)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96896"/>
            <a:ext cx="2834640" cy="1874519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D82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2670048"/>
            <a:ext cx="2651760" cy="274320"/>
          </a:xfrm>
          <a:prstGeom prst="roundRect">
            <a:avLst>
              <a:gd name="adj" fmla="val 4000"/>
            </a:avLst>
          </a:prstGeom>
          <a:solidFill>
            <a:srgbClr val="D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40" b="1">
                <a:solidFill>
                  <a:srgbClr val="FFFFFF"/>
                </a:solidFill>
                <a:latin typeface="Malgun Gothic"/>
              </a:rPr>
              <a:t>★ [신규 요청 ②] Private Subnet (ALB 물리 분리)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999232"/>
            <a:ext cx="2615184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B192C"/>
                </a:solidFill>
                <a:latin typeface="Malgun Gothic"/>
              </a:rPr>
              <a:t>• 물리적 ALB 2개 분리 구성 (접근 통제 분리)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BO ALB (syncguard-ai-bo-prv-alb): 사용자대역 오픈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  ➔ 통합웹(:3104) · 업무BE(:18080) [claim.hanbitglobal.com]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대외연계 ALB (syncguard-ai-api-prv-alb): 마케팅허브만 오픈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  ➔ 대외연계 API(:18085) [syncguard-api.hanbitglobal.com]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72000"/>
            <a:ext cx="28346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A7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645152"/>
            <a:ext cx="2651760" cy="274320"/>
          </a:xfrm>
          <a:prstGeom prst="roundRect">
            <a:avLst>
              <a:gd name="adj" fmla="val 4000"/>
            </a:avLst>
          </a:prstGeom>
          <a:solidFill>
            <a:srgbClr val="1A7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40" b="1">
                <a:solidFill>
                  <a:srgbClr val="FFFFFF"/>
                </a:solidFill>
                <a:latin typeface="Malgun Gothic"/>
              </a:rPr>
              <a:t>★ [신규 요청 ③] EKS IRSA Role &amp; 런타임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974336"/>
            <a:ext cx="2615184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0B192C"/>
                </a:solidFill>
                <a:latin typeface="Malgun Gothic"/>
              </a:rPr>
              <a:t>• EKS Pod IAM Role (IRSA) 생성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S3 버킷(Intelligent-Tiering 자동적용) Read/Write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Secrets Manager / KMS 접근 권한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• EKS K8s Service 내부 통신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업무BE(:18080) &amp; 대외API(:18085) ➔ Agent(:18083)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OpenJDK 21 · Python 3.11 · Node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2596896"/>
            <a:ext cx="4892040" cy="3895344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20320">
            <a:solidFill>
              <a:srgbClr val="D82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2670048"/>
            <a:ext cx="4709160" cy="274320"/>
          </a:xfrm>
          <a:prstGeom prst="roundRect">
            <a:avLst>
              <a:gd name="adj" fmla="val 4000"/>
            </a:avLst>
          </a:prstGeom>
          <a:solidFill>
            <a:srgbClr val="D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40" b="1">
                <a:solidFill>
                  <a:srgbClr val="FFFFFF"/>
                </a:solidFill>
                <a:latin typeface="Malgun Gothic"/>
              </a:rPr>
              <a:t>★ [신규 요청 ④] Private Subnet (EKS) — 5대 모듈 컨테이너 워크로드 분리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84448" y="2980944"/>
            <a:ext cx="4672584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80" b="1">
                <a:solidFill>
                  <a:srgbClr val="0B192C"/>
                </a:solidFill>
                <a:latin typeface="Malgun Gothic"/>
              </a:rPr>
              <a:t>AP 기본 제공 스펙 우선 구성 (성능테스트 시 OOM 등 서비스 중단 반복 시 스펙 증설 요청) · PRD / STG / 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84448" y="3310128"/>
            <a:ext cx="4672584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2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760" b="1">
                <a:solidFill>
                  <a:srgbClr val="002C6C"/>
                </a:solidFill>
                <a:latin typeface="Malgun Gothic"/>
              </a:rPr>
              <a:t>★ 모듈 #1·#2 : 통합 웹 콘솔(Client/fe :3104) + 메인 업무서버(server-be :18080) [BO ALB 연결]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영상 장면 보정: AI 1차 추출 후 웹 화면에서 동영상 재생·특정화면 멈춰 장면 추가 및 AI 생성 장면 편집·삭제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BO ➔ Agent 호출: 장면 보정 재분석·수동 재실행·법령 청킹 시 업무BE(:18080)에서 EKS Service로 AI Agent 호출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84448" y="4096512"/>
            <a:ext cx="4672584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A7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760" b="1">
                <a:solidFill>
                  <a:srgbClr val="1A73C7"/>
                </a:solidFill>
                <a:latin typeface="Malgun Gothic"/>
              </a:rPr>
              <a:t>★ 모듈 #3 : 대외 연계 &amp; 파일 API 서버(server-api :18085) [대외연계 전용 ALB 단독 연결]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접근 통제: 마케팅허브 서버만 오픈된 대외연계 ALB를 통해서만 인바운드 접근 허용 (일반 사용자대역 접근 차단)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대용량 처리: 300MB 시안·동영상 S3(Intelligent-Tiering) 업로드 및 EKS Service를 통한 AI Agent(:18083) 호출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4448" y="4882896"/>
            <a:ext cx="4672584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A3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760" b="1">
                <a:solidFill>
                  <a:srgbClr val="7A3EC4"/>
                </a:solidFill>
                <a:latin typeface="Malgun Gothic"/>
              </a:rPr>
              <a:t>★ 모듈 #4·#5 : AI 에이전트(:18083) &amp; 배치 워커(:18084) [AP 기본 제공 타입 적용]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AI Agent(:18083): OpenCV 영상 피크프레임 1차 자동추출 + 웹 보정 장면 분석, 네이버/패들 OCR, 동시 4건 큐, 1536d RAG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스펙 원칙: AP 기본 제공 타입으로 구성하며, 성능 테스트 시 OOM 등 서비스 중단 이슈 반복 시 스펙 증설 요청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84448" y="5669280"/>
            <a:ext cx="4672584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760" b="1">
                <a:solidFill>
                  <a:srgbClr val="2E7D32"/>
                </a:solidFill>
                <a:latin typeface="Malgun Gothic"/>
              </a:rPr>
              <a:t>★ 스테이지(STG) &amp; 개발(DEV) 환경 EKS 네임스페이스/클러스터 분리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660" b="0">
                <a:solidFill>
                  <a:srgbClr val="1E293B"/>
                </a:solidFill>
                <a:latin typeface="Malgun Gothic"/>
              </a:rPr>
              <a:t>• 스테이지(STG): syncguard-ai-stg 네임스페이스 — 현업 UAT 및 마케팅허브·프로덕트랩 검증계 통합 테스트
• 개발(DEV): syncguard-ai-dev 네임스페이스 — 5대 모듈(통합웹·업무BE·연계API·에이전트·배치) 개발계 컨테이너 구동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2596896"/>
            <a:ext cx="3200400" cy="3895344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D82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60" y="2670048"/>
            <a:ext cx="3017520" cy="274320"/>
          </a:xfrm>
          <a:prstGeom prst="roundRect">
            <a:avLst>
              <a:gd name="adj" fmla="val 4000"/>
            </a:avLst>
          </a:prstGeom>
          <a:solidFill>
            <a:srgbClr val="D8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19" b="1">
                <a:solidFill>
                  <a:srgbClr val="FFFFFF"/>
                </a:solidFill>
                <a:latin typeface="Malgun Gothic"/>
              </a:rPr>
              <a:t>★ [신규 요청 ⑤] PostgreSQL(RAG 통합) · S3 생성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3017520"/>
            <a:ext cx="3017520" cy="202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2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"/>
              </a:spcBef>
              <a:spcAft>
                <a:spcPts val="60"/>
              </a:spcAft>
            </a:pPr>
            <a:r>
              <a:rPr sz="800" b="1">
                <a:solidFill>
                  <a:srgbClr val="002C6C"/>
                </a:solidFill>
                <a:latin typeface="Malgun Gothic"/>
              </a:rPr>
              <a:t>★ AWS RDS for PostgreSQL 16 + pgvector 통합 (:5432)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스펙 정책: HB RDS 표준 기본 제공 타입으로 우선 구성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  (성능 테스트 시 리소스 부족 현상 지속 시 스펙 증설 요청)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환경 분리: 운영(PRD Multi-AZ) / 스테이지(STG) / 개발(DEV)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확장 모듈: CREATE EXTENSION vector; (1536차원 HNSW)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단일 DB 내 서비스·RAG 스키마 통합 구성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5138928"/>
            <a:ext cx="30175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"/>
              </a:spcBef>
              <a:spcAft>
                <a:spcPts val="60"/>
              </a:spcAft>
            </a:pPr>
            <a:r>
              <a:rPr sz="800" b="1">
                <a:solidFill>
                  <a:srgbClr val="2E7D32"/>
                </a:solidFill>
                <a:latin typeface="Malgun Gothic"/>
              </a:rPr>
              <a:t>★ AWS S3 전용 버킷 (Intelligent-Tiering 자동 적용)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환경별 버킷: ap-syncguard-ai-prd / stg / dev (SSE-S3 암호화)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저장 타입: 업로드 시 "Intelligent-Tiering" 자동 적용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  (보관주기 미확정에 따른 자동 패턴 분석으로 보관비용 관리)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용도: 시안·영상 원본, AI 추출 및 웹 보정 장면, 리포트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20" b="1">
                <a:solidFill>
                  <a:srgbClr val="0B192C"/>
                </a:solidFill>
                <a:latin typeface="Malgun Gothic"/>
              </a:rPr>
              <a:t>8. [인프라팀 협의반영] 환경별(DEV·STG·PRD) EKS·DB·스토리지 자원 명세 및 방화벽 요청서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80" b="0">
                <a:solidFill>
                  <a:srgbClr val="475569"/>
                </a:solidFill>
                <a:latin typeface="Malgun Gothic"/>
              </a:rPr>
              <a:t>BO/대외연계 ALB 물리 분리 · AP 기본 제공 스펙 적용(성능테스트 OOM 시 증설) · S3 Intelligent-Tiering · 네이버OCR 및 Outbound URL 방화벽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77824"/>
            <a:ext cx="11365992" cy="256032"/>
          </a:xfrm>
          <a:prstGeom prst="roundRect">
            <a:avLst>
              <a:gd name="adj" fmla="val 4000"/>
            </a:avLst>
          </a:prstGeom>
          <a:solidFill>
            <a:srgbClr val="002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■ [표 1] 신규 클라우드 인프라 자원 및 EKS 5대 모듈 컨테이너 명세표 (운영 PRD / 스테이지 STG / 개발 DEV 분리)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70432"/>
          <a:ext cx="11365992" cy="16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83080"/>
                <a:gridCol w="2057400"/>
                <a:gridCol w="1325880"/>
                <a:gridCol w="1280160"/>
                <a:gridCol w="1005840"/>
                <a:gridCol w="2724912"/>
              </a:tblGrid>
              <a:tr h="20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45720" marR="45720" marT="15000" marB="15000">
                    <a:solidFill>
                      <a:srgbClr val="1A7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리소스 / 호스트명</a:t>
                      </a:r>
                    </a:p>
                  </a:txBody>
                  <a:tcPr anchor="ctr" marL="45720" marR="45720" marT="15000" marB="15000">
                    <a:solidFill>
                      <a:srgbClr val="1A7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운영계 (PRD) 스펙 · 수량</a:t>
                      </a:r>
                    </a:p>
                  </a:txBody>
                  <a:tcPr anchor="ctr" marL="45720" marR="45720" marT="15000" marB="15000">
                    <a:solidFill>
                      <a:srgbClr val="1A7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스테이지계 (STG)</a:t>
                      </a:r>
                    </a:p>
                  </a:txBody>
                  <a:tcPr anchor="ctr" marL="45720" marR="45720" marT="15000" marB="15000">
                    <a:solidFill>
                      <a:srgbClr val="1A7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개발계 (DEV)</a:t>
                      </a:r>
                    </a:p>
                  </a:txBody>
                  <a:tcPr anchor="ctr" marL="45720" marR="45720" marT="15000" marB="15000">
                    <a:solidFill>
                      <a:srgbClr val="1A7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포트 / 프로토콜</a:t>
                      </a:r>
                    </a:p>
                  </a:txBody>
                  <a:tcPr anchor="ctr" marL="45720" marR="45720" marT="15000" marB="15000">
                    <a:solidFill>
                      <a:srgbClr val="1A7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OS · 배포 구성 · 필수 설정 비고</a:t>
                      </a:r>
                    </a:p>
                  </a:txBody>
                  <a:tcPr anchor="ctr" marL="45720" marR="45720" marT="15000" marB="15000">
                    <a:solidFill>
                      <a:srgbClr val="1A73C7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로드밸런서 (물리분리)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① BO ALB (syncguard-ai-bo-prv-alb)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② 연계 ALB (syncguard-ai-api-prv-alb)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Internal ALB × 2개 물리분리</a:t>
                      </a:r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(BO용 / 대외연계용)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STG ALB × 2개 분리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DEV ALB × 2개 분리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HTTPS :443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[물리 분리] BO ALB: 사용자대역 오픈(통합웹 :3104 / 업무BE :18080) | 대외연계 ALB: 마케팅허브 서버만 오픈(대외API :18085)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① 통합 웹 + ② 업무 서버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Client/fe(:3104) + server-be(:18080)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(Pod × 2)</a:t>
                      </a:r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(OOM 발생 시 증설 요청)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:3104, :18080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BO ALB 연결 · 웹 동영상 재생 및 특정화면 멈춤 장면 추가 / AI 장면 편집·삭제 보정 · EKS Service로 AI Agent(:18083) 호출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③ 대외 연계·파일 API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server-api (:18085)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(Pod × 2)</a:t>
                      </a:r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(OOM 발생 시 증설 요청)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:18085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대외연계 ALB(마케팅허브만 오픈) 연결 · 300MB 시안·영상 S3(Intelligent-Tiering) 업로드 · EKS Service로 AI Agent(:18083) 호출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④ AI 에이전트 파드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server-ai-agent (:18083)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(4건 큐)</a:t>
                      </a:r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(성능테스트 OOM 시 증설요청)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:18083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OpenCV 영상 피크프레임 1차 자동추출 + 웹 보정 장면 분석, 네이버/패들 OCR 선택, 동시 4건 세마포어 + QUEUED 워커, 1536d RAG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⑤ 배치 워커 파드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server-batch (:18084)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(Pod × 1)</a:t>
                      </a:r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(Quartz 일배치)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:18084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D82C20"/>
                          </a:solidFill>
                          <a:latin typeface="Malgun Gothic"/>
                        </a:rPr>
                        <a:t>매일 새벽 02:00 ProductLab 전성분·실증 일배치(ProductLabDataSyncBatchJob), 02:30 [Option] KT레몬 배치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데이터베이스 (단일DB)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AWS RDS PostgreSQL 16 (pgvector)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(Multi-AZ)</a:t>
                      </a:r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(성능테스트 후 증설 협의)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(Single-AZ)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(Single-AZ)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:5432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★ pgvector 1536차원(VECTOR(1536)) HNSW 인덱스 단일화 (서비스·RAG 스키마 통합, 리소스 부족 시 스펙 증설 요청)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스토리지 &amp; CI/CD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AWS S3 (Intelligent-Tiering)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GitLab CI + ArgoCD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ap-syncguard-ai-prd</a:t>
                      </a:r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ap-syncguard-ai-stg</a:t>
                      </a:r>
                    </a:p>
                    <a:p>
                      <a:pPr algn="ctr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ap-syncguard-ai-dev</a:t>
                      </a:r>
                    </a:p>
                    <a:p>
                      <a:pPr algn="ctr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HTTPS :443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★ S3 업로드 시 저장 타입 "Intelligent-Tiering" 자동 적용 (자동 패턴 분석을 통한 보관비용 관리) / GitLab CI + ArgoCD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3547872"/>
            <a:ext cx="11365992" cy="256032"/>
          </a:xfrm>
          <a:prstGeom prst="roundRect">
            <a:avLst>
              <a:gd name="adj" fmla="val 4000"/>
            </a:avLst>
          </a:prstGeom>
          <a:solidFill>
            <a:srgbClr val="7A3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■ [표 2] 구간별 네트워크 방화벽 (Security Group / NACL / 라우팅) 오픈 요청 매트릭스 (DEV · STG · PRD 환경별 적용)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3838824"/>
          <a:ext cx="11365992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31720"/>
                <a:gridCol w="2377440"/>
                <a:gridCol w="1234440"/>
                <a:gridCol w="1005840"/>
                <a:gridCol w="3867912"/>
              </a:tblGrid>
              <a:tr h="20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anchor="ctr" marL="45720" marR="45720" marT="15000" marB="15000">
                    <a:solidFill>
                      <a:srgbClr val="0B19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출발지 (Source)</a:t>
                      </a:r>
                    </a:p>
                  </a:txBody>
                  <a:tcPr anchor="ctr" marL="45720" marR="45720" marT="15000" marB="15000">
                    <a:solidFill>
                      <a:srgbClr val="0B19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목적지 (Destination · Outbound URL / 서버 정보)</a:t>
                      </a:r>
                    </a:p>
                  </a:txBody>
                  <a:tcPr anchor="ctr" marL="45720" marR="45720" marT="15000" marB="15000">
                    <a:solidFill>
                      <a:srgbClr val="0B19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프로토콜 / 포트</a:t>
                      </a:r>
                    </a:p>
                  </a:txBody>
                  <a:tcPr anchor="ctr" marL="45720" marR="45720" marT="15000" marB="15000">
                    <a:solidFill>
                      <a:srgbClr val="0B19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통신 방향</a:t>
                      </a:r>
                    </a:p>
                  </a:txBody>
                  <a:tcPr anchor="ctr" marL="45720" marR="45720" marT="15000" marB="15000">
                    <a:solidFill>
                      <a:srgbClr val="0B19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연동 목적 및 비고</a:t>
                      </a:r>
                    </a:p>
                  </a:txBody>
                  <a:tcPr anchor="ctr" marL="45720" marR="45720" marT="15000" marB="15000">
                    <a:solidFill>
                      <a:srgbClr val="0B192C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사내 업무망 사용자 PC / VPN 대역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BO 전용 ALB (syncguard-ai-bo-prv-alb)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[Domain] https://claim.hanbitglobal.com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Inbound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[BO ALB 사용자대역 오픈] RA·관리자 통합 웹(:3104) 및 업무BE(:18080) 접속 · 웹 영상 재생 및 장면 추가/편집/삭제 보정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마케팅허브(MarketingHub) AP 서버 (단독)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대외 연계 전용 ALB (syncguard-ai-api-prv-alb)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[Domain] https://syncguard-api.hanbitglobal.com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Inbound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[대외연계 ALB 마케팅허브 서버만 오픈] 마케팅허브 ➔ 대외연계 API(:18085) 심의 의뢰 수신 및 파일 업로드 (일반 사용자대역 차단)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업무 BE(:18080) · 대외 API(:18085)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AI Agent (http://syncguard-ai-agent-svc:18083)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RDS(syncguard-db.hanbitglobal.com) · S3 Endpoint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18083 / 5432 / 443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Internal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[EKS Service 통신] 대외API(:18085) 및 업무BE(:18080)에서 EKS K8s Service를 통해 AI Agent(:18083) 호출, RDS·S3 내부 통신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AI Agent 파드 (server-ai-agent :18083)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네이버 클로바 OCR (Naver Cloud CLOVA OCR)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[Outbound URL] https://*.apigw.ntruss.com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[네이버 OCR 방화벽 추가] 이미지 시안·AI 추출 피크프레임·웹 사용자 보정 캡처 장면 한글/영문 OCR 호출 (연구소 계약 APIGW URL)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AI Agent 파드 (server-ai-agent :18083)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기업용 상용 LLM API (또는 사내 AI Gateway)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[Outbound URL] https://api.openai.com, https://api.anthropic.com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[Outbound URL 명시] 비학습(Zero Data Retention) 상용 LLM 3단계 심의 판정 및 1536차원 임베딩 API 호출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대외 API(:18085) / 업무 BE(:18080)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마케팅허브(MarketingHub) 콜백 API &amp; 전성분 RDB 서버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[Outbound URL] https://mkthub-api.hanbitglobal.com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/ 1521(DB)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[Outbound URL/서버 명시] SyncGuard AI ➔ 마케팅허브 심의 확정 결과(HTML/JSON/PDF) 웹훅 회신 및 마케팅허브 전성분·배합한도 RDB 조회</a:t>
                      </a:r>
                    </a:p>
                  </a:txBody>
                  <a:tcPr anchor="ctr" marL="45720" marR="45720" marT="15000" marB="15000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Batch(:18084) / 업무 BE(:18080)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ProductLab (https://productlab-core.hanbitglobal.com)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사내 SSO/IAM (https://sso.hanbitglobal.com) · SMTP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/ 587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[Outbound URL/서버 명시] 매일 02:00 ProductLab 실증배치 수집, HB-SSO SSO/IAM 권한 검증 및 연구원 실증요청 메일(SMTP) 발송</a:t>
                      </a:r>
                    </a:p>
                  </a:txBody>
                  <a:tcPr anchor="ctr" marL="45720" marR="45720" marT="15000" marB="15000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L="45720" marR="45720" marT="15000" marB="15000"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[Option] Batch(:18084) / AI Agent</a:t>
                      </a:r>
                    </a:p>
                  </a:txBody>
                  <a:tcPr anchor="ctr" marL="45720" marR="45720" marT="15000" marB="15000"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[Option] KT 레몬(KT Lemon) API 서버</a:t>
                      </a:r>
                    </a:p>
                    <a:p>
                      <a:pPr algn="l"/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[Outbound URL] https://ktlemon-gw.hanbitglobal.com</a:t>
                      </a:r>
                    </a:p>
                  </a:txBody>
                  <a:tcPr anchor="ctr" marL="45720" marR="45720" marT="15000" marB="15000"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TCP 443 / 8443</a:t>
                      </a:r>
                    </a:p>
                  </a:txBody>
                  <a:tcPr anchor="ctr" marL="45720" marR="45720" marT="15000" marB="15000"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Outbound</a:t>
                      </a:r>
                    </a:p>
                  </a:txBody>
                  <a:tcPr anchor="ctr" marL="45720" marR="45720" marT="15000" marB="15000"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[선택 사양 · Outbound URL 명시] 매일 02:30 KT 레몬 임상·실증 문서 동기화 및 벡터 매칭 비교 검증(PoC) 확정 시 오픈</a:t>
                      </a:r>
                    </a:p>
                  </a:txBody>
                  <a:tcPr anchor="ctr" marL="45720" marR="45720" marT="15000" marB="15000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1864</Words>
  <Application>Microsoft Office PowerPoint</Application>
  <PresentationFormat>와이드스크린</PresentationFormat>
  <Paragraphs>244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KoPub돋움체 Light</vt:lpstr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주식회사 엠파시 (Empasy Inc.)</dc:creator>
  <cp:lastModifiedBy>주식회사 엠파시 (Empasy Inc.)</cp:lastModifiedBy>
  <cp:revision>161</cp:revision>
  <dcterms:created xsi:type="dcterms:W3CDTF">2021-12-20T02:13:26Z</dcterms:created>
  <dcterms:modified xsi:type="dcterms:W3CDTF">2026-10-16T07:59:27Z</dcterms:modified>
</cp:coreProperties>
</file>