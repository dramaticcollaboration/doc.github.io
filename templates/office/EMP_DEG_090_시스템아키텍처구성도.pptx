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5" roundtripDataSignature="AMtx7mj0eALldDN0ZjWgmas1rUOjK2UXt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7ECCEF1-4F0B-44ED-B440-CF76BB67F893}">
  <a:tblStyle styleId="{57ECCEF1-4F0B-44ED-B440-CF76BB67F893}" styleName="Table_0">
    <a:wholeTbl>
      <a:tcTxStyle b="off" i="off">
        <a:font>
          <a:latin typeface="맑은 고딕"/>
          <a:ea typeface="맑은 고딕"/>
          <a:cs typeface="맑은 고딕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BF5"/>
          </a:solidFill>
        </a:fill>
      </a:tcStyle>
    </a:wholeTbl>
    <a:band1H>
      <a:tcTxStyle b="off" i="off"/>
      <a:tcStyle>
        <a:fill>
          <a:solidFill>
            <a:srgbClr val="CDD4EA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DD4EA"/>
          </a:solidFill>
        </a:fill>
      </a:tcStyle>
    </a:band1V>
    <a:band2V>
      <a:tcTxStyle b="off" i="off"/>
    </a:band2V>
    <a:lastCol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</a:tblStyleLst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3" name="Google Shape;43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7" name="Google Shape;7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3" name="Google Shape;17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5" name="Google Shape;21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7" name="Google Shape;25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1" name="Google Shape;29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7" name="Google Shape;33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33" name="Google Shape;433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69" name="Google Shape;469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빈 화면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1"/>
          <p:cNvSpPr txBox="1"/>
          <p:nvPr/>
        </p:nvSpPr>
        <p:spPr>
          <a:xfrm>
            <a:off x="0" y="2997296"/>
            <a:ext cx="12192000" cy="538793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0" spcFirstLastPara="1" rIns="0" wrap="square" tIns="3600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감사합니다</a:t>
            </a:r>
            <a:endParaRPr b="0" i="0" sz="2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17" name="Google Shape;17;p11"/>
          <p:cNvCxnSpPr/>
          <p:nvPr/>
        </p:nvCxnSpPr>
        <p:spPr>
          <a:xfrm>
            <a:off x="2498103" y="3733016"/>
            <a:ext cx="7107810" cy="0"/>
          </a:xfrm>
          <a:prstGeom prst="straightConnector1">
            <a:avLst/>
          </a:prstGeom>
          <a:noFill/>
          <a:ln cap="flat" cmpd="sng" w="9525">
            <a:solidFill>
              <a:srgbClr val="D8D8D8"/>
            </a:solidFill>
            <a:prstDash val="solid"/>
            <a:miter lim="80"/>
            <a:headEnd len="sm" w="sm" type="none"/>
            <a:tailEnd len="sm" w="sm" type="none"/>
          </a:ln>
        </p:spPr>
      </p:cxnSp>
      <p:pic>
        <p:nvPicPr>
          <p:cNvPr id="18" name="Google Shape;18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288195" y="4022122"/>
            <a:ext cx="1615610" cy="4039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요약양시">
  <p:cSld name="1_요약양시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2"/>
          <p:cNvSpPr txBox="1"/>
          <p:nvPr>
            <p:ph idx="1" type="body"/>
          </p:nvPr>
        </p:nvSpPr>
        <p:spPr>
          <a:xfrm>
            <a:off x="408878" y="211092"/>
            <a:ext cx="11129530" cy="421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요약양시">
  <p:cSld name="요약양시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3"/>
          <p:cNvSpPr txBox="1"/>
          <p:nvPr/>
        </p:nvSpPr>
        <p:spPr>
          <a:xfrm>
            <a:off x="10984081" y="123988"/>
            <a:ext cx="1067921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algun Gothic"/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아키텍처 정의서</a:t>
            </a:r>
            <a:endParaRPr b="0" i="0" sz="11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3" name="Google Shape;23;p13"/>
          <p:cNvSpPr txBox="1"/>
          <p:nvPr>
            <p:ph idx="12" type="sldNum"/>
          </p:nvPr>
        </p:nvSpPr>
        <p:spPr>
          <a:xfrm>
            <a:off x="5456139" y="6455165"/>
            <a:ext cx="127972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4" name="Google Shape;24;p13"/>
          <p:cNvCxnSpPr/>
          <p:nvPr/>
        </p:nvCxnSpPr>
        <p:spPr>
          <a:xfrm>
            <a:off x="0" y="443622"/>
            <a:ext cx="12192000" cy="0"/>
          </a:xfrm>
          <a:prstGeom prst="straightConnector1">
            <a:avLst/>
          </a:prstGeom>
          <a:noFill/>
          <a:ln cap="flat" cmpd="sng" w="9525">
            <a:solidFill>
              <a:srgbClr val="D8D8D8"/>
            </a:solidFill>
            <a:prstDash val="solid"/>
            <a:miter lim="80"/>
            <a:headEnd len="sm" w="sm" type="none"/>
            <a:tailEnd len="sm" w="sm" type="none"/>
          </a:ln>
        </p:spPr>
      </p:cxnSp>
      <p:cxnSp>
        <p:nvCxnSpPr>
          <p:cNvPr id="25" name="Google Shape;25;p13"/>
          <p:cNvCxnSpPr/>
          <p:nvPr/>
        </p:nvCxnSpPr>
        <p:spPr>
          <a:xfrm>
            <a:off x="0" y="6455165"/>
            <a:ext cx="12192000" cy="0"/>
          </a:xfrm>
          <a:prstGeom prst="straightConnector1">
            <a:avLst/>
          </a:prstGeom>
          <a:noFill/>
          <a:ln cap="flat" cmpd="sng" w="9525">
            <a:solidFill>
              <a:srgbClr val="D8D8D8"/>
            </a:solidFill>
            <a:prstDash val="solid"/>
            <a:miter lim="8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슬라이드">
  <p:cSld name="제목 슬라이드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27;p14"/>
          <p:cNvPicPr preferRelativeResize="0"/>
          <p:nvPr/>
        </p:nvPicPr>
        <p:blipFill rotWithShape="1">
          <a:blip r:embed="rId2">
            <a:alphaModFix/>
          </a:blip>
          <a:srcRect b="46290" l="0" r="0" t="29029"/>
          <a:stretch/>
        </p:blipFill>
        <p:spPr>
          <a:xfrm>
            <a:off x="0" y="-1"/>
            <a:ext cx="12192000" cy="3761295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14"/>
          <p:cNvSpPr/>
          <p:nvPr/>
        </p:nvSpPr>
        <p:spPr>
          <a:xfrm>
            <a:off x="0" y="3694176"/>
            <a:ext cx="12192000" cy="67119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29" name="Google Shape;2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01029" y="156043"/>
            <a:ext cx="1502917" cy="375729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14"/>
          <p:cNvSpPr txBox="1"/>
          <p:nvPr/>
        </p:nvSpPr>
        <p:spPr>
          <a:xfrm>
            <a:off x="223312" y="227595"/>
            <a:ext cx="1081087" cy="369332"/>
          </a:xfrm>
          <a:prstGeom prst="rect">
            <a:avLst/>
          </a:prstGeom>
          <a:solidFill>
            <a:srgbClr val="7F7F7F"/>
          </a:solidFill>
          <a:ln cap="flat" cmpd="sng" w="28575">
            <a:solidFill>
              <a:schemeClr val="lt1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대외비(對外秘)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Internal use only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사용자 지정 레이아웃">
  <p:cSld name="사용자 지정 레이아웃">
    <p:bg>
      <p:bgPr>
        <a:solidFill>
          <a:schemeClr val="lt1"/>
        </a:solid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595959"/>
          </a:solidFill>
          <a:ln cap="flat" cmpd="sng" w="12700">
            <a:solidFill>
              <a:srgbClr val="595959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3" name="Google Shape;33;p15"/>
          <p:cNvSpPr txBox="1"/>
          <p:nvPr/>
        </p:nvSpPr>
        <p:spPr>
          <a:xfrm>
            <a:off x="6954492" y="953458"/>
            <a:ext cx="1689693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C</a:t>
            </a:r>
            <a:r>
              <a:rPr b="0" i="0" lang="en-US" sz="3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ontents</a:t>
            </a:r>
            <a:endParaRPr b="0" i="0" sz="3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34" name="Google Shape;34;p15"/>
          <p:cNvCxnSpPr/>
          <p:nvPr/>
        </p:nvCxnSpPr>
        <p:spPr>
          <a:xfrm>
            <a:off x="7070102" y="1781666"/>
            <a:ext cx="3308809" cy="0"/>
          </a:xfrm>
          <a:prstGeom prst="straightConnector1">
            <a:avLst/>
          </a:prstGeom>
          <a:noFill/>
          <a:ln cap="flat" cmpd="sng" w="9525">
            <a:solidFill>
              <a:srgbClr val="D8D8D8"/>
            </a:solidFill>
            <a:prstDash val="solid"/>
            <a:miter lim="8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빈 화면">
  <p:cSld name="빈 화면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6"/>
          <p:cNvSpPr txBox="1"/>
          <p:nvPr>
            <p:ph idx="1" type="body"/>
          </p:nvPr>
        </p:nvSpPr>
        <p:spPr>
          <a:xfrm>
            <a:off x="408878" y="328785"/>
            <a:ext cx="11129530" cy="421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0" name="Google Shape;40;p16"/>
          <p:cNvSpPr/>
          <p:nvPr/>
        </p:nvSpPr>
        <p:spPr>
          <a:xfrm>
            <a:off x="0" y="815445"/>
            <a:ext cx="12192000" cy="17675"/>
          </a:xfrm>
          <a:prstGeom prst="rect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  <a:defRPr b="0" i="0" sz="4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12" name="Google Shape;12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13" name="Google Shape;13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14" name="Google Shape;14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6" name="Google Shape;46;p1"/>
          <p:cNvSpPr/>
          <p:nvPr/>
        </p:nvSpPr>
        <p:spPr>
          <a:xfrm>
            <a:off x="0" y="0"/>
            <a:ext cx="203200" cy="6858000"/>
          </a:xfrm>
          <a:prstGeom prst="rect">
            <a:avLst/>
          </a:prstGeom>
          <a:solidFill>
            <a:srgbClr val="1A73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7" name="Google Shape;47;p1"/>
          <p:cNvSpPr/>
          <p:nvPr/>
        </p:nvSpPr>
        <p:spPr>
          <a:xfrm>
            <a:off x="203200" y="0"/>
            <a:ext cx="11988800" cy="50800"/>
          </a:xfrm>
          <a:prstGeom prst="rect">
            <a:avLst/>
          </a:prstGeom>
          <a:solidFill>
            <a:srgbClr val="1A73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8" name="Google Shape;48;p1"/>
          <p:cNvSpPr/>
          <p:nvPr/>
        </p:nvSpPr>
        <p:spPr>
          <a:xfrm>
            <a:off x="698500" y="825500"/>
            <a:ext cx="3302000" cy="330200"/>
          </a:xfrm>
          <a:prstGeom prst="roundRect">
            <a:avLst>
              <a:gd fmla="val 16667" name="adj"/>
            </a:avLst>
          </a:prstGeom>
          <a:solidFill>
            <a:srgbClr val="002345"/>
          </a:solidFill>
          <a:ln cap="flat" cmpd="sng" w="15225">
            <a:solidFill>
              <a:srgbClr val="1A73C7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HANBIT GLOBAL ENTERPRISE AI</a:t>
            </a:r>
            <a:endParaRPr b="1" i="0" sz="1000" u="none" cap="none" strike="noStrik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9" name="Google Shape;49;p1"/>
          <p:cNvSpPr txBox="1"/>
          <p:nvPr/>
        </p:nvSpPr>
        <p:spPr>
          <a:xfrm>
            <a:off x="4191000" y="863600"/>
            <a:ext cx="3175000" cy="24622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0A5FA"/>
                </a:solidFill>
                <a:latin typeface="Malgun Gothic"/>
                <a:ea typeface="Malgun Gothic"/>
                <a:cs typeface="Malgun Gothic"/>
                <a:sym typeface="Malgun Gothic"/>
              </a:rPr>
              <a:t>[EMP_DEG_090] 시스템 아키텍처 산출물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1"/>
          <p:cNvSpPr txBox="1"/>
          <p:nvPr/>
        </p:nvSpPr>
        <p:spPr>
          <a:xfrm>
            <a:off x="635000" y="1524000"/>
            <a:ext cx="10795000" cy="6155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SyncGuard AI 시스템 구축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1"/>
          <p:cNvSpPr txBox="1"/>
          <p:nvPr/>
        </p:nvSpPr>
        <p:spPr>
          <a:xfrm>
            <a:off x="660400" y="2476500"/>
            <a:ext cx="10795000" cy="400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60A5FA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시스템 아키텍처 구성도 (AWS EKS · 5대 모듈 통합콘솔/서버 분리)</a:t>
            </a:r>
            <a:endParaRPr b="1" i="0" sz="2000" u="none" cap="none" strike="noStrike">
              <a:solidFill>
                <a:srgbClr val="DFE9F5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2" name="Google Shape;52;p1"/>
          <p:cNvSpPr txBox="1"/>
          <p:nvPr/>
        </p:nvSpPr>
        <p:spPr>
          <a:xfrm>
            <a:off x="660400" y="3073400"/>
            <a:ext cx="10795000" cy="269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"/>
              <a:buFont typeface="Arial"/>
              <a:buNone/>
            </a:pPr>
            <a:r>
              <a:rPr b="0" i="0" lang="en-US" sz="1120" u="none" cap="none" strike="noStrike">
                <a:solidFill>
                  <a:srgbClr val="94A3B8"/>
                </a:solidFill>
                <a:latin typeface="Malgun Gothic"/>
                <a:ea typeface="Malgun Gothic"/>
                <a:cs typeface="Malgun Gothic"/>
                <a:sym typeface="Malgun Gothic"/>
              </a:rPr>
              <a:t>마케팅허브·프로덕트랩 연계 · AWS EKS 5대 모듈(통합 웹 Client/fe / 업무 BE / 대외연계 API / AI Agent / Batch) · PostgreSQL 16(pgvector 1536d)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"/>
          <p:cNvSpPr/>
          <p:nvPr/>
        </p:nvSpPr>
        <p:spPr>
          <a:xfrm>
            <a:off x="660400" y="3873500"/>
            <a:ext cx="10668000" cy="2222500"/>
          </a:xfrm>
          <a:prstGeom prst="roundRect">
            <a:avLst>
              <a:gd fmla="val 16667" name="adj"/>
            </a:avLst>
          </a:prstGeom>
          <a:solidFill>
            <a:srgbClr val="102136"/>
          </a:solidFill>
          <a:ln cap="flat" cmpd="sng" w="12700">
            <a:solidFill>
              <a:srgbClr val="204060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4" name="Google Shape;54;p1"/>
          <p:cNvSpPr txBox="1"/>
          <p:nvPr/>
        </p:nvSpPr>
        <p:spPr>
          <a:xfrm>
            <a:off x="889000" y="4000500"/>
            <a:ext cx="1079500" cy="2385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1A73C7"/>
                </a:solidFill>
                <a:latin typeface="Malgun Gothic"/>
                <a:ea typeface="Malgun Gothic"/>
                <a:cs typeface="Malgun Gothic"/>
                <a:sym typeface="Malgun Gothic"/>
              </a:rPr>
              <a:t>▪ 프로젝트명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"/>
          <p:cNvSpPr txBox="1"/>
          <p:nvPr/>
        </p:nvSpPr>
        <p:spPr>
          <a:xfrm>
            <a:off x="1968500" y="4000500"/>
            <a:ext cx="4064000" cy="2385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F0E8E2"/>
                </a:solidFill>
                <a:latin typeface="Malgun Gothic"/>
                <a:ea typeface="Malgun Gothic"/>
                <a:cs typeface="Malgun Gothic"/>
                <a:sym typeface="Malgun Gothic"/>
              </a:rPr>
              <a:t>한빛글로벌 SyncGuard AI 시스템 구축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1"/>
          <p:cNvSpPr txBox="1"/>
          <p:nvPr/>
        </p:nvSpPr>
        <p:spPr>
          <a:xfrm>
            <a:off x="6223000" y="4000500"/>
            <a:ext cx="1079500" cy="2385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1A73C7"/>
                </a:solidFill>
                <a:latin typeface="Malgun Gothic"/>
                <a:ea typeface="Malgun Gothic"/>
                <a:cs typeface="Malgun Gothic"/>
                <a:sym typeface="Malgun Gothic"/>
              </a:rPr>
              <a:t>▪ 문서버전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1"/>
          <p:cNvSpPr txBox="1"/>
          <p:nvPr/>
        </p:nvSpPr>
        <p:spPr>
          <a:xfrm>
            <a:off x="7302500" y="4000500"/>
            <a:ext cx="3810000" cy="23852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8"/>
              <a:buFont typeface="Arial"/>
              <a:buNone/>
            </a:pPr>
            <a:r>
              <a:rPr sz="1019" b="1">
                <a:solidFill>
                  <a:srgbClr val="60A5FA"/>
                </a:solidFill>
                <a:latin typeface="Malgun Gothic"/>
              </a:rPr>
              <a:t>v1.3 (BO/대외연계 ALB 분리 · BE/API➔Agent 호출 · AI 피크프레임+웹 장면보정 · S3 Intelligent-Tiering · AP 기본스펙 · 방화벽 URL 반영)</a:t>
            </a:r>
            <a:endParaRPr b="0" i="0" sz="950" u="none" cap="none" strike="noStrike">
              <a:solidFill>
                <a:srgbClr val="F0E8E2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8" name="Google Shape;58;p1"/>
          <p:cNvSpPr txBox="1"/>
          <p:nvPr/>
        </p:nvSpPr>
        <p:spPr>
          <a:xfrm>
            <a:off x="889000" y="4381500"/>
            <a:ext cx="1079500" cy="2385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1A73C7"/>
                </a:solidFill>
                <a:latin typeface="Malgun Gothic"/>
                <a:ea typeface="Malgun Gothic"/>
                <a:cs typeface="Malgun Gothic"/>
                <a:sym typeface="Malgun Gothic"/>
              </a:rPr>
              <a:t>▪ 발주사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1"/>
          <p:cNvSpPr txBox="1"/>
          <p:nvPr/>
        </p:nvSpPr>
        <p:spPr>
          <a:xfrm>
            <a:off x="1968500" y="4381500"/>
            <a:ext cx="4064000" cy="2385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F0E8E2"/>
                </a:solidFill>
                <a:latin typeface="Malgun Gothic"/>
                <a:ea typeface="Malgun Gothic"/>
                <a:cs typeface="Malgun Gothic"/>
                <a:sym typeface="Malgun Gothic"/>
              </a:rPr>
              <a:t>주식회사 한빛글로벌 (Hanbit Global Corp.)</a:t>
            </a:r>
            <a:endParaRPr b="0" i="0" sz="950" u="none" cap="none" strike="noStrike">
              <a:solidFill>
                <a:srgbClr val="F0E8E2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0" name="Google Shape;60;p1"/>
          <p:cNvSpPr txBox="1"/>
          <p:nvPr/>
        </p:nvSpPr>
        <p:spPr>
          <a:xfrm>
            <a:off x="6223000" y="4381500"/>
            <a:ext cx="1079500" cy="2385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1A73C7"/>
                </a:solidFill>
                <a:latin typeface="Malgun Gothic"/>
                <a:ea typeface="Malgun Gothic"/>
                <a:cs typeface="Malgun Gothic"/>
                <a:sym typeface="Malgun Gothic"/>
              </a:rPr>
              <a:t>▪ 승인일자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1"/>
          <p:cNvSpPr txBox="1"/>
          <p:nvPr/>
        </p:nvSpPr>
        <p:spPr>
          <a:xfrm>
            <a:off x="7302500" y="4381500"/>
            <a:ext cx="3810000" cy="23852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sz="1050" b="0">
                <a:solidFill>
                  <a:srgbClr val="FFFFFF"/>
                </a:solidFill>
                <a:latin typeface="Malgun Gothic"/>
              </a:rPr>
              <a:t>2026. 10. 27.</a:t>
            </a:r>
            <a:endParaRPr b="0" i="0" sz="950" u="none" cap="none" strike="noStrike">
              <a:solidFill>
                <a:srgbClr val="F0E8E2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2" name="Google Shape;62;p1"/>
          <p:cNvSpPr txBox="1"/>
          <p:nvPr/>
        </p:nvSpPr>
        <p:spPr>
          <a:xfrm>
            <a:off x="889000" y="4762500"/>
            <a:ext cx="1079500" cy="2385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1A73C7"/>
                </a:solidFill>
                <a:latin typeface="Malgun Gothic"/>
                <a:ea typeface="Malgun Gothic"/>
                <a:cs typeface="Malgun Gothic"/>
                <a:sym typeface="Malgun Gothic"/>
              </a:rPr>
              <a:t>▪ 수행사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"/>
          <p:cNvSpPr txBox="1"/>
          <p:nvPr/>
        </p:nvSpPr>
        <p:spPr>
          <a:xfrm>
            <a:off x="1968500" y="4762500"/>
            <a:ext cx="4064000" cy="2385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F0E8E2"/>
                </a:solidFill>
                <a:latin typeface="Malgun Gothic"/>
                <a:ea typeface="Malgun Gothic"/>
                <a:cs typeface="Malgun Gothic"/>
                <a:sym typeface="Malgun Gothic"/>
              </a:rPr>
              <a:t>주식회사 엠파시 (EMPASY) </a:t>
            </a:r>
            <a:endParaRPr b="0" i="0" sz="950" u="none" cap="none" strike="noStrike">
              <a:solidFill>
                <a:srgbClr val="F0E8E2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4" name="Google Shape;64;p1"/>
          <p:cNvSpPr txBox="1"/>
          <p:nvPr/>
        </p:nvSpPr>
        <p:spPr>
          <a:xfrm>
            <a:off x="6223000" y="4762500"/>
            <a:ext cx="1079500" cy="2385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1A73C7"/>
                </a:solidFill>
                <a:latin typeface="Malgun Gothic"/>
                <a:ea typeface="Malgun Gothic"/>
                <a:cs typeface="Malgun Gothic"/>
                <a:sym typeface="Malgun Gothic"/>
              </a:rPr>
              <a:t>▪ 배포환경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1"/>
          <p:cNvSpPr txBox="1"/>
          <p:nvPr/>
        </p:nvSpPr>
        <p:spPr>
          <a:xfrm>
            <a:off x="7302500" y="4762500"/>
            <a:ext cx="3810000" cy="23852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8"/>
              <a:buFont typeface="Arial"/>
              <a:buNone/>
            </a:pPr>
            <a:r>
              <a:rPr b="0" i="0" lang="en-US" sz="1019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AWS EKS Kubernetes (개발 DEV · 스테이지 STG · 운영 PRD 분리)</a:t>
            </a:r>
            <a:endParaRPr b="0" i="0" sz="950" u="none" cap="none" strike="noStrike">
              <a:solidFill>
                <a:srgbClr val="F0E8E2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6" name="Google Shape;66;p1"/>
          <p:cNvSpPr txBox="1"/>
          <p:nvPr/>
        </p:nvSpPr>
        <p:spPr>
          <a:xfrm>
            <a:off x="889000" y="5143500"/>
            <a:ext cx="1079500" cy="2385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1A73C7"/>
                </a:solidFill>
                <a:latin typeface="Malgun Gothic"/>
                <a:ea typeface="Malgun Gothic"/>
                <a:cs typeface="Malgun Gothic"/>
                <a:sym typeface="Malgun Gothic"/>
              </a:rPr>
              <a:t>▪ 대상 플랫폼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1"/>
          <p:cNvSpPr txBox="1"/>
          <p:nvPr/>
        </p:nvSpPr>
        <p:spPr>
          <a:xfrm>
            <a:off x="1968500" y="5143500"/>
            <a:ext cx="4064000" cy="23852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8"/>
              <a:buFont typeface="Arial"/>
              <a:buNone/>
            </a:pPr>
            <a:r>
              <a:rPr b="0" i="0" lang="en-US" sz="1019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5대 모듈: 통합 웹(Client/fe) · 업무서버(be) · 대외API(api) · AI Agent · Batch</a:t>
            </a:r>
            <a:endParaRPr b="0" i="0" sz="950" u="none" cap="none" strike="noStrike">
              <a:solidFill>
                <a:srgbClr val="F0E8E2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8" name="Google Shape;68;p1"/>
          <p:cNvSpPr txBox="1"/>
          <p:nvPr/>
        </p:nvSpPr>
        <p:spPr>
          <a:xfrm>
            <a:off x="6223000" y="5143500"/>
            <a:ext cx="1079500" cy="2385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1A73C7"/>
                </a:solidFill>
                <a:latin typeface="Malgun Gothic"/>
                <a:ea typeface="Malgun Gothic"/>
                <a:cs typeface="Malgun Gothic"/>
                <a:sym typeface="Malgun Gothic"/>
              </a:rPr>
              <a:t>▪ 연계시스템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"/>
          <p:cNvSpPr txBox="1"/>
          <p:nvPr/>
        </p:nvSpPr>
        <p:spPr>
          <a:xfrm>
            <a:off x="7302500" y="5143500"/>
            <a:ext cx="3810000" cy="23852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사내 SSO/IAM · MarketingHub(의뢰/결과 HTML·JSON 연동) · ProductLab(02:00배치) · 네이버/패들OCR</a:t>
            </a:r>
            <a:endParaRPr b="0" i="0" sz="950" u="none" cap="none" strike="noStrike">
              <a:solidFill>
                <a:srgbClr val="F0E8E2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0" name="Google Shape;70;p1"/>
          <p:cNvSpPr txBox="1"/>
          <p:nvPr/>
        </p:nvSpPr>
        <p:spPr>
          <a:xfrm>
            <a:off x="889000" y="5524500"/>
            <a:ext cx="1079500" cy="2385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1A73C7"/>
                </a:solidFill>
                <a:latin typeface="Malgun Gothic"/>
                <a:ea typeface="Malgun Gothic"/>
                <a:cs typeface="Malgun Gothic"/>
                <a:sym typeface="Malgun Gothic"/>
              </a:rPr>
              <a:t>▪ 관련 산출물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1"/>
          <p:cNvSpPr txBox="1"/>
          <p:nvPr/>
        </p:nvSpPr>
        <p:spPr>
          <a:xfrm>
            <a:off x="1968500" y="5524500"/>
            <a:ext cx="4064000" cy="3847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F0E8E2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기능정의서(EMP_DEG_020) · DB명세서(EMP_DEG_080) · 아키텍처정의서(EMP_DEG_090)</a:t>
            </a:r>
            <a:endParaRPr b="0" i="0" sz="950" u="none" cap="none" strike="noStrike">
              <a:solidFill>
                <a:srgbClr val="F0E8E2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2" name="Google Shape;72;p1"/>
          <p:cNvSpPr txBox="1"/>
          <p:nvPr/>
        </p:nvSpPr>
        <p:spPr>
          <a:xfrm>
            <a:off x="6223000" y="5524500"/>
            <a:ext cx="1079500" cy="2385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1A73C7"/>
                </a:solidFill>
                <a:latin typeface="Malgun Gothic"/>
                <a:ea typeface="Malgun Gothic"/>
                <a:cs typeface="Malgun Gothic"/>
                <a:sym typeface="Malgun Gothic"/>
              </a:rPr>
              <a:t>▪ 보안등급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1"/>
          <p:cNvSpPr txBox="1"/>
          <p:nvPr/>
        </p:nvSpPr>
        <p:spPr>
          <a:xfrm>
            <a:off x="7302500" y="5524500"/>
            <a:ext cx="3810000" cy="2385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F0E8E2"/>
                </a:solidFill>
                <a:latin typeface="Malgun Gothic"/>
                <a:ea typeface="Malgun Gothic"/>
                <a:cs typeface="Malgun Gothic"/>
                <a:sym typeface="Malgun Gothic"/>
              </a:rPr>
              <a:t>대외비 (CONFIDENTIAL)</a:t>
            </a:r>
            <a:endParaRPr b="0" i="0" sz="950" u="none" cap="none" strike="noStrike">
              <a:solidFill>
                <a:srgbClr val="F0E8E2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4" name="Google Shape;74;p1"/>
          <p:cNvSpPr txBox="1"/>
          <p:nvPr/>
        </p:nvSpPr>
        <p:spPr>
          <a:xfrm>
            <a:off x="660400" y="6286500"/>
            <a:ext cx="10668000" cy="2231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607080"/>
                </a:solidFill>
                <a:latin typeface="Malgun Gothic"/>
                <a:ea typeface="Malgun Gothic"/>
                <a:cs typeface="Malgun Gothic"/>
                <a:sym typeface="Malgun Gothic"/>
              </a:rPr>
              <a:t>Copyright © 2026 HANBIT GLOBAL CORPORATION &amp; EMPASY Inc. All Rights Reserved.</a:t>
            </a:r>
            <a:endParaRPr b="0" i="0" sz="850" u="none" cap="none" strike="noStrike">
              <a:solidFill>
                <a:srgbClr val="60708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"/>
          <p:cNvSpPr txBox="1"/>
          <p:nvPr/>
        </p:nvSpPr>
        <p:spPr>
          <a:xfrm>
            <a:off x="429768" y="603504"/>
            <a:ext cx="112471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18"/>
              <a:buFont typeface="Arial"/>
              <a:buNone/>
            </a:pPr>
            <a:r>
              <a:rPr sz="919" b="1">
                <a:solidFill>
                  <a:srgbClr val="002C6C"/>
                </a:solidFill>
                <a:latin typeface="Malgun Gothic"/>
              </a:rPr>
              <a:t>한빛글로벌 AWS EKS 환경별(DEV·STG·PRD) 분리 · 물리적 ALB 2개 분리(BO용 / 대외연계용) · 5대 모듈(통합웹·업무BE·대외API·AI Agent·Batch)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2"/>
          <p:cNvSpPr/>
          <p:nvPr/>
        </p:nvSpPr>
        <p:spPr>
          <a:xfrm>
            <a:off x="804672" y="1024128"/>
            <a:ext cx="384048" cy="310896"/>
          </a:xfrm>
          <a:prstGeom prst="roundRect">
            <a:avLst>
              <a:gd fmla="val 18000" name="adj"/>
            </a:avLst>
          </a:prstGeom>
          <a:solidFill>
            <a:srgbClr val="4A90D9"/>
          </a:solidFill>
          <a:ln cap="flat" cmpd="sng" w="12700">
            <a:solidFill>
              <a:srgbClr val="4A90D9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Arial"/>
              <a:buNone/>
            </a:pPr>
            <a:r>
              <a:rPr b="1" i="0" lang="en-US" sz="6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USER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2"/>
          <p:cNvSpPr txBox="1"/>
          <p:nvPr/>
        </p:nvSpPr>
        <p:spPr>
          <a:xfrm>
            <a:off x="182880" y="1371600"/>
            <a:ext cx="16459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사용자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2"/>
          <p:cNvSpPr txBox="1"/>
          <p:nvPr/>
        </p:nvSpPr>
        <p:spPr>
          <a:xfrm>
            <a:off x="137160" y="1554480"/>
            <a:ext cx="17373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80"/>
              <a:buFont typeface="Arial"/>
              <a:buNone/>
            </a:pPr>
            <a:r>
              <a:rPr sz="680" b="0">
                <a:solidFill>
                  <a:srgbClr val="475569"/>
                </a:solidFill>
                <a:latin typeface="Malgun Gothic"/>
              </a:rPr>
              <a:t>마케터(마케팅허브 심의의뢰 · 결과 조회)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/>
            <a:r>
              <a:rPr sz="680" b="0">
                <a:solidFill>
                  <a:srgbClr val="475569"/>
                </a:solidFill>
                <a:latin typeface="Malgun Gothic"/>
              </a:rPr>
              <a:t>RA·관리자(BO ALB ➔ 통합웹 :3104)</a:t>
            </a:r>
          </a:p>
        </p:txBody>
      </p:sp>
      <p:sp>
        <p:nvSpPr>
          <p:cNvPr id="83" name="Google Shape;83;p2"/>
          <p:cNvSpPr/>
          <p:nvPr/>
        </p:nvSpPr>
        <p:spPr>
          <a:xfrm>
            <a:off x="4663440" y="960120"/>
            <a:ext cx="3154680" cy="1024128"/>
          </a:xfrm>
          <a:prstGeom prst="rect">
            <a:avLst/>
          </a:prstGeom>
          <a:noFill/>
          <a:ln cap="flat" cmpd="sng" w="9525">
            <a:solidFill>
              <a:srgbClr val="333333"/>
            </a:solidFill>
            <a:prstDash val="dash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4" name="Google Shape;84;p2"/>
          <p:cNvSpPr/>
          <p:nvPr/>
        </p:nvSpPr>
        <p:spPr>
          <a:xfrm>
            <a:off x="6053328" y="1097280"/>
            <a:ext cx="384048" cy="310896"/>
          </a:xfrm>
          <a:prstGeom prst="roundRect">
            <a:avLst>
              <a:gd fmla="val 18000" name="adj"/>
            </a:avLst>
          </a:prstGeom>
          <a:solidFill>
            <a:srgbClr val="4A90D9"/>
          </a:solidFill>
          <a:ln cap="flat" cmpd="sng" w="12700">
            <a:solidFill>
              <a:srgbClr val="4A90D9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2"/>
          <p:cNvSpPr txBox="1"/>
          <p:nvPr/>
        </p:nvSpPr>
        <p:spPr>
          <a:xfrm>
            <a:off x="4846320" y="1444752"/>
            <a:ext cx="27889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40"/>
              <a:buFont typeface="Arial"/>
              <a:buNone/>
            </a:pPr>
            <a:r>
              <a:rPr b="1" i="0" lang="en-US" sz="740" u="none" cap="none" strike="noStrik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기업용 상용 LLM &amp; OCR 엔진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2"/>
          <p:cNvSpPr txBox="1"/>
          <p:nvPr/>
        </p:nvSpPr>
        <p:spPr>
          <a:xfrm>
            <a:off x="4800600" y="1618488"/>
            <a:ext cx="28803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0"/>
              <a:buFont typeface="Arial"/>
              <a:buNone/>
            </a:pPr>
            <a:r>
              <a:rPr sz="620" b="1">
                <a:solidFill>
                  <a:srgbClr val="1A73C7"/>
                </a:solidFill>
                <a:latin typeface="Malgun Gothic"/>
              </a:rPr>
              <a:t>비학습 상용 LLM · 1536d 임베딩 Outbound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/>
            <a:r>
              <a:rPr sz="620" b="0">
                <a:solidFill>
                  <a:srgbClr val="475569"/>
                </a:solidFill>
                <a:latin typeface="Malgun Gothic"/>
              </a:rPr>
              <a:t>네이버 클로바 OCR(*.apigw.ntruss.com) / 패들OCR</a:t>
            </a:r>
          </a:p>
        </p:txBody>
      </p:sp>
      <p:sp>
        <p:nvSpPr>
          <p:cNvPr id="87" name="Google Shape;87;p2"/>
          <p:cNvSpPr/>
          <p:nvPr/>
        </p:nvSpPr>
        <p:spPr>
          <a:xfrm>
            <a:off x="8183879" y="960120"/>
            <a:ext cx="3611880" cy="1024128"/>
          </a:xfrm>
          <a:prstGeom prst="rect">
            <a:avLst/>
          </a:prstGeom>
          <a:noFill/>
          <a:ln cap="flat" cmpd="sng" w="9525">
            <a:solidFill>
              <a:srgbClr val="3F7EBF"/>
            </a:solidFill>
            <a:prstDash val="dash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8" name="Google Shape;88;p2"/>
          <p:cNvSpPr/>
          <p:nvPr/>
        </p:nvSpPr>
        <p:spPr>
          <a:xfrm>
            <a:off x="8869680" y="1115568"/>
            <a:ext cx="365760" cy="310896"/>
          </a:xfrm>
          <a:prstGeom prst="roundRect">
            <a:avLst>
              <a:gd fmla="val 18000" name="adj"/>
            </a:avLst>
          </a:prstGeom>
          <a:solidFill>
            <a:srgbClr val="4A90D9"/>
          </a:solidFill>
          <a:ln cap="flat" cmpd="sng" w="12700">
            <a:solidFill>
              <a:srgbClr val="4A90D9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Arial"/>
              <a:buNone/>
            </a:pPr>
            <a:r>
              <a:rPr b="1" i="0" lang="en-US" sz="6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MKTHUB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2"/>
          <p:cNvSpPr txBox="1"/>
          <p:nvPr/>
        </p:nvSpPr>
        <p:spPr>
          <a:xfrm>
            <a:off x="8211312" y="1444752"/>
            <a:ext cx="1682496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0"/>
              <a:buFont typeface="Arial"/>
              <a:buNone/>
            </a:pPr>
            <a:r>
              <a:rPr b="1" i="0" lang="en-US" sz="730" u="none" cap="none" strike="noStrik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MarketingHub / ProductLab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2"/>
          <p:cNvSpPr txBox="1"/>
          <p:nvPr/>
        </p:nvSpPr>
        <p:spPr>
          <a:xfrm>
            <a:off x="8193024" y="1618488"/>
            <a:ext cx="1719072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10"/>
              <a:buFont typeface="Arial"/>
              <a:buNone/>
            </a:pPr>
            <a:r>
              <a:rPr sz="610" b="0">
                <a:solidFill>
                  <a:srgbClr val="1E293B"/>
                </a:solidFill>
                <a:latin typeface="Malgun Gothic"/>
              </a:rPr>
              <a:t>마케팅허브 ➔ 대외연계 ALB(:443) 단독 오픈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/>
            <a:r>
              <a:rPr sz="610" b="0">
                <a:solidFill>
                  <a:srgbClr val="7A3EC4"/>
                </a:solidFill>
                <a:latin typeface="Malgun Gothic"/>
              </a:rPr>
              <a:t>ProductLab: 매일 02:00 일배치 / [Option] 레몬</a:t>
            </a:r>
          </a:p>
        </p:txBody>
      </p:sp>
      <p:sp>
        <p:nvSpPr>
          <p:cNvPr id="91" name="Google Shape;91;p2"/>
          <p:cNvSpPr/>
          <p:nvPr/>
        </p:nvSpPr>
        <p:spPr>
          <a:xfrm>
            <a:off x="10561320" y="1115568"/>
            <a:ext cx="365760" cy="310896"/>
          </a:xfrm>
          <a:prstGeom prst="roundRect">
            <a:avLst>
              <a:gd fmla="val 18000" name="adj"/>
            </a:avLst>
          </a:prstGeom>
          <a:solidFill>
            <a:srgbClr val="4A90D9"/>
          </a:solidFill>
          <a:ln cap="flat" cmpd="sng" w="12700">
            <a:solidFill>
              <a:srgbClr val="4A90D9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Arial"/>
              <a:buNone/>
            </a:pPr>
            <a:r>
              <a:rPr b="1" i="0" lang="en-US" sz="6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SSO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2"/>
          <p:cNvSpPr txBox="1"/>
          <p:nvPr/>
        </p:nvSpPr>
        <p:spPr>
          <a:xfrm>
            <a:off x="9985248" y="1444752"/>
            <a:ext cx="1719072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0"/>
              <a:buFont typeface="Arial"/>
              <a:buNone/>
            </a:pPr>
            <a:r>
              <a:rPr b="1" i="0" lang="en-US" sz="730" u="none" cap="none" strike="noStrik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사내 SSO (HB-SSO IAM)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2"/>
          <p:cNvSpPr txBox="1"/>
          <p:nvPr/>
        </p:nvSpPr>
        <p:spPr>
          <a:xfrm>
            <a:off x="9966960" y="1618488"/>
            <a:ext cx="1755648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10"/>
              <a:buFont typeface="Arial"/>
              <a:buNone/>
            </a:pPr>
            <a:r>
              <a:rPr b="0" i="0" lang="en-US" sz="610" u="none" cap="none" strike="noStrike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통합 웹 콘솔(:3104) 사내 IAM 역할별 권한 인가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10"/>
              <a:buFont typeface="Arial"/>
              <a:buNone/>
            </a:pPr>
            <a:r>
              <a:rPr b="0" i="0" lang="en-US" sz="610" u="none" cap="none" strike="noStrike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SAML 2.0 · OIDC 인증 및 역할별 접근 통제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2"/>
          <p:cNvSpPr/>
          <p:nvPr/>
        </p:nvSpPr>
        <p:spPr>
          <a:xfrm>
            <a:off x="365760" y="2148840"/>
            <a:ext cx="11430000" cy="4434840"/>
          </a:xfrm>
          <a:prstGeom prst="rect">
            <a:avLst/>
          </a:prstGeom>
          <a:noFill/>
          <a:ln cap="flat" cmpd="sng" w="12700">
            <a:solidFill>
              <a:srgbClr val="5A6C7D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5" name="Google Shape;95;p2"/>
          <p:cNvSpPr/>
          <p:nvPr/>
        </p:nvSpPr>
        <p:spPr>
          <a:xfrm>
            <a:off x="457200" y="2221992"/>
            <a:ext cx="155448" cy="155448"/>
          </a:xfrm>
          <a:prstGeom prst="rect">
            <a:avLst/>
          </a:prstGeom>
          <a:solidFill>
            <a:srgbClr val="5A6C7D"/>
          </a:solidFill>
          <a:ln cap="flat" cmpd="sng" w="12700">
            <a:solidFill>
              <a:srgbClr val="5A6C7D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Arial"/>
              <a:buNone/>
            </a:pPr>
            <a:r>
              <a:rPr b="1" i="0" lang="en-US" sz="6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2"/>
          <p:cNvSpPr txBox="1"/>
          <p:nvPr/>
        </p:nvSpPr>
        <p:spPr>
          <a:xfrm>
            <a:off x="649224" y="2208276"/>
            <a:ext cx="10972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595F66"/>
                </a:solidFill>
                <a:latin typeface="Arial"/>
                <a:ea typeface="Arial"/>
                <a:cs typeface="Arial"/>
                <a:sym typeface="Arial"/>
              </a:rPr>
              <a:t>AWS Cloud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2"/>
          <p:cNvSpPr/>
          <p:nvPr/>
        </p:nvSpPr>
        <p:spPr>
          <a:xfrm>
            <a:off x="566928" y="2468880"/>
            <a:ext cx="11027664" cy="4005072"/>
          </a:xfrm>
          <a:prstGeom prst="rect">
            <a:avLst/>
          </a:prstGeom>
          <a:noFill/>
          <a:ln cap="flat" cmpd="sng" w="12700">
            <a:solidFill>
              <a:srgbClr val="8C4FFF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8" name="Google Shape;98;p2"/>
          <p:cNvSpPr/>
          <p:nvPr/>
        </p:nvSpPr>
        <p:spPr>
          <a:xfrm>
            <a:off x="658368" y="2542032"/>
            <a:ext cx="155448" cy="155448"/>
          </a:xfrm>
          <a:prstGeom prst="rect">
            <a:avLst/>
          </a:prstGeom>
          <a:solidFill>
            <a:srgbClr val="8C4FFF"/>
          </a:solidFill>
          <a:ln cap="flat" cmpd="sng" w="12700">
            <a:solidFill>
              <a:srgbClr val="8C4FFF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Arial"/>
              <a:buNone/>
            </a:pPr>
            <a:r>
              <a:rPr b="1" i="0" lang="en-US" sz="6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2"/>
          <p:cNvSpPr txBox="1"/>
          <p:nvPr/>
        </p:nvSpPr>
        <p:spPr>
          <a:xfrm>
            <a:off x="850392" y="2528315"/>
            <a:ext cx="7315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595F66"/>
                </a:solidFill>
                <a:latin typeface="Arial"/>
                <a:ea typeface="Arial"/>
                <a:cs typeface="Arial"/>
                <a:sym typeface="Arial"/>
              </a:rPr>
              <a:t>VPC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2"/>
          <p:cNvSpPr/>
          <p:nvPr/>
        </p:nvSpPr>
        <p:spPr>
          <a:xfrm>
            <a:off x="768096" y="2761488"/>
            <a:ext cx="8321040" cy="841248"/>
          </a:xfrm>
          <a:prstGeom prst="rect">
            <a:avLst/>
          </a:prstGeom>
          <a:solidFill>
            <a:srgbClr val="F2F7FC"/>
          </a:solidFill>
          <a:ln cap="flat" cmpd="sng" w="11425">
            <a:solidFill>
              <a:srgbClr val="3F7EBF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1" name="Google Shape;101;p2"/>
          <p:cNvSpPr/>
          <p:nvPr/>
        </p:nvSpPr>
        <p:spPr>
          <a:xfrm>
            <a:off x="841248" y="2816352"/>
            <a:ext cx="155448" cy="155448"/>
          </a:xfrm>
          <a:prstGeom prst="rect">
            <a:avLst/>
          </a:prstGeom>
          <a:solidFill>
            <a:srgbClr val="3F7EBF"/>
          </a:solidFill>
          <a:ln cap="flat" cmpd="sng" w="12700">
            <a:solidFill>
              <a:srgbClr val="3F7EBF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Arial"/>
              <a:buNone/>
            </a:pPr>
            <a:r>
              <a:rPr b="1" i="0" lang="en-US" sz="6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2"/>
          <p:cNvSpPr txBox="1"/>
          <p:nvPr/>
        </p:nvSpPr>
        <p:spPr>
          <a:xfrm>
            <a:off x="1033272" y="2802636"/>
            <a:ext cx="2057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sz="750" b="1">
                <a:solidFill>
                  <a:srgbClr val="595F66"/>
                </a:solidFill>
                <a:latin typeface="Arial"/>
              </a:rPr>
              <a:t>Private subnet (LB 물리 분리)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2"/>
          <p:cNvSpPr/>
          <p:nvPr/>
        </p:nvSpPr>
        <p:spPr>
          <a:xfrm>
            <a:off x="1417320" y="3017520"/>
            <a:ext cx="566928" cy="365760"/>
          </a:xfrm>
          <a:prstGeom prst="roundRect">
            <a:avLst>
              <a:gd fmla="val 18000" name="adj"/>
            </a:avLst>
          </a:prstGeom>
          <a:solidFill>
            <a:srgbClr val="8C4FFF"/>
          </a:solidFill>
          <a:ln cap="flat" cmpd="sng" w="12700">
            <a:solidFill>
              <a:srgbClr val="8C4FFF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sz="800" b="1">
                <a:solidFill>
                  <a:srgbClr val="FFFFFF"/>
                </a:solidFill>
                <a:latin typeface="Arial"/>
              </a:rPr>
              <a:t>BO ALB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2"/>
          <p:cNvSpPr txBox="1"/>
          <p:nvPr/>
        </p:nvSpPr>
        <p:spPr>
          <a:xfrm>
            <a:off x="1005840" y="3410712"/>
            <a:ext cx="1389888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sz="700" b="1">
                <a:solidFill>
                  <a:srgbClr val="1E293B"/>
                </a:solidFill>
                <a:latin typeface="Malgun Gothic"/>
              </a:rPr>
              <a:t>syncguard-ai-bo-prv-alb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2"/>
          <p:cNvSpPr txBox="1"/>
          <p:nvPr/>
        </p:nvSpPr>
        <p:spPr>
          <a:xfrm>
            <a:off x="2029968" y="3035808"/>
            <a:ext cx="160020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sz="700" b="1">
                <a:solidFill>
                  <a:srgbClr val="ED7100"/>
                </a:solidFill>
                <a:latin typeface="Malgun Gothic"/>
              </a:rPr>
              <a:t>[BO ALB] 사용자대역 오픈(:443)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"/>
          <p:cNvSpPr txBox="1"/>
          <p:nvPr/>
        </p:nvSpPr>
        <p:spPr>
          <a:xfrm>
            <a:off x="2029968" y="3209544"/>
            <a:ext cx="16002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"/>
              <a:buFont typeface="Arial"/>
              <a:buNone/>
            </a:pPr>
            <a:r>
              <a:rPr sz="640" b="0">
                <a:solidFill>
                  <a:srgbClr val="475569"/>
                </a:solidFill>
                <a:latin typeface="Malgun Gothic"/>
              </a:rPr>
              <a:t>통합웹(:3104) · 업무BE(:18080)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2"/>
          <p:cNvSpPr/>
          <p:nvPr/>
        </p:nvSpPr>
        <p:spPr>
          <a:xfrm>
            <a:off x="768096" y="3694176"/>
            <a:ext cx="8321040" cy="1627632"/>
          </a:xfrm>
          <a:prstGeom prst="rect">
            <a:avLst/>
          </a:prstGeom>
          <a:noFill/>
          <a:ln cap="flat" cmpd="sng" w="11425">
            <a:solidFill>
              <a:srgbClr val="3F7EBF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8" name="Google Shape;108;p2"/>
          <p:cNvSpPr/>
          <p:nvPr/>
        </p:nvSpPr>
        <p:spPr>
          <a:xfrm>
            <a:off x="841248" y="3721608"/>
            <a:ext cx="155448" cy="155448"/>
          </a:xfrm>
          <a:prstGeom prst="rect">
            <a:avLst/>
          </a:prstGeom>
          <a:solidFill>
            <a:srgbClr val="3F7EBF"/>
          </a:solidFill>
          <a:ln cap="flat" cmpd="sng" w="12700">
            <a:solidFill>
              <a:srgbClr val="3F7EBF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Arial"/>
              <a:buNone/>
            </a:pPr>
            <a:r>
              <a:rPr b="1" i="0" lang="en-US" sz="6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2"/>
          <p:cNvSpPr txBox="1"/>
          <p:nvPr/>
        </p:nvSpPr>
        <p:spPr>
          <a:xfrm>
            <a:off x="1033271" y="3703320"/>
            <a:ext cx="13258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"/>
              <a:buFont typeface="Arial"/>
              <a:buNone/>
            </a:pPr>
            <a:r>
              <a:rPr b="1" i="0" lang="en-US" sz="720" u="none" cap="none" strike="noStrike">
                <a:solidFill>
                  <a:srgbClr val="1A73C7"/>
                </a:solidFill>
                <a:latin typeface="Malgun Gothic"/>
                <a:ea typeface="Malgun Gothic"/>
                <a:cs typeface="Malgun Gothic"/>
                <a:sym typeface="Malgun Gothic"/>
              </a:rPr>
              <a:t>Private subnet (App / EKS)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2"/>
          <p:cNvSpPr/>
          <p:nvPr/>
        </p:nvSpPr>
        <p:spPr>
          <a:xfrm>
            <a:off x="932688" y="3950208"/>
            <a:ext cx="7991856" cy="1298448"/>
          </a:xfrm>
          <a:prstGeom prst="rect">
            <a:avLst/>
          </a:prstGeom>
          <a:noFill/>
          <a:ln cap="flat" cmpd="sng" w="11425">
            <a:solidFill>
              <a:srgbClr val="ED7100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1" name="Google Shape;111;p2"/>
          <p:cNvSpPr/>
          <p:nvPr/>
        </p:nvSpPr>
        <p:spPr>
          <a:xfrm>
            <a:off x="1005840" y="3941063"/>
            <a:ext cx="155448" cy="155448"/>
          </a:xfrm>
          <a:prstGeom prst="rect">
            <a:avLst/>
          </a:prstGeom>
          <a:solidFill>
            <a:srgbClr val="ED7100"/>
          </a:solidFill>
          <a:ln cap="flat" cmpd="sng" w="12700">
            <a:solidFill>
              <a:srgbClr val="ED7100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"/>
              <a:buFont typeface="Arial"/>
              <a:buNone/>
            </a:pPr>
            <a:r>
              <a:rPr b="1" i="0" lang="en-US" sz="55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EKS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2"/>
          <p:cNvSpPr/>
          <p:nvPr/>
        </p:nvSpPr>
        <p:spPr>
          <a:xfrm>
            <a:off x="1060704" y="4151376"/>
            <a:ext cx="7735824" cy="1042415"/>
          </a:xfrm>
          <a:prstGeom prst="rect">
            <a:avLst/>
          </a:prstGeom>
          <a:noFill/>
          <a:ln cap="flat" cmpd="sng" w="9525">
            <a:solidFill>
              <a:srgbClr val="ED7100"/>
            </a:solidFill>
            <a:prstDash val="dash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3" name="Google Shape;113;p2"/>
          <p:cNvSpPr/>
          <p:nvPr/>
        </p:nvSpPr>
        <p:spPr>
          <a:xfrm>
            <a:off x="1133856" y="4151376"/>
            <a:ext cx="155448" cy="155448"/>
          </a:xfrm>
          <a:prstGeom prst="rect">
            <a:avLst/>
          </a:prstGeom>
          <a:solidFill>
            <a:srgbClr val="ED7100"/>
          </a:solidFill>
          <a:ln cap="flat" cmpd="sng" w="12700">
            <a:solidFill>
              <a:srgbClr val="ED7100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"/>
              <a:buFont typeface="Arial"/>
              <a:buNone/>
            </a:pPr>
            <a:r>
              <a:rPr b="1" i="0" lang="en-US" sz="55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POD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2"/>
          <p:cNvSpPr/>
          <p:nvPr/>
        </p:nvSpPr>
        <p:spPr>
          <a:xfrm>
            <a:off x="1160000" y="4315968"/>
            <a:ext cx="1780000" cy="8229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FD6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5" name="Google Shape;115;p2"/>
          <p:cNvSpPr txBox="1"/>
          <p:nvPr/>
        </p:nvSpPr>
        <p:spPr>
          <a:xfrm>
            <a:off x="1160000" y="4334256"/>
            <a:ext cx="178000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"/>
              <a:buFont typeface="Arial"/>
              <a:buNone/>
            </a:pPr>
            <a:r>
              <a:rPr b="1" i="0" lang="en-US" sz="580" u="none" cap="none" strike="noStrike">
                <a:solidFill>
                  <a:srgbClr val="ED7100"/>
                </a:solidFill>
                <a:latin typeface="Malgun Gothic"/>
                <a:ea typeface="Malgun Gothic"/>
                <a:cs typeface="Malgun Gothic"/>
                <a:sym typeface="Malgun Gothic"/>
              </a:rPr>
              <a:t>① 통합 웹 &amp; 업무서버 (코어)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2"/>
          <p:cNvSpPr/>
          <p:nvPr/>
        </p:nvSpPr>
        <p:spPr>
          <a:xfrm>
            <a:off x="1912840" y="4498848"/>
            <a:ext cx="274320" cy="237744"/>
          </a:xfrm>
          <a:prstGeom prst="roundRect">
            <a:avLst>
              <a:gd fmla="val 18000" name="adj"/>
            </a:avLst>
          </a:prstGeom>
          <a:solidFill>
            <a:srgbClr val="ED7100"/>
          </a:solidFill>
          <a:ln cap="flat" cmpd="sng" w="12700">
            <a:solidFill>
              <a:srgbClr val="ED7100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7" name="Google Shape;117;p2"/>
          <p:cNvSpPr txBox="1"/>
          <p:nvPr/>
        </p:nvSpPr>
        <p:spPr>
          <a:xfrm>
            <a:off x="1160000" y="4727448"/>
            <a:ext cx="178000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40"/>
              <a:buFont typeface="Arial"/>
              <a:buNone/>
            </a:pPr>
            <a:r>
              <a:rPr b="1" i="0" lang="en-US" sz="620" u="none" cap="none" strike="noStrike">
                <a:solidFill>
                  <a:srgbClr val="0B192C"/>
                </a:solidFill>
                <a:latin typeface="Malgun Gothic"/>
                <a:ea typeface="Malgun Gothic"/>
                <a:cs typeface="Malgun Gothic"/>
                <a:sym typeface="Malgun Gothic"/>
              </a:rPr>
              <a:t>Client/fe(:3104) + server-be(:18080)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2"/>
          <p:cNvSpPr txBox="1"/>
          <p:nvPr/>
        </p:nvSpPr>
        <p:spPr>
          <a:xfrm>
            <a:off x="1160000" y="4882896"/>
            <a:ext cx="17800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10"/>
              <a:buFont typeface="Arial"/>
              <a:buNone/>
            </a:pPr>
            <a:r>
              <a:rPr sz="540" b="1">
                <a:solidFill>
                  <a:srgbClr val="1E293B"/>
                </a:solidFill>
                <a:latin typeface="Malgun Gothic"/>
              </a:rPr>
              <a:t>웹 영상재생·특정화면 멈춤 장면 추가/편집/삭제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/>
            <a:r>
              <a:rPr sz="530" b="0">
                <a:solidFill>
                  <a:srgbClr val="475569"/>
                </a:solidFill>
                <a:latin typeface="Malgun Gothic"/>
              </a:rPr>
              <a:t>BO➔Agent 호출 · 상충탐지 · RA확정 · 백오피스</a:t>
            </a:r>
          </a:p>
        </p:txBody>
      </p:sp>
      <p:sp>
        <p:nvSpPr>
          <p:cNvPr id="114" name="Google Shape;114;p2"/>
          <p:cNvSpPr/>
          <p:nvPr/>
        </p:nvSpPr>
        <p:spPr>
          <a:xfrm>
            <a:off x="3090000" y="4315968"/>
            <a:ext cx="1780000" cy="8229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FD6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5" name="Google Shape;115;p2"/>
          <p:cNvSpPr txBox="1"/>
          <p:nvPr/>
        </p:nvSpPr>
        <p:spPr>
          <a:xfrm>
            <a:off x="3090000" y="4334256"/>
            <a:ext cx="178000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"/>
              <a:buFont typeface="Arial"/>
              <a:buNone/>
            </a:pPr>
            <a:r>
              <a:rPr b="1" i="0" lang="en-US" sz="580" u="none" cap="none" strike="noStrike">
                <a:solidFill>
                  <a:srgbClr val="ED7100"/>
                </a:solidFill>
                <a:latin typeface="Malgun Gothic"/>
                <a:ea typeface="Malgun Gothic"/>
                <a:cs typeface="Malgun Gothic"/>
                <a:sym typeface="Malgun Gothic"/>
              </a:rPr>
              <a:t>② 대외 연계 &amp; 파일 API 서버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2"/>
          <p:cNvSpPr/>
          <p:nvPr/>
        </p:nvSpPr>
        <p:spPr>
          <a:xfrm>
            <a:off x="3842840" y="4498848"/>
            <a:ext cx="274320" cy="237744"/>
          </a:xfrm>
          <a:prstGeom prst="roundRect">
            <a:avLst>
              <a:gd fmla="val 18000" name="adj"/>
            </a:avLst>
          </a:prstGeom>
          <a:solidFill>
            <a:srgbClr val="ED7100"/>
          </a:solidFill>
          <a:ln cap="flat" cmpd="sng" w="12700">
            <a:solidFill>
              <a:srgbClr val="ED7100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7" name="Google Shape;117;p2"/>
          <p:cNvSpPr txBox="1"/>
          <p:nvPr/>
        </p:nvSpPr>
        <p:spPr>
          <a:xfrm>
            <a:off x="3090000" y="4727448"/>
            <a:ext cx="178000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40"/>
              <a:buFont typeface="Arial"/>
              <a:buNone/>
            </a:pPr>
            <a:r>
              <a:rPr b="1" i="0" lang="en-US" sz="620" u="none" cap="none" strike="noStrike">
                <a:solidFill>
                  <a:srgbClr val="0B192C"/>
                </a:solidFill>
                <a:latin typeface="Malgun Gothic"/>
                <a:ea typeface="Malgun Gothic"/>
                <a:cs typeface="Malgun Gothic"/>
                <a:sym typeface="Malgun Gothic"/>
              </a:rPr>
              <a:t>server-api (:18085)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2"/>
          <p:cNvSpPr txBox="1"/>
          <p:nvPr/>
        </p:nvSpPr>
        <p:spPr>
          <a:xfrm>
            <a:off x="3090000" y="4882896"/>
            <a:ext cx="17800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10"/>
              <a:buFont typeface="Arial"/>
              <a:buNone/>
            </a:pPr>
            <a:r>
              <a:rPr sz="540" b="1">
                <a:solidFill>
                  <a:srgbClr val="1E293B"/>
                </a:solidFill>
                <a:latin typeface="Malgun Gothic"/>
              </a:rPr>
              <a:t>마케팅허브 전용 ALB 인바운드 · 결과 웹훅 회신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/>
            <a:r>
              <a:rPr sz="530" b="0">
                <a:solidFill>
                  <a:srgbClr val="475569"/>
                </a:solidFill>
                <a:latin typeface="Malgun Gothic"/>
              </a:rPr>
              <a:t>300MB S3 업로드 · API➔Agent EKS Service 호출</a:t>
            </a:r>
          </a:p>
        </p:txBody>
      </p:sp>
      <p:sp>
        <p:nvSpPr>
          <p:cNvPr id="119" name="Google Shape;119;p2"/>
          <p:cNvSpPr/>
          <p:nvPr/>
        </p:nvSpPr>
        <p:spPr>
          <a:xfrm>
            <a:off x="5020000" y="4315968"/>
            <a:ext cx="1780000" cy="8229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FD6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0" name="Google Shape;120;p2"/>
          <p:cNvSpPr txBox="1"/>
          <p:nvPr/>
        </p:nvSpPr>
        <p:spPr>
          <a:xfrm>
            <a:off x="5020000" y="4334256"/>
            <a:ext cx="178000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"/>
              <a:buFont typeface="Arial"/>
              <a:buNone/>
            </a:pPr>
            <a:r>
              <a:rPr b="1" i="0" lang="en-US" sz="580" u="none" cap="none" strike="noStrike">
                <a:solidFill>
                  <a:srgbClr val="1A73C7"/>
                </a:solidFill>
                <a:latin typeface="Malgun Gothic"/>
                <a:ea typeface="Malgun Gothic"/>
                <a:cs typeface="Malgun Gothic"/>
                <a:sym typeface="Malgun Gothic"/>
              </a:rPr>
              <a:t>③ AI Agent (심의 에이전트)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2"/>
          <p:cNvSpPr/>
          <p:nvPr/>
        </p:nvSpPr>
        <p:spPr>
          <a:xfrm>
            <a:off x="5772840" y="4498848"/>
            <a:ext cx="274320" cy="237744"/>
          </a:xfrm>
          <a:prstGeom prst="roundRect">
            <a:avLst>
              <a:gd fmla="val 18000" name="adj"/>
            </a:avLst>
          </a:prstGeom>
          <a:solidFill>
            <a:srgbClr val="1A73C7"/>
          </a:solidFill>
          <a:ln cap="flat" cmpd="sng" w="12700">
            <a:solidFill>
              <a:srgbClr val="1A73C7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2" name="Google Shape;122;p2"/>
          <p:cNvSpPr txBox="1"/>
          <p:nvPr/>
        </p:nvSpPr>
        <p:spPr>
          <a:xfrm>
            <a:off x="5020000" y="4727448"/>
            <a:ext cx="178000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40"/>
              <a:buFont typeface="Arial"/>
              <a:buNone/>
            </a:pPr>
            <a:r>
              <a:rPr b="1" i="0" lang="en-US" sz="620" u="none" cap="none" strike="noStrike">
                <a:solidFill>
                  <a:srgbClr val="0B192C"/>
                </a:solidFill>
                <a:latin typeface="Malgun Gothic"/>
                <a:ea typeface="Malgun Gothic"/>
                <a:cs typeface="Malgun Gothic"/>
                <a:sym typeface="Malgun Gothic"/>
              </a:rPr>
              <a:t>server-ai-agent (:18083)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2"/>
          <p:cNvSpPr txBox="1"/>
          <p:nvPr/>
        </p:nvSpPr>
        <p:spPr>
          <a:xfrm>
            <a:off x="5020000" y="4882896"/>
            <a:ext cx="17800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sz="540" b="1">
                <a:solidFill>
                  <a:srgbClr val="1E293B"/>
                </a:solidFill>
                <a:latin typeface="Malgun Gothic"/>
              </a:rPr>
              <a:t>OpenCV 피크프레임 1차 자동추출 + 웹 보정장면 분석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/>
            <a:r>
              <a:rPr sz="530" b="0">
                <a:solidFill>
                  <a:srgbClr val="475569"/>
                </a:solidFill>
                <a:latin typeface="Malgun Gothic"/>
              </a:rPr>
              <a:t>네이버/패들 OCR · 동시 4건 세마포어 + QUEUED</a:t>
            </a:r>
          </a:p>
        </p:txBody>
      </p:sp>
      <p:sp>
        <p:nvSpPr>
          <p:cNvPr id="124" name="Google Shape;124;p2"/>
          <p:cNvSpPr/>
          <p:nvPr/>
        </p:nvSpPr>
        <p:spPr>
          <a:xfrm>
            <a:off x="6950000" y="4315968"/>
            <a:ext cx="1780000" cy="8229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CFD6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5" name="Google Shape;125;p2"/>
          <p:cNvSpPr txBox="1"/>
          <p:nvPr/>
        </p:nvSpPr>
        <p:spPr>
          <a:xfrm>
            <a:off x="6950000" y="4334256"/>
            <a:ext cx="178000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"/>
              <a:buFont typeface="Arial"/>
              <a:buNone/>
            </a:pPr>
            <a:r>
              <a:rPr b="1" i="0" lang="en-US" sz="580" u="none" cap="none" strike="noStrike">
                <a:solidFill>
                  <a:srgbClr val="7A3EC4"/>
                </a:solidFill>
                <a:latin typeface="Malgun Gothic"/>
                <a:ea typeface="Malgun Gothic"/>
                <a:cs typeface="Malgun Gothic"/>
                <a:sym typeface="Malgun Gothic"/>
              </a:rPr>
              <a:t>④ Batch (일배치 스케줄러)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2"/>
          <p:cNvSpPr/>
          <p:nvPr/>
        </p:nvSpPr>
        <p:spPr>
          <a:xfrm>
            <a:off x="7702840" y="4498848"/>
            <a:ext cx="274320" cy="237744"/>
          </a:xfrm>
          <a:prstGeom prst="roundRect">
            <a:avLst>
              <a:gd fmla="val 18000" name="adj"/>
            </a:avLst>
          </a:prstGeom>
          <a:solidFill>
            <a:srgbClr val="7A3EC4"/>
          </a:solidFill>
          <a:ln cap="flat" cmpd="sng" w="12700">
            <a:solidFill>
              <a:srgbClr val="7A3EC4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7" name="Google Shape;127;p2"/>
          <p:cNvSpPr txBox="1"/>
          <p:nvPr/>
        </p:nvSpPr>
        <p:spPr>
          <a:xfrm>
            <a:off x="6950000" y="4727448"/>
            <a:ext cx="178000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40"/>
              <a:buFont typeface="Arial"/>
              <a:buNone/>
            </a:pPr>
            <a:r>
              <a:rPr b="1" i="0" lang="en-US" sz="620" u="none" cap="none" strike="noStrike">
                <a:solidFill>
                  <a:srgbClr val="0B192C"/>
                </a:solidFill>
                <a:latin typeface="Malgun Gothic"/>
                <a:ea typeface="Malgun Gothic"/>
                <a:cs typeface="Malgun Gothic"/>
                <a:sym typeface="Malgun Gothic"/>
              </a:rPr>
              <a:t>server-batch (:18084)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2"/>
          <p:cNvSpPr txBox="1"/>
          <p:nvPr/>
        </p:nvSpPr>
        <p:spPr>
          <a:xfrm>
            <a:off x="6950000" y="4882896"/>
            <a:ext cx="17800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10"/>
              <a:buFont typeface="Arial"/>
              <a:buNone/>
            </a:pPr>
            <a:r>
              <a:rPr b="1" i="0" lang="en-US" sz="540" u="none" cap="none" strike="noStrik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매일 02:00 ProductLab 전성분·실증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530" u="none" cap="none" strike="noStrike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02:30 KT레몬 · 법령 Diff 벡터화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2"/>
          <p:cNvSpPr/>
          <p:nvPr/>
        </p:nvSpPr>
        <p:spPr>
          <a:xfrm>
            <a:off x="768096" y="5413248"/>
            <a:ext cx="8321040" cy="960120"/>
          </a:xfrm>
          <a:prstGeom prst="rect">
            <a:avLst/>
          </a:prstGeom>
          <a:noFill/>
          <a:ln cap="flat" cmpd="sng" w="11425">
            <a:solidFill>
              <a:srgbClr val="3F7EBF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0" name="Google Shape;130;p2"/>
          <p:cNvSpPr/>
          <p:nvPr/>
        </p:nvSpPr>
        <p:spPr>
          <a:xfrm>
            <a:off x="841248" y="5468112"/>
            <a:ext cx="155448" cy="155448"/>
          </a:xfrm>
          <a:prstGeom prst="rect">
            <a:avLst/>
          </a:prstGeom>
          <a:solidFill>
            <a:srgbClr val="3F7EBF"/>
          </a:solidFill>
          <a:ln cap="flat" cmpd="sng" w="12700">
            <a:solidFill>
              <a:srgbClr val="3F7EBF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Arial"/>
              <a:buNone/>
            </a:pPr>
            <a:r>
              <a:rPr b="1" i="0" lang="en-US" sz="6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2"/>
          <p:cNvSpPr txBox="1"/>
          <p:nvPr/>
        </p:nvSpPr>
        <p:spPr>
          <a:xfrm>
            <a:off x="1033271" y="5449824"/>
            <a:ext cx="12801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"/>
              <a:buFont typeface="Arial"/>
              <a:buNone/>
            </a:pPr>
            <a:r>
              <a:rPr b="1" i="0" lang="en-US" sz="720" u="none" cap="none" strike="noStrike">
                <a:solidFill>
                  <a:srgbClr val="1A73C7"/>
                </a:solidFill>
                <a:latin typeface="Malgun Gothic"/>
                <a:ea typeface="Malgun Gothic"/>
                <a:cs typeface="Malgun Gothic"/>
                <a:sym typeface="Malgun Gothic"/>
              </a:rPr>
              <a:t>Private subnet (DB)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2"/>
          <p:cNvSpPr/>
          <p:nvPr/>
        </p:nvSpPr>
        <p:spPr>
          <a:xfrm>
            <a:off x="2148840" y="5605272"/>
            <a:ext cx="475488" cy="475488"/>
          </a:xfrm>
          <a:prstGeom prst="ellipse">
            <a:avLst/>
          </a:prstGeom>
          <a:solidFill>
            <a:srgbClr val="2E3A8C"/>
          </a:solidFill>
          <a:ln cap="flat" cmpd="sng" w="12700">
            <a:solidFill>
              <a:srgbClr val="2E3A8C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2"/>
          <p:cNvSpPr txBox="1"/>
          <p:nvPr/>
        </p:nvSpPr>
        <p:spPr>
          <a:xfrm>
            <a:off x="1508760" y="6089904"/>
            <a:ext cx="1755648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40"/>
              <a:buFont typeface="Arial"/>
              <a:buNone/>
            </a:pPr>
            <a:r>
              <a:rPr b="1" i="0" lang="en-US" sz="740" u="none" cap="none" strike="noStrik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PostgreSQL 16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2"/>
          <p:cNvSpPr txBox="1"/>
          <p:nvPr/>
        </p:nvSpPr>
        <p:spPr>
          <a:xfrm>
            <a:off x="1325880" y="6236208"/>
            <a:ext cx="2121408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0"/>
              <a:buFont typeface="Arial"/>
              <a:buNone/>
            </a:pPr>
            <a:r>
              <a:rPr b="0" i="0" lang="en-US" sz="630" u="none" cap="none" strike="noStrike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hb_syncguard_ai DB  ·  :5432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2"/>
          <p:cNvSpPr txBox="1"/>
          <p:nvPr/>
        </p:nvSpPr>
        <p:spPr>
          <a:xfrm>
            <a:off x="3063240" y="5724144"/>
            <a:ext cx="306324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0"/>
              <a:buFont typeface="Arial"/>
              <a:buNone/>
            </a:pPr>
            <a:r>
              <a:rPr b="0" i="0" lang="en-US" sz="630" u="none" cap="none" strike="noStrik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• 심의 마스터 · 대기열(QUEUED/FAILED) · 과거 상충 탐지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0"/>
              <a:buFont typeface="Arial"/>
              <a:buNone/>
            </a:pPr>
            <a:r>
              <a:rPr b="0" i="0" lang="en-US" sz="630" u="none" cap="none" strike="noStrik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• 골든셋(Golden Set) · 불변 감사 원장(WORM, 25개 테이블)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0"/>
              <a:buFont typeface="Arial"/>
              <a:buNone/>
            </a:pPr>
            <a:r>
              <a:rPr b="0" i="0" lang="en-US" sz="630" u="none" cap="none" strike="noStrik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• 금지/주의 표현사전 · ProductLab 전성분/실증 캐시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2"/>
          <p:cNvSpPr/>
          <p:nvPr/>
        </p:nvSpPr>
        <p:spPr>
          <a:xfrm>
            <a:off x="7260336" y="5513832"/>
            <a:ext cx="493776" cy="384048"/>
          </a:xfrm>
          <a:prstGeom prst="roundRect">
            <a:avLst>
              <a:gd fmla="val 18000" name="adj"/>
            </a:avLst>
          </a:prstGeom>
          <a:solidFill>
            <a:srgbClr val="1A73C7"/>
          </a:solidFill>
          <a:ln cap="flat" cmpd="sng" w="12700">
            <a:solidFill>
              <a:srgbClr val="1A73C7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RAG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2"/>
          <p:cNvSpPr txBox="1"/>
          <p:nvPr/>
        </p:nvSpPr>
        <p:spPr>
          <a:xfrm>
            <a:off x="6053328" y="5925312"/>
            <a:ext cx="2907792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"/>
              <a:buFont typeface="Arial"/>
              <a:buNone/>
            </a:pPr>
            <a:r>
              <a:rPr b="1" i="0" lang="en-US" sz="720" u="none" cap="none" strike="noStrike">
                <a:solidFill>
                  <a:srgbClr val="1A73C7"/>
                </a:solidFill>
                <a:latin typeface="Malgun Gothic"/>
                <a:ea typeface="Malgun Gothic"/>
                <a:cs typeface="Malgun Gothic"/>
                <a:sym typeface="Malgun Gothic"/>
              </a:rPr>
              <a:t>pgvector / 하이브리드 RAG (PostgreSQL 통합)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2"/>
          <p:cNvSpPr txBox="1"/>
          <p:nvPr/>
        </p:nvSpPr>
        <p:spPr>
          <a:xfrm>
            <a:off x="6053328" y="6089904"/>
            <a:ext cx="2907792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10"/>
              <a:buFont typeface="Arial"/>
              <a:buNone/>
            </a:pPr>
            <a:r>
              <a:rPr b="0" i="0" lang="en-US" sz="610" u="none" cap="none" strike="noStrik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규제 조항 &amp; 기술원 실증보고서 벡터 색인 (1536d)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10"/>
              <a:buFont typeface="Arial"/>
              <a:buNone/>
            </a:pPr>
            <a:r>
              <a:rPr b="0" i="0" lang="en-US" sz="610" u="none" cap="none" strike="noStrike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Cosine Similarity k-NN + BM25 검색  ·  :5432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2"/>
          <p:cNvSpPr/>
          <p:nvPr/>
        </p:nvSpPr>
        <p:spPr>
          <a:xfrm>
            <a:off x="9802368" y="5449824"/>
            <a:ext cx="512064" cy="420624"/>
          </a:xfrm>
          <a:prstGeom prst="roundRect">
            <a:avLst>
              <a:gd fmla="val 18000" name="adj"/>
            </a:avLst>
          </a:prstGeom>
          <a:solidFill>
            <a:srgbClr val="7AA116"/>
          </a:solidFill>
          <a:ln cap="flat" cmpd="sng" w="12700">
            <a:solidFill>
              <a:srgbClr val="7AA116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2"/>
          <p:cNvSpPr txBox="1"/>
          <p:nvPr/>
        </p:nvSpPr>
        <p:spPr>
          <a:xfrm>
            <a:off x="9052560" y="5907024"/>
            <a:ext cx="20116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0"/>
              <a:buFont typeface="Arial"/>
              <a:buNone/>
            </a:pPr>
            <a:r>
              <a:rPr b="1" i="0" lang="en-US" sz="730" u="none" cap="none" strike="noStrik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AWS S3 스토리지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2"/>
          <p:cNvSpPr txBox="1"/>
          <p:nvPr/>
        </p:nvSpPr>
        <p:spPr>
          <a:xfrm>
            <a:off x="8961120" y="6080760"/>
            <a:ext cx="21945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10"/>
              <a:buFont typeface="Arial"/>
              <a:buNone/>
            </a:pPr>
            <a:r>
              <a:rPr sz="610" b="0">
                <a:solidFill>
                  <a:srgbClr val="475569"/>
                </a:solidFill>
                <a:latin typeface="Malgun Gothic"/>
              </a:rPr>
              <a:t>Storage Class: Intelligent-Tiering 자동 적용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/>
            <a:r>
              <a:rPr sz="610" b="0">
                <a:solidFill>
                  <a:srgbClr val="475569"/>
                </a:solidFill>
                <a:latin typeface="Malgun Gothic"/>
              </a:rPr>
              <a:t>300MB 시안·영상 · AI 추출 및 웹 보정 장면 · 리포트</a:t>
            </a:r>
          </a:p>
        </p:txBody>
      </p:sp>
      <p:cxnSp>
        <p:nvCxnSpPr>
          <p:cNvPr id="142" name="Google Shape;142;p2"/>
          <p:cNvCxnSpPr/>
          <p:nvPr/>
        </p:nvCxnSpPr>
        <p:spPr>
          <a:xfrm>
            <a:off x="996696" y="1901952"/>
            <a:ext cx="0" cy="1298448"/>
          </a:xfrm>
          <a:prstGeom prst="straightConnector1">
            <a:avLst/>
          </a:prstGeom>
          <a:noFill/>
          <a:ln cap="flat" cmpd="sng" w="15875">
            <a:solidFill>
              <a:srgbClr val="232F3E"/>
            </a:solidFill>
            <a:prstDash val="solid"/>
            <a:miter lim="80"/>
            <a:headEnd len="sm" w="sm" type="none"/>
            <a:tailEnd len="med" w="med" type="none"/>
          </a:ln>
        </p:spPr>
      </p:cxnSp>
      <p:cxnSp>
        <p:nvCxnSpPr>
          <p:cNvPr id="143" name="Google Shape;143;p2"/>
          <p:cNvCxnSpPr/>
          <p:nvPr/>
        </p:nvCxnSpPr>
        <p:spPr>
          <a:xfrm>
            <a:off x="996696" y="3200400"/>
            <a:ext cx="393192" cy="0"/>
          </a:xfrm>
          <a:prstGeom prst="straightConnector1">
            <a:avLst/>
          </a:prstGeom>
          <a:noFill/>
          <a:ln cap="flat" cmpd="sng" w="15875">
            <a:solidFill>
              <a:srgbClr val="232F3E"/>
            </a:solidFill>
            <a:prstDash val="solid"/>
            <a:miter lim="80"/>
            <a:headEnd len="sm" w="sm" type="none"/>
            <a:tailEnd len="med" w="med" type="triangle"/>
          </a:ln>
        </p:spPr>
      </p:cxnSp>
      <p:cxnSp>
        <p:nvCxnSpPr>
          <p:cNvPr id="144" name="Google Shape;144;p2"/>
          <p:cNvCxnSpPr/>
          <p:nvPr/>
        </p:nvCxnSpPr>
        <p:spPr>
          <a:xfrm>
            <a:off x="1700784" y="3584448"/>
            <a:ext cx="0" cy="713232"/>
          </a:xfrm>
          <a:prstGeom prst="straightConnector1">
            <a:avLst/>
          </a:prstGeom>
          <a:noFill/>
          <a:ln cap="flat" cmpd="sng" w="15875">
            <a:solidFill>
              <a:srgbClr val="232F3E"/>
            </a:solidFill>
            <a:prstDash val="solid"/>
            <a:miter lim="80"/>
            <a:headEnd len="sm" w="sm" type="none"/>
            <a:tailEnd len="med" w="med" type="triangle"/>
          </a:ln>
        </p:spPr>
      </p:cxnSp>
      <p:cxnSp>
        <p:nvCxnSpPr>
          <p:cNvPr id="145" name="Google Shape;145;p2"/>
          <p:cNvCxnSpPr/>
          <p:nvPr/>
        </p:nvCxnSpPr>
        <p:spPr>
          <a:xfrm>
            <a:off x="4870000" y="4727448"/>
            <a:ext cx="150000" cy="0"/>
          </a:xfrm>
          <a:prstGeom prst="straightConnector1">
            <a:avLst/>
          </a:prstGeom>
          <a:noFill/>
          <a:ln cap="flat" cmpd="sng" w="15875">
            <a:solidFill>
              <a:srgbClr val="232F3E"/>
            </a:solidFill>
            <a:prstDash val="solid"/>
            <a:miter lim="80"/>
            <a:headEnd len="sm" w="sm" type="none"/>
            <a:tailEnd len="med" w="med" type="triangle"/>
          </a:ln>
        </p:spPr>
      </p:cxnSp>
      <p:cxnSp>
        <p:nvCxnSpPr>
          <p:cNvPr id="146" name="Google Shape;146;p2"/>
          <p:cNvCxnSpPr/>
          <p:nvPr/>
        </p:nvCxnSpPr>
        <p:spPr>
          <a:xfrm>
            <a:off x="2404872" y="5157216"/>
            <a:ext cx="45720" cy="438912"/>
          </a:xfrm>
          <a:prstGeom prst="straightConnector1">
            <a:avLst/>
          </a:prstGeom>
          <a:noFill/>
          <a:ln cap="flat" cmpd="sng" w="15875">
            <a:solidFill>
              <a:srgbClr val="232F3E"/>
            </a:solidFill>
            <a:prstDash val="solid"/>
            <a:miter lim="80"/>
            <a:headEnd len="sm" w="sm" type="none"/>
            <a:tailEnd len="med" w="med" type="triangle"/>
          </a:ln>
        </p:spPr>
      </p:cxnSp>
      <p:cxnSp>
        <p:nvCxnSpPr>
          <p:cNvPr id="147" name="Google Shape;147;p2"/>
          <p:cNvCxnSpPr/>
          <p:nvPr/>
        </p:nvCxnSpPr>
        <p:spPr>
          <a:xfrm flipH="1">
            <a:off x="2688336" y="5157216"/>
            <a:ext cx="2276856" cy="438912"/>
          </a:xfrm>
          <a:prstGeom prst="straightConnector1">
            <a:avLst/>
          </a:prstGeom>
          <a:noFill/>
          <a:ln cap="flat" cmpd="sng" w="15875">
            <a:solidFill>
              <a:srgbClr val="232F3E"/>
            </a:solidFill>
            <a:prstDash val="solid"/>
            <a:miter lim="80"/>
            <a:headEnd len="sm" w="sm" type="none"/>
            <a:tailEnd len="med" w="med" type="triangle"/>
          </a:ln>
        </p:spPr>
      </p:cxnSp>
      <p:cxnSp>
        <p:nvCxnSpPr>
          <p:cNvPr id="148" name="Google Shape;148;p2"/>
          <p:cNvCxnSpPr/>
          <p:nvPr/>
        </p:nvCxnSpPr>
        <p:spPr>
          <a:xfrm flipH="1">
            <a:off x="2688336" y="5157216"/>
            <a:ext cx="4837176" cy="457200"/>
          </a:xfrm>
          <a:prstGeom prst="straightConnector1">
            <a:avLst/>
          </a:prstGeom>
          <a:noFill/>
          <a:ln cap="flat" cmpd="sng" w="15875">
            <a:solidFill>
              <a:srgbClr val="232F3E"/>
            </a:solidFill>
            <a:prstDash val="solid"/>
            <a:miter lim="80"/>
            <a:headEnd len="sm" w="sm" type="none"/>
            <a:tailEnd len="med" w="med" type="triangle"/>
          </a:ln>
        </p:spPr>
      </p:cxnSp>
      <p:sp>
        <p:nvSpPr>
          <p:cNvPr id="149" name="Google Shape;149;p2"/>
          <p:cNvSpPr txBox="1"/>
          <p:nvPr/>
        </p:nvSpPr>
        <p:spPr>
          <a:xfrm>
            <a:off x="2487168" y="5230368"/>
            <a:ext cx="6400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Arial"/>
              <a:buNone/>
            </a:pPr>
            <a:r>
              <a:rPr b="0" i="0" lang="en-US" sz="650" u="none" cap="none" strike="noStrike">
                <a:solidFill>
                  <a:srgbClr val="595F66"/>
                </a:solidFill>
                <a:latin typeface="Arial"/>
                <a:ea typeface="Arial"/>
                <a:cs typeface="Arial"/>
                <a:sym typeface="Arial"/>
              </a:rPr>
              <a:t>:5432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0" name="Google Shape;150;p2"/>
          <p:cNvCxnSpPr/>
          <p:nvPr/>
        </p:nvCxnSpPr>
        <p:spPr>
          <a:xfrm>
            <a:off x="8942832" y="4956048"/>
            <a:ext cx="822960" cy="576072"/>
          </a:xfrm>
          <a:prstGeom prst="straightConnector1">
            <a:avLst/>
          </a:prstGeom>
          <a:noFill/>
          <a:ln cap="flat" cmpd="sng" w="13950">
            <a:solidFill>
              <a:srgbClr val="9AA3AD"/>
            </a:solidFill>
            <a:prstDash val="dash"/>
            <a:miter lim="80"/>
            <a:headEnd len="sm" w="sm" type="none"/>
            <a:tailEnd len="med" w="med" type="triangle"/>
          </a:ln>
        </p:spPr>
      </p:cxnSp>
      <p:sp>
        <p:nvSpPr>
          <p:cNvPr id="151" name="Google Shape;151;p2"/>
          <p:cNvSpPr txBox="1"/>
          <p:nvPr/>
        </p:nvSpPr>
        <p:spPr>
          <a:xfrm>
            <a:off x="9162288" y="4956048"/>
            <a:ext cx="118872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en-US" sz="600" u="none" cap="none" strike="noStrike">
                <a:solidFill>
                  <a:srgbClr val="64748B"/>
                </a:solidFill>
                <a:latin typeface="Malgun Gothic"/>
                <a:ea typeface="Malgun Gothic"/>
                <a:cs typeface="Malgun Gothic"/>
                <a:sym typeface="Malgun Gothic"/>
              </a:rPr>
              <a:t>BE · API · AGENT · BATCH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2" name="Google Shape;152;p2"/>
          <p:cNvCxnSpPr/>
          <p:nvPr/>
        </p:nvCxnSpPr>
        <p:spPr>
          <a:xfrm rot="10800000">
            <a:off x="5989320" y="2002536"/>
            <a:ext cx="0" cy="2295144"/>
          </a:xfrm>
          <a:prstGeom prst="straightConnector1">
            <a:avLst/>
          </a:prstGeom>
          <a:noFill/>
          <a:ln cap="flat" cmpd="sng" w="15875">
            <a:solidFill>
              <a:srgbClr val="ED7100"/>
            </a:solidFill>
            <a:prstDash val="solid"/>
            <a:miter lim="80"/>
            <a:headEnd len="sm" w="sm" type="none"/>
            <a:tailEnd len="med" w="med" type="triangle"/>
          </a:ln>
        </p:spPr>
      </p:cxnSp>
      <p:cxnSp>
        <p:nvCxnSpPr>
          <p:cNvPr id="153" name="Google Shape;153;p2"/>
          <p:cNvCxnSpPr/>
          <p:nvPr/>
        </p:nvCxnSpPr>
        <p:spPr>
          <a:xfrm rot="10800000">
            <a:off x="8458200" y="2002536"/>
            <a:ext cx="0" cy="2295144"/>
          </a:xfrm>
          <a:prstGeom prst="straightConnector1">
            <a:avLst/>
          </a:prstGeom>
          <a:noFill/>
          <a:ln cap="flat" cmpd="sng" w="15875">
            <a:solidFill>
              <a:srgbClr val="ED7100"/>
            </a:solidFill>
            <a:prstDash val="solid"/>
            <a:miter lim="80"/>
            <a:headEnd len="sm" w="sm" type="none"/>
            <a:tailEnd len="med" w="med" type="triangle"/>
          </a:ln>
        </p:spPr>
      </p:cxnSp>
      <p:cxnSp>
        <p:nvCxnSpPr>
          <p:cNvPr id="154" name="Google Shape;154;p2"/>
          <p:cNvCxnSpPr/>
          <p:nvPr/>
        </p:nvCxnSpPr>
        <p:spPr>
          <a:xfrm>
            <a:off x="10744200" y="2002536"/>
            <a:ext cx="0" cy="905256"/>
          </a:xfrm>
          <a:prstGeom prst="straightConnector1">
            <a:avLst/>
          </a:prstGeom>
          <a:noFill/>
          <a:ln cap="flat" cmpd="sng" w="13950">
            <a:solidFill>
              <a:srgbClr val="3F7EBF"/>
            </a:solidFill>
            <a:prstDash val="dash"/>
            <a:miter lim="80"/>
            <a:headEnd len="sm" w="sm" type="none"/>
            <a:tailEnd len="sm" w="sm" type="none"/>
          </a:ln>
        </p:spPr>
      </p:cxnSp>
      <p:cxnSp>
        <p:nvCxnSpPr>
          <p:cNvPr id="155" name="Google Shape;155;p2"/>
          <p:cNvCxnSpPr/>
          <p:nvPr/>
        </p:nvCxnSpPr>
        <p:spPr>
          <a:xfrm rot="10800000">
            <a:off x="2788920" y="2907792"/>
            <a:ext cx="7955279" cy="0"/>
          </a:xfrm>
          <a:prstGeom prst="straightConnector1">
            <a:avLst/>
          </a:prstGeom>
          <a:noFill/>
          <a:ln cap="flat" cmpd="sng" w="13950">
            <a:solidFill>
              <a:srgbClr val="3F7EBF"/>
            </a:solidFill>
            <a:prstDash val="dash"/>
            <a:miter lim="80"/>
            <a:headEnd len="sm" w="sm" type="none"/>
            <a:tailEnd len="med" w="med" type="triangle"/>
          </a:ln>
        </p:spPr>
      </p:cxnSp>
      <p:sp>
        <p:nvSpPr>
          <p:cNvPr id="156" name="Google Shape;156;p2"/>
          <p:cNvSpPr txBox="1"/>
          <p:nvPr/>
        </p:nvSpPr>
        <p:spPr>
          <a:xfrm>
            <a:off x="3063240" y="2761488"/>
            <a:ext cx="128016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Arial"/>
              <a:buNone/>
            </a:pPr>
            <a:r>
              <a:rPr b="0" i="0" lang="en-US" sz="650" u="none" cap="none" strike="noStrike">
                <a:solidFill>
                  <a:srgbClr val="3F7EBF"/>
                </a:solidFill>
                <a:latin typeface="Arial"/>
                <a:ea typeface="Arial"/>
                <a:cs typeface="Arial"/>
                <a:sym typeface="Arial"/>
              </a:rPr>
              <a:t>SSO 인증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2"/>
          <p:cNvSpPr txBox="1"/>
          <p:nvPr/>
        </p:nvSpPr>
        <p:spPr>
          <a:xfrm>
            <a:off x="9162288" y="3072384"/>
            <a:ext cx="23774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"/>
              <a:buFont typeface="Arial"/>
              <a:buNone/>
            </a:pPr>
            <a:r>
              <a:rPr sz="640" b="1">
                <a:solidFill>
                  <a:srgbClr val="002C6C"/>
                </a:solidFill>
                <a:latin typeface="Malgun Gothic"/>
              </a:rPr>
              <a:t>네이버OCR(*.apigw.ntruss.com) · LLM · 마케팅허브 방화벽 오픈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/>
            <a:r>
              <a:rPr sz="610" b="0">
                <a:solidFill>
                  <a:srgbClr val="475569"/>
                </a:solidFill>
                <a:latin typeface="Malgun Gothic"/>
              </a:rPr>
              <a:t>(BO/API ALB 물리분리 및 BE·API➔Agent EKS Service 통신)</a:t>
            </a:r>
          </a:p>
        </p:txBody>
      </p:sp>
      <p:sp>
        <p:nvSpPr>
          <p:cNvPr id="158" name="Google Shape;158;p2"/>
          <p:cNvSpPr/>
          <p:nvPr/>
        </p:nvSpPr>
        <p:spPr>
          <a:xfrm>
            <a:off x="1828800" y="961200"/>
            <a:ext cx="2808000" cy="1022400"/>
          </a:xfrm>
          <a:prstGeom prst="rect">
            <a:avLst/>
          </a:prstGeom>
          <a:noFill/>
          <a:ln cap="flat" cmpd="sng" w="9525">
            <a:solidFill>
              <a:srgbClr val="333333"/>
            </a:solidFill>
            <a:prstDash val="dash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9" name="Google Shape;159;p2"/>
          <p:cNvSpPr/>
          <p:nvPr/>
        </p:nvSpPr>
        <p:spPr>
          <a:xfrm>
            <a:off x="2426400" y="1116000"/>
            <a:ext cx="365760" cy="310896"/>
          </a:xfrm>
          <a:prstGeom prst="roundRect">
            <a:avLst>
              <a:gd fmla="val 18000" name="adj"/>
            </a:avLst>
          </a:prstGeom>
          <a:solidFill>
            <a:srgbClr val="4A90D9"/>
          </a:solidFill>
          <a:ln cap="flat" cmpd="sng" w="12700">
            <a:solidFill>
              <a:srgbClr val="4A90D9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GIT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2"/>
          <p:cNvSpPr txBox="1"/>
          <p:nvPr/>
        </p:nvSpPr>
        <p:spPr>
          <a:xfrm>
            <a:off x="1874519" y="1444752"/>
            <a:ext cx="14630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0"/>
              <a:buFont typeface="Arial"/>
              <a:buNone/>
            </a:pPr>
            <a:r>
              <a:rPr b="1" i="0" lang="en-US" sz="730" u="none" cap="none" strike="noStrik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GitLab 저장소 1개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2"/>
          <p:cNvSpPr txBox="1"/>
          <p:nvPr/>
        </p:nvSpPr>
        <p:spPr>
          <a:xfrm>
            <a:off x="1810512" y="1618488"/>
            <a:ext cx="1554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10"/>
              <a:buFont typeface="Arial"/>
              <a:buNone/>
            </a:pPr>
            <a:r>
              <a:rPr sz="610" b="0">
                <a:solidFill>
                  <a:srgbClr val="475569"/>
                </a:solidFill>
                <a:latin typeface="Malgun Gothic"/>
              </a:rPr>
              <a:t>통합웹·업무BE·대외API·Agent·Batch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/>
            <a:r>
              <a:rPr sz="610" b="0">
                <a:solidFill>
                  <a:srgbClr val="475569"/>
                </a:solidFill>
                <a:latin typeface="Malgun Gothic"/>
              </a:rPr>
              <a:t>5대 모듈 통합 및 멀티모듈 빌드</a:t>
            </a:r>
          </a:p>
        </p:txBody>
      </p:sp>
      <p:sp>
        <p:nvSpPr>
          <p:cNvPr id="162" name="Google Shape;162;p2"/>
          <p:cNvSpPr/>
          <p:nvPr/>
        </p:nvSpPr>
        <p:spPr>
          <a:xfrm>
            <a:off x="3841200" y="1116000"/>
            <a:ext cx="365760" cy="310896"/>
          </a:xfrm>
          <a:prstGeom prst="roundRect">
            <a:avLst>
              <a:gd fmla="val 18000" name="adj"/>
            </a:avLst>
          </a:prstGeom>
          <a:solidFill>
            <a:srgbClr val="4A90D9"/>
          </a:solidFill>
          <a:ln cap="flat" cmpd="sng" w="12700">
            <a:solidFill>
              <a:srgbClr val="4A90D9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-US" sz="7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CD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2"/>
          <p:cNvSpPr txBox="1"/>
          <p:nvPr/>
        </p:nvSpPr>
        <p:spPr>
          <a:xfrm>
            <a:off x="3337560" y="1444752"/>
            <a:ext cx="12801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0"/>
              <a:buFont typeface="Arial"/>
              <a:buNone/>
            </a:pPr>
            <a:r>
              <a:rPr b="1" i="0" lang="en-US" sz="730" u="none" cap="none" strike="noStrik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GitLab CI + ArgoCD 배포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2"/>
          <p:cNvSpPr txBox="1"/>
          <p:nvPr/>
        </p:nvSpPr>
        <p:spPr>
          <a:xfrm>
            <a:off x="3273552" y="1618488"/>
            <a:ext cx="1389888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10"/>
              <a:buFont typeface="Arial"/>
              <a:buNone/>
            </a:pPr>
            <a:r>
              <a:rPr sz="610" b="1">
                <a:solidFill>
                  <a:srgbClr val="1A73C7"/>
                </a:solidFill>
                <a:latin typeface="Malgun Gothic"/>
              </a:rPr>
              <a:t>DEV · STG · PRD EKS 자동 배포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/>
            <a:r>
              <a:rPr sz="610" b="0">
                <a:solidFill>
                  <a:srgbClr val="475569"/>
                </a:solidFill>
                <a:latin typeface="Malgun Gothic"/>
              </a:rPr>
              <a:t>ArgoCD / CodeDeploy 컨테이너 배포</a:t>
            </a:r>
          </a:p>
        </p:txBody>
      </p:sp>
      <p:sp>
        <p:nvSpPr>
          <p:cNvPr id="165" name="Google Shape;165;p2"/>
          <p:cNvSpPr txBox="1"/>
          <p:nvPr/>
        </p:nvSpPr>
        <p:spPr>
          <a:xfrm>
            <a:off x="8275320" y="877824"/>
            <a:ext cx="685800" cy="1463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-US" sz="700" u="none" cap="none" strike="noStrike">
                <a:solidFill>
                  <a:srgbClr val="1A73C7"/>
                </a:solidFill>
                <a:latin typeface="Malgun Gothic"/>
                <a:ea typeface="Malgun Gothic"/>
                <a:cs typeface="Malgun Gothic"/>
                <a:sym typeface="Malgun Gothic"/>
              </a:rPr>
              <a:t> INTERFACE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2"/>
          <p:cNvSpPr txBox="1"/>
          <p:nvPr/>
        </p:nvSpPr>
        <p:spPr>
          <a:xfrm>
            <a:off x="411480" y="201168"/>
            <a:ext cx="11247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36575" spcFirstLastPara="1" rIns="365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B192C"/>
                </a:solidFill>
                <a:latin typeface="Malgun Gothic"/>
                <a:ea typeface="Malgun Gothic"/>
                <a:cs typeface="Malgun Gothic"/>
                <a:sym typeface="Malgun Gothic"/>
              </a:rPr>
              <a:t>1. 시스템 아키텍처 및 AWS EKS 5대 모듈 배포 구성도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2"/>
          <p:cNvSpPr txBox="1"/>
          <p:nvPr/>
        </p:nvSpPr>
        <p:spPr>
          <a:xfrm>
            <a:off x="1920240" y="877824"/>
            <a:ext cx="475488" cy="1463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-US" sz="700" u="none" cap="none" strike="noStrik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 CI/CD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2"/>
          <p:cNvSpPr txBox="1"/>
          <p:nvPr/>
        </p:nvSpPr>
        <p:spPr>
          <a:xfrm>
            <a:off x="4754880" y="877824"/>
            <a:ext cx="658368" cy="1463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-US" sz="700" u="none" cap="none" strike="noStrik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 EXTERNAL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2"/>
          <p:cNvSpPr txBox="1"/>
          <p:nvPr/>
        </p:nvSpPr>
        <p:spPr>
          <a:xfrm>
            <a:off x="2487168" y="3895344"/>
            <a:ext cx="4300000" cy="1554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0"/>
              <a:buFont typeface="Arial"/>
              <a:buNone/>
            </a:pPr>
            <a:r>
              <a:rPr b="1" i="0" lang="en-US" sz="690" u="none" cap="none" strike="noStrik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 AWS EKS 클러스터 (통합웹/BE · 대외API · AI Agent · Batch 컨테이너 분리)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2"/>
          <p:cNvSpPr txBox="1"/>
          <p:nvPr/>
        </p:nvSpPr>
        <p:spPr>
          <a:xfrm>
            <a:off x="2487168" y="4096512"/>
            <a:ext cx="4300000" cy="1554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80"/>
              <a:buFont typeface="Arial"/>
              <a:buNone/>
            </a:pPr>
            <a:r>
              <a:rPr sz="680" b="1">
                <a:solidFill>
                  <a:srgbClr val="1E293B"/>
                </a:solidFill>
                <a:latin typeface="Malgun Gothic"/>
              </a:rPr>
              <a:t> EKS K8s Service 내부 통신: 업무BE(:18080) &amp; 대외API(:18085) ➔ AI Agent(:18083) 호출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2"/>
          <p:cNvSpPr/>
          <p:nvPr/>
        </p:nvSpPr>
        <p:spPr>
          <a:xfrm>
            <a:off x="3703320" y="3017520"/>
            <a:ext cx="566928" cy="365760"/>
          </a:xfrm>
          <a:prstGeom prst="roundRect">
            <a:avLst>
              <a:gd fmla="val 18000" name="adj"/>
            </a:avLst>
          </a:prstGeom>
          <a:solidFill>
            <a:srgbClr val="8C4FFF"/>
          </a:solidFill>
          <a:ln cap="flat" cmpd="sng" w="12700">
            <a:solidFill>
              <a:srgbClr val="8C4FFF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sz="800" b="1">
                <a:solidFill>
                  <a:srgbClr val="FFFFFF"/>
                </a:solidFill>
                <a:latin typeface="Arial"/>
              </a:rPr>
              <a:t>API ALB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2"/>
          <p:cNvSpPr txBox="1"/>
          <p:nvPr/>
        </p:nvSpPr>
        <p:spPr>
          <a:xfrm>
            <a:off x="3291840" y="3410712"/>
            <a:ext cx="1389888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sz="700" b="1">
                <a:solidFill>
                  <a:srgbClr val="1E293B"/>
                </a:solidFill>
                <a:latin typeface="Malgun Gothic"/>
              </a:rPr>
              <a:t>syncguard-ai-api-prv-alb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2"/>
          <p:cNvSpPr txBox="1"/>
          <p:nvPr/>
        </p:nvSpPr>
        <p:spPr>
          <a:xfrm>
            <a:off x="4315968" y="3035808"/>
            <a:ext cx="164592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sz="700" b="1">
                <a:solidFill>
                  <a:srgbClr val="ED7100"/>
                </a:solidFill>
                <a:latin typeface="Malgun Gothic"/>
              </a:rPr>
              <a:t>[대외연계 ALB] 마케팅허브만 오픈(:443)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"/>
          <p:cNvSpPr txBox="1"/>
          <p:nvPr/>
        </p:nvSpPr>
        <p:spPr>
          <a:xfrm>
            <a:off x="4315968" y="3209544"/>
            <a:ext cx="16459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"/>
              <a:buFont typeface="Arial"/>
              <a:buNone/>
            </a:pPr>
            <a:r>
              <a:rPr sz="640" b="0">
                <a:solidFill>
                  <a:srgbClr val="475569"/>
                </a:solidFill>
                <a:latin typeface="Malgun Gothic"/>
              </a:rPr>
              <a:t>대외연계 API(:18085) 단독 라우팅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4" name="Google Shape;144;p2"/>
          <p:cNvCxnSpPr/>
          <p:nvPr/>
        </p:nvCxnSpPr>
        <p:spPr>
          <a:xfrm>
            <a:off x="3986784" y="3584448"/>
            <a:ext cx="0" cy="713232"/>
          </a:xfrm>
          <a:prstGeom prst="straightConnector1">
            <a:avLst/>
          </a:prstGeom>
          <a:noFill/>
          <a:ln cap="flat" cmpd="sng" w="15875">
            <a:solidFill>
              <a:srgbClr val="232F3E"/>
            </a:solidFill>
            <a:prstDash val="solid"/>
            <a:miter lim="80"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"/>
          <p:cNvSpPr txBox="1"/>
          <p:nvPr/>
        </p:nvSpPr>
        <p:spPr>
          <a:xfrm>
            <a:off x="411480" y="228600"/>
            <a:ext cx="11155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232F3E"/>
                </a:solidFill>
                <a:latin typeface="Malgun Gothic"/>
                <a:ea typeface="Malgun Gothic"/>
                <a:cs typeface="Malgun Gothic"/>
                <a:sym typeface="Malgun Gothic"/>
              </a:rPr>
              <a:t>2. 논리 소프트웨어 컴포넌트 아키텍처 (Software Layered Architecture)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3"/>
          <p:cNvSpPr txBox="1"/>
          <p:nvPr/>
        </p:nvSpPr>
        <p:spPr>
          <a:xfrm>
            <a:off x="429768" y="621792"/>
            <a:ext cx="111556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8"/>
              <a:buFont typeface="Arial"/>
              <a:buNone/>
            </a:pPr>
            <a:r>
              <a:rPr b="0" i="0" lang="en-US" sz="1019" u="none" cap="none" strike="noStrike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5대 모듈 구성: 통합 웹 콘솔(Client/fe :3104), 메인 업무서버(server-be :18080), 대외연계 API(server-api :18085), AI Agent(:18083), Batch(:18084) 및 PostgreSQL(pgvector 1536d 단일DB)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3"/>
          <p:cNvSpPr/>
          <p:nvPr/>
        </p:nvSpPr>
        <p:spPr>
          <a:xfrm>
            <a:off x="411480" y="960120"/>
            <a:ext cx="11365992" cy="877824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5225">
            <a:solidFill>
              <a:srgbClr val="1A73C7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78" name="Google Shape;178;p3"/>
          <p:cNvSpPr/>
          <p:nvPr/>
        </p:nvSpPr>
        <p:spPr>
          <a:xfrm>
            <a:off x="502920" y="1051560"/>
            <a:ext cx="2560320" cy="694944"/>
          </a:xfrm>
          <a:prstGeom prst="roundRect">
            <a:avLst>
              <a:gd fmla="val 16667" name="adj"/>
            </a:avLst>
          </a:prstGeom>
          <a:solidFill>
            <a:srgbClr val="1A73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Presentation Layer (통합 웹 콘솔 &amp; 마케팅허브 결과 연동)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DBEAFE"/>
                </a:solidFill>
                <a:latin typeface="Malgun Gothic"/>
                <a:ea typeface="Malgun Gothic"/>
                <a:cs typeface="Malgun Gothic"/>
                <a:sym typeface="Malgun Gothic"/>
              </a:rPr>
              <a:t>SyncGuard AI 통합 웹(Client/fe :3104) · MarketingHub 결과 표출(HTML/JSON) · Canvas/Video Viewer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3"/>
          <p:cNvSpPr/>
          <p:nvPr/>
        </p:nvSpPr>
        <p:spPr>
          <a:xfrm>
            <a:off x="3200400" y="1051560"/>
            <a:ext cx="2029968" cy="694944"/>
          </a:xfrm>
          <a:prstGeom prst="rect">
            <a:avLst/>
          </a:prstGeom>
          <a:solidFill>
            <a:srgbClr val="F8FAFC"/>
          </a:solidFill>
          <a:ln cap="flat" cmpd="sng" w="10150">
            <a:solidFill>
              <a:srgbClr val="E2E8F0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18"/>
              <a:buFont typeface="Arial"/>
              <a:buNone/>
            </a:pPr>
            <a:r>
              <a:rPr sz="919" b="1">
                <a:solidFill>
                  <a:srgbClr val="0B192C"/>
                </a:solidFill>
                <a:latin typeface="Malgun Gothic"/>
              </a:rPr>
              <a:t>통합 심의 워크스페이스 (Client/fe :3104)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/>
            <a:r>
              <a:rPr sz="760" b="0">
                <a:solidFill>
                  <a:srgbClr val="475569"/>
                </a:solidFill>
                <a:latin typeface="Malgun Gothic"/>
              </a:rPr>
              <a:t>AI 1차 피크프레임 확인 + 웹 영상 재생·특정화면 멈춤 장면 추가/편집/삭제 보정, 상충 비교</a:t>
            </a:r>
          </a:p>
        </p:txBody>
      </p:sp>
      <p:sp>
        <p:nvSpPr>
          <p:cNvPr id="180" name="Google Shape;180;p3"/>
          <p:cNvSpPr/>
          <p:nvPr/>
        </p:nvSpPr>
        <p:spPr>
          <a:xfrm>
            <a:off x="5340096" y="1051560"/>
            <a:ext cx="2029968" cy="694944"/>
          </a:xfrm>
          <a:prstGeom prst="rect">
            <a:avLst/>
          </a:prstGeom>
          <a:solidFill>
            <a:srgbClr val="F8FAFC"/>
          </a:solidFill>
          <a:ln cap="flat" cmpd="sng" w="10150">
            <a:solidFill>
              <a:srgbClr val="E2E8F0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18"/>
              <a:buFont typeface="Arial"/>
              <a:buNone/>
            </a:pPr>
            <a:r>
              <a:rPr b="1" i="0" lang="en-US" sz="919" u="none" cap="none" strike="noStrike">
                <a:solidFill>
                  <a:srgbClr val="0B192C"/>
                </a:solidFill>
                <a:latin typeface="Malgun Gothic"/>
                <a:ea typeface="Malgun Gothic"/>
                <a:cs typeface="Malgun Gothic"/>
                <a:sym typeface="Malgun Gothic"/>
              </a:rPr>
              <a:t>Side-by-Side 대조 &amp; 리포트 뷰어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760"/>
              <a:buFont typeface="Arial"/>
              <a:buNone/>
            </a:pPr>
            <a:r>
              <a:rPr b="0" i="0" lang="en-US" sz="760" u="none" cap="none" strike="noStrike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캔버스 2D 슬라이드·영상 피크프레임 BndBox 하이라이트, 대체문구 채택, 심의 결과서(HTML/PDF/Excel) 출력 및 마케팅허브 전달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3"/>
          <p:cNvSpPr/>
          <p:nvPr/>
        </p:nvSpPr>
        <p:spPr>
          <a:xfrm>
            <a:off x="7479792" y="1051560"/>
            <a:ext cx="2029968" cy="694944"/>
          </a:xfrm>
          <a:prstGeom prst="rect">
            <a:avLst/>
          </a:prstGeom>
          <a:solidFill>
            <a:srgbClr val="F8FAFC"/>
          </a:solidFill>
          <a:ln cap="flat" cmpd="sng" w="10150">
            <a:solidFill>
              <a:srgbClr val="E2E8F0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18"/>
              <a:buFont typeface="Arial"/>
              <a:buNone/>
            </a:pPr>
            <a:r>
              <a:rPr b="1" i="0" lang="en-US" sz="919" u="none" cap="none" strike="noStrike">
                <a:solidFill>
                  <a:srgbClr val="0B192C"/>
                </a:solidFill>
                <a:latin typeface="Malgun Gothic"/>
                <a:ea typeface="Malgun Gothic"/>
                <a:cs typeface="Malgun Gothic"/>
                <a:sym typeface="Malgun Gothic"/>
              </a:rPr>
              <a:t>프로덕트랩(ProductLab) 실증 뷰어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760"/>
              <a:buFont typeface="Arial"/>
              <a:buNone/>
            </a:pPr>
            <a:r>
              <a:rPr b="0" i="0" lang="en-US" sz="760" u="none" cap="none" strike="noStrike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R&amp;I 원료 배합, 세포 효능, 기술원 인체적용시험·설문(HUT) 완료 보고서 대조 및 연구원 실증자료 업로드 요청 메일 연동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3"/>
          <p:cNvSpPr/>
          <p:nvPr/>
        </p:nvSpPr>
        <p:spPr>
          <a:xfrm>
            <a:off x="9619488" y="1051560"/>
            <a:ext cx="2029968" cy="694944"/>
          </a:xfrm>
          <a:prstGeom prst="rect">
            <a:avLst/>
          </a:prstGeom>
          <a:solidFill>
            <a:srgbClr val="F8FAFC"/>
          </a:solidFill>
          <a:ln cap="flat" cmpd="sng" w="10150">
            <a:solidFill>
              <a:srgbClr val="E2E8F0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18"/>
              <a:buFont typeface="Arial"/>
              <a:buNone/>
            </a:pPr>
            <a:r>
              <a:rPr b="1" i="0" lang="en-US" sz="919" u="none" cap="none" strike="noStrike">
                <a:solidFill>
                  <a:srgbClr val="0B192C"/>
                </a:solidFill>
                <a:latin typeface="Malgun Gothic"/>
                <a:ea typeface="Malgun Gothic"/>
                <a:cs typeface="Malgun Gothic"/>
                <a:sym typeface="Malgun Gothic"/>
              </a:rPr>
              <a:t>백오피스 기준·운영 관리 (Client/fe :3104)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760"/>
              <a:buFont typeface="Arial"/>
              <a:buNone/>
            </a:pPr>
            <a:r>
              <a:rPr b="0" i="0" lang="en-US" sz="760" u="none" cap="none" strike="noStrike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사내 IAM 권한 인가(validateBoAdminPermission), 식약처 규제문서 마크다운 계층 청킹·RAG 관리, 표현사전·프롬프트·골든셋·감사원장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3"/>
          <p:cNvSpPr/>
          <p:nvPr/>
        </p:nvSpPr>
        <p:spPr>
          <a:xfrm>
            <a:off x="411480" y="1911095"/>
            <a:ext cx="11365992" cy="877824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5225">
            <a:solidFill>
              <a:srgbClr val="7A3EC4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84" name="Google Shape;184;p3"/>
          <p:cNvSpPr/>
          <p:nvPr/>
        </p:nvSpPr>
        <p:spPr>
          <a:xfrm>
            <a:off x="502920" y="2002536"/>
            <a:ext cx="2560320" cy="694944"/>
          </a:xfrm>
          <a:prstGeom prst="roundRect">
            <a:avLst>
              <a:gd fmla="val 16667" name="adj"/>
            </a:avLst>
          </a:prstGeom>
          <a:solidFill>
            <a:srgbClr val="7A3EC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Gateway &amp; Security Layer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DFE9F5"/>
                </a:solidFill>
                <a:latin typeface="Malgun Gothic"/>
                <a:ea typeface="Malgun Gothic"/>
                <a:cs typeface="Malgun Gothic"/>
                <a:sym typeface="Malgun Gothic"/>
              </a:rPr>
              <a:t>Caddy Reverse Proxy · Spring Security 6 · JWT · SSO OIDC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3"/>
          <p:cNvSpPr/>
          <p:nvPr/>
        </p:nvSpPr>
        <p:spPr>
          <a:xfrm>
            <a:off x="3200400" y="2002536"/>
            <a:ext cx="2029968" cy="694944"/>
          </a:xfrm>
          <a:prstGeom prst="rect">
            <a:avLst/>
          </a:prstGeom>
          <a:solidFill>
            <a:srgbClr val="F8FAFC"/>
          </a:solidFill>
          <a:ln cap="flat" cmpd="sng" w="10150">
            <a:solidFill>
              <a:srgbClr val="E2E8F0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18"/>
              <a:buFont typeface="Arial"/>
              <a:buNone/>
            </a:pPr>
            <a:r>
              <a:rPr sz="919" b="1">
                <a:solidFill>
                  <a:srgbClr val="0B192C"/>
                </a:solidFill>
                <a:latin typeface="Malgun Gothic"/>
              </a:rPr>
              <a:t>BO / 대외연계 ALB 물리 분리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/>
            <a:r>
              <a:rPr sz="760" b="0">
                <a:solidFill>
                  <a:srgbClr val="475569"/>
                </a:solidFill>
                <a:latin typeface="Malgun Gothic"/>
              </a:rPr>
              <a:t>BO ALB(사용자대역 오픈 ➔ :3104/:18080) 및 대외연계 ALB(마케팅허브만 오픈 ➔ :18085) 분리</a:t>
            </a:r>
          </a:p>
        </p:txBody>
      </p:sp>
      <p:sp>
        <p:nvSpPr>
          <p:cNvPr id="186" name="Google Shape;186;p3"/>
          <p:cNvSpPr/>
          <p:nvPr/>
        </p:nvSpPr>
        <p:spPr>
          <a:xfrm>
            <a:off x="5340096" y="2002536"/>
            <a:ext cx="2029968" cy="694944"/>
          </a:xfrm>
          <a:prstGeom prst="rect">
            <a:avLst/>
          </a:prstGeom>
          <a:solidFill>
            <a:srgbClr val="F8FAFC"/>
          </a:solidFill>
          <a:ln cap="flat" cmpd="sng" w="10150">
            <a:solidFill>
              <a:srgbClr val="E2E8F0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18"/>
              <a:buFont typeface="Arial"/>
              <a:buNone/>
            </a:pPr>
            <a:r>
              <a:rPr b="1" i="0" lang="en-US" sz="919" u="none" cap="none" strike="noStrike">
                <a:solidFill>
                  <a:srgbClr val="0B192C"/>
                </a:solidFill>
                <a:latin typeface="Malgun Gothic"/>
                <a:ea typeface="Malgun Gothic"/>
                <a:cs typeface="Malgun Gothic"/>
                <a:sym typeface="Malgun Gothic"/>
              </a:rPr>
              <a:t>역할 기반 권한 통제 (SSO &amp; IAM)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760"/>
              <a:buFont typeface="Arial"/>
              <a:buNone/>
            </a:pPr>
            <a:r>
              <a:rPr b="0" i="0" lang="en-US" sz="760" u="none" cap="none" strike="noStrike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마케터는 마케팅허브에서 의뢰·결과 조회, RA 담당자·시스템 관리자는 사내 IAM 역할 인가(validateBoAdminPermission) 기반 통합 콘솔 접근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3"/>
          <p:cNvSpPr/>
          <p:nvPr/>
        </p:nvSpPr>
        <p:spPr>
          <a:xfrm>
            <a:off x="7479792" y="2002536"/>
            <a:ext cx="2029968" cy="694944"/>
          </a:xfrm>
          <a:prstGeom prst="rect">
            <a:avLst/>
          </a:prstGeom>
          <a:solidFill>
            <a:srgbClr val="F8FAFC"/>
          </a:solidFill>
          <a:ln cap="flat" cmpd="sng" w="10150">
            <a:solidFill>
              <a:srgbClr val="E2E8F0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18"/>
              <a:buFont typeface="Arial"/>
              <a:buNone/>
            </a:pPr>
            <a:r>
              <a:rPr b="1" i="0" lang="en-US" sz="919" u="none" cap="none" strike="noStrike">
                <a:solidFill>
                  <a:srgbClr val="0B192C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사내 SSO (HB-SSO IAM)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760"/>
              <a:buFont typeface="Arial"/>
              <a:buNone/>
            </a:pPr>
            <a:r>
              <a:rPr b="0" i="0" lang="en-US" sz="760" u="none" cap="none" strike="noStrike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한빛글로벌 사내 IdP OIDC / SAML 2.0 연동, 임직원 계정 및 조직 권한 자동 프로비저닝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3"/>
          <p:cNvSpPr/>
          <p:nvPr/>
        </p:nvSpPr>
        <p:spPr>
          <a:xfrm>
            <a:off x="9619488" y="2002536"/>
            <a:ext cx="2029968" cy="694944"/>
          </a:xfrm>
          <a:prstGeom prst="rect">
            <a:avLst/>
          </a:prstGeom>
          <a:solidFill>
            <a:srgbClr val="F8FAFC"/>
          </a:solidFill>
          <a:ln cap="flat" cmpd="sng" w="10150">
            <a:solidFill>
              <a:srgbClr val="E2E8F0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18"/>
              <a:buFont typeface="Arial"/>
              <a:buNone/>
            </a:pPr>
            <a:r>
              <a:rPr b="1" i="0" lang="en-US" sz="919" u="none" cap="none" strike="noStrike">
                <a:solidFill>
                  <a:srgbClr val="0B192C"/>
                </a:solidFill>
                <a:latin typeface="Malgun Gothic"/>
                <a:ea typeface="Malgun Gothic"/>
                <a:cs typeface="Malgun Gothic"/>
                <a:sym typeface="Malgun Gothic"/>
              </a:rPr>
              <a:t>비학습 LLM 보안 &amp; 감사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760"/>
              <a:buFont typeface="Arial"/>
              <a:buNone/>
            </a:pPr>
            <a:r>
              <a:rPr b="0" i="0" lang="en-US" sz="760" u="none" cap="none" strike="noStrike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미출시 신제품 비학습(Zero Data Retention) 상용 LLM 보안 채널, 전 요청 IP·사번 불변 감사 로깅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3"/>
          <p:cNvSpPr/>
          <p:nvPr/>
        </p:nvSpPr>
        <p:spPr>
          <a:xfrm>
            <a:off x="411480" y="2862072"/>
            <a:ext cx="11365992" cy="877824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5225">
            <a:solidFill>
              <a:srgbClr val="002C6C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90" name="Google Shape;190;p3"/>
          <p:cNvSpPr/>
          <p:nvPr/>
        </p:nvSpPr>
        <p:spPr>
          <a:xfrm>
            <a:off x="502920" y="2953512"/>
            <a:ext cx="2560320" cy="694944"/>
          </a:xfrm>
          <a:prstGeom prst="roundRect">
            <a:avLst>
              <a:gd fmla="val 16667" name="adj"/>
            </a:avLst>
          </a:prstGeom>
          <a:solidFill>
            <a:srgbClr val="002C6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80"/>
              <a:buFont typeface="Arial"/>
              <a:buNone/>
            </a:pPr>
            <a:r>
              <a:rPr b="1" i="0" lang="en-US" sz="98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Application &amp; Worker Layer (5대 모듈)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760"/>
              <a:buFont typeface="Arial"/>
              <a:buNone/>
            </a:pPr>
            <a:r>
              <a:rPr b="0" i="0" lang="en-US" sz="760" u="none" cap="none" strike="noStrike">
                <a:solidFill>
                  <a:srgbClr val="E0E7FF"/>
                </a:solidFill>
                <a:latin typeface="Malgun Gothic"/>
                <a:ea typeface="Malgun Gothic"/>
                <a:cs typeface="Malgun Gothic"/>
                <a:sym typeface="Malgun Gothic"/>
              </a:rPr>
              <a:t>통합웹(:3104) · 업무서버(:18080) · 대외API(:18085) · AI Agent(:18083) · Batch(:18084)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3"/>
          <p:cNvSpPr/>
          <p:nvPr/>
        </p:nvSpPr>
        <p:spPr>
          <a:xfrm>
            <a:off x="3200400" y="2953512"/>
            <a:ext cx="2029968" cy="694944"/>
          </a:xfrm>
          <a:prstGeom prst="rect">
            <a:avLst/>
          </a:prstGeom>
          <a:solidFill>
            <a:srgbClr val="F8FAFC"/>
          </a:solidFill>
          <a:ln cap="flat" cmpd="sng" w="10150">
            <a:solidFill>
              <a:srgbClr val="E2E8F0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18"/>
              <a:buFont typeface="Arial"/>
              <a:buNone/>
            </a:pPr>
            <a:r>
              <a:rPr sz="919" b="1">
                <a:solidFill>
                  <a:srgbClr val="0B192C"/>
                </a:solidFill>
                <a:latin typeface="Malgun Gothic"/>
              </a:rPr>
              <a:t>대외연계·파일 API (server-api :18085)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/>
            <a:r>
              <a:rPr sz="760" b="0">
                <a:solidFill>
                  <a:srgbClr val="475569"/>
                </a:solidFill>
                <a:latin typeface="Malgun Gothic"/>
              </a:rPr>
              <a:t>대외연계 전용 ALB 수신, 300MB S3(Intelligent-Tiering) 업로드, EKS Service로 Agent 호출</a:t>
            </a:r>
          </a:p>
        </p:txBody>
      </p:sp>
      <p:sp>
        <p:nvSpPr>
          <p:cNvPr id="192" name="Google Shape;192;p3"/>
          <p:cNvSpPr/>
          <p:nvPr/>
        </p:nvSpPr>
        <p:spPr>
          <a:xfrm>
            <a:off x="5340096" y="2953512"/>
            <a:ext cx="2029968" cy="694944"/>
          </a:xfrm>
          <a:prstGeom prst="rect">
            <a:avLst/>
          </a:prstGeom>
          <a:solidFill>
            <a:srgbClr val="F8FAFC"/>
          </a:solidFill>
          <a:ln cap="flat" cmpd="sng" w="10150">
            <a:solidFill>
              <a:srgbClr val="E2E8F0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18"/>
              <a:buFont typeface="Arial"/>
              <a:buNone/>
            </a:pPr>
            <a:r>
              <a:rPr sz="919" b="1">
                <a:solidFill>
                  <a:srgbClr val="0B192C"/>
                </a:solidFill>
                <a:latin typeface="Malgun Gothic"/>
              </a:rPr>
              <a:t>AI Agent (server-ai-agent :18083)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/>
            <a:r>
              <a:rPr sz="760" b="0">
                <a:solidFill>
                  <a:srgbClr val="475569"/>
                </a:solidFill>
                <a:latin typeface="Malgun Gothic"/>
              </a:rPr>
              <a:t>OpenCV 피크프레임 1차 자동추출 + 웹 보정 장면 재분석, 네이버/패들 OCR, 동시 4건 큐 워커</a:t>
            </a:r>
          </a:p>
        </p:txBody>
      </p:sp>
      <p:sp>
        <p:nvSpPr>
          <p:cNvPr id="193" name="Google Shape;193;p3"/>
          <p:cNvSpPr/>
          <p:nvPr/>
        </p:nvSpPr>
        <p:spPr>
          <a:xfrm>
            <a:off x="7479792" y="2953512"/>
            <a:ext cx="2029968" cy="694944"/>
          </a:xfrm>
          <a:prstGeom prst="rect">
            <a:avLst/>
          </a:prstGeom>
          <a:solidFill>
            <a:srgbClr val="F8FAFC"/>
          </a:solidFill>
          <a:ln cap="flat" cmpd="sng" w="10150">
            <a:solidFill>
              <a:srgbClr val="E2E8F0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18"/>
              <a:buFont typeface="Arial"/>
              <a:buNone/>
            </a:pPr>
            <a:r>
              <a:rPr sz="919" b="1">
                <a:solidFill>
                  <a:srgbClr val="0B192C"/>
                </a:solidFill>
                <a:latin typeface="Malgun Gothic"/>
              </a:rPr>
              <a:t>메인 업무·관리 서버 (server-be :18080)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/>
            <a:r>
              <a:rPr sz="760" b="0">
                <a:solidFill>
                  <a:srgbClr val="475569"/>
                </a:solidFill>
                <a:latin typeface="Malgun Gothic"/>
              </a:rPr>
              <a:t>웹 영상 보정 장면·수동 재실행 시 EKS Service로 AI Agent 호출, 상충탐지, RA 확정·백오피스</a:t>
            </a:r>
          </a:p>
        </p:txBody>
      </p:sp>
      <p:sp>
        <p:nvSpPr>
          <p:cNvPr id="194" name="Google Shape;194;p3"/>
          <p:cNvSpPr/>
          <p:nvPr/>
        </p:nvSpPr>
        <p:spPr>
          <a:xfrm>
            <a:off x="9619488" y="2953512"/>
            <a:ext cx="2029968" cy="694944"/>
          </a:xfrm>
          <a:prstGeom prst="rect">
            <a:avLst/>
          </a:prstGeom>
          <a:solidFill>
            <a:srgbClr val="F8FAFC"/>
          </a:solidFill>
          <a:ln cap="flat" cmpd="sng" w="10150">
            <a:solidFill>
              <a:srgbClr val="E2E8F0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18"/>
              <a:buFont typeface="Arial"/>
              <a:buNone/>
            </a:pPr>
            <a:r>
              <a:rPr b="1" i="0" lang="en-US" sz="919" u="none" cap="none" strike="noStrike">
                <a:solidFill>
                  <a:srgbClr val="0B192C"/>
                </a:solidFill>
                <a:latin typeface="Malgun Gothic"/>
                <a:ea typeface="Malgun Gothic"/>
                <a:cs typeface="Malgun Gothic"/>
                <a:sym typeface="Malgun Gothic"/>
              </a:rPr>
              <a:t>Batch 서버 (server-batch)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760"/>
              <a:buFont typeface="Arial"/>
              <a:buNone/>
            </a:pPr>
            <a:r>
              <a:rPr b="0" i="0" lang="en-US" sz="760" u="none" cap="none" strike="noStrike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매일 새벽 02:00 ProductLab 전성분·실증 일배치(ProductLabSyncBatchJob), 02:30 KT레몬 배치, 01:30 법령 Diff 배치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3"/>
          <p:cNvSpPr/>
          <p:nvPr/>
        </p:nvSpPr>
        <p:spPr>
          <a:xfrm>
            <a:off x="411480" y="3813048"/>
            <a:ext cx="11365992" cy="877824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5225">
            <a:solidFill>
              <a:srgbClr val="ED7100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96" name="Google Shape;196;p3"/>
          <p:cNvSpPr/>
          <p:nvPr/>
        </p:nvSpPr>
        <p:spPr>
          <a:xfrm>
            <a:off x="502920" y="3904487"/>
            <a:ext cx="2560320" cy="694944"/>
          </a:xfrm>
          <a:prstGeom prst="roundRect">
            <a:avLst>
              <a:gd fmla="val 16667" name="adj"/>
            </a:avLst>
          </a:prstGeom>
          <a:solidFill>
            <a:srgbClr val="ED71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Domain &amp; AI Decision Engine Layer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DFE9F5"/>
                </a:solidFill>
                <a:latin typeface="Malgun Gothic"/>
                <a:ea typeface="Malgun Gothic"/>
                <a:cs typeface="Malgun Gothic"/>
                <a:sym typeface="Malgun Gothic"/>
              </a:rPr>
              <a:t>5대 카테고리 룰 엔진 · No-Downgrade 정책 · 3단계 LLM 체인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3"/>
          <p:cNvSpPr/>
          <p:nvPr/>
        </p:nvSpPr>
        <p:spPr>
          <a:xfrm>
            <a:off x="3200400" y="3904487"/>
            <a:ext cx="2029968" cy="694944"/>
          </a:xfrm>
          <a:prstGeom prst="rect">
            <a:avLst/>
          </a:prstGeom>
          <a:solidFill>
            <a:srgbClr val="F8FAFC"/>
          </a:solidFill>
          <a:ln cap="flat" cmpd="sng" w="10150">
            <a:solidFill>
              <a:srgbClr val="E2E8F0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18"/>
              <a:buFont typeface="Arial"/>
              <a:buNone/>
            </a:pPr>
            <a:r>
              <a:rPr b="1" i="0" lang="en-US" sz="919" u="none" cap="none" strike="noStrike">
                <a:solidFill>
                  <a:srgbClr val="0B192C"/>
                </a:solidFill>
                <a:latin typeface="Malgun Gothic"/>
                <a:ea typeface="Malgun Gothic"/>
                <a:cs typeface="Malgun Gothic"/>
                <a:sym typeface="Malgun Gothic"/>
              </a:rPr>
              <a:t>5대 규제 룰 &amp; 전성분 RDB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760"/>
              <a:buFont typeface="Arial"/>
              <a:buNone/>
            </a:pPr>
            <a:r>
              <a:rPr b="0" i="0" lang="en-US" sz="760" u="none" cap="none" strike="noStrike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Aho-Corasick 금지·주의 사전 스캔 + 마케팅허브 RDB 전성분·배합한도(%)·금지원료 결정론적 검증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3"/>
          <p:cNvSpPr/>
          <p:nvPr/>
        </p:nvSpPr>
        <p:spPr>
          <a:xfrm>
            <a:off x="5340096" y="3904487"/>
            <a:ext cx="2029968" cy="694944"/>
          </a:xfrm>
          <a:prstGeom prst="rect">
            <a:avLst/>
          </a:prstGeom>
          <a:solidFill>
            <a:srgbClr val="F8FAFC"/>
          </a:solidFill>
          <a:ln cap="flat" cmpd="sng" w="10150">
            <a:solidFill>
              <a:srgbClr val="E2E8F0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18"/>
              <a:buFont typeface="Arial"/>
              <a:buNone/>
            </a:pPr>
            <a:r>
              <a:rPr b="1" i="0" lang="en-US" sz="919" u="none" cap="none" strike="noStrike">
                <a:solidFill>
                  <a:srgbClr val="0B192C"/>
                </a:solidFill>
                <a:latin typeface="Malgun Gothic"/>
                <a:ea typeface="Malgun Gothic"/>
                <a:cs typeface="Malgun Gothic"/>
                <a:sym typeface="Malgun Gothic"/>
              </a:rPr>
              <a:t>No-Downgrade 잠금 정책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760"/>
              <a:buFont typeface="Arial"/>
              <a:buNone/>
            </a:pPr>
            <a:r>
              <a:rPr b="0" i="0" lang="en-US" sz="760" u="none" cap="none" strike="noStrike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룰 엔진이 확정한 의약품 오인·금지어(검출률 95% 목표)는 LLM이 임의 하향 조정 불가 강제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3"/>
          <p:cNvSpPr/>
          <p:nvPr/>
        </p:nvSpPr>
        <p:spPr>
          <a:xfrm>
            <a:off x="7479792" y="3904487"/>
            <a:ext cx="2029968" cy="694944"/>
          </a:xfrm>
          <a:prstGeom prst="rect">
            <a:avLst/>
          </a:prstGeom>
          <a:solidFill>
            <a:srgbClr val="F8FAFC"/>
          </a:solidFill>
          <a:ln cap="flat" cmpd="sng" w="10150">
            <a:solidFill>
              <a:srgbClr val="E2E8F0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18"/>
              <a:buFont typeface="Arial"/>
              <a:buNone/>
            </a:pPr>
            <a:r>
              <a:rPr b="1" i="0" lang="en-US" sz="919" u="none" cap="none" strike="noStrike">
                <a:solidFill>
                  <a:srgbClr val="0B192C"/>
                </a:solidFill>
                <a:latin typeface="Malgun Gothic"/>
                <a:ea typeface="Malgun Gothic"/>
                <a:cs typeface="Malgun Gothic"/>
                <a:sym typeface="Malgun Gothic"/>
              </a:rPr>
              <a:t>3단계 LLM 판정 체인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760"/>
              <a:buFont typeface="Arial"/>
              <a:buNone/>
            </a:pPr>
            <a:r>
              <a:rPr b="0" i="0" lang="en-US" sz="760" u="none" cap="none" strike="noStrike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1단계: 금지 표현 검출 ➔ 2단계: 문맥/주의/각주 적정성 판정 ➔ 3단계: 실증 자료 부합성 분석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3"/>
          <p:cNvSpPr/>
          <p:nvPr/>
        </p:nvSpPr>
        <p:spPr>
          <a:xfrm>
            <a:off x="9619488" y="3904487"/>
            <a:ext cx="2029968" cy="694944"/>
          </a:xfrm>
          <a:prstGeom prst="rect">
            <a:avLst/>
          </a:prstGeom>
          <a:solidFill>
            <a:srgbClr val="F8FAFC"/>
          </a:solidFill>
          <a:ln cap="flat" cmpd="sng" w="10150">
            <a:solidFill>
              <a:srgbClr val="E2E8F0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18"/>
              <a:buFont typeface="Arial"/>
              <a:buNone/>
            </a:pPr>
            <a:r>
              <a:rPr b="1" i="0" lang="en-US" sz="919" u="none" cap="none" strike="noStrike">
                <a:solidFill>
                  <a:srgbClr val="0B192C"/>
                </a:solidFill>
                <a:latin typeface="Malgun Gothic"/>
                <a:ea typeface="Malgun Gothic"/>
                <a:cs typeface="Malgun Gothic"/>
                <a:sym typeface="Malgun Gothic"/>
              </a:rPr>
              <a:t>국·영문 심의 &amp; 대체문구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760"/>
              <a:buFont typeface="Arial"/>
              <a:buNone/>
            </a:pPr>
            <a:r>
              <a:rPr b="0" i="0" lang="en-US" sz="760" u="none" cap="none" strike="noStrike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영문 혼용 문구 한국어 번역 후 국내 표시·광고 공정화법 대조, 식약처 가이드라인 기반 안전 대체 표현 생성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3"/>
          <p:cNvSpPr/>
          <p:nvPr/>
        </p:nvSpPr>
        <p:spPr>
          <a:xfrm>
            <a:off x="411480" y="4764024"/>
            <a:ext cx="11365992" cy="877824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5225">
            <a:solidFill>
              <a:srgbClr val="3F7EBF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02" name="Google Shape;202;p3"/>
          <p:cNvSpPr/>
          <p:nvPr/>
        </p:nvSpPr>
        <p:spPr>
          <a:xfrm>
            <a:off x="502920" y="4855464"/>
            <a:ext cx="2560320" cy="694944"/>
          </a:xfrm>
          <a:prstGeom prst="roundRect">
            <a:avLst>
              <a:gd fmla="val 16667" name="adj"/>
            </a:avLst>
          </a:prstGeom>
          <a:solidFill>
            <a:srgbClr val="3F7E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Search &amp; Vector Retrieval Layer (Hybrid RAG)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DFE9F5"/>
                </a:solidFill>
                <a:latin typeface="Malgun Gothic"/>
                <a:ea typeface="Malgun Gothic"/>
                <a:cs typeface="Malgun Gothic"/>
                <a:sym typeface="Malgun Gothic"/>
              </a:rPr>
              <a:t>pgvector 1536d Cosine Similarity · BM25 Lexical Search · RRF Re-ranking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3"/>
          <p:cNvSpPr/>
          <p:nvPr/>
        </p:nvSpPr>
        <p:spPr>
          <a:xfrm>
            <a:off x="3200400" y="4855464"/>
            <a:ext cx="2029968" cy="694944"/>
          </a:xfrm>
          <a:prstGeom prst="rect">
            <a:avLst/>
          </a:prstGeom>
          <a:solidFill>
            <a:srgbClr val="F8FAFC"/>
          </a:solidFill>
          <a:ln cap="flat" cmpd="sng" w="10150">
            <a:solidFill>
              <a:srgbClr val="E2E8F0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18"/>
              <a:buFont typeface="Arial"/>
              <a:buNone/>
            </a:pPr>
            <a:r>
              <a:rPr b="1" i="0" lang="en-US" sz="919" u="none" cap="none" strike="noStrike">
                <a:solidFill>
                  <a:srgbClr val="0B192C"/>
                </a:solidFill>
                <a:latin typeface="Malgun Gothic"/>
                <a:ea typeface="Malgun Gothic"/>
                <a:cs typeface="Malgun Gothic"/>
                <a:sym typeface="Malgun Gothic"/>
              </a:rPr>
              <a:t>식약처 법령 계층형 청킹 &amp; 과거 상충 탐지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760"/>
              <a:buFont typeface="Arial"/>
              <a:buNone/>
            </a:pPr>
            <a:r>
              <a:rPr b="0" i="0" lang="en-US" sz="760" u="none" cap="none" strike="noStrike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표시·광고 공정화법·가이드라인 마크다운 계층형(Parent-Child) 청킹(1536d) 및 과거 확정 심의 이력(pg_trgm) 등급 상충 자동 탐지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3"/>
          <p:cNvSpPr/>
          <p:nvPr/>
        </p:nvSpPr>
        <p:spPr>
          <a:xfrm>
            <a:off x="5340096" y="4855464"/>
            <a:ext cx="2029968" cy="694944"/>
          </a:xfrm>
          <a:prstGeom prst="rect">
            <a:avLst/>
          </a:prstGeom>
          <a:solidFill>
            <a:srgbClr val="F8FAFC"/>
          </a:solidFill>
          <a:ln cap="flat" cmpd="sng" w="10150">
            <a:solidFill>
              <a:srgbClr val="E2E8F0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18"/>
              <a:buFont typeface="Arial"/>
              <a:buNone/>
            </a:pPr>
            <a:r>
              <a:rPr b="1" i="0" lang="en-US" sz="919" u="none" cap="none" strike="noStrike">
                <a:solidFill>
                  <a:srgbClr val="0B192C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기술원 실증보고서 매칭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760"/>
              <a:buFont typeface="Arial"/>
              <a:buNone/>
            </a:pPr>
            <a:r>
              <a:rPr b="0" i="0" lang="en-US" sz="760" u="none" cap="none" strike="noStrike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ProductLab 인체적용시험·설문 보고서 구절 매칭 (LLM 직접 파싱 vs [Option] KT레몬 벡터매칭 비교)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3"/>
          <p:cNvSpPr/>
          <p:nvPr/>
        </p:nvSpPr>
        <p:spPr>
          <a:xfrm>
            <a:off x="7479792" y="4855464"/>
            <a:ext cx="2029968" cy="694944"/>
          </a:xfrm>
          <a:prstGeom prst="rect">
            <a:avLst/>
          </a:prstGeom>
          <a:solidFill>
            <a:srgbClr val="F8FAFC"/>
          </a:solidFill>
          <a:ln cap="flat" cmpd="sng" w="10150">
            <a:solidFill>
              <a:srgbClr val="E2E8F0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18"/>
              <a:buFont typeface="Arial"/>
              <a:buNone/>
            </a:pPr>
            <a:r>
              <a:rPr b="1" i="0" lang="en-US" sz="919" u="none" cap="none" strike="noStrike">
                <a:solidFill>
                  <a:srgbClr val="0B192C"/>
                </a:solidFill>
                <a:latin typeface="Malgun Gothic"/>
                <a:ea typeface="Malgun Gothic"/>
                <a:cs typeface="Malgun Gothic"/>
                <a:sym typeface="Malgun Gothic"/>
              </a:rPr>
              <a:t>하이브리드 검색 &amp; RRF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760"/>
              <a:buFont typeface="Arial"/>
              <a:buNone/>
            </a:pPr>
            <a:r>
              <a:rPr b="0" i="0" lang="en-US" sz="760" u="none" cap="none" strike="noStrike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pgvector 코사인 유사도(Top-10) + BM25 키워드 검색 결합 및 RRF 리랭킹 상위 근거 추출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3"/>
          <p:cNvSpPr/>
          <p:nvPr/>
        </p:nvSpPr>
        <p:spPr>
          <a:xfrm>
            <a:off x="9619488" y="4855464"/>
            <a:ext cx="2029968" cy="694944"/>
          </a:xfrm>
          <a:prstGeom prst="rect">
            <a:avLst/>
          </a:prstGeom>
          <a:solidFill>
            <a:srgbClr val="F8FAFC"/>
          </a:solidFill>
          <a:ln cap="flat" cmpd="sng" w="10150">
            <a:solidFill>
              <a:srgbClr val="E2E8F0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18"/>
              <a:buFont typeface="Arial"/>
              <a:buNone/>
            </a:pPr>
            <a:r>
              <a:rPr b="1" i="0" lang="en-US" sz="919" u="none" cap="none" strike="noStrike">
                <a:solidFill>
                  <a:srgbClr val="0B192C"/>
                </a:solidFill>
                <a:latin typeface="Malgun Gothic"/>
                <a:ea typeface="Malgun Gothic"/>
                <a:cs typeface="Malgun Gothic"/>
                <a:sym typeface="Malgun Gothic"/>
              </a:rPr>
              <a:t>동적 프롬프트 바인딩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760"/>
              <a:buFont typeface="Arial"/>
              <a:buNone/>
            </a:pPr>
            <a:r>
              <a:rPr b="0" i="0" lang="en-US" sz="760" u="none" cap="none" strike="noStrike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추출된 법령 조항, 시험성적서 수치 근거, 유사 골든셋 사례를 Few-shot 프롬프트에 동적 주입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3"/>
          <p:cNvSpPr/>
          <p:nvPr/>
        </p:nvSpPr>
        <p:spPr>
          <a:xfrm>
            <a:off x="411480" y="5715000"/>
            <a:ext cx="11365992" cy="877824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5225">
            <a:solidFill>
              <a:srgbClr val="2E7D32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08" name="Google Shape;208;p3"/>
          <p:cNvSpPr/>
          <p:nvPr/>
        </p:nvSpPr>
        <p:spPr>
          <a:xfrm>
            <a:off x="502920" y="5806440"/>
            <a:ext cx="2560320" cy="694944"/>
          </a:xfrm>
          <a:prstGeom prst="roundRect">
            <a:avLst>
              <a:gd fmla="val 16667" name="adj"/>
            </a:avLst>
          </a:prstGeom>
          <a:solidFill>
            <a:srgbClr val="2E7D3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Persistence &amp; External Layer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760"/>
              <a:buFont typeface="Arial"/>
              <a:buNone/>
            </a:pPr>
            <a:r>
              <a:rPr b="0" i="0" lang="en-US" sz="760" u="none" cap="none" strike="noStrike">
                <a:solidFill>
                  <a:srgbClr val="DCFCE7"/>
                </a:solidFill>
                <a:latin typeface="Malgun Gothic"/>
                <a:ea typeface="Malgun Gothic"/>
                <a:cs typeface="Malgun Gothic"/>
                <a:sym typeface="Malgun Gothic"/>
              </a:rPr>
              <a:t>PostgreSQL 16 (pgvector 통합) · AWS S3 · MarketingHub · ProductLab · [Option] KT레몬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3"/>
          <p:cNvSpPr/>
          <p:nvPr/>
        </p:nvSpPr>
        <p:spPr>
          <a:xfrm>
            <a:off x="3200400" y="5806440"/>
            <a:ext cx="2029968" cy="694944"/>
          </a:xfrm>
          <a:prstGeom prst="rect">
            <a:avLst/>
          </a:prstGeom>
          <a:solidFill>
            <a:srgbClr val="F8FAFC"/>
          </a:solidFill>
          <a:ln cap="flat" cmpd="sng" w="10150">
            <a:solidFill>
              <a:srgbClr val="E2E8F0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18"/>
              <a:buFont typeface="Arial"/>
              <a:buNone/>
            </a:pPr>
            <a:r>
              <a:rPr b="1" i="0" lang="en-US" sz="919" u="none" cap="none" strike="noStrike">
                <a:solidFill>
                  <a:srgbClr val="0B192C"/>
                </a:solidFill>
                <a:latin typeface="Malgun Gothic"/>
                <a:ea typeface="Malgun Gothic"/>
                <a:cs typeface="Malgun Gothic"/>
                <a:sym typeface="Malgun Gothic"/>
              </a:rPr>
              <a:t>PostgreSQL 16 &amp; pgvector 통합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hb_syncguard_ai DB(:5432), 25개 정규 테이블 + 요약 뷰, 규제·실증 1536d 벡터 색인, 불변 감사 원장(WORM)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3"/>
          <p:cNvSpPr/>
          <p:nvPr/>
        </p:nvSpPr>
        <p:spPr>
          <a:xfrm>
            <a:off x="5340096" y="5806440"/>
            <a:ext cx="2029968" cy="694944"/>
          </a:xfrm>
          <a:prstGeom prst="rect">
            <a:avLst/>
          </a:prstGeom>
          <a:solidFill>
            <a:srgbClr val="F8FAFC"/>
          </a:solidFill>
          <a:ln cap="flat" cmpd="sng" w="10150">
            <a:solidFill>
              <a:srgbClr val="E2E8F0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18"/>
              <a:buFont typeface="Arial"/>
              <a:buNone/>
            </a:pPr>
            <a:r>
              <a:rPr sz="919" b="1">
                <a:solidFill>
                  <a:srgbClr val="0B192C"/>
                </a:solidFill>
                <a:latin typeface="Malgun Gothic"/>
              </a:rPr>
              <a:t>AWS S3 (Intelligent-Tiering)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/>
            <a:r>
              <a:rPr sz="750" b="0">
                <a:solidFill>
                  <a:srgbClr val="475569"/>
                </a:solidFill>
                <a:latin typeface="Malgun Gothic"/>
              </a:rPr>
              <a:t>업로드 시 Intelligent-Tiering 자동 적용(보관비용 관리) · 시안/영상 원본 및 캡처 장면 보관</a:t>
            </a:r>
          </a:p>
        </p:txBody>
      </p:sp>
      <p:sp>
        <p:nvSpPr>
          <p:cNvPr id="211" name="Google Shape;211;p3"/>
          <p:cNvSpPr/>
          <p:nvPr/>
        </p:nvSpPr>
        <p:spPr>
          <a:xfrm>
            <a:off x="7479792" y="5806440"/>
            <a:ext cx="2029968" cy="694944"/>
          </a:xfrm>
          <a:prstGeom prst="rect">
            <a:avLst/>
          </a:prstGeom>
          <a:solidFill>
            <a:srgbClr val="F8FAFC"/>
          </a:solidFill>
          <a:ln cap="flat" cmpd="sng" w="10150">
            <a:solidFill>
              <a:srgbClr val="E2E8F0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18"/>
              <a:buFont typeface="Arial"/>
              <a:buNone/>
            </a:pPr>
            <a:r>
              <a:rPr b="1" i="0" lang="en-US" sz="919" u="none" cap="none" strike="noStrike">
                <a:solidFill>
                  <a:srgbClr val="0B192C"/>
                </a:solidFill>
                <a:latin typeface="Malgun Gothic"/>
                <a:ea typeface="Malgun Gothic"/>
                <a:cs typeface="Malgun Gothic"/>
                <a:sym typeface="Malgun Gothic"/>
              </a:rPr>
              <a:t>마케팅허브(MarketingHub) 양방향 인터페이스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760"/>
              <a:buFont typeface="Arial"/>
              <a:buNone/>
            </a:pPr>
            <a:r>
              <a:rPr b="0" i="0" lang="en-US" sz="760" u="none" cap="none" strike="noStrike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심의 의뢰 메타·파일 수신 API, 전성분/배합한도 RDB 조회, RA 확정 결과(HTML/JSON/PDF) 웹훅 회신 및 마케팅허브 표출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3"/>
          <p:cNvSpPr/>
          <p:nvPr/>
        </p:nvSpPr>
        <p:spPr>
          <a:xfrm>
            <a:off x="9619488" y="5806440"/>
            <a:ext cx="2029968" cy="694944"/>
          </a:xfrm>
          <a:prstGeom prst="rect">
            <a:avLst/>
          </a:prstGeom>
          <a:solidFill>
            <a:srgbClr val="F8FAFC"/>
          </a:solidFill>
          <a:ln cap="flat" cmpd="sng" w="10150">
            <a:solidFill>
              <a:srgbClr val="E2E8F0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18"/>
              <a:buFont typeface="Arial"/>
              <a:buNone/>
            </a:pPr>
            <a:r>
              <a:rPr b="1" i="0" lang="en-US" sz="919" u="none" cap="none" strike="noStrike">
                <a:solidFill>
                  <a:srgbClr val="0B192C"/>
                </a:solidFill>
                <a:latin typeface="Malgun Gothic"/>
                <a:ea typeface="Malgun Gothic"/>
                <a:cs typeface="Malgun Gothic"/>
                <a:sym typeface="Malgun Gothic"/>
              </a:rPr>
              <a:t>프로덕트랩 배치 &amp; [Option] KT레몬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760"/>
              <a:buFont typeface="Arial"/>
              <a:buNone/>
            </a:pPr>
            <a:r>
              <a:rPr b="0" i="0" lang="en-US" sz="760" u="none" cap="none" strike="noStrike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ProductLab 원료·세포효능·시험보고서 일일 배치 수집 · [Option] KT레몬 보고서 벡터 연동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4"/>
          <p:cNvSpPr txBox="1"/>
          <p:nvPr/>
        </p:nvSpPr>
        <p:spPr>
          <a:xfrm>
            <a:off x="411480" y="228600"/>
            <a:ext cx="11155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232F3E"/>
                </a:solidFill>
                <a:latin typeface="Malgun Gothic"/>
                <a:ea typeface="Malgun Gothic"/>
                <a:cs typeface="Malgun Gothic"/>
                <a:sym typeface="Malgun Gothic"/>
              </a:rPr>
              <a:t>3. AI 심의 및 하이브리드 RAG 파이프라인 구성도 (End-to-End Decision Flow)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4"/>
          <p:cNvSpPr txBox="1"/>
          <p:nvPr/>
        </p:nvSpPr>
        <p:spPr>
          <a:xfrm>
            <a:off x="429768" y="621792"/>
            <a:ext cx="111556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8"/>
              <a:buFont typeface="Arial"/>
              <a:buNone/>
            </a:pPr>
            <a:r>
              <a:rPr sz="1019" b="0">
                <a:solidFill>
                  <a:srgbClr val="475569"/>
                </a:solidFill>
                <a:latin typeface="Malgun Gothic"/>
              </a:rPr>
              <a:t>대외연계 ALB 접수·S3(Intelligent-Tiering) 저장 ➔ 1차 AI 피크프레임 자동추출 + 2차 웹 영상 재생·장면 보정(BO➔Agent 호출) ➔ 4건 큐·RAG·LLM ➔ 마케팅허브 회신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4"/>
          <p:cNvSpPr/>
          <p:nvPr/>
        </p:nvSpPr>
        <p:spPr>
          <a:xfrm>
            <a:off x="411480" y="1051560"/>
            <a:ext cx="1783080" cy="53492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7775">
            <a:solidFill>
              <a:srgbClr val="1A73C7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20" name="Google Shape;220;p4"/>
          <p:cNvSpPr/>
          <p:nvPr/>
        </p:nvSpPr>
        <p:spPr>
          <a:xfrm>
            <a:off x="502920" y="1161288"/>
            <a:ext cx="1600200" cy="594360"/>
          </a:xfrm>
          <a:prstGeom prst="roundRect">
            <a:avLst>
              <a:gd fmla="val 16667" name="adj"/>
            </a:avLst>
          </a:prstGeom>
          <a:solidFill>
            <a:srgbClr val="1A73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Step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830"/>
              <a:buFont typeface="Arial"/>
              <a:buNone/>
            </a:pPr>
            <a:r>
              <a:rPr b="1" i="0" lang="en-US" sz="83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의뢰 접수 &amp; 영상 장면 추출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4"/>
          <p:cNvSpPr/>
          <p:nvPr/>
        </p:nvSpPr>
        <p:spPr>
          <a:xfrm>
            <a:off x="502920" y="1874519"/>
            <a:ext cx="1600200" cy="169164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10150">
            <a:solidFill>
              <a:srgbClr val="CBD5E1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sz="900" b="1">
                <a:solidFill>
                  <a:srgbClr val="0B192C"/>
                </a:solidFill>
                <a:latin typeface="Malgun Gothic"/>
              </a:rPr>
              <a:t>대외연계 ALB &amp; S3 Intelligent-Tiering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/>
            <a:r>
              <a:rPr sz="780" b="0">
                <a:solidFill>
                  <a:srgbClr val="475569"/>
                </a:solidFill>
                <a:latin typeface="Malgun Gothic"/>
              </a:rPr>
              <a:t>마케팅허브 전용 ALB(:18085) 의뢰 수신 및 시안·영상(300MB) S3(Intelligent-Tiering 자동적용) 저장</a:t>
            </a:r>
          </a:p>
        </p:txBody>
      </p:sp>
      <p:sp>
        <p:nvSpPr>
          <p:cNvPr id="222" name="Google Shape;222;p4"/>
          <p:cNvSpPr txBox="1"/>
          <p:nvPr/>
        </p:nvSpPr>
        <p:spPr>
          <a:xfrm>
            <a:off x="411480" y="3611879"/>
            <a:ext cx="1783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A73C7"/>
                </a:solidFill>
                <a:latin typeface="Malgun Gothic"/>
                <a:ea typeface="Malgun Gothic"/>
                <a:cs typeface="Malgun Gothic"/>
                <a:sym typeface="Malgun Gothic"/>
              </a:rPr>
              <a:t>▼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4"/>
          <p:cNvSpPr/>
          <p:nvPr/>
        </p:nvSpPr>
        <p:spPr>
          <a:xfrm>
            <a:off x="502920" y="3931920"/>
            <a:ext cx="1600200" cy="169164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10150">
            <a:solidFill>
              <a:srgbClr val="CBD5E1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sz="900" b="1">
                <a:solidFill>
                  <a:srgbClr val="0B192C"/>
                </a:solidFill>
                <a:latin typeface="Malgun Gothic"/>
              </a:rPr>
              <a:t>1차 AI 피크프레임 &amp; 2차 웹 장면 보정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/>
            <a:r>
              <a:rPr sz="780" b="0">
                <a:solidFill>
                  <a:srgbClr val="475569"/>
                </a:solidFill>
                <a:latin typeface="Malgun Gothic"/>
              </a:rPr>
              <a:t>AI Agent가 OpenCV로 피크프레임 1차 자동추출 ➔ 웹 화면에서 영상 재생·특정화면 멈춤 장면 추가/편집/삭제</a:t>
            </a:r>
          </a:p>
        </p:txBody>
      </p:sp>
      <p:sp>
        <p:nvSpPr>
          <p:cNvPr id="224" name="Google Shape;224;p4"/>
          <p:cNvSpPr/>
          <p:nvPr/>
        </p:nvSpPr>
        <p:spPr>
          <a:xfrm>
            <a:off x="502920" y="5760720"/>
            <a:ext cx="1600200" cy="502920"/>
          </a:xfrm>
          <a:prstGeom prst="roundRect">
            <a:avLst>
              <a:gd fmla="val 16667" name="adj"/>
            </a:avLst>
          </a:prstGeom>
          <a:solidFill>
            <a:srgbClr val="EEF4FA"/>
          </a:solidFill>
          <a:ln cap="flat" cmpd="sng" w="10150">
            <a:solidFill>
              <a:srgbClr val="1A73C7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18"/>
              <a:buFont typeface="Arial"/>
              <a:buNone/>
            </a:pPr>
            <a:r>
              <a:rPr sz="819" b="1">
                <a:solidFill>
                  <a:srgbClr val="1A73C7"/>
                </a:solidFill>
                <a:latin typeface="Malgun Gothic"/>
              </a:rPr>
              <a:t>연계API(:18085)·업무BE(:18080) ➔ Agent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4"/>
          <p:cNvSpPr/>
          <p:nvPr/>
        </p:nvSpPr>
        <p:spPr>
          <a:xfrm>
            <a:off x="2322576" y="1051560"/>
            <a:ext cx="1783080" cy="53492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7775">
            <a:solidFill>
              <a:srgbClr val="D82C20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26" name="Google Shape;226;p4"/>
          <p:cNvSpPr/>
          <p:nvPr/>
        </p:nvSpPr>
        <p:spPr>
          <a:xfrm>
            <a:off x="2414016" y="1161288"/>
            <a:ext cx="1600200" cy="594360"/>
          </a:xfrm>
          <a:prstGeom prst="roundRect">
            <a:avLst>
              <a:gd fmla="val 16667" name="adj"/>
            </a:avLst>
          </a:prstGeom>
          <a:solidFill>
            <a:srgbClr val="D82C2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Step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830"/>
              <a:buFont typeface="Arial"/>
              <a:buNone/>
            </a:pPr>
            <a:r>
              <a:rPr b="1" i="0" lang="en-US" sz="83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1차 규제 룰 &amp; 전성분 대조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4"/>
          <p:cNvSpPr/>
          <p:nvPr/>
        </p:nvSpPr>
        <p:spPr>
          <a:xfrm>
            <a:off x="2414016" y="1874519"/>
            <a:ext cx="1600200" cy="169164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10150">
            <a:solidFill>
              <a:srgbClr val="CBD5E1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0B192C"/>
                </a:solidFill>
                <a:latin typeface="Malgun Gothic"/>
                <a:ea typeface="Malgun Gothic"/>
                <a:cs typeface="Malgun Gothic"/>
                <a:sym typeface="Malgun Gothic"/>
              </a:rPr>
              <a:t>식약처 룰셋 &amp; 마케팅허브 RDB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780"/>
              <a:buFont typeface="Arial"/>
              <a:buNone/>
            </a:pPr>
            <a:r>
              <a:rPr b="0" i="0" lang="en-US" sz="780" u="none" cap="none" strike="noStrike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표현사전(금지/주의/허용) 스캔 + 마케팅허브 RDB 전성분·배합한도(%)·금지원료 대조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4"/>
          <p:cNvSpPr txBox="1"/>
          <p:nvPr/>
        </p:nvSpPr>
        <p:spPr>
          <a:xfrm>
            <a:off x="2322576" y="3611879"/>
            <a:ext cx="1783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D82C20"/>
                </a:solidFill>
                <a:latin typeface="Malgun Gothic"/>
                <a:ea typeface="Malgun Gothic"/>
                <a:cs typeface="Malgun Gothic"/>
                <a:sym typeface="Malgun Gothic"/>
              </a:rPr>
              <a:t>▼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4"/>
          <p:cNvSpPr/>
          <p:nvPr/>
        </p:nvSpPr>
        <p:spPr>
          <a:xfrm>
            <a:off x="2414016" y="3931920"/>
            <a:ext cx="1600200" cy="169164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10150">
            <a:solidFill>
              <a:srgbClr val="CBD5E1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0B192C"/>
                </a:solidFill>
                <a:latin typeface="Malgun Gothic"/>
                <a:ea typeface="Malgun Gothic"/>
                <a:cs typeface="Malgun Gothic"/>
                <a:sym typeface="Malgun Gothic"/>
              </a:rPr>
              <a:t>No-Downgrade 잠금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780"/>
              <a:buFont typeface="Arial"/>
              <a:buNone/>
            </a:pPr>
            <a:r>
              <a:rPr b="0" i="0" lang="en-US" sz="780" u="none" cap="none" strike="noStrike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의약품 오인·금지표현(검출률 95% KPI) 확정 시 AI 위험도 임의 하향 불가 강제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4"/>
          <p:cNvSpPr/>
          <p:nvPr/>
        </p:nvSpPr>
        <p:spPr>
          <a:xfrm>
            <a:off x="2414016" y="5760720"/>
            <a:ext cx="1600200" cy="502920"/>
          </a:xfrm>
          <a:prstGeom prst="roundRect">
            <a:avLst>
              <a:gd fmla="val 16667" name="adj"/>
            </a:avLst>
          </a:prstGeom>
          <a:solidFill>
            <a:srgbClr val="EEF4FA"/>
          </a:solidFill>
          <a:ln cap="flat" cmpd="sng" w="10150">
            <a:solidFill>
              <a:srgbClr val="D82C20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18"/>
              <a:buFont typeface="Arial"/>
              <a:buNone/>
            </a:pPr>
            <a:r>
              <a:rPr b="1" i="0" lang="en-US" sz="819" u="none" cap="none" strike="noStrike">
                <a:solidFill>
                  <a:srgbClr val="D82C20"/>
                </a:solidFill>
                <a:latin typeface="Malgun Gothic"/>
                <a:ea typeface="Malgun Gothic"/>
                <a:cs typeface="Malgun Gothic"/>
                <a:sym typeface="Malgun Gothic"/>
              </a:rPr>
              <a:t>결정론적 고속 사전 필터링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4"/>
          <p:cNvSpPr/>
          <p:nvPr/>
        </p:nvSpPr>
        <p:spPr>
          <a:xfrm>
            <a:off x="4233672" y="1051560"/>
            <a:ext cx="1783080" cy="53492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7775">
            <a:solidFill>
              <a:srgbClr val="7A3EC4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32" name="Google Shape;232;p4"/>
          <p:cNvSpPr/>
          <p:nvPr/>
        </p:nvSpPr>
        <p:spPr>
          <a:xfrm>
            <a:off x="4325112" y="1161288"/>
            <a:ext cx="1600200" cy="594360"/>
          </a:xfrm>
          <a:prstGeom prst="roundRect">
            <a:avLst>
              <a:gd fmla="val 16667" name="adj"/>
            </a:avLst>
          </a:prstGeom>
          <a:solidFill>
            <a:srgbClr val="7A3EC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Step 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830"/>
              <a:buFont typeface="Arial"/>
              <a:buNone/>
            </a:pPr>
            <a:r>
              <a:rPr b="1" i="0" lang="en-US" sz="83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2차 하이브리드 RAG·실증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4"/>
          <p:cNvSpPr/>
          <p:nvPr/>
        </p:nvSpPr>
        <p:spPr>
          <a:xfrm>
            <a:off x="4325112" y="1874519"/>
            <a:ext cx="1600200" cy="169164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10150">
            <a:solidFill>
              <a:srgbClr val="CBD5E1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0B192C"/>
                </a:solidFill>
                <a:latin typeface="Malgun Gothic"/>
                <a:ea typeface="Malgun Gothic"/>
                <a:cs typeface="Malgun Gothic"/>
                <a:sym typeface="Malgun Gothic"/>
              </a:rPr>
              <a:t>식약처 법령 &amp; ProductLab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780"/>
              <a:buFont typeface="Arial"/>
              <a:buNone/>
            </a:pPr>
            <a:r>
              <a:rPr b="0" i="0" lang="en-US" sz="780" u="none" cap="none" strike="noStrike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법령·해설서 pgvector 검색 + ProductLab 기술원 인체적용시험·설문 보고서 매칭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4"/>
          <p:cNvSpPr txBox="1"/>
          <p:nvPr/>
        </p:nvSpPr>
        <p:spPr>
          <a:xfrm>
            <a:off x="4233672" y="3611879"/>
            <a:ext cx="1783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7A3EC4"/>
                </a:solidFill>
                <a:latin typeface="Malgun Gothic"/>
                <a:ea typeface="Malgun Gothic"/>
                <a:cs typeface="Malgun Gothic"/>
                <a:sym typeface="Malgun Gothic"/>
              </a:rPr>
              <a:t>▼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4"/>
          <p:cNvSpPr/>
          <p:nvPr/>
        </p:nvSpPr>
        <p:spPr>
          <a:xfrm>
            <a:off x="4325112" y="3931920"/>
            <a:ext cx="1600200" cy="169164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10150">
            <a:solidFill>
              <a:srgbClr val="CBD5E1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0B192C"/>
                </a:solidFill>
                <a:latin typeface="Malgun Gothic"/>
                <a:ea typeface="Malgun Gothic"/>
                <a:cs typeface="Malgun Gothic"/>
                <a:sym typeface="Malgun Gothic"/>
              </a:rPr>
              <a:t>실증 대조 &amp; 과거 이력 상충 탐지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780"/>
              <a:buFont typeface="Arial"/>
              <a:buNone/>
            </a:pPr>
            <a:r>
              <a:rPr b="0" i="0" lang="en-US" sz="780" u="none" cap="none" strike="noStrike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시험성적서 수치 대조 + 과거 확정 심의 이력(pg_trgm) 대조를 통한 브랜드/심의자 간 등급 상충(Conflict) 자동 경고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4"/>
          <p:cNvSpPr/>
          <p:nvPr/>
        </p:nvSpPr>
        <p:spPr>
          <a:xfrm>
            <a:off x="4325112" y="5760720"/>
            <a:ext cx="1600200" cy="502920"/>
          </a:xfrm>
          <a:prstGeom prst="roundRect">
            <a:avLst>
              <a:gd fmla="val 16667" name="adj"/>
            </a:avLst>
          </a:prstGeom>
          <a:solidFill>
            <a:srgbClr val="EEF4FA"/>
          </a:solidFill>
          <a:ln cap="flat" cmpd="sng" w="10150">
            <a:solidFill>
              <a:srgbClr val="7A3EC4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18"/>
              <a:buFont typeface="Arial"/>
              <a:buNone/>
            </a:pPr>
            <a:r>
              <a:rPr b="1" i="0" lang="en-US" sz="819" u="none" cap="none" strike="noStrike">
                <a:solidFill>
                  <a:srgbClr val="7A3EC4"/>
                </a:solidFill>
                <a:latin typeface="Malgun Gothic"/>
                <a:ea typeface="Malgun Gothic"/>
                <a:cs typeface="Malgun Gothic"/>
                <a:sym typeface="Malgun Gothic"/>
              </a:rPr>
              <a:t>법령·실증·과거이력 바인딩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4"/>
          <p:cNvSpPr/>
          <p:nvPr/>
        </p:nvSpPr>
        <p:spPr>
          <a:xfrm>
            <a:off x="6144768" y="1051560"/>
            <a:ext cx="1783080" cy="53492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7775">
            <a:solidFill>
              <a:srgbClr val="ED7100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38" name="Google Shape;238;p4"/>
          <p:cNvSpPr/>
          <p:nvPr/>
        </p:nvSpPr>
        <p:spPr>
          <a:xfrm>
            <a:off x="6236207" y="1161288"/>
            <a:ext cx="1600200" cy="594360"/>
          </a:xfrm>
          <a:prstGeom prst="roundRect">
            <a:avLst>
              <a:gd fmla="val 16667" name="adj"/>
            </a:avLst>
          </a:prstGeom>
          <a:solidFill>
            <a:srgbClr val="ED71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Step 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830"/>
              <a:buFont typeface="Arial"/>
              <a:buNone/>
            </a:pPr>
            <a:r>
              <a:rPr b="1" i="0" lang="en-US" sz="83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동시 4건 큐 &amp; LLM 판정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4"/>
          <p:cNvSpPr/>
          <p:nvPr/>
        </p:nvSpPr>
        <p:spPr>
          <a:xfrm>
            <a:off x="6236207" y="1874519"/>
            <a:ext cx="1600200" cy="169164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10150">
            <a:solidFill>
              <a:srgbClr val="CBD5E1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0B192C"/>
                </a:solidFill>
                <a:latin typeface="Malgun Gothic"/>
                <a:ea typeface="Malgun Gothic"/>
                <a:cs typeface="Malgun Gothic"/>
                <a:sym typeface="Malgun Gothic"/>
              </a:rPr>
              <a:t>4건 세마포어 &amp; QUEUED 워커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780"/>
              <a:buFont typeface="Arial"/>
              <a:buNone/>
            </a:pPr>
            <a:r>
              <a:rPr b="0" i="0" lang="en-US" sz="780" u="none" cap="none" strike="noStrike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동시 분석 최대 4건 제한(초과 시 QUEUED 대기열 순차 폴링), 오류(FAILED) 시 통합 웹 콘솔에서 수동 재실행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4"/>
          <p:cNvSpPr txBox="1"/>
          <p:nvPr/>
        </p:nvSpPr>
        <p:spPr>
          <a:xfrm>
            <a:off x="6144768" y="3611879"/>
            <a:ext cx="1783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ED7100"/>
                </a:solidFill>
                <a:latin typeface="Malgun Gothic"/>
                <a:ea typeface="Malgun Gothic"/>
                <a:cs typeface="Malgun Gothic"/>
                <a:sym typeface="Malgun Gothic"/>
              </a:rPr>
              <a:t>▼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4"/>
          <p:cNvSpPr/>
          <p:nvPr/>
        </p:nvSpPr>
        <p:spPr>
          <a:xfrm>
            <a:off x="6236207" y="3931920"/>
            <a:ext cx="1600200" cy="169164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10150">
            <a:solidFill>
              <a:srgbClr val="CBD5E1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0B192C"/>
                </a:solidFill>
                <a:latin typeface="Malgun Gothic"/>
                <a:ea typeface="Malgun Gothic"/>
                <a:cs typeface="Malgun Gothic"/>
                <a:sym typeface="Malgun Gothic"/>
              </a:rPr>
              <a:t>대체 표현 추천 생성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780"/>
              <a:buFont typeface="Arial"/>
              <a:buNone/>
            </a:pPr>
            <a:r>
              <a:rPr b="0" i="0" lang="en-US" sz="780" u="none" cap="none" strike="noStrike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문장·장면별 위험도(4대 레벨) 산출 및 표시·광고 공정화법 준수 안전 대체 문구 자동 생성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4"/>
          <p:cNvSpPr/>
          <p:nvPr/>
        </p:nvSpPr>
        <p:spPr>
          <a:xfrm>
            <a:off x="6236207" y="5760720"/>
            <a:ext cx="1600200" cy="502920"/>
          </a:xfrm>
          <a:prstGeom prst="roundRect">
            <a:avLst>
              <a:gd fmla="val 16667" name="adj"/>
            </a:avLst>
          </a:prstGeom>
          <a:solidFill>
            <a:srgbClr val="EEF4FA"/>
          </a:solidFill>
          <a:ln cap="flat" cmpd="sng" w="10150">
            <a:solidFill>
              <a:srgbClr val="ED7100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18"/>
              <a:buFont typeface="Arial"/>
              <a:buNone/>
            </a:pPr>
            <a:r>
              <a:rPr b="1" i="0" lang="en-US" sz="819" u="none" cap="none" strike="noStrike">
                <a:solidFill>
                  <a:srgbClr val="ED7100"/>
                </a:solidFill>
                <a:latin typeface="Malgun Gothic"/>
                <a:ea typeface="Malgun Gothic"/>
                <a:cs typeface="Malgun Gothic"/>
                <a:sym typeface="Malgun Gothic"/>
              </a:rPr>
              <a:t>AI 1차 심의 리포트 생성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4"/>
          <p:cNvSpPr/>
          <p:nvPr/>
        </p:nvSpPr>
        <p:spPr>
          <a:xfrm>
            <a:off x="8055863" y="1051560"/>
            <a:ext cx="1783080" cy="53492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7775">
            <a:solidFill>
              <a:srgbClr val="002C6C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44" name="Google Shape;244;p4"/>
          <p:cNvSpPr/>
          <p:nvPr/>
        </p:nvSpPr>
        <p:spPr>
          <a:xfrm>
            <a:off x="8147303" y="1161288"/>
            <a:ext cx="1600200" cy="594360"/>
          </a:xfrm>
          <a:prstGeom prst="roundRect">
            <a:avLst>
              <a:gd fmla="val 16667" name="adj"/>
            </a:avLst>
          </a:prstGeom>
          <a:solidFill>
            <a:srgbClr val="002C6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Step 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830"/>
              <a:buFont typeface="Arial"/>
              <a:buNone/>
            </a:pPr>
            <a:r>
              <a:rPr b="1" i="0" lang="en-US" sz="83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통합 콘솔 RA 정밀 심의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4"/>
          <p:cNvSpPr/>
          <p:nvPr/>
        </p:nvSpPr>
        <p:spPr>
          <a:xfrm>
            <a:off x="8147303" y="1874519"/>
            <a:ext cx="1600200" cy="169164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10150">
            <a:solidFill>
              <a:srgbClr val="CBD5E1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sz="900" b="1">
                <a:solidFill>
                  <a:srgbClr val="0B192C"/>
                </a:solidFill>
                <a:latin typeface="Malgun Gothic"/>
              </a:rPr>
              <a:t>Side-by-Side &amp; 웹 영상 장면 보정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/>
            <a:r>
              <a:rPr sz="780" b="0">
                <a:solidFill>
                  <a:srgbClr val="475569"/>
                </a:solidFill>
                <a:latin typeface="Malgun Gothic"/>
              </a:rPr>
              <a:t>통합 웹(:3104) 동영상 재생·특정화면 정지 장면 추가/편집/삭제(BO➔Agent EKS Service 호출), 상충 비교</a:t>
            </a:r>
          </a:p>
        </p:txBody>
      </p:sp>
      <p:sp>
        <p:nvSpPr>
          <p:cNvPr id="246" name="Google Shape;246;p4"/>
          <p:cNvSpPr txBox="1"/>
          <p:nvPr/>
        </p:nvSpPr>
        <p:spPr>
          <a:xfrm>
            <a:off x="8055863" y="3611879"/>
            <a:ext cx="1783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02C6C"/>
                </a:solidFill>
                <a:latin typeface="Malgun Gothic"/>
                <a:ea typeface="Malgun Gothic"/>
                <a:cs typeface="Malgun Gothic"/>
                <a:sym typeface="Malgun Gothic"/>
              </a:rPr>
              <a:t>▼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4"/>
          <p:cNvSpPr/>
          <p:nvPr/>
        </p:nvSpPr>
        <p:spPr>
          <a:xfrm>
            <a:off x="8147303" y="3931920"/>
            <a:ext cx="1600200" cy="169164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10150">
            <a:solidFill>
              <a:srgbClr val="CBD5E1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0B192C"/>
                </a:solidFill>
                <a:latin typeface="Malgun Gothic"/>
                <a:ea typeface="Malgun Gothic"/>
                <a:cs typeface="Malgun Gothic"/>
                <a:sym typeface="Malgun Gothic"/>
              </a:rPr>
              <a:t>RA 최종 확정 &amp; 골든셋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780"/>
              <a:buFont typeface="Arial"/>
              <a:buNone/>
            </a:pPr>
            <a:r>
              <a:rPr b="0" i="0" lang="en-US" sz="780" u="none" cap="none" strike="noStrike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승인/조건부승인/반려 처리 및 RA '반영/확정' 데이터 정답지(Golden Set) 자동 축적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4"/>
          <p:cNvSpPr/>
          <p:nvPr/>
        </p:nvSpPr>
        <p:spPr>
          <a:xfrm>
            <a:off x="8147303" y="5760720"/>
            <a:ext cx="1600200" cy="502920"/>
          </a:xfrm>
          <a:prstGeom prst="roundRect">
            <a:avLst>
              <a:gd fmla="val 16667" name="adj"/>
            </a:avLst>
          </a:prstGeom>
          <a:solidFill>
            <a:srgbClr val="EEF4FA"/>
          </a:solidFill>
          <a:ln cap="flat" cmpd="sng" w="10150">
            <a:solidFill>
              <a:srgbClr val="002C6C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18"/>
              <a:buFont typeface="Arial"/>
              <a:buNone/>
            </a:pPr>
            <a:r>
              <a:rPr b="1" i="0" lang="en-US" sz="819" u="none" cap="none" strike="noStrike">
                <a:solidFill>
                  <a:srgbClr val="002C6C"/>
                </a:solidFill>
                <a:latin typeface="Malgun Gothic"/>
                <a:ea typeface="Malgun Gothic"/>
                <a:cs typeface="Malgun Gothic"/>
                <a:sym typeface="Malgun Gothic"/>
              </a:rPr>
              <a:t>Human-in-the-Loop 확정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4"/>
          <p:cNvSpPr/>
          <p:nvPr/>
        </p:nvSpPr>
        <p:spPr>
          <a:xfrm>
            <a:off x="9966959" y="1051560"/>
            <a:ext cx="1783080" cy="53492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7775">
            <a:solidFill>
              <a:srgbClr val="2E7D32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50" name="Google Shape;250;p4"/>
          <p:cNvSpPr/>
          <p:nvPr/>
        </p:nvSpPr>
        <p:spPr>
          <a:xfrm>
            <a:off x="10058399" y="1161288"/>
            <a:ext cx="1600200" cy="594360"/>
          </a:xfrm>
          <a:prstGeom prst="roundRect">
            <a:avLst>
              <a:gd fmla="val 16667" name="adj"/>
            </a:avLst>
          </a:prstGeom>
          <a:solidFill>
            <a:srgbClr val="2E7D3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Step 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830"/>
              <a:buFont typeface="Arial"/>
              <a:buNone/>
            </a:pPr>
            <a:r>
              <a:rPr b="1" i="0" lang="en-US" sz="83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원장 적재 &amp; 마케팅허브 회신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4"/>
          <p:cNvSpPr/>
          <p:nvPr/>
        </p:nvSpPr>
        <p:spPr>
          <a:xfrm>
            <a:off x="10058399" y="1874519"/>
            <a:ext cx="1600200" cy="169164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10150">
            <a:solidFill>
              <a:srgbClr val="CBD5E1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0B192C"/>
                </a:solidFill>
                <a:latin typeface="Malgun Gothic"/>
                <a:ea typeface="Malgun Gothic"/>
                <a:cs typeface="Malgun Gothic"/>
                <a:sym typeface="Malgun Gothic"/>
              </a:rPr>
              <a:t>불변 감사 원장 적재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780"/>
              <a:buFont typeface="Arial"/>
              <a:buNone/>
            </a:pPr>
            <a:r>
              <a:rPr b="0" i="0" lang="en-US" sz="780" u="none" cap="none" strike="noStrike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ReviewHistoryImmutable WORM 영구 보존(5년 법정 보관 및 위변조 해시 체이닝)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4"/>
          <p:cNvSpPr txBox="1"/>
          <p:nvPr/>
        </p:nvSpPr>
        <p:spPr>
          <a:xfrm>
            <a:off x="9966959" y="3611879"/>
            <a:ext cx="1783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2E7D32"/>
                </a:solidFill>
                <a:latin typeface="Malgun Gothic"/>
                <a:ea typeface="Malgun Gothic"/>
                <a:cs typeface="Malgun Gothic"/>
                <a:sym typeface="Malgun Gothic"/>
              </a:rPr>
              <a:t>▼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4"/>
          <p:cNvSpPr/>
          <p:nvPr/>
        </p:nvSpPr>
        <p:spPr>
          <a:xfrm>
            <a:off x="10058399" y="3931920"/>
            <a:ext cx="1600200" cy="169164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10150">
            <a:solidFill>
              <a:srgbClr val="CBD5E1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0B192C"/>
                </a:solidFill>
                <a:latin typeface="Malgun Gothic"/>
                <a:ea typeface="Malgun Gothic"/>
                <a:cs typeface="Malgun Gothic"/>
                <a:sym typeface="Malgun Gothic"/>
              </a:rPr>
              <a:t>마케팅허브 결과(HTML/JSON) 회신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780"/>
              <a:buFont typeface="Arial"/>
              <a:buNone/>
            </a:pPr>
            <a:r>
              <a:rPr b="0" i="0" lang="en-US" sz="780" u="none" cap="none" strike="noStrike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심의 요약 JSON + 문장·장면별 판정 + 심의 결과 리포트(HTML/PDF/Excel) 마케팅허브 자동 회신 및 화면 표출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4"/>
          <p:cNvSpPr/>
          <p:nvPr/>
        </p:nvSpPr>
        <p:spPr>
          <a:xfrm>
            <a:off x="10058399" y="5760720"/>
            <a:ext cx="1600200" cy="502920"/>
          </a:xfrm>
          <a:prstGeom prst="roundRect">
            <a:avLst>
              <a:gd fmla="val 16667" name="adj"/>
            </a:avLst>
          </a:prstGeom>
          <a:solidFill>
            <a:srgbClr val="EEF4FA"/>
          </a:solidFill>
          <a:ln cap="flat" cmpd="sng" w="10150">
            <a:solidFill>
              <a:srgbClr val="2E7D32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18"/>
              <a:buFont typeface="Arial"/>
              <a:buNone/>
            </a:pPr>
            <a:r>
              <a:rPr b="1" i="0" lang="en-US" sz="819" u="none" cap="none" strike="noStrike">
                <a:solidFill>
                  <a:srgbClr val="2E7D32"/>
                </a:solidFill>
                <a:latin typeface="Malgun Gothic"/>
                <a:ea typeface="Malgun Gothic"/>
                <a:cs typeface="Malgun Gothic"/>
                <a:sym typeface="Malgun Gothic"/>
              </a:rPr>
              <a:t>심의 완료 및 현업 결과 확인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5"/>
          <p:cNvSpPr txBox="1"/>
          <p:nvPr/>
        </p:nvSpPr>
        <p:spPr>
          <a:xfrm>
            <a:off x="411480" y="201168"/>
            <a:ext cx="113385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36575" spcFirstLastPara="1" rIns="365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50"/>
              <a:buFont typeface="Arial"/>
              <a:buNone/>
            </a:pPr>
            <a:r>
              <a:rPr b="1" i="0" lang="en-US" sz="1850" u="none" cap="none" strike="noStrike">
                <a:solidFill>
                  <a:srgbClr val="0B192C"/>
                </a:solidFill>
                <a:latin typeface="Malgun Gothic"/>
                <a:ea typeface="Malgun Gothic"/>
                <a:cs typeface="Malgun Gothic"/>
                <a:sym typeface="Malgun Gothic"/>
              </a:rPr>
              <a:t>4. 마케팅허브(MarketingHub) &amp; 프로덕트랩(ProductLab) 연계 상세 기능 아키텍처 (KT 레몬 Option)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5"/>
          <p:cNvSpPr txBox="1"/>
          <p:nvPr/>
        </p:nvSpPr>
        <p:spPr>
          <a:xfrm>
            <a:off x="429768" y="585216"/>
            <a:ext cx="113385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36575" spcFirstLastPara="1" rIns="365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현업 심의 플랫폼(마케팅허브)과 R&amp;I 연구·실증 플랫폼(프로덕트랩)의 내부 탑재 기능, 데이터 흐름 및 KT 레몬(Option) 비교 검증 구조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5"/>
          <p:cNvSpPr/>
          <p:nvPr/>
        </p:nvSpPr>
        <p:spPr>
          <a:xfrm>
            <a:off x="365760" y="932688"/>
            <a:ext cx="3794760" cy="5623560"/>
          </a:xfrm>
          <a:prstGeom prst="roundRect">
            <a:avLst>
              <a:gd fmla="val 4000" name="adj"/>
            </a:avLst>
          </a:prstGeom>
          <a:solidFill>
            <a:srgbClr val="FFFFFF"/>
          </a:solidFill>
          <a:ln cap="flat" cmpd="sng" w="19050">
            <a:solidFill>
              <a:srgbClr val="1A73C7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62" name="Google Shape;262;p5"/>
          <p:cNvSpPr/>
          <p:nvPr/>
        </p:nvSpPr>
        <p:spPr>
          <a:xfrm>
            <a:off x="457200" y="1024128"/>
            <a:ext cx="3611880" cy="438912"/>
          </a:xfrm>
          <a:prstGeom prst="roundRect">
            <a:avLst>
              <a:gd fmla="val 4000" name="adj"/>
            </a:avLst>
          </a:prstGeom>
          <a:solidFill>
            <a:srgbClr val="1A73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8"/>
              <a:buFont typeface="Arial"/>
              <a:buNone/>
            </a:pPr>
            <a:r>
              <a:rPr b="1" i="0" lang="en-US" sz="1019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마케팅허브 (MarketingHub) — 마케팅(BM) · RA 현업 심의 플랫폼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780"/>
              <a:buFont typeface="Arial"/>
              <a:buNone/>
            </a:pPr>
            <a:r>
              <a:rPr b="0" i="0" lang="en-US" sz="780" u="none" cap="none" strike="noStrike">
                <a:solidFill>
                  <a:srgbClr val="DBEAFE"/>
                </a:solidFill>
                <a:latin typeface="Malgun Gothic"/>
                <a:ea typeface="Malgun Gothic"/>
                <a:cs typeface="Malgun Gothic"/>
                <a:sym typeface="Malgun Gothic"/>
              </a:rPr>
              <a:t>현업 주 작업 시스템 (웹 화면 + 전성분/배합한도 RDB 보유)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5"/>
          <p:cNvSpPr/>
          <p:nvPr/>
        </p:nvSpPr>
        <p:spPr>
          <a:xfrm>
            <a:off x="475488" y="1536192"/>
            <a:ext cx="3575304" cy="768096"/>
          </a:xfrm>
          <a:prstGeom prst="roundRect">
            <a:avLst>
              <a:gd fmla="val 4000" name="adj"/>
            </a:avLst>
          </a:prstGeom>
          <a:solidFill>
            <a:srgbClr val="EEF4FA"/>
          </a:solidFill>
          <a:ln cap="flat" cmpd="sng" w="12700">
            <a:solidFill>
              <a:srgbClr val="1A73C7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0"/>
              <a:buFont typeface="Arial"/>
              <a:buNone/>
            </a:pPr>
            <a:r>
              <a:rPr b="1" i="0" lang="en-US" sz="860" u="none" cap="none" strike="noStrike">
                <a:solidFill>
                  <a:srgbClr val="0B192C"/>
                </a:solidFill>
                <a:latin typeface="Malgun Gothic"/>
                <a:ea typeface="Malgun Gothic"/>
                <a:cs typeface="Malgun Gothic"/>
                <a:sym typeface="Malgun Gothic"/>
              </a:rPr>
              <a:t>① 심의 의뢰 등록 및 대용량 시안·영상(300MB) 업로드 연동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720"/>
              <a:buFont typeface="Arial"/>
              <a:buNone/>
            </a:pPr>
            <a:r>
              <a:rPr b="0" i="0" lang="en-US" sz="720" u="none" cap="none" strike="noStrik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• 마케터(BM) 마케팅허브에서 광고 심의 의뢰 등록 및 메타데이터 전송 • 대용량 영상·시안(300MB)은 마케팅허브 부하 방지 위해 연계 API(:18085) S3 직접 업로드</a:t>
            </a:r>
            <a:br>
              <a:rPr b="0" i="0" lang="en-US" sz="720" u="none" cap="none" strike="noStrik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0" i="0" lang="en-US" sz="720" u="none" cap="none" strike="noStrik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5"/>
          <p:cNvSpPr/>
          <p:nvPr/>
        </p:nvSpPr>
        <p:spPr>
          <a:xfrm>
            <a:off x="475488" y="2359152"/>
            <a:ext cx="3575304" cy="768096"/>
          </a:xfrm>
          <a:prstGeom prst="roundRect">
            <a:avLst>
              <a:gd fmla="val 4000" name="adj"/>
            </a:avLst>
          </a:prstGeom>
          <a:solidFill>
            <a:srgbClr val="ECFEFF"/>
          </a:solidFill>
          <a:ln cap="flat" cmpd="sng" w="12700">
            <a:solidFill>
              <a:srgbClr val="0D9488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0"/>
              <a:buFont typeface="Arial"/>
              <a:buNone/>
            </a:pPr>
            <a:r>
              <a:rPr sz="860" b="1">
                <a:solidFill>
                  <a:srgbClr val="0B192C"/>
                </a:solidFill>
                <a:latin typeface="Malgun Gothic"/>
              </a:rPr>
              <a:t>② 동영상(MP4) 1차 AI 피크프레임 추출 &amp; 2차 웹 화면 장면 보정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/>
            <a:r>
              <a:rPr sz="720" b="0">
                <a:solidFill>
                  <a:srgbClr val="1E293B"/>
                </a:solidFill>
                <a:latin typeface="Malgun Gothic"/>
              </a:rPr>
              <a:t>• 1차: AI 에이전트가 OpenCV로 영상 피크프레임·미세각주 자동 추출</a:t>
            </a:r>
          </a:p>
          <a:p>
            <a:pPr algn="l"/>
            <a:r>
              <a:rPr sz="720" b="0">
                <a:solidFill>
                  <a:srgbClr val="1E293B"/>
                </a:solidFill>
                <a:latin typeface="Malgun Gothic"/>
              </a:rPr>
              <a:t>• 2차: 웹 화면(:3104)에서 영상 재생·특정화면 멈춰 장면 추가 및 AI 생성 장면 편집·삭제(BO➔Agent 호출)</a:t>
            </a:r>
          </a:p>
        </p:txBody>
      </p:sp>
      <p:sp>
        <p:nvSpPr>
          <p:cNvPr id="265" name="Google Shape;265;p5"/>
          <p:cNvSpPr/>
          <p:nvPr/>
        </p:nvSpPr>
        <p:spPr>
          <a:xfrm>
            <a:off x="475488" y="3182112"/>
            <a:ext cx="3575304" cy="768096"/>
          </a:xfrm>
          <a:prstGeom prst="roundRect">
            <a:avLst>
              <a:gd fmla="val 4000" name="adj"/>
            </a:avLst>
          </a:prstGeom>
          <a:solidFill>
            <a:srgbClr val="F8FAFC"/>
          </a:solidFill>
          <a:ln cap="flat" cmpd="sng" w="12700">
            <a:solidFill>
              <a:srgbClr val="CBD5E1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0"/>
              <a:buFont typeface="Arial"/>
              <a:buNone/>
            </a:pPr>
            <a:r>
              <a:rPr b="1" i="0" lang="en-US" sz="860" u="none" cap="none" strike="noStrike">
                <a:solidFill>
                  <a:srgbClr val="0B192C"/>
                </a:solidFill>
                <a:latin typeface="Malgun Gothic"/>
                <a:ea typeface="Malgun Gothic"/>
                <a:cs typeface="Malgun Gothic"/>
                <a:sym typeface="Malgun Gothic"/>
              </a:rPr>
              <a:t>③ SyncGuard AI 심의 실행 요청 송신 (REST API)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720"/>
              <a:buFont typeface="Arial"/>
              <a:buNone/>
            </a:pPr>
            <a:r>
              <a:rPr b="0" i="0" lang="en-US" sz="720" u="none" cap="none" strike="noStrik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• 신청 건의 시안·영상 메타데이터를 SyncGuard AI 연계 API(:18085)로 전송_x000B_• 단건/일괄 [AI 검증 실행] 트리거 및 비동기 진행 상태(QUEUED/PROCESSING) 실시간 연동</a:t>
            </a:r>
            <a:br>
              <a:rPr b="0" i="0" lang="en-US" sz="720" u="none" cap="none" strike="noStrik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0" i="0" lang="en-US" sz="720" u="none" cap="none" strike="noStrik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5"/>
          <p:cNvSpPr/>
          <p:nvPr/>
        </p:nvSpPr>
        <p:spPr>
          <a:xfrm>
            <a:off x="475488" y="4005072"/>
            <a:ext cx="3575304" cy="768096"/>
          </a:xfrm>
          <a:prstGeom prst="roundRect">
            <a:avLst>
              <a:gd fmla="val 4000" name="adj"/>
            </a:avLst>
          </a:prstGeom>
          <a:solidFill>
            <a:srgbClr val="F8FAFC"/>
          </a:solidFill>
          <a:ln cap="flat" cmpd="sng" w="12700">
            <a:solidFill>
              <a:srgbClr val="CBD5E1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0"/>
              <a:buFont typeface="Arial"/>
              <a:buNone/>
            </a:pPr>
            <a:r>
              <a:rPr b="1" i="0" lang="en-US" sz="860" u="none" cap="none" strike="noStrike">
                <a:solidFill>
                  <a:srgbClr val="0B192C"/>
                </a:solidFill>
                <a:latin typeface="Malgun Gothic"/>
                <a:ea typeface="Malgun Gothic"/>
                <a:cs typeface="Malgun Gothic"/>
                <a:sym typeface="Malgun Gothic"/>
              </a:rPr>
              <a:t>④ 화장품 전성분 · 배합한도 마스터 RDB 제공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720"/>
              <a:buFont typeface="Arial"/>
              <a:buNone/>
            </a:pPr>
            <a:r>
              <a:rPr b="0" i="0" lang="en-US" sz="720" u="none" cap="none" strike="noStrik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• 마케팅허브 RDB 내 화장품 전성분 표준 사전, 영문 INCI, 배합한도(%), 금지원료 보유</a:t>
            </a:r>
            <a:br>
              <a:rPr b="0" i="0" lang="en-US" sz="720" u="none" cap="none" strike="noStrik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0" i="0" lang="en-US" sz="720" u="none" cap="none" strike="noStrik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• SyncGuard AI 룰 엔진이 성분 표기 적정성 및 배합한도 초과 여부 대조 시 참조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5"/>
          <p:cNvSpPr/>
          <p:nvPr/>
        </p:nvSpPr>
        <p:spPr>
          <a:xfrm>
            <a:off x="475488" y="4828032"/>
            <a:ext cx="3575304" cy="768096"/>
          </a:xfrm>
          <a:prstGeom prst="roundRect">
            <a:avLst>
              <a:gd fmla="val 4000" name="adj"/>
            </a:avLst>
          </a:prstGeom>
          <a:solidFill>
            <a:srgbClr val="F8FAFC"/>
          </a:solidFill>
          <a:ln cap="flat" cmpd="sng" w="12700">
            <a:solidFill>
              <a:srgbClr val="CBD5E1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0"/>
              <a:buFont typeface="Arial"/>
              <a:buNone/>
            </a:pPr>
            <a:r>
              <a:rPr b="1" i="0" lang="en-US" sz="860" u="none" cap="none" strike="noStrike">
                <a:solidFill>
                  <a:srgbClr val="0B192C"/>
                </a:solidFill>
                <a:latin typeface="Malgun Gothic"/>
                <a:ea typeface="Malgun Gothic"/>
                <a:cs typeface="Malgun Gothic"/>
                <a:sym typeface="Malgun Gothic"/>
              </a:rPr>
              <a:t>⑤ 최종 심의 결과(HTML/JSON) 수신 &amp; 마케팅허브 화면 표출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720"/>
              <a:buFont typeface="Arial"/>
              <a:buNone/>
            </a:pPr>
            <a:r>
              <a:rPr b="0" i="0" lang="en-US" sz="720" u="none" cap="none" strike="noStrik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• RA 확정 완료 시 문장·장면별 판정 등급, 위반 법령, 대체 문구 및 심의 결과 리포트(HTML/JSON/PDF)를 수신하여 마케팅허브 화면에 표출</a:t>
            </a:r>
            <a:br>
              <a:rPr b="0" i="0" lang="en-US" sz="720" u="none" cap="none" strike="noStrik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0" i="0" lang="en-US" sz="720" u="none" cap="none" strike="noStrik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5"/>
          <p:cNvSpPr/>
          <p:nvPr/>
        </p:nvSpPr>
        <p:spPr>
          <a:xfrm>
            <a:off x="475488" y="5650992"/>
            <a:ext cx="3575304" cy="768096"/>
          </a:xfrm>
          <a:prstGeom prst="roundRect">
            <a:avLst>
              <a:gd fmla="val 4000" name="adj"/>
            </a:avLst>
          </a:prstGeom>
          <a:solidFill>
            <a:srgbClr val="ECFDF5"/>
          </a:solidFill>
          <a:ln cap="flat" cmpd="sng" w="12700">
            <a:solidFill>
              <a:srgbClr val="2E7D32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0"/>
              <a:buFont typeface="Arial"/>
              <a:buNone/>
            </a:pPr>
            <a:r>
              <a:rPr b="1" i="0" lang="en-US" sz="860" u="none" cap="none" strike="noStrike">
                <a:solidFill>
                  <a:srgbClr val="0B192C"/>
                </a:solidFill>
                <a:latin typeface="Malgun Gothic"/>
                <a:ea typeface="Malgun Gothic"/>
                <a:cs typeface="Malgun Gothic"/>
                <a:sym typeface="Malgun Gothic"/>
              </a:rPr>
              <a:t>⑥ RA 최종 검토·승인 확정 및 골든셋(Golden Set) 환류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720"/>
              <a:buFont typeface="Arial"/>
              <a:buNone/>
            </a:pPr>
            <a:r>
              <a:rPr b="0" i="0" lang="en-US" sz="720" u="none" cap="none" strike="noStrik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• RA 담당자 최종 판정(승인 / 조건부승인 / 반려) 및 수정 의견 확정 처리</a:t>
            </a:r>
            <a:br>
              <a:rPr b="0" i="0" lang="en-US" sz="720" u="none" cap="none" strike="noStrik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0" i="0" lang="en-US" sz="720" u="none" cap="none" strike="noStrik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• RA가 채택·수정한 '반영' 데이터를 SyncGuard AI 정답지(골든셋)로 자동 피드백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5"/>
          <p:cNvSpPr/>
          <p:nvPr/>
        </p:nvSpPr>
        <p:spPr>
          <a:xfrm>
            <a:off x="4343400" y="932688"/>
            <a:ext cx="3520440" cy="5623560"/>
          </a:xfrm>
          <a:prstGeom prst="roundRect">
            <a:avLst>
              <a:gd fmla="val 4000" name="adj"/>
            </a:avLst>
          </a:prstGeom>
          <a:solidFill>
            <a:srgbClr val="FFFFFF"/>
          </a:solidFill>
          <a:ln cap="flat" cmpd="sng" w="22850">
            <a:solidFill>
              <a:srgbClr val="002C6C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70" name="Google Shape;270;p5"/>
          <p:cNvSpPr/>
          <p:nvPr/>
        </p:nvSpPr>
        <p:spPr>
          <a:xfrm>
            <a:off x="4434840" y="1024128"/>
            <a:ext cx="3337560" cy="438912"/>
          </a:xfrm>
          <a:prstGeom prst="roundRect">
            <a:avLst>
              <a:gd fmla="val 4000" name="adj"/>
            </a:avLst>
          </a:prstGeom>
          <a:solidFill>
            <a:srgbClr val="002C6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8"/>
              <a:buFont typeface="Arial"/>
              <a:buNone/>
            </a:pPr>
            <a:r>
              <a:rPr b="1" i="0" lang="en-US" sz="929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SyncGuard AI 5대 모듈 코어 엔진 (AWS EKS 분리)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730"/>
              <a:buFont typeface="Arial"/>
              <a:buNone/>
            </a:pPr>
            <a:r>
              <a:rPr b="0" i="0" lang="en-US" sz="700" u="none" cap="none" strike="noStrike">
                <a:solidFill>
                  <a:srgbClr val="CBD5E1"/>
                </a:solidFill>
                <a:latin typeface="Malgun Gothic"/>
                <a:ea typeface="Malgun Gothic"/>
                <a:cs typeface="Malgun Gothic"/>
                <a:sym typeface="Malgun Gothic"/>
              </a:rPr>
              <a:t>통합웹(:3104) · 업무BE(:18080) · 연계API(:18085) · Agent(:18083) · Batch(:18084)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5"/>
          <p:cNvSpPr/>
          <p:nvPr/>
        </p:nvSpPr>
        <p:spPr>
          <a:xfrm>
            <a:off x="4453128" y="1536192"/>
            <a:ext cx="3300984" cy="932688"/>
          </a:xfrm>
          <a:prstGeom prst="roundRect">
            <a:avLst>
              <a:gd fmla="val 4000" name="adj"/>
            </a:avLst>
          </a:prstGeom>
          <a:solidFill>
            <a:srgbClr val="EEF4FA"/>
          </a:solidFill>
          <a:ln cap="flat" cmpd="sng" w="12700">
            <a:solidFill>
              <a:srgbClr val="1A73C7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0"/>
              <a:buFont typeface="Arial"/>
              <a:buNone/>
            </a:pPr>
            <a:r>
              <a:rPr sz="860" b="1">
                <a:solidFill>
                  <a:srgbClr val="0B192C"/>
                </a:solidFill>
                <a:latin typeface="Malgun Gothic"/>
              </a:rPr>
              <a:t>AI 피크프레임 추출 + 웹 보정 &amp; 선택형 OCR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/>
            <a:r>
              <a:rPr sz="720" b="0">
                <a:solidFill>
                  <a:srgbClr val="1E293B"/>
                </a:solidFill>
                <a:latin typeface="Malgun Gothic"/>
              </a:rPr>
              <a:t>• OpenCV 1차 피크프레임 자동추출 + 웹 동영상 재생 장면 추가·편집·삭제(BO·API ➔ Agent EKS Service 호출)</a:t>
            </a:r>
          </a:p>
          <a:p>
            <a:pPr algn="l"/>
            <a:r>
              <a:rPr sz="720" b="0">
                <a:solidFill>
                  <a:srgbClr val="1E293B"/>
                </a:solidFill>
                <a:latin typeface="Malgun Gothic"/>
              </a:rPr>
              <a:t>• 네이버 클로바 OCR / 패들 OCR 선택 구동</a:t>
            </a:r>
          </a:p>
        </p:txBody>
      </p:sp>
      <p:sp>
        <p:nvSpPr>
          <p:cNvPr id="272" name="Google Shape;272;p5"/>
          <p:cNvSpPr/>
          <p:nvPr/>
        </p:nvSpPr>
        <p:spPr>
          <a:xfrm>
            <a:off x="4453128" y="2542032"/>
            <a:ext cx="3300984" cy="932688"/>
          </a:xfrm>
          <a:prstGeom prst="roundRect">
            <a:avLst>
              <a:gd fmla="val 4000" name="adj"/>
            </a:avLst>
          </a:prstGeom>
          <a:solidFill>
            <a:srgbClr val="FEF2F2"/>
          </a:solidFill>
          <a:ln cap="flat" cmpd="sng" w="12700">
            <a:solidFill>
              <a:srgbClr val="D82C20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0"/>
              <a:buFont typeface="Arial"/>
              <a:buNone/>
            </a:pPr>
            <a:r>
              <a:rPr b="1" i="0" lang="en-US" sz="860" u="none" cap="none" strike="noStrike">
                <a:solidFill>
                  <a:srgbClr val="0B192C"/>
                </a:solidFill>
                <a:latin typeface="Malgun Gothic"/>
                <a:ea typeface="Malgun Gothic"/>
                <a:cs typeface="Malgun Gothic"/>
                <a:sym typeface="Malgun Gothic"/>
              </a:rPr>
              <a:t>1차 결정론적 규제 룰 &amp; 전성분 대조 엔진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720"/>
              <a:buFont typeface="Arial"/>
              <a:buNone/>
            </a:pPr>
            <a:r>
              <a:rPr b="0" i="0" lang="en-US" sz="720" u="none" cap="none" strike="noStrik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• 식약처 100대 표시·광고 가이드라인 + 금지/주의 표현사전 스캔</a:t>
            </a:r>
            <a:br>
              <a:rPr b="0" i="0" lang="en-US" sz="720" u="none" cap="none" strike="noStrik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0" i="0" lang="en-US" sz="720" u="none" cap="none" strike="noStrik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• 마케팅허브 전성분·배합한도 RDB 연동 성분 적정성 검증</a:t>
            </a:r>
            <a:br>
              <a:rPr b="0" i="0" lang="en-US" sz="720" u="none" cap="none" strike="noStrik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0" i="0" lang="en-US" sz="720" u="none" cap="none" strike="noStrik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• No-Downgrade 잠금 (금지표현 검출률 95% 핵심 KPI 달성)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5"/>
          <p:cNvSpPr/>
          <p:nvPr/>
        </p:nvSpPr>
        <p:spPr>
          <a:xfrm>
            <a:off x="4453128" y="3547872"/>
            <a:ext cx="3300984" cy="822960"/>
          </a:xfrm>
          <a:prstGeom prst="roundRect">
            <a:avLst>
              <a:gd fmla="val 4000" name="adj"/>
            </a:avLst>
          </a:prstGeom>
          <a:solidFill>
            <a:srgbClr val="F3E8FF"/>
          </a:solidFill>
          <a:ln cap="flat" cmpd="sng" w="12700">
            <a:solidFill>
              <a:srgbClr val="7A3EC4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0"/>
              <a:buFont typeface="Arial"/>
              <a:buNone/>
            </a:pPr>
            <a:r>
              <a:rPr b="1" i="0" lang="en-US" sz="860" u="none" cap="none" strike="noStrike">
                <a:solidFill>
                  <a:srgbClr val="0B192C"/>
                </a:solidFill>
                <a:latin typeface="Malgun Gothic"/>
                <a:ea typeface="Malgun Gothic"/>
                <a:cs typeface="Malgun Gothic"/>
                <a:sym typeface="Malgun Gothic"/>
              </a:rPr>
              <a:t>2차 하이브리드 RAG · 실증 매칭 · 과거 상충 탐지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720"/>
              <a:buFont typeface="Arial"/>
              <a:buNone/>
            </a:pPr>
            <a:r>
              <a:rPr b="0" i="0" lang="en-US" sz="720" u="none" cap="none" strike="noStrik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• 식약처 법령 마크다운 계층 청킹 pgvector(1536d) + BM25 리랭킹_x000B_• ProductLab 임상/설문 보고서 대조 및 과거 심의 이력 등급 상충 자동 탐지</a:t>
            </a:r>
            <a:br>
              <a:rPr b="0" i="0" lang="en-US" sz="720" u="none" cap="none" strike="noStrik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0" i="0" lang="en-US" sz="720" u="none" cap="none" strike="noStrik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5"/>
          <p:cNvSpPr/>
          <p:nvPr/>
        </p:nvSpPr>
        <p:spPr>
          <a:xfrm>
            <a:off x="4453128" y="4443984"/>
            <a:ext cx="3300984" cy="822960"/>
          </a:xfrm>
          <a:prstGeom prst="roundRect">
            <a:avLst>
              <a:gd fmla="val 4000" name="adj"/>
            </a:avLst>
          </a:prstGeom>
          <a:solidFill>
            <a:srgbClr val="FFF7ED"/>
          </a:solidFill>
          <a:ln cap="flat" cmpd="sng" w="12700">
            <a:solidFill>
              <a:srgbClr val="ED7100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0"/>
              <a:buFont typeface="Arial"/>
              <a:buNone/>
            </a:pPr>
            <a:r>
              <a:rPr b="1" i="0" lang="en-US" sz="860" u="none" cap="none" strike="noStrike">
                <a:solidFill>
                  <a:srgbClr val="0B192C"/>
                </a:solidFill>
                <a:latin typeface="Malgun Gothic"/>
                <a:ea typeface="Malgun Gothic"/>
                <a:cs typeface="Malgun Gothic"/>
                <a:sym typeface="Malgun Gothic"/>
              </a:rPr>
              <a:t>동시 4건 대기열(QUEUED) 워커 &amp; 3단계 비학습 LLM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720"/>
              <a:buFont typeface="Arial"/>
              <a:buNone/>
            </a:pPr>
            <a:r>
              <a:rPr b="0" i="0" lang="en-US" sz="720" u="none" cap="none" strike="noStrik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• 동시 4건 세마포어 제어 및 초과 요청 QUEUED 대기열 워커 순차 처리 (실패 건 수동 재실행) • Zero Data Retention 상용 LLM 3단계 추론 및 안전 대체문구 추천</a:t>
            </a:r>
            <a:br>
              <a:rPr b="0" i="0" lang="en-US" sz="720" u="none" cap="none" strike="noStrik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0" i="0" lang="en-US" sz="720" u="none" cap="none" strike="noStrik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5"/>
          <p:cNvSpPr/>
          <p:nvPr/>
        </p:nvSpPr>
        <p:spPr>
          <a:xfrm>
            <a:off x="4453128" y="5340096"/>
            <a:ext cx="3300984" cy="877824"/>
          </a:xfrm>
          <a:prstGeom prst="roundRect">
            <a:avLst>
              <a:gd fmla="val 4000" name="adj"/>
            </a:avLst>
          </a:prstGeom>
          <a:solidFill>
            <a:srgbClr val="F8FAFC"/>
          </a:solidFill>
          <a:ln cap="flat" cmpd="sng" w="12700">
            <a:solidFill>
              <a:srgbClr val="002C6C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0"/>
              <a:buFont typeface="Arial"/>
              <a:buNone/>
            </a:pPr>
            <a:r>
              <a:rPr b="1" i="0" lang="en-US" sz="860" u="none" cap="none" strike="noStrike">
                <a:solidFill>
                  <a:srgbClr val="0B192C"/>
                </a:solidFill>
                <a:latin typeface="Malgun Gothic"/>
                <a:ea typeface="Malgun Gothic"/>
                <a:cs typeface="Malgun Gothic"/>
                <a:sym typeface="Malgun Gothic"/>
              </a:rPr>
              <a:t>SyncGuard AI 통합 웹 콘솔(:3104) &amp; 마케팅허브 결과 연동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720"/>
              <a:buFont typeface="Arial"/>
              <a:buNone/>
            </a:pPr>
            <a:r>
              <a:rPr b="0" i="0" lang="en-US" sz="720" u="none" cap="none" strike="noStrik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• 통합 웹(:3104): 시안/영상 대조 심의, 실증요청 메일 발송, 리포트(HTML/PDF/Excel), 백오피스 관리 통합 • 마케팅허브: 의뢰 연계 및 확정 결과 표출</a:t>
            </a:r>
            <a:br>
              <a:rPr b="0" i="0" lang="en-US" sz="720" u="none" cap="none" strike="noStrik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0" i="0" lang="en-US" sz="720" u="none" cap="none" strike="noStrik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5"/>
          <p:cNvSpPr/>
          <p:nvPr/>
        </p:nvSpPr>
        <p:spPr>
          <a:xfrm>
            <a:off x="8046720" y="932688"/>
            <a:ext cx="3794760" cy="3611880"/>
          </a:xfrm>
          <a:prstGeom prst="roundRect">
            <a:avLst>
              <a:gd fmla="val 4000" name="adj"/>
            </a:avLst>
          </a:prstGeom>
          <a:solidFill>
            <a:srgbClr val="FFFFFF"/>
          </a:solidFill>
          <a:ln cap="flat" cmpd="sng" w="19050">
            <a:solidFill>
              <a:srgbClr val="2E7D32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77" name="Google Shape;277;p5"/>
          <p:cNvSpPr/>
          <p:nvPr/>
        </p:nvSpPr>
        <p:spPr>
          <a:xfrm>
            <a:off x="8138160" y="1024128"/>
            <a:ext cx="3611880" cy="438912"/>
          </a:xfrm>
          <a:prstGeom prst="roundRect">
            <a:avLst>
              <a:gd fmla="val 4000" name="adj"/>
            </a:avLst>
          </a:prstGeom>
          <a:solidFill>
            <a:srgbClr val="2E7D3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8"/>
              <a:buFont typeface="Arial"/>
              <a:buNone/>
            </a:pPr>
            <a:r>
              <a:rPr b="1" i="0" lang="en-US" sz="1019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프로덕트랩 (ProductLab) — R&amp;I 기술원 실증 플랫폼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780"/>
              <a:buFont typeface="Arial"/>
              <a:buNone/>
            </a:pPr>
            <a:r>
              <a:rPr b="0" i="0" lang="en-US" sz="780" u="none" cap="none" strike="noStrike">
                <a:solidFill>
                  <a:srgbClr val="DCFCE7"/>
                </a:solidFill>
                <a:latin typeface="Malgun Gothic"/>
                <a:ea typeface="Malgun Gothic"/>
                <a:cs typeface="Malgun Gothic"/>
                <a:sym typeface="Malgun Gothic"/>
              </a:rPr>
              <a:t>배치 자료 수집 연동 (server-productlab · 데이터브릿지 협업)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5"/>
          <p:cNvSpPr/>
          <p:nvPr/>
        </p:nvSpPr>
        <p:spPr>
          <a:xfrm>
            <a:off x="8156448" y="1536192"/>
            <a:ext cx="3575304" cy="676656"/>
          </a:xfrm>
          <a:prstGeom prst="roundRect">
            <a:avLst>
              <a:gd fmla="val 4000" name="adj"/>
            </a:avLst>
          </a:prstGeom>
          <a:solidFill>
            <a:srgbClr val="ECFDF5"/>
          </a:solidFill>
          <a:ln cap="flat" cmpd="sng" w="11425">
            <a:solidFill>
              <a:srgbClr val="2E7D32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39"/>
              <a:buFont typeface="Arial"/>
              <a:buNone/>
            </a:pPr>
            <a:r>
              <a:rPr b="1" i="0" lang="en-US" sz="840" u="none" cap="none" strike="noStrike">
                <a:solidFill>
                  <a:srgbClr val="0B192C"/>
                </a:solidFill>
                <a:latin typeface="Malgun Gothic"/>
                <a:ea typeface="Malgun Gothic"/>
                <a:cs typeface="Malgun Gothic"/>
                <a:sym typeface="Malgun Gothic"/>
              </a:rPr>
              <a:t>① 원료 배합 및 세포 효능 데이터 관리/제공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710"/>
              <a:buFont typeface="Arial"/>
              <a:buNone/>
            </a:pPr>
            <a:r>
              <a:rPr b="0" i="0" lang="en-US" sz="710" u="none" cap="none" strike="noStrik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• 품목·처방코드별 원료 배합비 및 유효성분 함량 메타데이터 제공</a:t>
            </a:r>
            <a:br>
              <a:rPr b="0" i="0" lang="en-US" sz="710" u="none" cap="none" strike="noStrik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0" i="0" lang="en-US" sz="710" u="none" cap="none" strike="noStrik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• 원료코드별 세포 효능(In-vitro) 실험 결과 및 효능 클레임 근거 보유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5"/>
          <p:cNvSpPr/>
          <p:nvPr/>
        </p:nvSpPr>
        <p:spPr>
          <a:xfrm>
            <a:off x="8156448" y="2267712"/>
            <a:ext cx="3575304" cy="676656"/>
          </a:xfrm>
          <a:prstGeom prst="roundRect">
            <a:avLst>
              <a:gd fmla="val 4000" name="adj"/>
            </a:avLst>
          </a:prstGeom>
          <a:solidFill>
            <a:srgbClr val="ECFDF5"/>
          </a:solidFill>
          <a:ln cap="flat" cmpd="sng" w="11425">
            <a:solidFill>
              <a:srgbClr val="2E7D32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39"/>
              <a:buFont typeface="Arial"/>
              <a:buNone/>
            </a:pPr>
            <a:r>
              <a:rPr b="1" i="0" lang="en-US" sz="840" u="none" cap="none" strike="noStrike">
                <a:solidFill>
                  <a:srgbClr val="0B192C"/>
                </a:solidFill>
                <a:latin typeface="Malgun Gothic"/>
                <a:ea typeface="Malgun Gothic"/>
                <a:cs typeface="Malgun Gothic"/>
                <a:sym typeface="Malgun Gothic"/>
              </a:rPr>
              <a:t>② 기술원 인체적용시험 &amp; 설문(HUT) 완료 보고서 제공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710"/>
              <a:buFont typeface="Arial"/>
              <a:buNone/>
            </a:pPr>
            <a:r>
              <a:rPr b="0" i="0" lang="en-US" sz="710" u="none" cap="none" strike="noStrik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• R&amp;I 기술원 임상 시험성적서(피험자수, 시험기관, 기간, 통계 유의성)</a:t>
            </a:r>
            <a:br>
              <a:rPr b="0" i="0" lang="en-US" sz="710" u="none" cap="none" strike="noStrik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0" i="0" lang="en-US" sz="710" u="none" cap="none" strike="noStrik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• 소비자 사용감 설문조사(HUT) 완료 보고서 PDF 및 요약 메타 제공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5"/>
          <p:cNvSpPr/>
          <p:nvPr/>
        </p:nvSpPr>
        <p:spPr>
          <a:xfrm>
            <a:off x="8156448" y="2999232"/>
            <a:ext cx="3575304" cy="676656"/>
          </a:xfrm>
          <a:prstGeom prst="roundRect">
            <a:avLst>
              <a:gd fmla="val 4000" name="adj"/>
            </a:avLst>
          </a:prstGeom>
          <a:solidFill>
            <a:srgbClr val="ECFDF5"/>
          </a:solidFill>
          <a:ln cap="flat" cmpd="sng" w="11425">
            <a:solidFill>
              <a:srgbClr val="2E7D32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39"/>
              <a:buFont typeface="Arial"/>
              <a:buNone/>
            </a:pPr>
            <a:r>
              <a:rPr b="1" i="0" lang="en-US" sz="840" u="none" cap="none" strike="noStrike">
                <a:solidFill>
                  <a:srgbClr val="0B192C"/>
                </a:solidFill>
                <a:latin typeface="Malgun Gothic"/>
                <a:ea typeface="Malgun Gothic"/>
                <a:cs typeface="Malgun Gothic"/>
                <a:sym typeface="Malgun Gothic"/>
              </a:rPr>
              <a:t>③ 매일 새벽 02:00 일배치 동기화 (Batch 서버 :18084)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710"/>
              <a:buFont typeface="Arial"/>
              <a:buNone/>
            </a:pPr>
            <a:r>
              <a:rPr b="0" i="0" lang="en-US" sz="710" u="none" cap="none" strike="noStrik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• 매일 새벽 02:00 정기 일 배치(ProductLabSyncBatchJob)로 처방·전성분 및 신규 실증보고서 수집</a:t>
            </a:r>
            <a:br>
              <a:rPr b="0" i="0" lang="en-US" sz="710" u="none" cap="none" strike="noStrik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0" i="0" lang="en-US" sz="710" u="none" cap="none" strike="noStrik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5"/>
          <p:cNvSpPr/>
          <p:nvPr/>
        </p:nvSpPr>
        <p:spPr>
          <a:xfrm>
            <a:off x="8156448" y="3730752"/>
            <a:ext cx="3575304" cy="676656"/>
          </a:xfrm>
          <a:prstGeom prst="roundRect">
            <a:avLst>
              <a:gd fmla="val 4000" name="adj"/>
            </a:avLst>
          </a:prstGeom>
          <a:solidFill>
            <a:srgbClr val="ECFDF5"/>
          </a:solidFill>
          <a:ln cap="flat" cmpd="sng" w="11425">
            <a:solidFill>
              <a:srgbClr val="2E7D32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39"/>
              <a:buFont typeface="Arial"/>
              <a:buNone/>
            </a:pPr>
            <a:r>
              <a:rPr b="1" i="0" lang="en-US" sz="840" u="none" cap="none" strike="noStrike">
                <a:solidFill>
                  <a:srgbClr val="0B192C"/>
                </a:solidFill>
                <a:latin typeface="Malgun Gothic"/>
                <a:ea typeface="Malgun Gothic"/>
                <a:cs typeface="Malgun Gothic"/>
                <a:sym typeface="Malgun Gothic"/>
              </a:rPr>
              <a:t>④ 광고 실증 필요 문구 ↔ 시험성적서 자동 대조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710"/>
              <a:buFont typeface="Arial"/>
              <a:buNone/>
            </a:pPr>
            <a:r>
              <a:rPr b="0" i="0" lang="en-US" sz="710" u="none" cap="none" strike="noStrik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• 시안 내 수치·효능 주장(예: '장벽 78% 개선')과 수집된 보고서 본문·</a:t>
            </a:r>
            <a:br>
              <a:rPr b="0" i="0" lang="en-US" sz="710" u="none" cap="none" strike="noStrik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0" i="0" lang="en-US" sz="710" u="none" cap="none" strike="noStrik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  각주 조건을 자동 매칭하여 실증 부합 여부 및 근거 페이지 제시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5"/>
          <p:cNvSpPr/>
          <p:nvPr/>
        </p:nvSpPr>
        <p:spPr>
          <a:xfrm>
            <a:off x="8046720" y="4645152"/>
            <a:ext cx="3794760" cy="1911095"/>
          </a:xfrm>
          <a:prstGeom prst="roundRect">
            <a:avLst>
              <a:gd fmla="val 4000" name="adj"/>
            </a:avLst>
          </a:prstGeom>
          <a:solidFill>
            <a:srgbClr val="FFFBEB"/>
          </a:solidFill>
          <a:ln cap="flat" cmpd="sng" w="22850">
            <a:solidFill>
              <a:srgbClr val="ED7100"/>
            </a:solidFill>
            <a:prstDash val="dash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83" name="Google Shape;283;p5"/>
          <p:cNvSpPr/>
          <p:nvPr/>
        </p:nvSpPr>
        <p:spPr>
          <a:xfrm>
            <a:off x="8138160" y="4736592"/>
            <a:ext cx="3611880" cy="402336"/>
          </a:xfrm>
          <a:prstGeom prst="roundRect">
            <a:avLst>
              <a:gd fmla="val 4000" name="adj"/>
            </a:avLst>
          </a:prstGeom>
          <a:solidFill>
            <a:srgbClr val="ED71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[Option] KT 레몬 (KT Lemon) — 비교 검증 후 결정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760"/>
              <a:buFont typeface="Arial"/>
              <a:buNone/>
            </a:pPr>
            <a:r>
              <a:rPr b="0" i="0" lang="en-US" sz="76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기술원 보고서 벡터 매칭 후보 (필수 아님 · 비교 PoC 대상)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5"/>
          <p:cNvSpPr/>
          <p:nvPr/>
        </p:nvSpPr>
        <p:spPr>
          <a:xfrm>
            <a:off x="8156448" y="5193792"/>
            <a:ext cx="3575304" cy="1261872"/>
          </a:xfrm>
          <a:prstGeom prst="roundRect">
            <a:avLst>
              <a:gd fmla="val 4000" name="adj"/>
            </a:avLst>
          </a:prstGeom>
          <a:solidFill>
            <a:srgbClr val="FFFFFF"/>
          </a:solidFill>
          <a:ln cap="flat" cmpd="sng" w="12700">
            <a:solidFill>
              <a:srgbClr val="ED7100"/>
            </a:solidFill>
            <a:prstDash val="dash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80"/>
              <a:buFont typeface="Arial"/>
              <a:buNone/>
            </a:pPr>
            <a:r>
              <a:rPr b="1" i="0" lang="en-US" sz="780" u="none" cap="none" strike="noStrike">
                <a:solidFill>
                  <a:srgbClr val="D82C20"/>
                </a:solidFill>
                <a:latin typeface="Malgun Gothic"/>
                <a:ea typeface="Malgun Gothic"/>
                <a:cs typeface="Malgun Gothic"/>
                <a:sym typeface="Malgun Gothic"/>
              </a:rPr>
              <a:t>• 역할 정정: 화장품 전성분/배합한도 DB는 KT 레몬이 아닌 [마케팅허브 RDB] 보유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740"/>
              <a:buFont typeface="Arial"/>
              <a:buNone/>
            </a:pPr>
            <a:r>
              <a:rPr b="0" i="0" lang="en-US" sz="740" u="none" cap="none" strike="noStrik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• 옵션 기능: 기술원 완료 보고서(인체적용시험·설문) 텍스트를 벡터 임베딩하여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740"/>
              <a:buFont typeface="Arial"/>
              <a:buNone/>
            </a:pPr>
            <a:r>
              <a:rPr b="0" i="0" lang="en-US" sz="740" u="none" cap="none" strike="noStrik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  광고 문구와 유사도 매칭하는 외부 RAG 후보 플랫폼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740"/>
              <a:buFont typeface="Arial"/>
              <a:buNone/>
            </a:pPr>
            <a:r>
              <a:rPr b="0" i="0" lang="en-US" sz="740" u="none" cap="none" strike="noStrik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• 적용 방침: SyncGuard AI가 상용 LLM(Claude 등)으로 보고서를 직접 파싱·매칭하는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740"/>
              <a:buFont typeface="Arial"/>
              <a:buNone/>
            </a:pPr>
            <a:r>
              <a:rPr b="1" i="0" lang="en-US" sz="740" u="none" cap="none" strike="noStrike">
                <a:solidFill>
                  <a:srgbClr val="002C6C"/>
                </a:solidFill>
                <a:latin typeface="Malgun Gothic"/>
                <a:ea typeface="Malgun Gothic"/>
                <a:cs typeface="Malgun Gothic"/>
                <a:sym typeface="Malgun Gothic"/>
              </a:rPr>
              <a:t>  방식과 정확도·속도·운영성을 비교 검증(PoC)한 후 연계 여부를 최종 결정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5"/>
          <p:cNvSpPr/>
          <p:nvPr/>
        </p:nvSpPr>
        <p:spPr>
          <a:xfrm>
            <a:off x="4078224" y="2148840"/>
            <a:ext cx="347472" cy="594360"/>
          </a:xfrm>
          <a:prstGeom prst="roundRect">
            <a:avLst>
              <a:gd fmla="val 4000" name="adj"/>
            </a:avLst>
          </a:prstGeom>
          <a:solidFill>
            <a:srgbClr val="1A73C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80"/>
              <a:buFont typeface="Arial"/>
              <a:buNone/>
            </a:pPr>
            <a:r>
              <a:rPr b="1" i="0" lang="en-US" sz="68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신청</a:t>
            </a:r>
            <a:br>
              <a:rPr b="1" i="0" lang="en-US" sz="68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1" i="0" lang="en-US" sz="68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장면</a:t>
            </a:r>
            <a:br>
              <a:rPr b="1" i="0" lang="en-US" sz="68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1" i="0" lang="en-US" sz="68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▶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5"/>
          <p:cNvSpPr/>
          <p:nvPr/>
        </p:nvSpPr>
        <p:spPr>
          <a:xfrm>
            <a:off x="4078224" y="4800600"/>
            <a:ext cx="347472" cy="594360"/>
          </a:xfrm>
          <a:prstGeom prst="roundRect">
            <a:avLst>
              <a:gd fmla="val 4000" name="adj"/>
            </a:avLst>
          </a:prstGeom>
          <a:solidFill>
            <a:srgbClr val="002C6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80"/>
              <a:buFont typeface="Arial"/>
              <a:buNone/>
            </a:pPr>
            <a:r>
              <a:rPr b="1" i="0" lang="en-US" sz="68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◀</a:t>
            </a:r>
            <a:br>
              <a:rPr b="1" i="0" lang="en-US" sz="68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1" i="0" lang="en-US" sz="68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판정</a:t>
            </a:r>
            <a:br>
              <a:rPr b="1" i="0" lang="en-US" sz="68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1" i="0" lang="en-US" sz="68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콜백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5"/>
          <p:cNvSpPr/>
          <p:nvPr/>
        </p:nvSpPr>
        <p:spPr>
          <a:xfrm>
            <a:off x="7790688" y="2423160"/>
            <a:ext cx="347472" cy="594360"/>
          </a:xfrm>
          <a:prstGeom prst="roundRect">
            <a:avLst>
              <a:gd fmla="val 4000" name="adj"/>
            </a:avLst>
          </a:prstGeom>
          <a:solidFill>
            <a:srgbClr val="2E7D3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80"/>
              <a:buFont typeface="Arial"/>
              <a:buNone/>
            </a:pPr>
            <a:r>
              <a:rPr b="1" i="0" lang="en-US" sz="68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◀</a:t>
            </a:r>
            <a:br>
              <a:rPr b="1" i="0" lang="en-US" sz="68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1" i="0" lang="en-US" sz="68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배치</a:t>
            </a:r>
            <a:br>
              <a:rPr b="1" i="0" lang="en-US" sz="68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1" i="0" lang="en-US" sz="68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수집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5"/>
          <p:cNvSpPr/>
          <p:nvPr/>
        </p:nvSpPr>
        <p:spPr>
          <a:xfrm>
            <a:off x="7790688" y="5349240"/>
            <a:ext cx="347472" cy="594360"/>
          </a:xfrm>
          <a:prstGeom prst="roundRect">
            <a:avLst>
              <a:gd fmla="val 4000" name="adj"/>
            </a:avLst>
          </a:prstGeom>
          <a:solidFill>
            <a:srgbClr val="ED71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0"/>
              <a:buFont typeface="Arial"/>
              <a:buNone/>
            </a:pPr>
            <a:r>
              <a:rPr b="1" i="0" lang="en-US" sz="63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Option</a:t>
            </a:r>
            <a:br>
              <a:rPr b="1" i="0" lang="en-US" sz="63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1" i="0" lang="en-US" sz="63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비교</a:t>
            </a:r>
            <a:br>
              <a:rPr b="1" i="0" lang="en-US" sz="63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1" i="0" lang="en-US" sz="63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◀▶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6"/>
          <p:cNvSpPr txBox="1"/>
          <p:nvPr/>
        </p:nvSpPr>
        <p:spPr>
          <a:xfrm>
            <a:off x="411480" y="228600"/>
            <a:ext cx="11155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0B192C"/>
                </a:solidFill>
                <a:latin typeface="Malgun Gothic"/>
                <a:ea typeface="Malgun Gothic"/>
                <a:cs typeface="Malgun Gothic"/>
                <a:sym typeface="Malgun Gothic"/>
              </a:rPr>
              <a:t>5. 대외 연계 인터페이스 프로토콜 및 보안 감사 아키텍처 (External Interface &amp; Audit Security)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6"/>
          <p:cNvSpPr txBox="1"/>
          <p:nvPr/>
        </p:nvSpPr>
        <p:spPr>
          <a:xfrm>
            <a:off x="429768" y="621792"/>
            <a:ext cx="111556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8"/>
              <a:buFont typeface="Arial"/>
              <a:buNone/>
            </a:pPr>
            <a:r>
              <a:rPr b="0" i="0" lang="en-US" sz="1019" u="none" cap="none" strike="noStrike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사내 SSO(HB-SSO IAM), 마케팅허브 양방향 API/전성분 RDB, 프로덕트랩 실증 배치([Option] KT레몬), 비학습 LLM 보안 및 불변 감사 원장(WORM) 체계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6"/>
          <p:cNvSpPr/>
          <p:nvPr/>
        </p:nvSpPr>
        <p:spPr>
          <a:xfrm>
            <a:off x="411480" y="1051560"/>
            <a:ext cx="5440680" cy="25603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5225">
            <a:solidFill>
              <a:srgbClr val="1A73C7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96" name="Google Shape;296;p6"/>
          <p:cNvSpPr/>
          <p:nvPr/>
        </p:nvSpPr>
        <p:spPr>
          <a:xfrm>
            <a:off x="521208" y="1161288"/>
            <a:ext cx="5221224" cy="384048"/>
          </a:xfrm>
          <a:prstGeom prst="roundRect">
            <a:avLst>
              <a:gd fmla="val 16667" name="adj"/>
            </a:avLst>
          </a:prstGeom>
          <a:solidFill>
            <a:srgbClr val="1A73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사내 SSO (HB-SSO) &amp; IAM 기반 역할별 접근 통제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6"/>
          <p:cNvSpPr/>
          <p:nvPr/>
        </p:nvSpPr>
        <p:spPr>
          <a:xfrm>
            <a:off x="594360" y="1691640"/>
            <a:ext cx="109728" cy="109728"/>
          </a:xfrm>
          <a:prstGeom prst="ellipse">
            <a:avLst/>
          </a:prstGeom>
          <a:solidFill>
            <a:srgbClr val="1A73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98" name="Google Shape;298;p6"/>
          <p:cNvSpPr txBox="1"/>
          <p:nvPr/>
        </p:nvSpPr>
        <p:spPr>
          <a:xfrm>
            <a:off x="758952" y="1618488"/>
            <a:ext cx="49377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232F3E"/>
                </a:solidFill>
                <a:latin typeface="Malgun Gothic"/>
                <a:ea typeface="Malgun Gothic"/>
                <a:cs typeface="Malgun Gothic"/>
                <a:sym typeface="Malgun Gothic"/>
              </a:rPr>
              <a:t>프로토콜 &amp; 표준  |  </a:t>
            </a:r>
            <a:r>
              <a:rPr b="0" i="0" lang="en-US" sz="800" u="none" cap="none" strike="noStrike">
                <a:solidFill>
                  <a:srgbClr val="5A6C7D"/>
                </a:solidFill>
                <a:latin typeface="Malgun Gothic"/>
                <a:ea typeface="Malgun Gothic"/>
                <a:cs typeface="Malgun Gothic"/>
                <a:sym typeface="Malgun Gothic"/>
              </a:rPr>
              <a:t>OIDC (OpenID Connect / OAuth 2.0) 및 SAML 2.0 Web SSO 프로파일 지원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6"/>
          <p:cNvSpPr/>
          <p:nvPr/>
        </p:nvSpPr>
        <p:spPr>
          <a:xfrm>
            <a:off x="594360" y="2167128"/>
            <a:ext cx="109728" cy="109728"/>
          </a:xfrm>
          <a:prstGeom prst="ellipse">
            <a:avLst/>
          </a:prstGeom>
          <a:solidFill>
            <a:srgbClr val="1A73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00" name="Google Shape;300;p6"/>
          <p:cNvSpPr txBox="1"/>
          <p:nvPr/>
        </p:nvSpPr>
        <p:spPr>
          <a:xfrm>
            <a:off x="758952" y="2093976"/>
            <a:ext cx="49377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232F3E"/>
                </a:solidFill>
                <a:latin typeface="Malgun Gothic"/>
                <a:ea typeface="Malgun Gothic"/>
                <a:cs typeface="Malgun Gothic"/>
                <a:sym typeface="Malgun Gothic"/>
              </a:rPr>
              <a:t>인증 워크플로우  |  </a:t>
            </a:r>
            <a:r>
              <a:rPr b="0" i="0" lang="en-US" sz="800" u="none" cap="none" strike="noStrike">
                <a:solidFill>
                  <a:srgbClr val="5A6C7D"/>
                </a:solidFill>
                <a:latin typeface="Malgun Gothic"/>
                <a:ea typeface="Malgun Gothic"/>
                <a:cs typeface="Malgun Gothic"/>
                <a:sym typeface="Malgun Gothic"/>
              </a:rPr>
              <a:t>브라우저 로그인 ➔ 한빛글로벌 IdP 리다이렉트 ➔ 2FA 인증 ➔ Access/ID Token 발급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6"/>
          <p:cNvSpPr/>
          <p:nvPr/>
        </p:nvSpPr>
        <p:spPr>
          <a:xfrm>
            <a:off x="594360" y="2642616"/>
            <a:ext cx="109728" cy="109728"/>
          </a:xfrm>
          <a:prstGeom prst="ellipse">
            <a:avLst/>
          </a:prstGeom>
          <a:solidFill>
            <a:srgbClr val="1A73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02" name="Google Shape;302;p6"/>
          <p:cNvSpPr txBox="1"/>
          <p:nvPr/>
        </p:nvSpPr>
        <p:spPr>
          <a:xfrm>
            <a:off x="758952" y="2569464"/>
            <a:ext cx="49377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232F3E"/>
                </a:solidFill>
                <a:latin typeface="Malgun Gothic"/>
                <a:ea typeface="Malgun Gothic"/>
                <a:cs typeface="Malgun Gothic"/>
                <a:sym typeface="Malgun Gothic"/>
              </a:rPr>
              <a:t>역할 기반 권한 체계  |  마케터는 마케팅허브에서 의뢰·결과 조회, RA 심의관·관리자는 사내 IAM 인가 기반 통합 웹 콘솔(:3104) 접근</a:t>
            </a:r>
            <a:r>
              <a:rPr b="0" i="0" lang="en-US" sz="800" u="none" cap="none" strike="noStrike">
                <a:solidFill>
                  <a:srgbClr val="5A6C7D"/>
                </a:solidFill>
                <a:latin typeface="Malgun Gothic"/>
                <a:ea typeface="Malgun Gothic"/>
                <a:cs typeface="Malgun Gothic"/>
                <a:sym typeface="Malgun Gothic"/>
              </a:rP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6"/>
          <p:cNvSpPr/>
          <p:nvPr/>
        </p:nvSpPr>
        <p:spPr>
          <a:xfrm>
            <a:off x="594360" y="3118104"/>
            <a:ext cx="109728" cy="109728"/>
          </a:xfrm>
          <a:prstGeom prst="ellipse">
            <a:avLst/>
          </a:prstGeom>
          <a:solidFill>
            <a:srgbClr val="1A73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04" name="Google Shape;304;p6"/>
          <p:cNvSpPr txBox="1"/>
          <p:nvPr/>
        </p:nvSpPr>
        <p:spPr>
          <a:xfrm>
            <a:off x="758952" y="3044952"/>
            <a:ext cx="49377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232F3E"/>
                </a:solidFill>
                <a:latin typeface="Malgun Gothic"/>
                <a:ea typeface="Malgun Gothic"/>
                <a:cs typeface="Malgun Gothic"/>
                <a:sym typeface="Malgun Gothic"/>
              </a:rPr>
              <a:t>백오피스 권한 통제  |  통합 웹 콘솔 내 관리 메뉴 접근 시 사내 IAM 관리자 역할(validateBoAdminPermission) 검증 및 미보유 시 차단</a:t>
            </a:r>
            <a:r>
              <a:rPr b="0" i="0" lang="en-US" sz="800" u="none" cap="none" strike="noStrike">
                <a:solidFill>
                  <a:srgbClr val="5A6C7D"/>
                </a:solidFill>
                <a:latin typeface="Malgun Gothic"/>
                <a:ea typeface="Malgun Gothic"/>
                <a:cs typeface="Malgun Gothic"/>
                <a:sym typeface="Malgun Gothic"/>
              </a:rP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6"/>
          <p:cNvSpPr/>
          <p:nvPr/>
        </p:nvSpPr>
        <p:spPr>
          <a:xfrm>
            <a:off x="6263640" y="1051560"/>
            <a:ext cx="5513832" cy="25603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5225">
            <a:solidFill>
              <a:srgbClr val="7A3EC4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06" name="Google Shape;306;p6"/>
          <p:cNvSpPr/>
          <p:nvPr/>
        </p:nvSpPr>
        <p:spPr>
          <a:xfrm>
            <a:off x="6373368" y="1161288"/>
            <a:ext cx="5294376" cy="384048"/>
          </a:xfrm>
          <a:prstGeom prst="roundRect">
            <a:avLst>
              <a:gd fmla="val 16667" name="adj"/>
            </a:avLst>
          </a:prstGeom>
          <a:solidFill>
            <a:srgbClr val="7A3EC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마케팅허브(MarketingHub) 인터페이스 연동 &amp; 300MB 직접 업로드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6"/>
          <p:cNvSpPr/>
          <p:nvPr/>
        </p:nvSpPr>
        <p:spPr>
          <a:xfrm>
            <a:off x="6446520" y="1691640"/>
            <a:ext cx="109728" cy="109728"/>
          </a:xfrm>
          <a:prstGeom prst="ellipse">
            <a:avLst/>
          </a:prstGeom>
          <a:solidFill>
            <a:srgbClr val="7A3EC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08" name="Google Shape;308;p6"/>
          <p:cNvSpPr txBox="1"/>
          <p:nvPr/>
        </p:nvSpPr>
        <p:spPr>
          <a:xfrm>
            <a:off x="6611112" y="1618488"/>
            <a:ext cx="50109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"/>
              <a:buFont typeface="Arial"/>
              <a:buNone/>
            </a:pPr>
            <a:r>
              <a:rPr b="0" i="0" lang="en-US" sz="880" u="none" cap="none" strike="noStrik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대용량 우회 업로드  |  마케팅허브 단일 DB 부하 방지를 위해 300MB 영상·시안은 대외 연계 API(:18085) S3 Presigned URL로 직접 업로드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6"/>
          <p:cNvSpPr/>
          <p:nvPr/>
        </p:nvSpPr>
        <p:spPr>
          <a:xfrm>
            <a:off x="6446520" y="2167128"/>
            <a:ext cx="109728" cy="109728"/>
          </a:xfrm>
          <a:prstGeom prst="ellipse">
            <a:avLst/>
          </a:prstGeom>
          <a:solidFill>
            <a:srgbClr val="7A3EC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10" name="Google Shape;310;p6"/>
          <p:cNvSpPr txBox="1"/>
          <p:nvPr/>
        </p:nvSpPr>
        <p:spPr>
          <a:xfrm>
            <a:off x="6611112" y="2093976"/>
            <a:ext cx="50109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"/>
              <a:buFont typeface="Arial"/>
              <a:buNone/>
            </a:pPr>
            <a:r>
              <a:rPr b="0" i="0" lang="en-US" sz="880" u="none" cap="none" strike="noStrik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전성분/배합한도 RDB  |  마케팅허브 보유 화장품 전성분 표준 사전, 영문 INCI, 배합 한도(%), 금지 원료 RDB 조회·동기화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6"/>
          <p:cNvSpPr/>
          <p:nvPr/>
        </p:nvSpPr>
        <p:spPr>
          <a:xfrm>
            <a:off x="6446520" y="2642616"/>
            <a:ext cx="109728" cy="109728"/>
          </a:xfrm>
          <a:prstGeom prst="ellipse">
            <a:avLst/>
          </a:prstGeom>
          <a:solidFill>
            <a:srgbClr val="7A3EC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12" name="Google Shape;312;p6"/>
          <p:cNvSpPr txBox="1"/>
          <p:nvPr/>
        </p:nvSpPr>
        <p:spPr>
          <a:xfrm>
            <a:off x="6611112" y="2569464"/>
            <a:ext cx="50109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"/>
              <a:buFont typeface="Arial"/>
              <a:buNone/>
            </a:pPr>
            <a:r>
              <a:rPr b="0" i="0" lang="en-US" sz="880" u="none" cap="none" strike="noStrik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결과 회신 &amp; 골든셋  |  RA 최종 확정 시 마케팅허브으로 심의 결과(HTML/JSON/PDF) Webhook 회신 및 '반영' 건 골든셋 자동 축적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6"/>
          <p:cNvSpPr/>
          <p:nvPr/>
        </p:nvSpPr>
        <p:spPr>
          <a:xfrm>
            <a:off x="6446520" y="3118104"/>
            <a:ext cx="109728" cy="109728"/>
          </a:xfrm>
          <a:prstGeom prst="ellipse">
            <a:avLst/>
          </a:prstGeom>
          <a:solidFill>
            <a:srgbClr val="7A3EC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14" name="Google Shape;314;p6"/>
          <p:cNvSpPr txBox="1"/>
          <p:nvPr/>
        </p:nvSpPr>
        <p:spPr>
          <a:xfrm>
            <a:off x="6611112" y="3044952"/>
            <a:ext cx="50109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"/>
              <a:buFont typeface="Arial"/>
              <a:buNone/>
            </a:pPr>
            <a:r>
              <a:rPr b="0" i="0" lang="en-US" sz="880" u="none" cap="none" strike="noStrik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장애 복구 정책  |  HMAC-SHA256 서명 검증 및 마케팅허브 통신 장애 시 지수 백오프(1분➔5분➔30분) 최대 5회 자동 재시도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6"/>
          <p:cNvSpPr/>
          <p:nvPr/>
        </p:nvSpPr>
        <p:spPr>
          <a:xfrm>
            <a:off x="411480" y="3794760"/>
            <a:ext cx="5440680" cy="26060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5225">
            <a:solidFill>
              <a:srgbClr val="ED7100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16" name="Google Shape;316;p6"/>
          <p:cNvSpPr/>
          <p:nvPr/>
        </p:nvSpPr>
        <p:spPr>
          <a:xfrm>
            <a:off x="521208" y="3904488"/>
            <a:ext cx="5221224" cy="384048"/>
          </a:xfrm>
          <a:prstGeom prst="roundRect">
            <a:avLst>
              <a:gd fmla="val 16667" name="adj"/>
            </a:avLst>
          </a:prstGeom>
          <a:solidFill>
            <a:srgbClr val="ED71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프로덕트랩(ProductLab) 실증 배치 &amp; [Option] KT 레몬 연계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6"/>
          <p:cNvSpPr/>
          <p:nvPr/>
        </p:nvSpPr>
        <p:spPr>
          <a:xfrm>
            <a:off x="594360" y="4434840"/>
            <a:ext cx="109728" cy="109728"/>
          </a:xfrm>
          <a:prstGeom prst="ellipse">
            <a:avLst/>
          </a:prstGeom>
          <a:solidFill>
            <a:srgbClr val="ED71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18" name="Google Shape;318;p6"/>
          <p:cNvSpPr txBox="1"/>
          <p:nvPr/>
        </p:nvSpPr>
        <p:spPr>
          <a:xfrm>
            <a:off x="758952" y="4361688"/>
            <a:ext cx="49377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"/>
              <a:buFont typeface="Arial"/>
              <a:buNone/>
            </a:pPr>
            <a:r>
              <a:rPr b="0" i="0" lang="en-US" sz="880" u="none" cap="none" strike="noStrik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ProductLab 새벽 일배치  |  독립 Batch 서버(:18084)에서 매일 새벽 02:00(ProductLabSyncBatchJob) 전성분·처방·시험성적서 동기화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6"/>
          <p:cNvSpPr/>
          <p:nvPr/>
        </p:nvSpPr>
        <p:spPr>
          <a:xfrm>
            <a:off x="594360" y="4910328"/>
            <a:ext cx="109728" cy="109728"/>
          </a:xfrm>
          <a:prstGeom prst="ellipse">
            <a:avLst/>
          </a:prstGeom>
          <a:solidFill>
            <a:srgbClr val="ED71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20" name="Google Shape;320;p6"/>
          <p:cNvSpPr txBox="1"/>
          <p:nvPr/>
        </p:nvSpPr>
        <p:spPr>
          <a:xfrm>
            <a:off x="758952" y="4837176"/>
            <a:ext cx="49377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"/>
              <a:buFont typeface="Arial"/>
              <a:buNone/>
            </a:pPr>
            <a:r>
              <a:rPr b="0" i="0" lang="en-US" sz="880" u="none" cap="none" strike="noStrik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기술원 임상/설문 보고서  |  인체적용시험 완료 보고서 및 설문조사(HUT) PDF·메타데이터 수집 및 광고 실증 문구 자동 대조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6"/>
          <p:cNvSpPr/>
          <p:nvPr/>
        </p:nvSpPr>
        <p:spPr>
          <a:xfrm>
            <a:off x="594360" y="5385816"/>
            <a:ext cx="109728" cy="109728"/>
          </a:xfrm>
          <a:prstGeom prst="ellipse">
            <a:avLst/>
          </a:prstGeom>
          <a:solidFill>
            <a:srgbClr val="ED71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22" name="Google Shape;322;p6"/>
          <p:cNvSpPr txBox="1"/>
          <p:nvPr/>
        </p:nvSpPr>
        <p:spPr>
          <a:xfrm>
            <a:off x="758952" y="5312664"/>
            <a:ext cx="49377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"/>
              <a:buFont typeface="Arial"/>
              <a:buNone/>
            </a:pPr>
            <a:r>
              <a:rPr b="1" i="0" lang="en-US" sz="880" u="none" cap="none" strike="noStrike">
                <a:solidFill>
                  <a:srgbClr val="ED7100"/>
                </a:solidFill>
                <a:latin typeface="Malgun Gothic"/>
                <a:ea typeface="Malgun Gothic"/>
                <a:cs typeface="Malgun Gothic"/>
                <a:sym typeface="Malgun Gothic"/>
              </a:rPr>
              <a:t>[Option] KT 레몬 검증  |  기술원 보고서 벡터 매칭 후보(Option) — 상용 LLM 직접 파싱 방식과 정확도·속도 비교 PoC 후 결정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6"/>
          <p:cNvSpPr/>
          <p:nvPr/>
        </p:nvSpPr>
        <p:spPr>
          <a:xfrm>
            <a:off x="594360" y="5861304"/>
            <a:ext cx="109728" cy="109728"/>
          </a:xfrm>
          <a:prstGeom prst="ellipse">
            <a:avLst/>
          </a:prstGeom>
          <a:solidFill>
            <a:srgbClr val="ED71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24" name="Google Shape;324;p6"/>
          <p:cNvSpPr txBox="1"/>
          <p:nvPr/>
        </p:nvSpPr>
        <p:spPr>
          <a:xfrm>
            <a:off x="758952" y="5788152"/>
            <a:ext cx="49377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"/>
              <a:buFont typeface="Arial"/>
              <a:buNone/>
            </a:pPr>
            <a:r>
              <a:rPr b="0" i="0" lang="en-US" sz="880" u="none" cap="none" strike="noStrik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데이터브릿지(DataBridge) 협업  |  11~12월 연계 개발 및 2027년 4월 통합테스트 일정에 맞춘 표준 배치/API 인터페이스 구축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6"/>
          <p:cNvSpPr/>
          <p:nvPr/>
        </p:nvSpPr>
        <p:spPr>
          <a:xfrm>
            <a:off x="6263640" y="3794760"/>
            <a:ext cx="5513832" cy="26060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5225">
            <a:solidFill>
              <a:srgbClr val="2E7D32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26" name="Google Shape;326;p6"/>
          <p:cNvSpPr/>
          <p:nvPr/>
        </p:nvSpPr>
        <p:spPr>
          <a:xfrm>
            <a:off x="6373368" y="3904488"/>
            <a:ext cx="5294376" cy="384048"/>
          </a:xfrm>
          <a:prstGeom prst="roundRect">
            <a:avLst>
              <a:gd fmla="val 16667" name="adj"/>
            </a:avLst>
          </a:prstGeom>
          <a:solidFill>
            <a:srgbClr val="2E7D3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Arial"/>
              <a:buNone/>
            </a:pPr>
            <a:r>
              <a:rPr b="1" i="0" lang="en-US" sz="108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비학습(Zero Data Retention) LLM 보안 &amp; 불변 감사 원장(WORM)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6"/>
          <p:cNvSpPr/>
          <p:nvPr/>
        </p:nvSpPr>
        <p:spPr>
          <a:xfrm>
            <a:off x="6446520" y="4434840"/>
            <a:ext cx="109728" cy="109728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28" name="Google Shape;328;p6"/>
          <p:cNvSpPr txBox="1"/>
          <p:nvPr/>
        </p:nvSpPr>
        <p:spPr>
          <a:xfrm>
            <a:off x="6611112" y="4361688"/>
            <a:ext cx="50109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"/>
              <a:buFont typeface="Arial"/>
              <a:buNone/>
            </a:pPr>
            <a:r>
              <a:rPr b="0" i="0" lang="en-US" sz="880" u="none" cap="none" strike="noStrik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미출시 신제품 비학습 보장  |  기업용 상용 LLM(Claude 등) Zero Data Retention 계약으로 미출시 신제품 시안 외부 학습 원천 차단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6"/>
          <p:cNvSpPr/>
          <p:nvPr/>
        </p:nvSpPr>
        <p:spPr>
          <a:xfrm>
            <a:off x="6446520" y="4910328"/>
            <a:ext cx="109728" cy="109728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30" name="Google Shape;330;p6"/>
          <p:cNvSpPr txBox="1"/>
          <p:nvPr/>
        </p:nvSpPr>
        <p:spPr>
          <a:xfrm>
            <a:off x="6611112" y="4837176"/>
            <a:ext cx="50109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"/>
              <a:buFont typeface="Arial"/>
              <a:buNone/>
            </a:pPr>
            <a:r>
              <a:rPr b="0" i="0" lang="en-US" sz="880" u="none" cap="none" strike="noStrik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영구 불변 감사 원장  |  review_history_immutable(WORM): 시안 문장·영상 장면, AI 1차 판정, RA 수정·확정 내역 INSERT 전용 보존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6"/>
          <p:cNvSpPr/>
          <p:nvPr/>
        </p:nvSpPr>
        <p:spPr>
          <a:xfrm>
            <a:off x="6446520" y="5385816"/>
            <a:ext cx="109728" cy="109728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32" name="Google Shape;332;p6"/>
          <p:cNvSpPr txBox="1"/>
          <p:nvPr/>
        </p:nvSpPr>
        <p:spPr>
          <a:xfrm>
            <a:off x="6611112" y="5312664"/>
            <a:ext cx="50109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"/>
              <a:buFont typeface="Arial"/>
              <a:buNone/>
            </a:pPr>
            <a:r>
              <a:rPr b="0" i="0" lang="en-US" sz="880" u="none" cap="none" strike="noStrik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식약처 행정조사 대응  |  제품 표시·광고 실증제 및 사후 행정조사 대응을 위한 5년 법정 보관 및 공식 심의 리포트 즉시 출력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6"/>
          <p:cNvSpPr/>
          <p:nvPr/>
        </p:nvSpPr>
        <p:spPr>
          <a:xfrm>
            <a:off x="6446520" y="5861304"/>
            <a:ext cx="109728" cy="109728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34" name="Google Shape;334;p6"/>
          <p:cNvSpPr txBox="1"/>
          <p:nvPr/>
        </p:nvSpPr>
        <p:spPr>
          <a:xfrm>
            <a:off x="6611112" y="5788152"/>
            <a:ext cx="50109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"/>
              <a:buFont typeface="Arial"/>
              <a:buNone/>
            </a:pPr>
            <a:r>
              <a:rPr b="0" i="0" lang="en-US" sz="880" u="none" cap="none" strike="noStrik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데이터 무결성 검증  |  SHA-256 해시 체이닝을 통한 심의 이력 위변조 방지 및 접근 권한별 열람 감사 로그 영구 기록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7"/>
          <p:cNvSpPr txBox="1"/>
          <p:nvPr/>
        </p:nvSpPr>
        <p:spPr>
          <a:xfrm>
            <a:off x="429768" y="603504"/>
            <a:ext cx="112471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"/>
              <a:buFont typeface="Arial"/>
              <a:buNone/>
            </a:pPr>
            <a:r>
              <a:rPr sz="880" b="1">
                <a:solidFill>
                  <a:srgbClr val="002C6C"/>
                </a:solidFill>
                <a:latin typeface="Malgun Gothic"/>
              </a:rPr>
              <a:t>★ 인프라팀 의견 반영: BO ALB(사용자대역 오픈) / 대외연계 ALB(마케팅허브만 오픈) 물리 분리 · BE/API➔Agent EKS Service 통신 · S3 Intelligent-Tiering · AP 기본스펙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7"/>
          <p:cNvSpPr/>
          <p:nvPr/>
        </p:nvSpPr>
        <p:spPr>
          <a:xfrm>
            <a:off x="804672" y="1024128"/>
            <a:ext cx="384048" cy="310896"/>
          </a:xfrm>
          <a:prstGeom prst="roundRect">
            <a:avLst>
              <a:gd fmla="val 18000" name="adj"/>
            </a:avLst>
          </a:prstGeom>
          <a:solidFill>
            <a:srgbClr val="4A90D9"/>
          </a:solidFill>
          <a:ln cap="flat" cmpd="sng" w="12700">
            <a:solidFill>
              <a:srgbClr val="4A90D9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Arial"/>
              <a:buNone/>
            </a:pPr>
            <a:r>
              <a:rPr b="1" i="0" lang="en-US" sz="6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USER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7"/>
          <p:cNvSpPr txBox="1"/>
          <p:nvPr/>
        </p:nvSpPr>
        <p:spPr>
          <a:xfrm>
            <a:off x="137160" y="1371600"/>
            <a:ext cx="17373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사내망 / VPN 사용자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7"/>
          <p:cNvSpPr txBox="1"/>
          <p:nvPr/>
        </p:nvSpPr>
        <p:spPr>
          <a:xfrm>
            <a:off x="137160" y="1554480"/>
            <a:ext cx="17373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Arial"/>
              <a:buNone/>
            </a:pPr>
            <a:r>
              <a:rPr sz="650" b="1">
                <a:solidFill>
                  <a:srgbClr val="1A73C7"/>
                </a:solidFill>
                <a:latin typeface="Malgun Gothic"/>
              </a:rPr>
              <a:t>사내 PC ➔ BO ALB (:443)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/>
            <a:r>
              <a:rPr sz="630" b="0">
                <a:solidFill>
                  <a:srgbClr val="475569"/>
                </a:solidFill>
                <a:latin typeface="Malgun Gothic"/>
              </a:rPr>
              <a:t>사용자대역 Inbound 허용</a:t>
            </a:r>
          </a:p>
        </p:txBody>
      </p:sp>
      <p:sp>
        <p:nvSpPr>
          <p:cNvPr id="343" name="Google Shape;343;p7"/>
          <p:cNvSpPr/>
          <p:nvPr/>
        </p:nvSpPr>
        <p:spPr>
          <a:xfrm>
            <a:off x="4663440" y="960120"/>
            <a:ext cx="3154680" cy="1024128"/>
          </a:xfrm>
          <a:prstGeom prst="rect">
            <a:avLst/>
          </a:prstGeom>
          <a:noFill/>
          <a:ln cap="flat" cmpd="sng" w="9525">
            <a:solidFill>
              <a:srgbClr val="333333"/>
            </a:solidFill>
            <a:prstDash val="dash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44" name="Google Shape;344;p7"/>
          <p:cNvSpPr/>
          <p:nvPr/>
        </p:nvSpPr>
        <p:spPr>
          <a:xfrm>
            <a:off x="6053328" y="1097280"/>
            <a:ext cx="384048" cy="310896"/>
          </a:xfrm>
          <a:prstGeom prst="roundRect">
            <a:avLst>
              <a:gd fmla="val 18000" name="adj"/>
            </a:avLst>
          </a:prstGeom>
          <a:solidFill>
            <a:srgbClr val="4A90D9"/>
          </a:solidFill>
          <a:ln cap="flat" cmpd="sng" w="12700">
            <a:solidFill>
              <a:srgbClr val="4A90D9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7"/>
          <p:cNvSpPr txBox="1"/>
          <p:nvPr/>
        </p:nvSpPr>
        <p:spPr>
          <a:xfrm>
            <a:off x="4846320" y="1444752"/>
            <a:ext cx="27889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40"/>
              <a:buFont typeface="Arial"/>
              <a:buNone/>
            </a:pPr>
            <a:r>
              <a:rPr b="1" i="0" lang="en-US" sz="740" u="none" cap="none" strike="noStrik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기업용 LLM &amp; 네이버 OCR (:443)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7"/>
          <p:cNvSpPr txBox="1"/>
          <p:nvPr/>
        </p:nvSpPr>
        <p:spPr>
          <a:xfrm>
            <a:off x="4800600" y="1618488"/>
            <a:ext cx="28803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0"/>
              <a:buFont typeface="Arial"/>
              <a:buNone/>
            </a:pPr>
            <a:r>
              <a:rPr sz="620" b="1">
                <a:solidFill>
                  <a:srgbClr val="D82C20"/>
                </a:solidFill>
                <a:latin typeface="Malgun Gothic"/>
              </a:rPr>
              <a:t>비학습 상용 LLM · 1536d 임베딩 Outbound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/>
            <a:r>
              <a:rPr sz="620" b="0">
                <a:solidFill>
                  <a:srgbClr val="475569"/>
                </a:solidFill>
                <a:latin typeface="Malgun Gothic"/>
              </a:rPr>
              <a:t>네이버 클로바 OCR(*.apigw.ntruss.com) / 패들OCR</a:t>
            </a:r>
          </a:p>
        </p:txBody>
      </p:sp>
      <p:sp>
        <p:nvSpPr>
          <p:cNvPr id="347" name="Google Shape;347;p7"/>
          <p:cNvSpPr/>
          <p:nvPr/>
        </p:nvSpPr>
        <p:spPr>
          <a:xfrm>
            <a:off x="8183879" y="960120"/>
            <a:ext cx="3611880" cy="1024128"/>
          </a:xfrm>
          <a:prstGeom prst="rect">
            <a:avLst/>
          </a:prstGeom>
          <a:noFill/>
          <a:ln cap="flat" cmpd="sng" w="9525">
            <a:solidFill>
              <a:srgbClr val="3F7EBF"/>
            </a:solidFill>
            <a:prstDash val="dash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48" name="Google Shape;348;p7"/>
          <p:cNvSpPr/>
          <p:nvPr/>
        </p:nvSpPr>
        <p:spPr>
          <a:xfrm>
            <a:off x="8869680" y="1115568"/>
            <a:ext cx="365760" cy="310896"/>
          </a:xfrm>
          <a:prstGeom prst="roundRect">
            <a:avLst>
              <a:gd fmla="val 18000" name="adj"/>
            </a:avLst>
          </a:prstGeom>
          <a:solidFill>
            <a:srgbClr val="4A90D9"/>
          </a:solidFill>
          <a:ln cap="flat" cmpd="sng" w="12700">
            <a:solidFill>
              <a:srgbClr val="4A90D9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Arial"/>
              <a:buNone/>
            </a:pPr>
            <a:r>
              <a:rPr b="1" i="0" lang="en-US" sz="6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MKTHUB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7"/>
          <p:cNvSpPr txBox="1"/>
          <p:nvPr/>
        </p:nvSpPr>
        <p:spPr>
          <a:xfrm>
            <a:off x="8211312" y="1444752"/>
            <a:ext cx="1682496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"/>
              <a:buFont typeface="Arial"/>
              <a:buNone/>
            </a:pPr>
            <a:r>
              <a:rPr b="1" i="0" lang="en-US" sz="720" u="none" cap="none" strike="noStrik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MarketingHub / ProductLab 방화벽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7"/>
          <p:cNvSpPr txBox="1"/>
          <p:nvPr/>
        </p:nvSpPr>
        <p:spPr>
          <a:xfrm>
            <a:off x="8193024" y="1618488"/>
            <a:ext cx="1719072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10"/>
              <a:buFont typeface="Arial"/>
              <a:buNone/>
            </a:pPr>
            <a:r>
              <a:rPr sz="610" b="1">
                <a:solidFill>
                  <a:srgbClr val="D82C20"/>
                </a:solidFill>
                <a:latin typeface="Malgun Gothic"/>
              </a:rPr>
              <a:t>마케팅허브 ➔ 대외연계 ALB(:443) 단독 오픈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/>
            <a:r>
              <a:rPr sz="610" b="0">
                <a:solidFill>
                  <a:srgbClr val="7A3EC4"/>
                </a:solidFill>
                <a:latin typeface="Malgun Gothic"/>
              </a:rPr>
              <a:t>ProductLab: 매일 02:00 일배치 / [Option] 레몬</a:t>
            </a:r>
          </a:p>
        </p:txBody>
      </p:sp>
      <p:sp>
        <p:nvSpPr>
          <p:cNvPr id="351" name="Google Shape;351;p7"/>
          <p:cNvSpPr/>
          <p:nvPr/>
        </p:nvSpPr>
        <p:spPr>
          <a:xfrm>
            <a:off x="10561320" y="1115568"/>
            <a:ext cx="365760" cy="310896"/>
          </a:xfrm>
          <a:prstGeom prst="roundRect">
            <a:avLst>
              <a:gd fmla="val 18000" name="adj"/>
            </a:avLst>
          </a:prstGeom>
          <a:solidFill>
            <a:srgbClr val="4A90D9"/>
          </a:solidFill>
          <a:ln cap="flat" cmpd="sng" w="12700">
            <a:solidFill>
              <a:srgbClr val="4A90D9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Arial"/>
              <a:buNone/>
            </a:pPr>
            <a:r>
              <a:rPr b="1" i="0" lang="en-US" sz="6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SSO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7"/>
          <p:cNvSpPr txBox="1"/>
          <p:nvPr/>
        </p:nvSpPr>
        <p:spPr>
          <a:xfrm>
            <a:off x="9985248" y="1444752"/>
            <a:ext cx="1719072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"/>
              <a:buFont typeface="Arial"/>
              <a:buNone/>
            </a:pPr>
            <a:r>
              <a:rPr b="1" i="0" lang="en-US" sz="720" u="none" cap="none" strike="noStrik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사내 SSO (HB-SSO IAM)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7"/>
          <p:cNvSpPr txBox="1"/>
          <p:nvPr/>
        </p:nvSpPr>
        <p:spPr>
          <a:xfrm>
            <a:off x="9966960" y="1618488"/>
            <a:ext cx="1755648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10"/>
              <a:buFont typeface="Arial"/>
              <a:buNone/>
            </a:pPr>
            <a:r>
              <a:rPr b="1" i="0" lang="en-US" sz="610" u="none" cap="none" strike="noStrike">
                <a:solidFill>
                  <a:srgbClr val="D82C20"/>
                </a:solidFill>
                <a:latin typeface="Malgun Gothic"/>
                <a:ea typeface="Malgun Gothic"/>
                <a:cs typeface="Malgun Gothic"/>
                <a:sym typeface="Malgun Gothic"/>
              </a:rPr>
              <a:t>업무/API Pod ➔ SSO·IAM (:443) 오픈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10"/>
              <a:buFont typeface="Arial"/>
              <a:buNone/>
            </a:pPr>
            <a:r>
              <a:rPr b="0" i="0" lang="en-US" sz="610" u="none" cap="none" strike="noStrike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통합 웹 콘솔(:3104) 사내 IAM 역할별 권한 인가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7"/>
          <p:cNvSpPr/>
          <p:nvPr/>
        </p:nvSpPr>
        <p:spPr>
          <a:xfrm>
            <a:off x="365760" y="2148840"/>
            <a:ext cx="11430000" cy="4434840"/>
          </a:xfrm>
          <a:prstGeom prst="rect">
            <a:avLst/>
          </a:prstGeom>
          <a:noFill/>
          <a:ln cap="flat" cmpd="sng" w="12700">
            <a:solidFill>
              <a:srgbClr val="5A6C7D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55" name="Google Shape;355;p7"/>
          <p:cNvSpPr/>
          <p:nvPr/>
        </p:nvSpPr>
        <p:spPr>
          <a:xfrm>
            <a:off x="457200" y="2221992"/>
            <a:ext cx="155448" cy="155448"/>
          </a:xfrm>
          <a:prstGeom prst="rect">
            <a:avLst/>
          </a:prstGeom>
          <a:solidFill>
            <a:srgbClr val="5A6C7D"/>
          </a:solidFill>
          <a:ln cap="flat" cmpd="sng" w="12700">
            <a:solidFill>
              <a:srgbClr val="5A6C7D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Arial"/>
              <a:buNone/>
            </a:pPr>
            <a:r>
              <a:rPr b="1" i="0" lang="en-US" sz="6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7"/>
          <p:cNvSpPr txBox="1"/>
          <p:nvPr/>
        </p:nvSpPr>
        <p:spPr>
          <a:xfrm>
            <a:off x="649224" y="2208276"/>
            <a:ext cx="10972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595F66"/>
                </a:solidFill>
                <a:latin typeface="Arial"/>
                <a:ea typeface="Arial"/>
                <a:cs typeface="Arial"/>
                <a:sym typeface="Arial"/>
              </a:rPr>
              <a:t>AWS Cloud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7"/>
          <p:cNvSpPr/>
          <p:nvPr/>
        </p:nvSpPr>
        <p:spPr>
          <a:xfrm>
            <a:off x="566928" y="2468880"/>
            <a:ext cx="11027664" cy="4005072"/>
          </a:xfrm>
          <a:prstGeom prst="rect">
            <a:avLst/>
          </a:prstGeom>
          <a:noFill/>
          <a:ln cap="flat" cmpd="sng" w="12700">
            <a:solidFill>
              <a:srgbClr val="8C4FFF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58" name="Google Shape;358;p7"/>
          <p:cNvSpPr/>
          <p:nvPr/>
        </p:nvSpPr>
        <p:spPr>
          <a:xfrm>
            <a:off x="658368" y="2542032"/>
            <a:ext cx="155448" cy="155448"/>
          </a:xfrm>
          <a:prstGeom prst="rect">
            <a:avLst/>
          </a:prstGeom>
          <a:solidFill>
            <a:srgbClr val="8C4FFF"/>
          </a:solidFill>
          <a:ln cap="flat" cmpd="sng" w="12700">
            <a:solidFill>
              <a:srgbClr val="8C4FFF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Arial"/>
              <a:buNone/>
            </a:pPr>
            <a:r>
              <a:rPr b="1" i="0" lang="en-US" sz="6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7"/>
          <p:cNvSpPr txBox="1"/>
          <p:nvPr/>
        </p:nvSpPr>
        <p:spPr>
          <a:xfrm>
            <a:off x="850392" y="2528315"/>
            <a:ext cx="7315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595F66"/>
                </a:solidFill>
                <a:latin typeface="Arial"/>
                <a:ea typeface="Arial"/>
                <a:cs typeface="Arial"/>
                <a:sym typeface="Arial"/>
              </a:rPr>
              <a:t>VPC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7"/>
          <p:cNvSpPr/>
          <p:nvPr/>
        </p:nvSpPr>
        <p:spPr>
          <a:xfrm>
            <a:off x="768096" y="2761488"/>
            <a:ext cx="8321040" cy="841248"/>
          </a:xfrm>
          <a:prstGeom prst="rect">
            <a:avLst/>
          </a:prstGeom>
          <a:solidFill>
            <a:srgbClr val="F2F7FC"/>
          </a:solidFill>
          <a:ln cap="flat" cmpd="sng" w="11425">
            <a:solidFill>
              <a:srgbClr val="3F7EBF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61" name="Google Shape;361;p7"/>
          <p:cNvSpPr/>
          <p:nvPr/>
        </p:nvSpPr>
        <p:spPr>
          <a:xfrm>
            <a:off x="841248" y="2816352"/>
            <a:ext cx="155448" cy="155448"/>
          </a:xfrm>
          <a:prstGeom prst="rect">
            <a:avLst/>
          </a:prstGeom>
          <a:solidFill>
            <a:srgbClr val="3F7EBF"/>
          </a:solidFill>
          <a:ln cap="flat" cmpd="sng" w="12700">
            <a:solidFill>
              <a:srgbClr val="3F7EBF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Arial"/>
              <a:buNone/>
            </a:pPr>
            <a:r>
              <a:rPr b="1" i="0" lang="en-US" sz="6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7"/>
          <p:cNvSpPr txBox="1"/>
          <p:nvPr/>
        </p:nvSpPr>
        <p:spPr>
          <a:xfrm>
            <a:off x="1033271" y="2798064"/>
            <a:ext cx="20574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0"/>
              <a:buFont typeface="Arial"/>
              <a:buNone/>
            </a:pPr>
            <a:r>
              <a:rPr sz="730" b="1">
                <a:solidFill>
                  <a:srgbClr val="D82C20"/>
                </a:solidFill>
                <a:latin typeface="Malgun Gothic"/>
              </a:rPr>
              <a:t>Private subnet (LB 분리) ★요청②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7"/>
          <p:cNvSpPr/>
          <p:nvPr/>
        </p:nvSpPr>
        <p:spPr>
          <a:xfrm>
            <a:off x="1417320" y="3017520"/>
            <a:ext cx="566928" cy="365760"/>
          </a:xfrm>
          <a:prstGeom prst="roundRect">
            <a:avLst>
              <a:gd fmla="val 18000" name="adj"/>
            </a:avLst>
          </a:prstGeom>
          <a:solidFill>
            <a:srgbClr val="8C4FFF"/>
          </a:solidFill>
          <a:ln cap="flat" cmpd="sng" w="12700">
            <a:solidFill>
              <a:srgbClr val="8C4FFF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sz="800" b="1">
                <a:solidFill>
                  <a:srgbClr val="FFFFFF"/>
                </a:solidFill>
                <a:latin typeface="Arial"/>
              </a:rPr>
              <a:t>BO ALB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7"/>
          <p:cNvSpPr txBox="1"/>
          <p:nvPr/>
        </p:nvSpPr>
        <p:spPr>
          <a:xfrm>
            <a:off x="1005840" y="3410712"/>
            <a:ext cx="1389888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sz="700" b="1">
                <a:solidFill>
                  <a:srgbClr val="D82C20"/>
                </a:solidFill>
                <a:latin typeface="Malgun Gothic"/>
              </a:rPr>
              <a:t>★ BO: syncguard-ai-bo-prv-alb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7"/>
          <p:cNvSpPr txBox="1"/>
          <p:nvPr/>
        </p:nvSpPr>
        <p:spPr>
          <a:xfrm>
            <a:off x="2029968" y="3035808"/>
            <a:ext cx="160020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80"/>
              <a:buFont typeface="Arial"/>
              <a:buNone/>
            </a:pPr>
            <a:r>
              <a:rPr sz="680" b="1">
                <a:solidFill>
                  <a:srgbClr val="D82C20"/>
                </a:solidFill>
                <a:latin typeface="Malgun Gothic"/>
              </a:rPr>
              <a:t>[BO ALB] 사용자대역 오픈(:443)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7"/>
          <p:cNvSpPr txBox="1"/>
          <p:nvPr/>
        </p:nvSpPr>
        <p:spPr>
          <a:xfrm>
            <a:off x="2029968" y="3209544"/>
            <a:ext cx="16002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"/>
              <a:buFont typeface="Arial"/>
              <a:buNone/>
            </a:pPr>
            <a:r>
              <a:rPr sz="640" b="0">
                <a:solidFill>
                  <a:srgbClr val="1E293B"/>
                </a:solidFill>
                <a:latin typeface="Malgun Gothic"/>
              </a:rPr>
              <a:t>통합웹(:3104) · 업무BE(:18080)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7"/>
          <p:cNvSpPr/>
          <p:nvPr/>
        </p:nvSpPr>
        <p:spPr>
          <a:xfrm>
            <a:off x="768096" y="3694176"/>
            <a:ext cx="8321040" cy="1627632"/>
          </a:xfrm>
          <a:prstGeom prst="rect">
            <a:avLst/>
          </a:prstGeom>
          <a:noFill/>
          <a:ln cap="flat" cmpd="sng" w="11425">
            <a:solidFill>
              <a:srgbClr val="3F7EBF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68" name="Google Shape;368;p7"/>
          <p:cNvSpPr/>
          <p:nvPr/>
        </p:nvSpPr>
        <p:spPr>
          <a:xfrm>
            <a:off x="841248" y="3721608"/>
            <a:ext cx="155448" cy="155448"/>
          </a:xfrm>
          <a:prstGeom prst="rect">
            <a:avLst/>
          </a:prstGeom>
          <a:solidFill>
            <a:srgbClr val="3F7EBF"/>
          </a:solidFill>
          <a:ln cap="flat" cmpd="sng" w="12700">
            <a:solidFill>
              <a:srgbClr val="3F7EBF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Arial"/>
              <a:buNone/>
            </a:pPr>
            <a:r>
              <a:rPr b="1" i="0" lang="en-US" sz="6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7"/>
          <p:cNvSpPr txBox="1"/>
          <p:nvPr/>
        </p:nvSpPr>
        <p:spPr>
          <a:xfrm>
            <a:off x="1033271" y="3703320"/>
            <a:ext cx="1335024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80"/>
              <a:buFont typeface="Arial"/>
              <a:buNone/>
            </a:pPr>
            <a:r>
              <a:rPr b="1" i="0" lang="en-US" sz="680" u="none" cap="none" strike="noStrike">
                <a:solidFill>
                  <a:srgbClr val="D82C20"/>
                </a:solidFill>
                <a:latin typeface="Malgun Gothic"/>
                <a:ea typeface="Malgun Gothic"/>
                <a:cs typeface="Malgun Gothic"/>
                <a:sym typeface="Malgun Gothic"/>
              </a:rPr>
              <a:t>Private subnet (EKS) ★요청③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7"/>
          <p:cNvSpPr/>
          <p:nvPr/>
        </p:nvSpPr>
        <p:spPr>
          <a:xfrm>
            <a:off x="932688" y="3950208"/>
            <a:ext cx="7991856" cy="1298448"/>
          </a:xfrm>
          <a:prstGeom prst="rect">
            <a:avLst/>
          </a:prstGeom>
          <a:noFill/>
          <a:ln cap="flat" cmpd="sng" w="11425">
            <a:solidFill>
              <a:srgbClr val="ED7100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71" name="Google Shape;371;p7"/>
          <p:cNvSpPr/>
          <p:nvPr/>
        </p:nvSpPr>
        <p:spPr>
          <a:xfrm>
            <a:off x="1005840" y="3941063"/>
            <a:ext cx="155448" cy="155448"/>
          </a:xfrm>
          <a:prstGeom prst="rect">
            <a:avLst/>
          </a:prstGeom>
          <a:solidFill>
            <a:srgbClr val="ED7100"/>
          </a:solidFill>
          <a:ln cap="flat" cmpd="sng" w="12700">
            <a:solidFill>
              <a:srgbClr val="ED7100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"/>
              <a:buFont typeface="Arial"/>
              <a:buNone/>
            </a:pPr>
            <a:r>
              <a:rPr b="1" i="0" lang="en-US" sz="55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EKS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7"/>
          <p:cNvSpPr/>
          <p:nvPr/>
        </p:nvSpPr>
        <p:spPr>
          <a:xfrm>
            <a:off x="1060704" y="4151376"/>
            <a:ext cx="7735824" cy="1042415"/>
          </a:xfrm>
          <a:prstGeom prst="rect">
            <a:avLst/>
          </a:prstGeom>
          <a:noFill/>
          <a:ln cap="flat" cmpd="sng" w="9525">
            <a:solidFill>
              <a:srgbClr val="ED7100"/>
            </a:solidFill>
            <a:prstDash val="dash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73" name="Google Shape;373;p7"/>
          <p:cNvSpPr/>
          <p:nvPr/>
        </p:nvSpPr>
        <p:spPr>
          <a:xfrm>
            <a:off x="1133856" y="4151376"/>
            <a:ext cx="155448" cy="155448"/>
          </a:xfrm>
          <a:prstGeom prst="rect">
            <a:avLst/>
          </a:prstGeom>
          <a:solidFill>
            <a:srgbClr val="ED7100"/>
          </a:solidFill>
          <a:ln cap="flat" cmpd="sng" w="12700">
            <a:solidFill>
              <a:srgbClr val="ED7100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"/>
              <a:buFont typeface="Arial"/>
              <a:buNone/>
            </a:pPr>
            <a:r>
              <a:rPr b="1" i="0" lang="en-US" sz="55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POD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7"/>
          <p:cNvSpPr/>
          <p:nvPr/>
        </p:nvSpPr>
        <p:spPr>
          <a:xfrm>
            <a:off x="1160000" y="4315968"/>
            <a:ext cx="1780000" cy="82296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D82C20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75" name="Google Shape;375;p7"/>
          <p:cNvSpPr txBox="1"/>
          <p:nvPr/>
        </p:nvSpPr>
        <p:spPr>
          <a:xfrm>
            <a:off x="1160000" y="4334256"/>
            <a:ext cx="178000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"/>
              <a:buFont typeface="Arial"/>
              <a:buNone/>
            </a:pPr>
            <a:r>
              <a:rPr b="1" i="0" lang="en-US" sz="580" u="none" cap="none" strike="noStrike">
                <a:solidFill>
                  <a:srgbClr val="D82C20"/>
                </a:solidFill>
                <a:latin typeface="Malgun Gothic"/>
                <a:ea typeface="Malgun Gothic"/>
                <a:cs typeface="Malgun Gothic"/>
                <a:sym typeface="Malgun Gothic"/>
              </a:rPr>
              <a:t>★ ① 통합 웹 &amp; 업무 파드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7"/>
          <p:cNvSpPr/>
          <p:nvPr/>
        </p:nvSpPr>
        <p:spPr>
          <a:xfrm>
            <a:off x="1912840" y="4498848"/>
            <a:ext cx="274320" cy="237744"/>
          </a:xfrm>
          <a:prstGeom prst="roundRect">
            <a:avLst>
              <a:gd fmla="val 18000" name="adj"/>
            </a:avLst>
          </a:prstGeom>
          <a:solidFill>
            <a:srgbClr val="ED7100"/>
          </a:solidFill>
          <a:ln cap="flat" cmpd="sng" w="12700">
            <a:solidFill>
              <a:srgbClr val="ED7100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77" name="Google Shape;377;p7"/>
          <p:cNvSpPr txBox="1"/>
          <p:nvPr/>
        </p:nvSpPr>
        <p:spPr>
          <a:xfrm>
            <a:off x="1160000" y="4727448"/>
            <a:ext cx="178000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"/>
              <a:buFont typeface="Arial"/>
              <a:buNone/>
            </a:pPr>
            <a:r>
              <a:rPr b="1" i="0" lang="en-US" sz="620" u="none" cap="none" strike="noStrike">
                <a:solidFill>
                  <a:srgbClr val="0B192C"/>
                </a:solidFill>
                <a:latin typeface="Malgun Gothic"/>
                <a:ea typeface="Malgun Gothic"/>
                <a:cs typeface="Malgun Gothic"/>
                <a:sym typeface="Malgun Gothic"/>
              </a:rPr>
              <a:t>Client/fe(:3104) + server-be(:18080)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7"/>
          <p:cNvSpPr txBox="1"/>
          <p:nvPr/>
        </p:nvSpPr>
        <p:spPr>
          <a:xfrm>
            <a:off x="1160000" y="4882896"/>
            <a:ext cx="17800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10"/>
              <a:buFont typeface="Arial"/>
              <a:buNone/>
            </a:pPr>
            <a:r>
              <a:rPr sz="540" b="1">
                <a:solidFill>
                  <a:srgbClr val="1A73C7"/>
                </a:solidFill>
                <a:latin typeface="Malgun Gothic"/>
              </a:rPr>
              <a:t>웹 영상재생·특정화면 멈춤 장면 추가/편집/삭제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/>
            <a:r>
              <a:rPr sz="530" b="0">
                <a:solidFill>
                  <a:srgbClr val="1E293B"/>
                </a:solidFill>
                <a:latin typeface="Malgun Gothic"/>
              </a:rPr>
              <a:t>BO➔Agent 호출 · 상충탐지 · RA확정 · 백오피스</a:t>
            </a:r>
          </a:p>
        </p:txBody>
      </p:sp>
      <p:sp>
        <p:nvSpPr>
          <p:cNvPr id="374" name="Google Shape;374;p7"/>
          <p:cNvSpPr/>
          <p:nvPr/>
        </p:nvSpPr>
        <p:spPr>
          <a:xfrm>
            <a:off x="3090000" y="4315968"/>
            <a:ext cx="1780000" cy="82296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D82C20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75" name="Google Shape;375;p7"/>
          <p:cNvSpPr txBox="1"/>
          <p:nvPr/>
        </p:nvSpPr>
        <p:spPr>
          <a:xfrm>
            <a:off x="3090000" y="4334256"/>
            <a:ext cx="178000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"/>
              <a:buFont typeface="Arial"/>
              <a:buNone/>
            </a:pPr>
            <a:r>
              <a:rPr b="1" i="0" lang="en-US" sz="580" u="none" cap="none" strike="noStrike">
                <a:solidFill>
                  <a:srgbClr val="D82C20"/>
                </a:solidFill>
                <a:latin typeface="Malgun Gothic"/>
                <a:ea typeface="Malgun Gothic"/>
                <a:cs typeface="Malgun Gothic"/>
                <a:sym typeface="Malgun Gothic"/>
              </a:rPr>
              <a:t>★ ② 대외 연계 API 파드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7"/>
          <p:cNvSpPr/>
          <p:nvPr/>
        </p:nvSpPr>
        <p:spPr>
          <a:xfrm>
            <a:off x="3842840" y="4498848"/>
            <a:ext cx="274320" cy="237744"/>
          </a:xfrm>
          <a:prstGeom prst="roundRect">
            <a:avLst>
              <a:gd fmla="val 18000" name="adj"/>
            </a:avLst>
          </a:prstGeom>
          <a:solidFill>
            <a:srgbClr val="ED7100"/>
          </a:solidFill>
          <a:ln cap="flat" cmpd="sng" w="12700">
            <a:solidFill>
              <a:srgbClr val="ED7100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77" name="Google Shape;377;p7"/>
          <p:cNvSpPr txBox="1"/>
          <p:nvPr/>
        </p:nvSpPr>
        <p:spPr>
          <a:xfrm>
            <a:off x="3090000" y="4727448"/>
            <a:ext cx="178000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"/>
              <a:buFont typeface="Arial"/>
              <a:buNone/>
            </a:pPr>
            <a:r>
              <a:rPr b="1" i="0" lang="en-US" sz="620" u="none" cap="none" strike="noStrike">
                <a:solidFill>
                  <a:srgbClr val="0B192C"/>
                </a:solidFill>
                <a:latin typeface="Malgun Gothic"/>
                <a:ea typeface="Malgun Gothic"/>
                <a:cs typeface="Malgun Gothic"/>
                <a:sym typeface="Malgun Gothic"/>
              </a:rPr>
              <a:t>server-api (:18085)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7"/>
          <p:cNvSpPr txBox="1"/>
          <p:nvPr/>
        </p:nvSpPr>
        <p:spPr>
          <a:xfrm>
            <a:off x="3090000" y="4882896"/>
            <a:ext cx="17800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10"/>
              <a:buFont typeface="Arial"/>
              <a:buNone/>
            </a:pPr>
            <a:r>
              <a:rPr sz="540" b="1">
                <a:solidFill>
                  <a:srgbClr val="1A73C7"/>
                </a:solidFill>
                <a:latin typeface="Malgun Gothic"/>
              </a:rPr>
              <a:t>마케팅허브 전용 ALB 인바운드 · 결과 웹훅 회신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/>
            <a:r>
              <a:rPr sz="530" b="0">
                <a:solidFill>
                  <a:srgbClr val="1E293B"/>
                </a:solidFill>
                <a:latin typeface="Malgun Gothic"/>
              </a:rPr>
              <a:t>300MB S3 업로드 · API➔Agent EKS Service 호출</a:t>
            </a:r>
          </a:p>
        </p:txBody>
      </p:sp>
      <p:sp>
        <p:nvSpPr>
          <p:cNvPr id="379" name="Google Shape;379;p7"/>
          <p:cNvSpPr/>
          <p:nvPr/>
        </p:nvSpPr>
        <p:spPr>
          <a:xfrm>
            <a:off x="5020000" y="4315968"/>
            <a:ext cx="1780000" cy="82296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D82C20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80" name="Google Shape;380;p7"/>
          <p:cNvSpPr txBox="1"/>
          <p:nvPr/>
        </p:nvSpPr>
        <p:spPr>
          <a:xfrm>
            <a:off x="5020000" y="4334256"/>
            <a:ext cx="178000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"/>
              <a:buFont typeface="Arial"/>
              <a:buNone/>
            </a:pPr>
            <a:r>
              <a:rPr b="1" i="0" lang="en-US" sz="580" u="none" cap="none" strike="noStrike">
                <a:solidFill>
                  <a:srgbClr val="D82C20"/>
                </a:solidFill>
                <a:latin typeface="Malgun Gothic"/>
                <a:ea typeface="Malgun Gothic"/>
                <a:cs typeface="Malgun Gothic"/>
                <a:sym typeface="Malgun Gothic"/>
              </a:rPr>
              <a:t>★ ③ AI 에이전트 파드 (4건 큐)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7"/>
          <p:cNvSpPr/>
          <p:nvPr/>
        </p:nvSpPr>
        <p:spPr>
          <a:xfrm>
            <a:off x="5772840" y="4498848"/>
            <a:ext cx="274320" cy="237744"/>
          </a:xfrm>
          <a:prstGeom prst="roundRect">
            <a:avLst>
              <a:gd fmla="val 18000" name="adj"/>
            </a:avLst>
          </a:prstGeom>
          <a:solidFill>
            <a:srgbClr val="1A73C7"/>
          </a:solidFill>
          <a:ln cap="flat" cmpd="sng" w="12700">
            <a:solidFill>
              <a:srgbClr val="1A73C7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82" name="Google Shape;382;p7"/>
          <p:cNvSpPr txBox="1"/>
          <p:nvPr/>
        </p:nvSpPr>
        <p:spPr>
          <a:xfrm>
            <a:off x="5020000" y="4727448"/>
            <a:ext cx="178000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"/>
              <a:buFont typeface="Arial"/>
              <a:buNone/>
            </a:pPr>
            <a:r>
              <a:rPr b="1" i="0" lang="en-US" sz="620" u="none" cap="none" strike="noStrike">
                <a:solidFill>
                  <a:srgbClr val="0B192C"/>
                </a:solidFill>
                <a:latin typeface="Malgun Gothic"/>
                <a:ea typeface="Malgun Gothic"/>
                <a:cs typeface="Malgun Gothic"/>
                <a:sym typeface="Malgun Gothic"/>
              </a:rPr>
              <a:t>server-ai-agent (:18083)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p7"/>
          <p:cNvSpPr txBox="1"/>
          <p:nvPr/>
        </p:nvSpPr>
        <p:spPr>
          <a:xfrm>
            <a:off x="5020000" y="4882896"/>
            <a:ext cx="17800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10"/>
              <a:buFont typeface="Arial"/>
              <a:buNone/>
            </a:pPr>
            <a:r>
              <a:rPr sz="540" b="1">
                <a:solidFill>
                  <a:srgbClr val="1A73C7"/>
                </a:solidFill>
                <a:latin typeface="Malgun Gothic"/>
              </a:rPr>
              <a:t>OpenCV 피크프레임 1차 자동추출 + 웹 보정장면 분석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/>
            <a:r>
              <a:rPr sz="530" b="0">
                <a:solidFill>
                  <a:srgbClr val="1E293B"/>
                </a:solidFill>
                <a:latin typeface="Malgun Gothic"/>
              </a:rPr>
              <a:t>네이버/패들 OCR · 동시 4건 세마포어 + QUEUED</a:t>
            </a:r>
          </a:p>
        </p:txBody>
      </p:sp>
      <p:sp>
        <p:nvSpPr>
          <p:cNvPr id="384" name="Google Shape;384;p7"/>
          <p:cNvSpPr/>
          <p:nvPr/>
        </p:nvSpPr>
        <p:spPr>
          <a:xfrm>
            <a:off x="6950000" y="4315968"/>
            <a:ext cx="1780000" cy="82296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D82C20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85" name="Google Shape;385;p7"/>
          <p:cNvSpPr txBox="1"/>
          <p:nvPr/>
        </p:nvSpPr>
        <p:spPr>
          <a:xfrm>
            <a:off x="6950000" y="4334256"/>
            <a:ext cx="178000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"/>
              <a:buFont typeface="Arial"/>
              <a:buNone/>
            </a:pPr>
            <a:r>
              <a:rPr b="1" i="0" lang="en-US" sz="580" u="none" cap="none" strike="noStrike">
                <a:solidFill>
                  <a:srgbClr val="D82C20"/>
                </a:solidFill>
                <a:latin typeface="Malgun Gothic"/>
                <a:ea typeface="Malgun Gothic"/>
                <a:cs typeface="Malgun Gothic"/>
                <a:sym typeface="Malgun Gothic"/>
              </a:rPr>
              <a:t>★ ④ 배치 파드 (새벽 일배치)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p7"/>
          <p:cNvSpPr/>
          <p:nvPr/>
        </p:nvSpPr>
        <p:spPr>
          <a:xfrm>
            <a:off x="7702840" y="4498848"/>
            <a:ext cx="274320" cy="237744"/>
          </a:xfrm>
          <a:prstGeom prst="roundRect">
            <a:avLst>
              <a:gd fmla="val 18000" name="adj"/>
            </a:avLst>
          </a:prstGeom>
          <a:solidFill>
            <a:srgbClr val="7A3EC4"/>
          </a:solidFill>
          <a:ln cap="flat" cmpd="sng" w="12700">
            <a:solidFill>
              <a:srgbClr val="7A3EC4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87" name="Google Shape;387;p7"/>
          <p:cNvSpPr txBox="1"/>
          <p:nvPr/>
        </p:nvSpPr>
        <p:spPr>
          <a:xfrm>
            <a:off x="6950000" y="4727448"/>
            <a:ext cx="178000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"/>
              <a:buFont typeface="Arial"/>
              <a:buNone/>
            </a:pPr>
            <a:r>
              <a:rPr b="1" i="0" lang="en-US" sz="620" u="none" cap="none" strike="noStrike">
                <a:solidFill>
                  <a:srgbClr val="0B192C"/>
                </a:solidFill>
                <a:latin typeface="Malgun Gothic"/>
                <a:ea typeface="Malgun Gothic"/>
                <a:cs typeface="Malgun Gothic"/>
                <a:sym typeface="Malgun Gothic"/>
              </a:rPr>
              <a:t>server-batch (:18084)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p7"/>
          <p:cNvSpPr txBox="1"/>
          <p:nvPr/>
        </p:nvSpPr>
        <p:spPr>
          <a:xfrm>
            <a:off x="6950000" y="4882896"/>
            <a:ext cx="17800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10"/>
              <a:buFont typeface="Arial"/>
              <a:buNone/>
            </a:pPr>
            <a:r>
              <a:rPr b="1" i="0" lang="en-US" sz="540" u="none" cap="none" strike="noStrike">
                <a:solidFill>
                  <a:srgbClr val="1A73C7"/>
                </a:solidFill>
                <a:latin typeface="Malgun Gothic"/>
                <a:ea typeface="Malgun Gothic"/>
                <a:cs typeface="Malgun Gothic"/>
                <a:sym typeface="Malgun Gothic"/>
              </a:rPr>
              <a:t>매일 02:00 ProductLab 전성분·실증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530" u="none" cap="none" strike="noStrike">
                <a:solidFill>
                  <a:srgbClr val="7A3EC4"/>
                </a:solidFill>
                <a:latin typeface="Malgun Gothic"/>
                <a:ea typeface="Malgun Gothic"/>
                <a:cs typeface="Malgun Gothic"/>
                <a:sym typeface="Malgun Gothic"/>
              </a:rPr>
              <a:t>02:30 KT레몬 · 법령 Diff 벡터화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" name="Google Shape;389;p7"/>
          <p:cNvSpPr/>
          <p:nvPr/>
        </p:nvSpPr>
        <p:spPr>
          <a:xfrm>
            <a:off x="768096" y="5413248"/>
            <a:ext cx="8321040" cy="960120"/>
          </a:xfrm>
          <a:prstGeom prst="rect">
            <a:avLst/>
          </a:prstGeom>
          <a:noFill/>
          <a:ln cap="flat" cmpd="sng" w="11425">
            <a:solidFill>
              <a:srgbClr val="3F7EBF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90" name="Google Shape;390;p7"/>
          <p:cNvSpPr/>
          <p:nvPr/>
        </p:nvSpPr>
        <p:spPr>
          <a:xfrm>
            <a:off x="841248" y="5468112"/>
            <a:ext cx="155448" cy="155448"/>
          </a:xfrm>
          <a:prstGeom prst="rect">
            <a:avLst/>
          </a:prstGeom>
          <a:solidFill>
            <a:srgbClr val="3F7EBF"/>
          </a:solidFill>
          <a:ln cap="flat" cmpd="sng" w="12700">
            <a:solidFill>
              <a:srgbClr val="3F7EBF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Arial"/>
              <a:buNone/>
            </a:pPr>
            <a:r>
              <a:rPr b="1" i="0" lang="en-US" sz="6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p7"/>
          <p:cNvSpPr txBox="1"/>
          <p:nvPr/>
        </p:nvSpPr>
        <p:spPr>
          <a:xfrm>
            <a:off x="1033271" y="5449824"/>
            <a:ext cx="1335024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80"/>
              <a:buFont typeface="Arial"/>
              <a:buNone/>
            </a:pPr>
            <a:r>
              <a:rPr b="1" i="0" lang="en-US" sz="680" u="none" cap="none" strike="noStrike">
                <a:solidFill>
                  <a:srgbClr val="D82C20"/>
                </a:solidFill>
                <a:latin typeface="Malgun Gothic"/>
                <a:ea typeface="Malgun Gothic"/>
                <a:cs typeface="Malgun Gothic"/>
                <a:sym typeface="Malgun Gothic"/>
              </a:rPr>
              <a:t>Private subnet (DB) ★요청④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7"/>
          <p:cNvSpPr/>
          <p:nvPr/>
        </p:nvSpPr>
        <p:spPr>
          <a:xfrm>
            <a:off x="2148840" y="5605272"/>
            <a:ext cx="475488" cy="475488"/>
          </a:xfrm>
          <a:prstGeom prst="ellipse">
            <a:avLst/>
          </a:prstGeom>
          <a:solidFill>
            <a:srgbClr val="2E3A8C"/>
          </a:solidFill>
          <a:ln cap="flat" cmpd="sng" w="12700">
            <a:solidFill>
              <a:srgbClr val="2E3A8C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p7"/>
          <p:cNvSpPr txBox="1"/>
          <p:nvPr/>
        </p:nvSpPr>
        <p:spPr>
          <a:xfrm>
            <a:off x="1463040" y="6089904"/>
            <a:ext cx="1847088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0"/>
              <a:buFont typeface="Arial"/>
              <a:buNone/>
            </a:pPr>
            <a:r>
              <a:rPr b="1" i="0" lang="en-US" sz="730" u="none" cap="none" strike="noStrike">
                <a:solidFill>
                  <a:srgbClr val="D82C20"/>
                </a:solidFill>
                <a:latin typeface="Malgun Gothic"/>
                <a:ea typeface="Malgun Gothic"/>
                <a:cs typeface="Malgun Gothic"/>
                <a:sym typeface="Malgun Gothic"/>
              </a:rPr>
              <a:t>★ RDS PostgreSQL 16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p7"/>
          <p:cNvSpPr txBox="1"/>
          <p:nvPr/>
        </p:nvSpPr>
        <p:spPr>
          <a:xfrm>
            <a:off x="1325880" y="6236208"/>
            <a:ext cx="2121408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0"/>
              <a:buFont typeface="Arial"/>
              <a:buNone/>
            </a:pPr>
            <a:r>
              <a:rPr b="1" i="0" lang="en-US" sz="630" u="none" cap="none" strike="noStrik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hb_syncguard_ai (:5432)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p7"/>
          <p:cNvSpPr txBox="1"/>
          <p:nvPr/>
        </p:nvSpPr>
        <p:spPr>
          <a:xfrm>
            <a:off x="3063240" y="5724144"/>
            <a:ext cx="306324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0"/>
              <a:buFont typeface="Arial"/>
              <a:buNone/>
            </a:pPr>
            <a:r>
              <a:rPr sz="620" b="1">
                <a:solidFill>
                  <a:srgbClr val="0B192C"/>
                </a:solidFill>
                <a:latin typeface="Malgun Gothic"/>
              </a:rPr>
              <a:t>• 스펙: HB RDS 표준 기본 제공 타입 우선 구성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/>
            <a:r>
              <a:rPr sz="620" b="0">
                <a:solidFill>
                  <a:srgbClr val="1E293B"/>
                </a:solidFill>
                <a:latin typeface="Malgun Gothic"/>
              </a:rPr>
              <a:t>  (성능테스트 시 리소스 부족 지속 시 스펙 증설 요청)</a:t>
            </a:r>
          </a:p>
          <a:p>
            <a:pPr algn="l"/>
            <a:r>
              <a:rPr sz="620" b="0">
                <a:solidFill>
                  <a:srgbClr val="1E293B"/>
                </a:solidFill>
                <a:latin typeface="Malgun Gothic"/>
              </a:rPr>
              <a:t>• 단일 PostgreSQL 내 서비스·RAG(1536d) 스키마 통합</a:t>
            </a:r>
          </a:p>
        </p:txBody>
      </p:sp>
      <p:sp>
        <p:nvSpPr>
          <p:cNvPr id="396" name="Google Shape;396;p7"/>
          <p:cNvSpPr/>
          <p:nvPr/>
        </p:nvSpPr>
        <p:spPr>
          <a:xfrm>
            <a:off x="7260336" y="5513832"/>
            <a:ext cx="493776" cy="384048"/>
          </a:xfrm>
          <a:prstGeom prst="roundRect">
            <a:avLst>
              <a:gd fmla="val 18000" name="adj"/>
            </a:avLst>
          </a:prstGeom>
          <a:solidFill>
            <a:srgbClr val="1A73C7"/>
          </a:solidFill>
          <a:ln cap="flat" cmpd="sng" w="12700">
            <a:solidFill>
              <a:srgbClr val="1A73C7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RAG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p7"/>
          <p:cNvSpPr txBox="1"/>
          <p:nvPr/>
        </p:nvSpPr>
        <p:spPr>
          <a:xfrm>
            <a:off x="6053328" y="5925312"/>
            <a:ext cx="2907792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"/>
              <a:buFont typeface="Arial"/>
              <a:buNone/>
            </a:pPr>
            <a:r>
              <a:rPr b="1" i="0" lang="en-US" sz="720" u="none" cap="none" strike="noStrike">
                <a:solidFill>
                  <a:srgbClr val="D82C20"/>
                </a:solidFill>
                <a:latin typeface="Malgun Gothic"/>
                <a:ea typeface="Malgun Gothic"/>
                <a:cs typeface="Malgun Gothic"/>
                <a:sym typeface="Malgun Gothic"/>
              </a:rPr>
              <a:t>★ pgvector 확장 통합 (PostgreSQL 내장)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p7"/>
          <p:cNvSpPr txBox="1"/>
          <p:nvPr/>
        </p:nvSpPr>
        <p:spPr>
          <a:xfrm>
            <a:off x="6053328" y="6089904"/>
            <a:ext cx="2907792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10"/>
              <a:buFont typeface="Arial"/>
              <a:buNone/>
            </a:pPr>
            <a:r>
              <a:rPr b="1" i="0" lang="en-US" sz="610" u="none" cap="none" strike="noStrik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CREATE EXTENSION vector; 필수 활성화 (:5432)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10"/>
              <a:buFont typeface="Arial"/>
              <a:buNone/>
            </a:pPr>
            <a:r>
              <a:rPr b="0" i="0" lang="en-US" sz="610" u="none" cap="none" strike="noStrike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규제 조항 · 기술원 보고서 1536차원 HNSW 벡터 인덱스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p7"/>
          <p:cNvSpPr/>
          <p:nvPr/>
        </p:nvSpPr>
        <p:spPr>
          <a:xfrm>
            <a:off x="9802368" y="5449824"/>
            <a:ext cx="512064" cy="420624"/>
          </a:xfrm>
          <a:prstGeom prst="roundRect">
            <a:avLst>
              <a:gd fmla="val 18000" name="adj"/>
            </a:avLst>
          </a:prstGeom>
          <a:solidFill>
            <a:srgbClr val="7AA116"/>
          </a:solidFill>
          <a:ln cap="flat" cmpd="sng" w="12700">
            <a:solidFill>
              <a:srgbClr val="7AA116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p7"/>
          <p:cNvSpPr txBox="1"/>
          <p:nvPr/>
        </p:nvSpPr>
        <p:spPr>
          <a:xfrm>
            <a:off x="9006840" y="5907024"/>
            <a:ext cx="21031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0"/>
              <a:buFont typeface="Arial"/>
              <a:buNone/>
            </a:pPr>
            <a:r>
              <a:rPr b="1" i="0" lang="en-US" sz="730" u="none" cap="none" strike="noStrike">
                <a:solidFill>
                  <a:srgbClr val="D82C20"/>
                </a:solidFill>
                <a:latin typeface="Malgun Gothic"/>
                <a:ea typeface="Malgun Gothic"/>
                <a:cs typeface="Malgun Gothic"/>
                <a:sym typeface="Malgun Gothic"/>
              </a:rPr>
              <a:t>★ 요청 ⑤ AWS S3 버킷 생성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p7"/>
          <p:cNvSpPr txBox="1"/>
          <p:nvPr/>
        </p:nvSpPr>
        <p:spPr>
          <a:xfrm>
            <a:off x="8961120" y="6080760"/>
            <a:ext cx="21945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0"/>
              <a:buFont typeface="Arial"/>
              <a:buNone/>
            </a:pPr>
            <a:r>
              <a:rPr sz="620" b="1">
                <a:solidFill>
                  <a:srgbClr val="0B192C"/>
                </a:solidFill>
                <a:latin typeface="Malgun Gothic"/>
              </a:rPr>
              <a:t>Storage Class: Intelligent-Tiering 자동 적용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/>
            <a:r>
              <a:rPr sz="610" b="0">
                <a:solidFill>
                  <a:srgbClr val="1E293B"/>
                </a:solidFill>
                <a:latin typeface="Malgun Gothic"/>
              </a:rPr>
              <a:t>300MB 시안·영상 · AI 추출 및 웹 보정 장면 · 리포트</a:t>
            </a:r>
          </a:p>
        </p:txBody>
      </p:sp>
      <p:cxnSp>
        <p:nvCxnSpPr>
          <p:cNvPr id="402" name="Google Shape;402;p7"/>
          <p:cNvCxnSpPr/>
          <p:nvPr/>
        </p:nvCxnSpPr>
        <p:spPr>
          <a:xfrm>
            <a:off x="996696" y="1901952"/>
            <a:ext cx="0" cy="1298448"/>
          </a:xfrm>
          <a:prstGeom prst="straightConnector1">
            <a:avLst/>
          </a:prstGeom>
          <a:noFill/>
          <a:ln cap="flat" cmpd="sng" w="15875">
            <a:solidFill>
              <a:srgbClr val="232F3E"/>
            </a:solidFill>
            <a:prstDash val="solid"/>
            <a:miter lim="80"/>
            <a:headEnd len="sm" w="sm" type="none"/>
            <a:tailEnd len="med" w="med" type="none"/>
          </a:ln>
        </p:spPr>
      </p:cxnSp>
      <p:cxnSp>
        <p:nvCxnSpPr>
          <p:cNvPr id="403" name="Google Shape;403;p7"/>
          <p:cNvCxnSpPr/>
          <p:nvPr/>
        </p:nvCxnSpPr>
        <p:spPr>
          <a:xfrm>
            <a:off x="996696" y="3200400"/>
            <a:ext cx="393192" cy="0"/>
          </a:xfrm>
          <a:prstGeom prst="straightConnector1">
            <a:avLst/>
          </a:prstGeom>
          <a:noFill/>
          <a:ln cap="flat" cmpd="sng" w="15875">
            <a:solidFill>
              <a:srgbClr val="232F3E"/>
            </a:solidFill>
            <a:prstDash val="solid"/>
            <a:miter lim="80"/>
            <a:headEnd len="sm" w="sm" type="none"/>
            <a:tailEnd len="med" w="med" type="triangle"/>
          </a:ln>
        </p:spPr>
      </p:cxnSp>
      <p:cxnSp>
        <p:nvCxnSpPr>
          <p:cNvPr id="404" name="Google Shape;404;p7"/>
          <p:cNvCxnSpPr/>
          <p:nvPr/>
        </p:nvCxnSpPr>
        <p:spPr>
          <a:xfrm>
            <a:off x="1700784" y="3584448"/>
            <a:ext cx="0" cy="713232"/>
          </a:xfrm>
          <a:prstGeom prst="straightConnector1">
            <a:avLst/>
          </a:prstGeom>
          <a:noFill/>
          <a:ln cap="flat" cmpd="sng" w="15875">
            <a:solidFill>
              <a:srgbClr val="232F3E"/>
            </a:solidFill>
            <a:prstDash val="solid"/>
            <a:miter lim="80"/>
            <a:headEnd len="sm" w="sm" type="none"/>
            <a:tailEnd len="med" w="med" type="triangle"/>
          </a:ln>
        </p:spPr>
      </p:cxnSp>
      <p:cxnSp>
        <p:nvCxnSpPr>
          <p:cNvPr id="405" name="Google Shape;405;p7"/>
          <p:cNvCxnSpPr/>
          <p:nvPr/>
        </p:nvCxnSpPr>
        <p:spPr>
          <a:xfrm>
            <a:off x="4870000" y="4727448"/>
            <a:ext cx="150000" cy="0"/>
          </a:xfrm>
          <a:prstGeom prst="straightConnector1">
            <a:avLst/>
          </a:prstGeom>
          <a:noFill/>
          <a:ln cap="flat" cmpd="sng" w="15875">
            <a:solidFill>
              <a:srgbClr val="232F3E"/>
            </a:solidFill>
            <a:prstDash val="solid"/>
            <a:miter lim="80"/>
            <a:headEnd len="sm" w="sm" type="none"/>
            <a:tailEnd len="med" w="med" type="triangle"/>
          </a:ln>
        </p:spPr>
      </p:cxnSp>
      <p:cxnSp>
        <p:nvCxnSpPr>
          <p:cNvPr id="406" name="Google Shape;406;p7"/>
          <p:cNvCxnSpPr/>
          <p:nvPr/>
        </p:nvCxnSpPr>
        <p:spPr>
          <a:xfrm>
            <a:off x="2404872" y="5157216"/>
            <a:ext cx="45720" cy="438912"/>
          </a:xfrm>
          <a:prstGeom prst="straightConnector1">
            <a:avLst/>
          </a:prstGeom>
          <a:noFill/>
          <a:ln cap="flat" cmpd="sng" w="15875">
            <a:solidFill>
              <a:srgbClr val="232F3E"/>
            </a:solidFill>
            <a:prstDash val="solid"/>
            <a:miter lim="80"/>
            <a:headEnd len="sm" w="sm" type="none"/>
            <a:tailEnd len="med" w="med" type="triangle"/>
          </a:ln>
        </p:spPr>
      </p:cxnSp>
      <p:cxnSp>
        <p:nvCxnSpPr>
          <p:cNvPr id="407" name="Google Shape;407;p7"/>
          <p:cNvCxnSpPr/>
          <p:nvPr/>
        </p:nvCxnSpPr>
        <p:spPr>
          <a:xfrm flipH="1">
            <a:off x="2688336" y="5157216"/>
            <a:ext cx="2276856" cy="438912"/>
          </a:xfrm>
          <a:prstGeom prst="straightConnector1">
            <a:avLst/>
          </a:prstGeom>
          <a:noFill/>
          <a:ln cap="flat" cmpd="sng" w="15875">
            <a:solidFill>
              <a:srgbClr val="232F3E"/>
            </a:solidFill>
            <a:prstDash val="solid"/>
            <a:miter lim="80"/>
            <a:headEnd len="sm" w="sm" type="none"/>
            <a:tailEnd len="med" w="med" type="triangle"/>
          </a:ln>
        </p:spPr>
      </p:cxnSp>
      <p:cxnSp>
        <p:nvCxnSpPr>
          <p:cNvPr id="408" name="Google Shape;408;p7"/>
          <p:cNvCxnSpPr/>
          <p:nvPr/>
        </p:nvCxnSpPr>
        <p:spPr>
          <a:xfrm flipH="1">
            <a:off x="2688336" y="5157216"/>
            <a:ext cx="4837176" cy="457200"/>
          </a:xfrm>
          <a:prstGeom prst="straightConnector1">
            <a:avLst/>
          </a:prstGeom>
          <a:noFill/>
          <a:ln cap="flat" cmpd="sng" w="15875">
            <a:solidFill>
              <a:srgbClr val="232F3E"/>
            </a:solidFill>
            <a:prstDash val="solid"/>
            <a:miter lim="80"/>
            <a:headEnd len="sm" w="sm" type="none"/>
            <a:tailEnd len="med" w="med" type="triangle"/>
          </a:ln>
        </p:spPr>
      </p:cxnSp>
      <p:sp>
        <p:nvSpPr>
          <p:cNvPr id="409" name="Google Shape;409;p7"/>
          <p:cNvSpPr txBox="1"/>
          <p:nvPr/>
        </p:nvSpPr>
        <p:spPr>
          <a:xfrm>
            <a:off x="2487168" y="5230368"/>
            <a:ext cx="6400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Arial"/>
              <a:buNone/>
            </a:pPr>
            <a:r>
              <a:rPr b="0" i="0" lang="en-US" sz="650" u="none" cap="none" strike="noStrike">
                <a:solidFill>
                  <a:srgbClr val="595F66"/>
                </a:solidFill>
                <a:latin typeface="Arial"/>
                <a:ea typeface="Arial"/>
                <a:cs typeface="Arial"/>
                <a:sym typeface="Arial"/>
              </a:rPr>
              <a:t>:5432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10" name="Google Shape;410;p7"/>
          <p:cNvCxnSpPr/>
          <p:nvPr/>
        </p:nvCxnSpPr>
        <p:spPr>
          <a:xfrm>
            <a:off x="8942832" y="4956048"/>
            <a:ext cx="822960" cy="576072"/>
          </a:xfrm>
          <a:prstGeom prst="straightConnector1">
            <a:avLst/>
          </a:prstGeom>
          <a:noFill/>
          <a:ln cap="flat" cmpd="sng" w="13950">
            <a:solidFill>
              <a:srgbClr val="9AA3AD"/>
            </a:solidFill>
            <a:prstDash val="dash"/>
            <a:miter lim="80"/>
            <a:headEnd len="sm" w="sm" type="none"/>
            <a:tailEnd len="med" w="med" type="triangle"/>
          </a:ln>
        </p:spPr>
      </p:cxnSp>
      <p:sp>
        <p:nvSpPr>
          <p:cNvPr id="411" name="Google Shape;411;p7"/>
          <p:cNvSpPr txBox="1"/>
          <p:nvPr/>
        </p:nvSpPr>
        <p:spPr>
          <a:xfrm>
            <a:off x="9162288" y="4956048"/>
            <a:ext cx="118872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en-US" sz="600" u="none" cap="none" strike="noStrike">
                <a:solidFill>
                  <a:srgbClr val="64748B"/>
                </a:solidFill>
                <a:latin typeface="Malgun Gothic"/>
                <a:ea typeface="Malgun Gothic"/>
                <a:cs typeface="Malgun Gothic"/>
                <a:sym typeface="Malgun Gothic"/>
              </a:rPr>
              <a:t>BE · API · AGENT · BATCH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12" name="Google Shape;412;p7"/>
          <p:cNvCxnSpPr/>
          <p:nvPr/>
        </p:nvCxnSpPr>
        <p:spPr>
          <a:xfrm rot="10800000">
            <a:off x="5989320" y="2002536"/>
            <a:ext cx="0" cy="2295144"/>
          </a:xfrm>
          <a:prstGeom prst="straightConnector1">
            <a:avLst/>
          </a:prstGeom>
          <a:noFill/>
          <a:ln cap="flat" cmpd="sng" w="15875">
            <a:solidFill>
              <a:srgbClr val="ED7100"/>
            </a:solidFill>
            <a:prstDash val="solid"/>
            <a:miter lim="80"/>
            <a:headEnd len="sm" w="sm" type="none"/>
            <a:tailEnd len="med" w="med" type="triangle"/>
          </a:ln>
        </p:spPr>
      </p:cxnSp>
      <p:cxnSp>
        <p:nvCxnSpPr>
          <p:cNvPr id="413" name="Google Shape;413;p7"/>
          <p:cNvCxnSpPr/>
          <p:nvPr/>
        </p:nvCxnSpPr>
        <p:spPr>
          <a:xfrm rot="10800000">
            <a:off x="8458200" y="2002536"/>
            <a:ext cx="0" cy="2295144"/>
          </a:xfrm>
          <a:prstGeom prst="straightConnector1">
            <a:avLst/>
          </a:prstGeom>
          <a:noFill/>
          <a:ln cap="flat" cmpd="sng" w="15875">
            <a:solidFill>
              <a:srgbClr val="ED7100"/>
            </a:solidFill>
            <a:prstDash val="solid"/>
            <a:miter lim="80"/>
            <a:headEnd len="sm" w="sm" type="none"/>
            <a:tailEnd len="med" w="med" type="triangle"/>
          </a:ln>
        </p:spPr>
      </p:cxnSp>
      <p:cxnSp>
        <p:nvCxnSpPr>
          <p:cNvPr id="414" name="Google Shape;414;p7"/>
          <p:cNvCxnSpPr/>
          <p:nvPr/>
        </p:nvCxnSpPr>
        <p:spPr>
          <a:xfrm>
            <a:off x="10744200" y="2002536"/>
            <a:ext cx="0" cy="905256"/>
          </a:xfrm>
          <a:prstGeom prst="straightConnector1">
            <a:avLst/>
          </a:prstGeom>
          <a:noFill/>
          <a:ln cap="flat" cmpd="sng" w="13950">
            <a:solidFill>
              <a:srgbClr val="3F7EBF"/>
            </a:solidFill>
            <a:prstDash val="dash"/>
            <a:miter lim="80"/>
            <a:headEnd len="sm" w="sm" type="none"/>
            <a:tailEnd len="sm" w="sm" type="none"/>
          </a:ln>
        </p:spPr>
      </p:cxnSp>
      <p:cxnSp>
        <p:nvCxnSpPr>
          <p:cNvPr id="415" name="Google Shape;415;p7"/>
          <p:cNvCxnSpPr/>
          <p:nvPr/>
        </p:nvCxnSpPr>
        <p:spPr>
          <a:xfrm rot="10800000">
            <a:off x="2788920" y="2907792"/>
            <a:ext cx="7955279" cy="0"/>
          </a:xfrm>
          <a:prstGeom prst="straightConnector1">
            <a:avLst/>
          </a:prstGeom>
          <a:noFill/>
          <a:ln cap="flat" cmpd="sng" w="13950">
            <a:solidFill>
              <a:srgbClr val="3F7EBF"/>
            </a:solidFill>
            <a:prstDash val="dash"/>
            <a:miter lim="80"/>
            <a:headEnd len="sm" w="sm" type="none"/>
            <a:tailEnd len="med" w="med" type="triangle"/>
          </a:ln>
        </p:spPr>
      </p:cxnSp>
      <p:sp>
        <p:nvSpPr>
          <p:cNvPr id="416" name="Google Shape;416;p7"/>
          <p:cNvSpPr txBox="1"/>
          <p:nvPr/>
        </p:nvSpPr>
        <p:spPr>
          <a:xfrm>
            <a:off x="3063240" y="2761488"/>
            <a:ext cx="128016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Arial"/>
              <a:buNone/>
            </a:pPr>
            <a:r>
              <a:rPr b="0" i="0" lang="en-US" sz="650" u="none" cap="none" strike="noStrike">
                <a:solidFill>
                  <a:srgbClr val="3F7EBF"/>
                </a:solidFill>
                <a:latin typeface="Arial"/>
                <a:ea typeface="Arial"/>
                <a:cs typeface="Arial"/>
                <a:sym typeface="Arial"/>
              </a:rPr>
              <a:t>SSO 인증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7" name="Google Shape;417;p7"/>
          <p:cNvSpPr txBox="1"/>
          <p:nvPr/>
        </p:nvSpPr>
        <p:spPr>
          <a:xfrm>
            <a:off x="9162288" y="3072384"/>
            <a:ext cx="23774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"/>
              <a:buFont typeface="Arial"/>
              <a:buNone/>
            </a:pPr>
            <a:r>
              <a:rPr sz="640" b="1">
                <a:solidFill>
                  <a:srgbClr val="002C6C"/>
                </a:solidFill>
                <a:latin typeface="Malgun Gothic"/>
              </a:rPr>
              <a:t>네이버OCR(*.apigw.ntruss.com) · LLM · 마케팅허브 방화벽 오픈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/>
            <a:r>
              <a:rPr sz="610" b="0">
                <a:solidFill>
                  <a:srgbClr val="475569"/>
                </a:solidFill>
                <a:latin typeface="Malgun Gothic"/>
              </a:rPr>
              <a:t>(BO/API ALB 물리분리 및 BE·API➔Agent EKS Service 통신)</a:t>
            </a:r>
          </a:p>
        </p:txBody>
      </p:sp>
      <p:sp>
        <p:nvSpPr>
          <p:cNvPr id="418" name="Google Shape;418;p7"/>
          <p:cNvSpPr/>
          <p:nvPr/>
        </p:nvSpPr>
        <p:spPr>
          <a:xfrm>
            <a:off x="1828800" y="961200"/>
            <a:ext cx="2808000" cy="1022400"/>
          </a:xfrm>
          <a:prstGeom prst="rect">
            <a:avLst/>
          </a:prstGeom>
          <a:noFill/>
          <a:ln cap="flat" cmpd="sng" w="9525">
            <a:solidFill>
              <a:srgbClr val="333333"/>
            </a:solidFill>
            <a:prstDash val="dash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19" name="Google Shape;419;p7"/>
          <p:cNvSpPr/>
          <p:nvPr/>
        </p:nvSpPr>
        <p:spPr>
          <a:xfrm>
            <a:off x="2426400" y="1116000"/>
            <a:ext cx="365760" cy="310896"/>
          </a:xfrm>
          <a:prstGeom prst="roundRect">
            <a:avLst>
              <a:gd fmla="val 18000" name="adj"/>
            </a:avLst>
          </a:prstGeom>
          <a:solidFill>
            <a:srgbClr val="4A90D9"/>
          </a:solidFill>
          <a:ln cap="flat" cmpd="sng" w="12700">
            <a:solidFill>
              <a:srgbClr val="4A90D9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GIT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p7"/>
          <p:cNvSpPr txBox="1"/>
          <p:nvPr/>
        </p:nvSpPr>
        <p:spPr>
          <a:xfrm>
            <a:off x="1874519" y="1444752"/>
            <a:ext cx="14630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"/>
              <a:buFont typeface="Arial"/>
              <a:buNone/>
            </a:pPr>
            <a:r>
              <a:rPr b="1" i="0" lang="en-US" sz="720" u="none" cap="none" strike="noStrike">
                <a:solidFill>
                  <a:srgbClr val="D82C20"/>
                </a:solidFill>
                <a:latin typeface="Malgun Gothic"/>
                <a:ea typeface="Malgun Gothic"/>
                <a:cs typeface="Malgun Gothic"/>
                <a:sym typeface="Malgun Gothic"/>
              </a:rPr>
              <a:t>★ GitLab 저장소 1개 생성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" name="Google Shape;421;p7"/>
          <p:cNvSpPr txBox="1"/>
          <p:nvPr/>
        </p:nvSpPr>
        <p:spPr>
          <a:xfrm>
            <a:off x="1810512" y="1618488"/>
            <a:ext cx="1554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0"/>
              <a:buFont typeface="Arial"/>
              <a:buNone/>
            </a:pPr>
            <a:r>
              <a:rPr sz="620" b="1">
                <a:solidFill>
                  <a:srgbClr val="1E293B"/>
                </a:solidFill>
                <a:latin typeface="Malgun Gothic"/>
              </a:rPr>
              <a:t>레포지토리명: syncguard-ai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/>
            <a:r>
              <a:rPr sz="610" b="0">
                <a:solidFill>
                  <a:srgbClr val="475569"/>
                </a:solidFill>
                <a:latin typeface="Malgun Gothic"/>
              </a:rPr>
              <a:t>웹·업무BE·대외API·Agent·Batch 통합</a:t>
            </a:r>
          </a:p>
        </p:txBody>
      </p:sp>
      <p:sp>
        <p:nvSpPr>
          <p:cNvPr id="422" name="Google Shape;422;p7"/>
          <p:cNvSpPr/>
          <p:nvPr/>
        </p:nvSpPr>
        <p:spPr>
          <a:xfrm>
            <a:off x="3841200" y="1116000"/>
            <a:ext cx="365760" cy="310896"/>
          </a:xfrm>
          <a:prstGeom prst="roundRect">
            <a:avLst>
              <a:gd fmla="val 18000" name="adj"/>
            </a:avLst>
          </a:prstGeom>
          <a:solidFill>
            <a:srgbClr val="4A90D9"/>
          </a:solidFill>
          <a:ln cap="flat" cmpd="sng" w="12700">
            <a:solidFill>
              <a:srgbClr val="4A90D9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-US" sz="7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CD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3" name="Google Shape;423;p7"/>
          <p:cNvSpPr txBox="1"/>
          <p:nvPr/>
        </p:nvSpPr>
        <p:spPr>
          <a:xfrm>
            <a:off x="3337560" y="1444752"/>
            <a:ext cx="12801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"/>
              <a:buFont typeface="Arial"/>
              <a:buNone/>
            </a:pPr>
            <a:r>
              <a:rPr b="1" i="0" lang="en-US" sz="720" u="none" cap="none" strike="noStrike">
                <a:solidFill>
                  <a:srgbClr val="D82C20"/>
                </a:solidFill>
                <a:latin typeface="Malgun Gothic"/>
                <a:ea typeface="Malgun Gothic"/>
                <a:cs typeface="Malgun Gothic"/>
                <a:sym typeface="Malgun Gothic"/>
              </a:rPr>
              <a:t>★ GitLab CI + ArgoCD 배포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Google Shape;424;p7"/>
          <p:cNvSpPr txBox="1"/>
          <p:nvPr/>
        </p:nvSpPr>
        <p:spPr>
          <a:xfrm>
            <a:off x="3273552" y="1618488"/>
            <a:ext cx="1389888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0"/>
              <a:buFont typeface="Arial"/>
              <a:buNone/>
            </a:pPr>
            <a:r>
              <a:rPr sz="620" b="1">
                <a:solidFill>
                  <a:srgbClr val="1E293B"/>
                </a:solidFill>
                <a:latin typeface="Malgun Gothic"/>
              </a:rPr>
              <a:t>DEV · STG · PRD EKS 자동배포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/>
            <a:r>
              <a:rPr sz="610" b="0">
                <a:solidFill>
                  <a:srgbClr val="475569"/>
                </a:solidFill>
                <a:latin typeface="Malgun Gothic"/>
              </a:rPr>
              <a:t>ArgoCD / CodeDeploy 컨테이너 연동</a:t>
            </a:r>
          </a:p>
        </p:txBody>
      </p:sp>
      <p:sp>
        <p:nvSpPr>
          <p:cNvPr id="425" name="Google Shape;425;p7"/>
          <p:cNvSpPr txBox="1"/>
          <p:nvPr/>
        </p:nvSpPr>
        <p:spPr>
          <a:xfrm>
            <a:off x="8257031" y="877824"/>
            <a:ext cx="960120" cy="1463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80"/>
              <a:buFont typeface="Arial"/>
              <a:buNone/>
            </a:pPr>
            <a:r>
              <a:rPr b="1" i="0" lang="en-US" sz="680" u="none" cap="none" strike="noStrike">
                <a:solidFill>
                  <a:srgbClr val="1A73C7"/>
                </a:solidFill>
                <a:latin typeface="Malgun Gothic"/>
                <a:ea typeface="Malgun Gothic"/>
                <a:cs typeface="Malgun Gothic"/>
                <a:sym typeface="Malgun Gothic"/>
              </a:rPr>
              <a:t> 사내 방화벽 오픈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p7"/>
          <p:cNvSpPr txBox="1"/>
          <p:nvPr/>
        </p:nvSpPr>
        <p:spPr>
          <a:xfrm>
            <a:off x="411480" y="201168"/>
            <a:ext cx="11247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36575" spcFirstLastPara="1" rIns="365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D82C20"/>
                </a:solidFill>
                <a:latin typeface="Malgun Gothic"/>
                <a:ea typeface="Malgun Gothic"/>
                <a:cs typeface="Malgun Gothic"/>
                <a:sym typeface="Malgun Gothic"/>
              </a:rPr>
              <a:t>6. [인프라팀 협의반영] AWS EKS &amp; 5대 모듈(통합웹·BE·API·Agent·Batch) 구성도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7" name="Google Shape;427;p7"/>
          <p:cNvSpPr txBox="1"/>
          <p:nvPr/>
        </p:nvSpPr>
        <p:spPr>
          <a:xfrm>
            <a:off x="1901952" y="877824"/>
            <a:ext cx="960120" cy="1463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80"/>
              <a:buFont typeface="Arial"/>
              <a:buNone/>
            </a:pPr>
            <a:r>
              <a:rPr b="1" i="0" lang="en-US" sz="680" u="none" cap="none" strike="noStrike">
                <a:solidFill>
                  <a:srgbClr val="D82C20"/>
                </a:solidFill>
                <a:latin typeface="Malgun Gothic"/>
                <a:ea typeface="Malgun Gothic"/>
                <a:cs typeface="Malgun Gothic"/>
                <a:sym typeface="Malgun Gothic"/>
              </a:rPr>
              <a:t> ★ 요청 ① CI/CD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8" name="Google Shape;428;p7"/>
          <p:cNvSpPr txBox="1"/>
          <p:nvPr/>
        </p:nvSpPr>
        <p:spPr>
          <a:xfrm>
            <a:off x="4736592" y="877824"/>
            <a:ext cx="960120" cy="1463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80"/>
              <a:buFont typeface="Arial"/>
              <a:buNone/>
            </a:pPr>
            <a:r>
              <a:rPr b="1" i="0" lang="en-US" sz="680" u="none" cap="none" strike="noStrike">
                <a:solidFill>
                  <a:srgbClr val="7A3EC4"/>
                </a:solidFill>
                <a:latin typeface="Malgun Gothic"/>
                <a:ea typeface="Malgun Gothic"/>
                <a:cs typeface="Malgun Gothic"/>
                <a:sym typeface="Malgun Gothic"/>
              </a:rPr>
              <a:t> 대외 방화벽 오픈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" name="Google Shape;429;p7"/>
          <p:cNvSpPr txBox="1"/>
          <p:nvPr/>
        </p:nvSpPr>
        <p:spPr>
          <a:xfrm>
            <a:off x="2487168" y="3895344"/>
            <a:ext cx="4300000" cy="1554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0"/>
              <a:buFont typeface="Arial"/>
              <a:buNone/>
            </a:pPr>
            <a:r>
              <a:rPr b="1" i="0" lang="en-US" sz="690" u="none" cap="none" strike="noStrike">
                <a:solidFill>
                  <a:srgbClr val="002C6C"/>
                </a:solidFill>
                <a:latin typeface="Malgun Gothic"/>
                <a:ea typeface="Malgun Gothic"/>
                <a:cs typeface="Malgun Gothic"/>
                <a:sym typeface="Malgun Gothic"/>
              </a:rPr>
              <a:t> ★ AWS EKS 클러스터 구성 (통합웹/BE · 대외API · AI Agent · Batch 컨테이너 분리)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" name="Google Shape;430;p7"/>
          <p:cNvSpPr txBox="1"/>
          <p:nvPr/>
        </p:nvSpPr>
        <p:spPr>
          <a:xfrm>
            <a:off x="2487168" y="4096512"/>
            <a:ext cx="4300000" cy="1554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80"/>
              <a:buFont typeface="Arial"/>
              <a:buNone/>
            </a:pPr>
            <a:r>
              <a:rPr sz="680" b="1">
                <a:solidFill>
                  <a:srgbClr val="D82C20"/>
                </a:solidFill>
                <a:latin typeface="Malgun Gothic"/>
              </a:rPr>
              <a:t> ★ EKS K8s Service 통신: 업무BE(:18080) &amp; 대외API(:18085) ➔ AI Agent(:18083) 호출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7"/>
          <p:cNvSpPr/>
          <p:nvPr/>
        </p:nvSpPr>
        <p:spPr>
          <a:xfrm>
            <a:off x="3703320" y="3017520"/>
            <a:ext cx="566928" cy="365760"/>
          </a:xfrm>
          <a:prstGeom prst="roundRect">
            <a:avLst>
              <a:gd fmla="val 18000" name="adj"/>
            </a:avLst>
          </a:prstGeom>
          <a:solidFill>
            <a:srgbClr val="8C4FFF"/>
          </a:solidFill>
          <a:ln cap="flat" cmpd="sng" w="12700">
            <a:solidFill>
              <a:srgbClr val="8C4FFF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sz="800" b="1">
                <a:solidFill>
                  <a:srgbClr val="FFFFFF"/>
                </a:solidFill>
                <a:latin typeface="Arial"/>
              </a:rPr>
              <a:t>API ALB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7"/>
          <p:cNvSpPr txBox="1"/>
          <p:nvPr/>
        </p:nvSpPr>
        <p:spPr>
          <a:xfrm>
            <a:off x="3291840" y="3410712"/>
            <a:ext cx="1389888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sz="700" b="1">
                <a:solidFill>
                  <a:srgbClr val="D82C20"/>
                </a:solidFill>
                <a:latin typeface="Malgun Gothic"/>
              </a:rPr>
              <a:t>★ 연계: syncguard-ai-api-prv-alb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7"/>
          <p:cNvSpPr txBox="1"/>
          <p:nvPr/>
        </p:nvSpPr>
        <p:spPr>
          <a:xfrm>
            <a:off x="4315968" y="3035808"/>
            <a:ext cx="164592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80"/>
              <a:buFont typeface="Arial"/>
              <a:buNone/>
            </a:pPr>
            <a:r>
              <a:rPr sz="680" b="1">
                <a:solidFill>
                  <a:srgbClr val="D82C20"/>
                </a:solidFill>
                <a:latin typeface="Malgun Gothic"/>
              </a:rPr>
              <a:t>[대외연계 ALB] 마케팅허브만 오픈(:443)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7"/>
          <p:cNvSpPr txBox="1"/>
          <p:nvPr/>
        </p:nvSpPr>
        <p:spPr>
          <a:xfrm>
            <a:off x="4315968" y="3209544"/>
            <a:ext cx="16459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"/>
              <a:buFont typeface="Arial"/>
              <a:buNone/>
            </a:pPr>
            <a:r>
              <a:rPr sz="640" b="0">
                <a:solidFill>
                  <a:srgbClr val="1E293B"/>
                </a:solidFill>
                <a:latin typeface="Malgun Gothic"/>
              </a:rPr>
              <a:t>대외연계 API(:18085) 단독 라우팅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04" name="Google Shape;404;p7"/>
          <p:cNvCxnSpPr/>
          <p:nvPr/>
        </p:nvCxnSpPr>
        <p:spPr>
          <a:xfrm>
            <a:off x="3986784" y="3584448"/>
            <a:ext cx="0" cy="713232"/>
          </a:xfrm>
          <a:prstGeom prst="straightConnector1">
            <a:avLst/>
          </a:prstGeom>
          <a:noFill/>
          <a:ln cap="flat" cmpd="sng" w="15875">
            <a:solidFill>
              <a:srgbClr val="232F3E"/>
            </a:solidFill>
            <a:prstDash val="solid"/>
            <a:miter lim="80"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8"/>
          <p:cNvSpPr txBox="1"/>
          <p:nvPr/>
        </p:nvSpPr>
        <p:spPr>
          <a:xfrm>
            <a:off x="411480" y="201168"/>
            <a:ext cx="113385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36575" spcFirstLastPara="1" rIns="365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0"/>
              <a:buFont typeface="Arial"/>
              <a:buNone/>
            </a:pPr>
            <a:r>
              <a:rPr b="1" i="0" lang="en-US" sz="1550" u="none" cap="none" strike="noStrike">
                <a:solidFill>
                  <a:srgbClr val="0B192C"/>
                </a:solidFill>
                <a:latin typeface="Malgun Gothic"/>
                <a:ea typeface="Malgun Gothic"/>
                <a:cs typeface="Malgun Gothic"/>
                <a:sym typeface="Malgun Gothic"/>
              </a:rPr>
              <a:t>7. [인프라팀 협의반영] 환경별(DEV·STG·PRD) EKS &amp; 5대 모듈 상세 블록도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6" name="Google Shape;436;p8"/>
          <p:cNvSpPr txBox="1"/>
          <p:nvPr/>
        </p:nvSpPr>
        <p:spPr>
          <a:xfrm>
            <a:off x="429768" y="585216"/>
            <a:ext cx="113385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36575" spcFirstLastPara="1" rIns="365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80"/>
              <a:buFont typeface="Arial"/>
              <a:buNone/>
            </a:pPr>
            <a:r>
              <a:rPr b="0" i="0" lang="en-US" sz="980" u="none" cap="none" strike="noStrike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AWS EKS 기반 환경 분리 및 5대 모듈(①통합 웹 Client/fe · ②메인 업무서버 be · ③대외연계 API · ④AI Agent · ⑤Batch), PostgreSQL(pgvector 1536d 단일DB) 구성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7" name="Google Shape;437;p8"/>
          <p:cNvSpPr/>
          <p:nvPr/>
        </p:nvSpPr>
        <p:spPr>
          <a:xfrm>
            <a:off x="7818120" y="219456"/>
            <a:ext cx="1965960" cy="310896"/>
          </a:xfrm>
          <a:prstGeom prst="roundRect">
            <a:avLst>
              <a:gd fmla="val 4000" name="adj"/>
            </a:avLst>
          </a:prstGeom>
          <a:solidFill>
            <a:srgbClr val="FEF2F2"/>
          </a:solidFill>
          <a:ln cap="flat" cmpd="sng" w="19050">
            <a:solidFill>
              <a:srgbClr val="D82C20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18"/>
              <a:buFont typeface="Arial"/>
              <a:buNone/>
            </a:pPr>
            <a:r>
              <a:rPr b="1" i="0" lang="en-US" sz="819" u="none" cap="none" strike="noStrike">
                <a:solidFill>
                  <a:srgbClr val="D82C20"/>
                </a:solidFill>
                <a:latin typeface="Malgun Gothic"/>
                <a:ea typeface="Malgun Gothic"/>
                <a:cs typeface="Malgun Gothic"/>
                <a:sym typeface="Malgun Gothic"/>
              </a:rPr>
              <a:t>★ 신규 생성 요청 대상 (NEW)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8" name="Google Shape;438;p8"/>
          <p:cNvSpPr/>
          <p:nvPr/>
        </p:nvSpPr>
        <p:spPr>
          <a:xfrm>
            <a:off x="9875520" y="219456"/>
            <a:ext cx="1965960" cy="310896"/>
          </a:xfrm>
          <a:prstGeom prst="roundRect">
            <a:avLst>
              <a:gd fmla="val 4000" name="adj"/>
            </a:avLst>
          </a:prstGeom>
          <a:solidFill>
            <a:srgbClr val="F8FAFC"/>
          </a:solidFill>
          <a:ln cap="flat" cmpd="sng" w="15225">
            <a:solidFill>
              <a:srgbClr val="CBD5E1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80"/>
              <a:buFont typeface="Arial"/>
              <a:buNone/>
            </a:pPr>
            <a:r>
              <a:rPr b="1" i="0" lang="en-US" sz="780" u="none" cap="none" strike="noStrike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기존 시스템 / 연동 대상 (방화벽 오픈)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9" name="Google Shape;439;p8"/>
          <p:cNvSpPr/>
          <p:nvPr/>
        </p:nvSpPr>
        <p:spPr>
          <a:xfrm>
            <a:off x="365760" y="914400"/>
            <a:ext cx="3474720" cy="1143000"/>
          </a:xfrm>
          <a:prstGeom prst="roundRect">
            <a:avLst>
              <a:gd fmla="val 4000" name="adj"/>
            </a:avLst>
          </a:prstGeom>
          <a:solidFill>
            <a:srgbClr val="FEF2F2"/>
          </a:solidFill>
          <a:ln cap="flat" cmpd="sng" w="19050">
            <a:solidFill>
              <a:srgbClr val="D82C20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40" name="Google Shape;440;p8"/>
          <p:cNvSpPr/>
          <p:nvPr/>
        </p:nvSpPr>
        <p:spPr>
          <a:xfrm>
            <a:off x="457200" y="987552"/>
            <a:ext cx="3291840" cy="256032"/>
          </a:xfrm>
          <a:prstGeom prst="roundRect">
            <a:avLst>
              <a:gd fmla="val 4000" name="adj"/>
            </a:avLst>
          </a:prstGeom>
          <a:solidFill>
            <a:srgbClr val="D82C2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39"/>
              <a:buFont typeface="Arial"/>
              <a:buNone/>
            </a:pPr>
            <a:r>
              <a:rPr b="1" i="0" lang="en-US" sz="84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★ [신규 요청 ①] 형상관리 &amp; 환경별 배포 파이프라인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" name="Google Shape;441;p8"/>
          <p:cNvSpPr txBox="1"/>
          <p:nvPr/>
        </p:nvSpPr>
        <p:spPr>
          <a:xfrm>
            <a:off x="475488" y="1280160"/>
            <a:ext cx="3255264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36575" spcFirstLastPara="1" rIns="365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0B192C"/>
                </a:solidFill>
                <a:latin typeface="Malgun Gothic"/>
                <a:ea typeface="Malgun Gothic"/>
                <a:cs typeface="Malgun Gothic"/>
                <a:sym typeface="Malgun Gothic"/>
              </a:rPr>
              <a:t>• GitLab 저장소(syncguard-ai) + ArgoCD / CodeDeploy 컨테이너 자동 배포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740"/>
              <a:buFont typeface="Arial"/>
              <a:buNone/>
            </a:pPr>
            <a:r>
              <a:rPr b="1" i="0" lang="en-US" sz="740" u="none" cap="none" strike="noStrike">
                <a:solidFill>
                  <a:srgbClr val="0B192C"/>
                </a:solidFill>
                <a:latin typeface="Malgun Gothic"/>
                <a:ea typeface="Malgun Gothic"/>
                <a:cs typeface="Malgun Gothic"/>
                <a:sym typeface="Malgun Gothic"/>
              </a:rPr>
              <a:t>• 환경별 브랜치 배포 연동 (develop➔DEV / stage➔STG / main➔PRD)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720"/>
              <a:buFont typeface="Arial"/>
              <a:buNone/>
            </a:pPr>
            <a:r>
              <a:rPr b="0" i="0" lang="en-US" sz="720" u="none" cap="none" strike="noStrike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• 5대 모듈(Client/fe, server-be, server-api, server-ai-agent, server-batch) 빌드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2" name="Google Shape;442;p8"/>
          <p:cNvSpPr/>
          <p:nvPr/>
        </p:nvSpPr>
        <p:spPr>
          <a:xfrm>
            <a:off x="3977639" y="914400"/>
            <a:ext cx="4663440" cy="1143000"/>
          </a:xfrm>
          <a:prstGeom prst="roundRect">
            <a:avLst>
              <a:gd fmla="val 4000" name="adj"/>
            </a:avLst>
          </a:prstGeom>
          <a:solidFill>
            <a:srgbClr val="F8FAFC"/>
          </a:solidFill>
          <a:ln cap="flat" cmpd="sng" w="15225">
            <a:solidFill>
              <a:srgbClr val="1A73C7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43" name="Google Shape;443;p8"/>
          <p:cNvSpPr/>
          <p:nvPr/>
        </p:nvSpPr>
        <p:spPr>
          <a:xfrm>
            <a:off x="4069080" y="987552"/>
            <a:ext cx="4480560" cy="256032"/>
          </a:xfrm>
          <a:prstGeom prst="roundRect">
            <a:avLst>
              <a:gd fmla="val 4000" name="adj"/>
            </a:avLst>
          </a:prstGeom>
          <a:solidFill>
            <a:srgbClr val="1A73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39"/>
              <a:buFont typeface="Arial"/>
              <a:buNone/>
            </a:pPr>
            <a:r>
              <a:rPr b="1" i="0" lang="en-US" sz="84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사내 연계 시스템 (DEV · STG · PRD 환경별 방화벽 오픈 요청)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4" name="Google Shape;444;p8"/>
          <p:cNvSpPr txBox="1"/>
          <p:nvPr/>
        </p:nvSpPr>
        <p:spPr>
          <a:xfrm>
            <a:off x="4087368" y="1280160"/>
            <a:ext cx="4443984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36575" spcFirstLastPara="1" rIns="365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sz="750" b="1">
                <a:solidFill>
                  <a:srgbClr val="0B192C"/>
                </a:solidFill>
                <a:latin typeface="Malgun Gothic"/>
              </a:rPr>
              <a:t>• 마케팅허브(MarketingHub): 대외연계 전용 ALB(마케팅허브만 오픈) 경유 의뢰 수신 및 결과(HTML/JSON) 콜백 연동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/>
            <a:r>
              <a:rPr sz="750" b="1">
                <a:solidFill>
                  <a:srgbClr val="0B192C"/>
                </a:solidFill>
                <a:latin typeface="Malgun Gothic"/>
              </a:rPr>
              <a:t>• 프로덕트랩(ProductLab): 매일 새벽 02:00 일배치(Batch :18084) 전성분·처방·임상보고서 수집</a:t>
            </a:r>
          </a:p>
          <a:p>
            <a:pPr algn="l"/>
            <a:r>
              <a:rPr sz="750" b="1">
                <a:solidFill>
                  <a:srgbClr val="0B192C"/>
                </a:solidFill>
                <a:latin typeface="Malgun Gothic"/>
              </a:rPr>
              <a:t>• 사내 SSO &amp; IAM: BO 전용 ALB(사용자대역 오픈) 통합 웹(:3104) 접속 시 사내 IAM 권한 인가</a:t>
            </a:r>
          </a:p>
        </p:txBody>
      </p:sp>
      <p:sp>
        <p:nvSpPr>
          <p:cNvPr id="445" name="Google Shape;445;p8"/>
          <p:cNvSpPr/>
          <p:nvPr/>
        </p:nvSpPr>
        <p:spPr>
          <a:xfrm>
            <a:off x="8778240" y="914400"/>
            <a:ext cx="3063240" cy="1143000"/>
          </a:xfrm>
          <a:prstGeom prst="roundRect">
            <a:avLst>
              <a:gd fmla="val 4000" name="adj"/>
            </a:avLst>
          </a:prstGeom>
          <a:solidFill>
            <a:srgbClr val="F8FAFC"/>
          </a:solidFill>
          <a:ln cap="flat" cmpd="sng" w="15225">
            <a:solidFill>
              <a:srgbClr val="7A3EC4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46" name="Google Shape;446;p8"/>
          <p:cNvSpPr/>
          <p:nvPr/>
        </p:nvSpPr>
        <p:spPr>
          <a:xfrm>
            <a:off x="8869680" y="987552"/>
            <a:ext cx="2880360" cy="256032"/>
          </a:xfrm>
          <a:prstGeom prst="roundRect">
            <a:avLst>
              <a:gd fmla="val 4000" name="adj"/>
            </a:avLst>
          </a:prstGeom>
          <a:solidFill>
            <a:srgbClr val="7A3EC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39"/>
              <a:buFont typeface="Arial"/>
              <a:buNone/>
            </a:pPr>
            <a:r>
              <a:rPr b="1" i="0" lang="en-US" sz="84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대외 AI Gateway / LLM · 네이버 OCR 연동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" name="Google Shape;447;p8"/>
          <p:cNvSpPr txBox="1"/>
          <p:nvPr/>
        </p:nvSpPr>
        <p:spPr>
          <a:xfrm>
            <a:off x="8887968" y="1280160"/>
            <a:ext cx="2843784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36575" spcFirstLastPara="1" rIns="365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sz="750" b="1">
                <a:solidFill>
                  <a:srgbClr val="0B192C"/>
                </a:solidFill>
                <a:latin typeface="Malgun Gothic"/>
              </a:rPr>
              <a:t>• AI 에이전트(:18083) ➔ Outbound HTTPS(:443) 오픈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/>
            <a:r>
              <a:rPr sz="740" b="0">
                <a:solidFill>
                  <a:srgbClr val="1E293B"/>
                </a:solidFill>
                <a:latin typeface="Malgun Gothic"/>
              </a:rPr>
              <a:t>• 네이버 클로바 OCR: *.apigw.ntruss.com (연구소 계약)</a:t>
            </a:r>
          </a:p>
          <a:p>
            <a:pPr algn="l"/>
            <a:r>
              <a:rPr sz="740" b="0">
                <a:solidFill>
                  <a:srgbClr val="1E293B"/>
                </a:solidFill>
                <a:latin typeface="Malgun Gothic"/>
              </a:rPr>
              <a:t>• 기업용 비학습 LLM: api.openai.com / api.anthropic.com</a:t>
            </a:r>
          </a:p>
        </p:txBody>
      </p:sp>
      <p:sp>
        <p:nvSpPr>
          <p:cNvPr id="448" name="Google Shape;448;p8"/>
          <p:cNvSpPr/>
          <p:nvPr/>
        </p:nvSpPr>
        <p:spPr>
          <a:xfrm>
            <a:off x="365760" y="2176272"/>
            <a:ext cx="11475720" cy="4434840"/>
          </a:xfrm>
          <a:prstGeom prst="roundRect">
            <a:avLst>
              <a:gd fmla="val 4000" name="adj"/>
            </a:avLst>
          </a:prstGeom>
          <a:solidFill>
            <a:srgbClr val="F1F5F9"/>
          </a:solidFill>
          <a:ln cap="flat" cmpd="sng" w="19050">
            <a:solidFill>
              <a:srgbClr val="002C6C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49" name="Google Shape;449;p8"/>
          <p:cNvSpPr/>
          <p:nvPr/>
        </p:nvSpPr>
        <p:spPr>
          <a:xfrm>
            <a:off x="475488" y="2249424"/>
            <a:ext cx="5669280" cy="274320"/>
          </a:xfrm>
          <a:prstGeom prst="roundRect">
            <a:avLst>
              <a:gd fmla="val 4000" name="adj"/>
            </a:avLst>
          </a:prstGeom>
          <a:solidFill>
            <a:srgbClr val="002C6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"/>
              <a:buFont typeface="Arial"/>
              <a:buNone/>
            </a:pPr>
            <a:r>
              <a:rPr b="1" i="0" lang="en-US" sz="88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한빛글로벌 AWS Cloud — VPC (개발 DEV · 스테이지 STG · 운영 PRD 환경 분리)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" name="Google Shape;450;p8"/>
          <p:cNvSpPr/>
          <p:nvPr/>
        </p:nvSpPr>
        <p:spPr>
          <a:xfrm>
            <a:off x="502920" y="2596896"/>
            <a:ext cx="2834640" cy="1874519"/>
          </a:xfrm>
          <a:prstGeom prst="roundRect">
            <a:avLst>
              <a:gd fmla="val 4000" name="adj"/>
            </a:avLst>
          </a:prstGeom>
          <a:solidFill>
            <a:srgbClr val="FEF2F2"/>
          </a:solidFill>
          <a:ln cap="flat" cmpd="sng" w="19050">
            <a:solidFill>
              <a:srgbClr val="D82C20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51" name="Google Shape;451;p8"/>
          <p:cNvSpPr/>
          <p:nvPr/>
        </p:nvSpPr>
        <p:spPr>
          <a:xfrm>
            <a:off x="594360" y="2670048"/>
            <a:ext cx="2651760" cy="274320"/>
          </a:xfrm>
          <a:prstGeom prst="roundRect">
            <a:avLst>
              <a:gd fmla="val 4000" name="adj"/>
            </a:avLst>
          </a:prstGeom>
          <a:solidFill>
            <a:srgbClr val="D82C2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39"/>
              <a:buFont typeface="Arial"/>
              <a:buNone/>
            </a:pPr>
            <a:r>
              <a:rPr sz="840" b="1">
                <a:solidFill>
                  <a:srgbClr val="FFFFFF"/>
                </a:solidFill>
                <a:latin typeface="Malgun Gothic"/>
              </a:rPr>
              <a:t>★ [신규 요청 ②] Private Subnet (ALB 물리 분리)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2" name="Google Shape;452;p8"/>
          <p:cNvSpPr txBox="1"/>
          <p:nvPr/>
        </p:nvSpPr>
        <p:spPr>
          <a:xfrm>
            <a:off x="612648" y="2999232"/>
            <a:ext cx="2615184" cy="1417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36575" spcFirstLastPara="1" rIns="365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sz="800" b="1">
                <a:solidFill>
                  <a:srgbClr val="0B192C"/>
                </a:solidFill>
                <a:latin typeface="Malgun Gothic"/>
              </a:rPr>
              <a:t>• 물리적 ALB 2개 분리 구성 (접근 통제 분리)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/>
            <a:r>
              <a:rPr sz="730" b="0">
                <a:solidFill>
                  <a:srgbClr val="1E293B"/>
                </a:solidFill>
                <a:latin typeface="Malgun Gothic"/>
              </a:rPr>
              <a:t>  - BO ALB (syncguard-ai-bo-prv-alb): 사용자대역 오픈</a:t>
            </a:r>
          </a:p>
          <a:p>
            <a:pPr algn="l"/>
            <a:r>
              <a:rPr sz="730" b="0">
                <a:solidFill>
                  <a:srgbClr val="1E293B"/>
                </a:solidFill>
                <a:latin typeface="Malgun Gothic"/>
              </a:rPr>
              <a:t>    ➔ 통합웹(:3104) · 업무BE(:18080) [claim.hanbitglobal.com]</a:t>
            </a:r>
          </a:p>
          <a:p>
            <a:pPr algn="l"/>
            <a:r>
              <a:rPr sz="730" b="0">
                <a:solidFill>
                  <a:srgbClr val="1E293B"/>
                </a:solidFill>
                <a:latin typeface="Malgun Gothic"/>
              </a:rPr>
              <a:t>  - 대외연계 ALB (syncguard-ai-api-prv-alb): 마케팅허브만 오픈</a:t>
            </a:r>
          </a:p>
          <a:p>
            <a:pPr algn="l"/>
            <a:r>
              <a:rPr sz="730" b="0">
                <a:solidFill>
                  <a:srgbClr val="1E293B"/>
                </a:solidFill>
                <a:latin typeface="Malgun Gothic"/>
              </a:rPr>
              <a:t>    ➔ 대외연계 API(:18085) [syncguard-api.hanbitglobal.com]</a:t>
            </a:r>
          </a:p>
        </p:txBody>
      </p:sp>
      <p:sp>
        <p:nvSpPr>
          <p:cNvPr id="453" name="Google Shape;453;p8"/>
          <p:cNvSpPr/>
          <p:nvPr/>
        </p:nvSpPr>
        <p:spPr>
          <a:xfrm>
            <a:off x="502920" y="4572000"/>
            <a:ext cx="2834640" cy="1920240"/>
          </a:xfrm>
          <a:prstGeom prst="roundRect">
            <a:avLst>
              <a:gd fmla="val 4000" name="adj"/>
            </a:avLst>
          </a:prstGeom>
          <a:solidFill>
            <a:srgbClr val="FFFFFF"/>
          </a:solidFill>
          <a:ln cap="flat" cmpd="sng" w="15225">
            <a:solidFill>
              <a:srgbClr val="1A73C7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54" name="Google Shape;454;p8"/>
          <p:cNvSpPr/>
          <p:nvPr/>
        </p:nvSpPr>
        <p:spPr>
          <a:xfrm>
            <a:off x="594360" y="4645152"/>
            <a:ext cx="2651760" cy="274320"/>
          </a:xfrm>
          <a:prstGeom prst="roundRect">
            <a:avLst>
              <a:gd fmla="val 4000" name="adj"/>
            </a:avLst>
          </a:prstGeom>
          <a:solidFill>
            <a:srgbClr val="1A73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39"/>
              <a:buFont typeface="Arial"/>
              <a:buNone/>
            </a:pPr>
            <a:r>
              <a:rPr b="1" i="0" lang="en-US" sz="84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★ [신규 요청 ③] EKS IRSA Role &amp; 런타임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5" name="Google Shape;455;p8"/>
          <p:cNvSpPr txBox="1"/>
          <p:nvPr/>
        </p:nvSpPr>
        <p:spPr>
          <a:xfrm>
            <a:off x="612648" y="4974336"/>
            <a:ext cx="2615184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36575" spcFirstLastPara="1" rIns="365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sz="800" b="1">
                <a:solidFill>
                  <a:srgbClr val="0B192C"/>
                </a:solidFill>
                <a:latin typeface="Malgun Gothic"/>
              </a:rPr>
              <a:t>• EKS Pod IAM Role (IRSA) 생성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/>
            <a:r>
              <a:rPr sz="730" b="0">
                <a:solidFill>
                  <a:srgbClr val="1E293B"/>
                </a:solidFill>
                <a:latin typeface="Malgun Gothic"/>
              </a:rPr>
              <a:t>  - S3 버킷(Intelligent-Tiering 자동적용) Read/Write</a:t>
            </a:r>
          </a:p>
          <a:p>
            <a:pPr algn="l"/>
            <a:r>
              <a:rPr sz="730" b="0">
                <a:solidFill>
                  <a:srgbClr val="1E293B"/>
                </a:solidFill>
                <a:latin typeface="Malgun Gothic"/>
              </a:rPr>
              <a:t>  - Secrets Manager / KMS 접근 권한</a:t>
            </a:r>
          </a:p>
          <a:p>
            <a:pPr algn="l"/>
            <a:r>
              <a:rPr sz="730" b="0">
                <a:solidFill>
                  <a:srgbClr val="1E293B"/>
                </a:solidFill>
                <a:latin typeface="Malgun Gothic"/>
              </a:rPr>
              <a:t>• EKS K8s Service 내부 통신</a:t>
            </a:r>
          </a:p>
          <a:p>
            <a:pPr algn="l"/>
            <a:r>
              <a:rPr sz="730" b="0">
                <a:solidFill>
                  <a:srgbClr val="1E293B"/>
                </a:solidFill>
                <a:latin typeface="Malgun Gothic"/>
              </a:rPr>
              <a:t>  - 업무BE(:18080) &amp; 대외API(:18085) ➔ Agent(:18083)</a:t>
            </a:r>
          </a:p>
          <a:p>
            <a:pPr algn="l"/>
            <a:r>
              <a:rPr sz="730" b="0">
                <a:solidFill>
                  <a:srgbClr val="1E293B"/>
                </a:solidFill>
                <a:latin typeface="Malgun Gothic"/>
              </a:rPr>
              <a:t>  - OpenJDK 21 · Python 3.11 · Node 20</a:t>
            </a:r>
          </a:p>
        </p:txBody>
      </p:sp>
      <p:sp>
        <p:nvSpPr>
          <p:cNvPr id="456" name="Google Shape;456;p8"/>
          <p:cNvSpPr/>
          <p:nvPr/>
        </p:nvSpPr>
        <p:spPr>
          <a:xfrm>
            <a:off x="3474720" y="2596896"/>
            <a:ext cx="4892040" cy="3895344"/>
          </a:xfrm>
          <a:prstGeom prst="roundRect">
            <a:avLst>
              <a:gd fmla="val 4000" name="adj"/>
            </a:avLst>
          </a:prstGeom>
          <a:solidFill>
            <a:srgbClr val="FEF2F2"/>
          </a:solidFill>
          <a:ln cap="flat" cmpd="sng" w="20300">
            <a:solidFill>
              <a:srgbClr val="D82C20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57" name="Google Shape;457;p8"/>
          <p:cNvSpPr/>
          <p:nvPr/>
        </p:nvSpPr>
        <p:spPr>
          <a:xfrm>
            <a:off x="3566160" y="2670048"/>
            <a:ext cx="4709160" cy="274320"/>
          </a:xfrm>
          <a:prstGeom prst="roundRect">
            <a:avLst>
              <a:gd fmla="val 4000" name="adj"/>
            </a:avLst>
          </a:prstGeom>
          <a:solidFill>
            <a:srgbClr val="D82C2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39"/>
              <a:buFont typeface="Arial"/>
              <a:buNone/>
            </a:pPr>
            <a:r>
              <a:rPr b="1" i="0" lang="en-US" sz="84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★ [신규 요청 ④] Private Subnet (EKS) — 5대 모듈 컨테이너 워크로드 분리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8" name="Google Shape;458;p8"/>
          <p:cNvSpPr/>
          <p:nvPr/>
        </p:nvSpPr>
        <p:spPr>
          <a:xfrm>
            <a:off x="3584448" y="2980944"/>
            <a:ext cx="4672584" cy="274320"/>
          </a:xfrm>
          <a:prstGeom prst="roundRect">
            <a:avLst>
              <a:gd fmla="val 4000" name="adj"/>
            </a:avLst>
          </a:prstGeom>
          <a:solidFill>
            <a:srgbClr val="FFFFFF"/>
          </a:solidFill>
          <a:ln cap="flat" cmpd="sng" w="15225">
            <a:solidFill>
              <a:srgbClr val="ED7100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80"/>
              <a:buFont typeface="Arial"/>
              <a:buNone/>
            </a:pPr>
            <a:r>
              <a:rPr sz="780" b="1">
                <a:solidFill>
                  <a:srgbClr val="0B192C"/>
                </a:solidFill>
                <a:latin typeface="Malgun Gothic"/>
              </a:rPr>
              <a:t>AP 기본 제공 스펙 우선 구성 (성능테스트 시 OOM 등 서비스 중단 반복 시 스펙 증설 요청) · PRD / STG / DEV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9" name="Google Shape;459;p8"/>
          <p:cNvSpPr/>
          <p:nvPr/>
        </p:nvSpPr>
        <p:spPr>
          <a:xfrm>
            <a:off x="3584448" y="3310128"/>
            <a:ext cx="4672584" cy="731520"/>
          </a:xfrm>
          <a:prstGeom prst="roundRect">
            <a:avLst>
              <a:gd fmla="val 4000" name="adj"/>
            </a:avLst>
          </a:prstGeom>
          <a:solidFill>
            <a:srgbClr val="FFFFFF"/>
          </a:solidFill>
          <a:ln cap="flat" cmpd="sng" w="15225">
            <a:solidFill>
              <a:srgbClr val="002C6C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90"/>
              <a:buFont typeface="Arial"/>
              <a:buNone/>
            </a:pPr>
            <a:r>
              <a:rPr sz="760" b="1">
                <a:solidFill>
                  <a:srgbClr val="002C6C"/>
                </a:solidFill>
                <a:latin typeface="Malgun Gothic"/>
              </a:rPr>
              <a:t>★ 모듈 #1·#2 : 통합 웹 콘솔(Client/fe :3104) + 메인 업무서버(server-be :18080) [BO ALB 연결]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/>
            <a:r>
              <a:rPr sz="660" b="0">
                <a:solidFill>
                  <a:srgbClr val="1E293B"/>
                </a:solidFill>
                <a:latin typeface="Malgun Gothic"/>
              </a:rPr>
              <a:t>• 영상 장면 보정: AI 1차 추출 후 웹 화면에서 동영상 재생·특정화면 멈춰 장면 추가 및 AI 생성 장면 편집·삭제</a:t>
            </a:r>
          </a:p>
          <a:p>
            <a:pPr algn="l"/>
            <a:r>
              <a:rPr sz="660" b="0">
                <a:solidFill>
                  <a:srgbClr val="1E293B"/>
                </a:solidFill>
                <a:latin typeface="Malgun Gothic"/>
              </a:rPr>
              <a:t>• BO ➔ Agent 호출: 장면 보정 재분석·수동 재실행·법령 청킹 시 업무BE(:18080)에서 EKS Service로 AI Agent 호출</a:t>
            </a:r>
          </a:p>
        </p:txBody>
      </p:sp>
      <p:sp>
        <p:nvSpPr>
          <p:cNvPr id="460" name="Google Shape;460;p8"/>
          <p:cNvSpPr/>
          <p:nvPr/>
        </p:nvSpPr>
        <p:spPr>
          <a:xfrm>
            <a:off x="3584448" y="4096512"/>
            <a:ext cx="4672584" cy="731520"/>
          </a:xfrm>
          <a:prstGeom prst="roundRect">
            <a:avLst>
              <a:gd fmla="val 4000" name="adj"/>
            </a:avLst>
          </a:prstGeom>
          <a:solidFill>
            <a:srgbClr val="FFFFFF"/>
          </a:solidFill>
          <a:ln cap="flat" cmpd="sng" w="15225">
            <a:solidFill>
              <a:srgbClr val="1A73C7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90"/>
              <a:buFont typeface="Arial"/>
              <a:buNone/>
            </a:pPr>
            <a:r>
              <a:rPr sz="760" b="1">
                <a:solidFill>
                  <a:srgbClr val="1A73C7"/>
                </a:solidFill>
                <a:latin typeface="Malgun Gothic"/>
              </a:rPr>
              <a:t>★ 모듈 #3 : 대외 연계 &amp; 파일 API 서버(server-api :18085) [대외연계 전용 ALB 단독 연결]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/>
            <a:r>
              <a:rPr sz="660" b="0">
                <a:solidFill>
                  <a:srgbClr val="1E293B"/>
                </a:solidFill>
                <a:latin typeface="Malgun Gothic"/>
              </a:rPr>
              <a:t>• 접근 통제: 마케팅허브 서버만 오픈된 대외연계 ALB를 통해서만 인바운드 접근 허용 (일반 사용자대역 접근 차단)</a:t>
            </a:r>
          </a:p>
          <a:p>
            <a:pPr algn="l"/>
            <a:r>
              <a:rPr sz="660" b="0">
                <a:solidFill>
                  <a:srgbClr val="1E293B"/>
                </a:solidFill>
                <a:latin typeface="Malgun Gothic"/>
              </a:rPr>
              <a:t>• 대용량 처리: 300MB 시안·동영상 S3(Intelligent-Tiering) 업로드 및 EKS Service를 통한 AI Agent(:18083) 호출</a:t>
            </a:r>
          </a:p>
        </p:txBody>
      </p:sp>
      <p:sp>
        <p:nvSpPr>
          <p:cNvPr id="461" name="Google Shape;461;p8"/>
          <p:cNvSpPr/>
          <p:nvPr/>
        </p:nvSpPr>
        <p:spPr>
          <a:xfrm>
            <a:off x="3584448" y="4882896"/>
            <a:ext cx="4672584" cy="731520"/>
          </a:xfrm>
          <a:prstGeom prst="roundRect">
            <a:avLst>
              <a:gd fmla="val 4000" name="adj"/>
            </a:avLst>
          </a:prstGeom>
          <a:solidFill>
            <a:srgbClr val="FFFFFF"/>
          </a:solidFill>
          <a:ln cap="flat" cmpd="sng" w="15225">
            <a:solidFill>
              <a:srgbClr val="7A3EC4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90"/>
              <a:buFont typeface="Arial"/>
              <a:buNone/>
            </a:pPr>
            <a:r>
              <a:rPr sz="760" b="1">
                <a:solidFill>
                  <a:srgbClr val="7A3EC4"/>
                </a:solidFill>
                <a:latin typeface="Malgun Gothic"/>
              </a:rPr>
              <a:t>★ 모듈 #4·#5 : AI 에이전트(:18083) &amp; 배치 워커(:18084) [AP 기본 제공 타입 적용]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/>
            <a:r>
              <a:rPr sz="660" b="0">
                <a:solidFill>
                  <a:srgbClr val="1E293B"/>
                </a:solidFill>
                <a:latin typeface="Malgun Gothic"/>
              </a:rPr>
              <a:t>• AI Agent(:18083): OpenCV 영상 피크프레임 1차 자동추출 + 웹 보정 장면 분석, 네이버/패들 OCR, 동시 4건 큐, 1536d RAG</a:t>
            </a:r>
          </a:p>
          <a:p>
            <a:pPr algn="l"/>
            <a:r>
              <a:rPr sz="660" b="0">
                <a:solidFill>
                  <a:srgbClr val="1E293B"/>
                </a:solidFill>
                <a:latin typeface="Malgun Gothic"/>
              </a:rPr>
              <a:t>• 스펙 원칙: AP 기본 제공 타입으로 구성하며, 성능 테스트 시 OOM 등 서비스 중단 이슈 반복 시 스펙 증설 요청</a:t>
            </a:r>
          </a:p>
        </p:txBody>
      </p:sp>
      <p:sp>
        <p:nvSpPr>
          <p:cNvPr id="462" name="Google Shape;462;p8"/>
          <p:cNvSpPr/>
          <p:nvPr/>
        </p:nvSpPr>
        <p:spPr>
          <a:xfrm>
            <a:off x="3584448" y="5669280"/>
            <a:ext cx="4672584" cy="731520"/>
          </a:xfrm>
          <a:prstGeom prst="roundRect">
            <a:avLst>
              <a:gd fmla="val 4000" name="adj"/>
            </a:avLst>
          </a:prstGeom>
          <a:solidFill>
            <a:srgbClr val="FFFFFF"/>
          </a:solidFill>
          <a:ln cap="flat" cmpd="sng" w="15225">
            <a:solidFill>
              <a:srgbClr val="2E7D32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90"/>
              <a:buFont typeface="Arial"/>
              <a:buNone/>
            </a:pPr>
            <a:r>
              <a:rPr b="1" i="0" lang="en-US" sz="760" u="none" cap="none" strike="noStrike">
                <a:solidFill>
                  <a:srgbClr val="2E7D32"/>
                </a:solidFill>
                <a:latin typeface="Malgun Gothic"/>
                <a:ea typeface="Malgun Gothic"/>
                <a:cs typeface="Malgun Gothic"/>
                <a:sym typeface="Malgun Gothic"/>
              </a:rPr>
              <a:t>★ 스테이지(STG) &amp; 개발(DEV) 환경 EKS 네임스페이스/클러스터 분리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680"/>
              <a:buFont typeface="Arial"/>
              <a:buNone/>
            </a:pPr>
            <a:r>
              <a:rPr b="0" i="0" lang="en-US" sz="660" u="none" cap="none" strike="noStrik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• 스테이지(STG): syncguard-ai-stg 네임스페이스 — 현업 UAT 및 마케팅허브·프로덕트랩 검증계 통합 테스트
• 개발(DEV): syncguard-ai-dev 네임스페이스 — 5대 모듈(통합웹·업무BE·연계API·에이전트·배치) 개발계 컨테이너 구동</a:t>
            </a:r>
            <a:br>
              <a:rPr b="0" i="0" lang="en-US" sz="680" u="none" cap="none" strike="noStrik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0" i="0" lang="en-US" sz="680" u="none" cap="none" strike="noStrik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3" name="Google Shape;463;p8"/>
          <p:cNvSpPr/>
          <p:nvPr/>
        </p:nvSpPr>
        <p:spPr>
          <a:xfrm>
            <a:off x="8503920" y="2596896"/>
            <a:ext cx="3200400" cy="3895344"/>
          </a:xfrm>
          <a:prstGeom prst="roundRect">
            <a:avLst>
              <a:gd fmla="val 4000" name="adj"/>
            </a:avLst>
          </a:prstGeom>
          <a:solidFill>
            <a:srgbClr val="FEF2F2"/>
          </a:solidFill>
          <a:ln cap="flat" cmpd="sng" w="19050">
            <a:solidFill>
              <a:srgbClr val="D82C20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64" name="Google Shape;464;p8"/>
          <p:cNvSpPr/>
          <p:nvPr/>
        </p:nvSpPr>
        <p:spPr>
          <a:xfrm>
            <a:off x="8595360" y="2670048"/>
            <a:ext cx="3017520" cy="274320"/>
          </a:xfrm>
          <a:prstGeom prst="roundRect">
            <a:avLst>
              <a:gd fmla="val 4000" name="adj"/>
            </a:avLst>
          </a:prstGeom>
          <a:solidFill>
            <a:srgbClr val="D82C2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18"/>
              <a:buFont typeface="Arial"/>
              <a:buNone/>
            </a:pPr>
            <a:r>
              <a:rPr b="1" i="0" lang="en-US" sz="819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★ [신규 요청 ⑤] PostgreSQL(RAG 통합) · S3 생성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5" name="Google Shape;465;p8"/>
          <p:cNvSpPr/>
          <p:nvPr/>
        </p:nvSpPr>
        <p:spPr>
          <a:xfrm>
            <a:off x="8595360" y="3017520"/>
            <a:ext cx="3017520" cy="2029968"/>
          </a:xfrm>
          <a:prstGeom prst="roundRect">
            <a:avLst>
              <a:gd fmla="val 4000" name="adj"/>
            </a:avLst>
          </a:prstGeom>
          <a:solidFill>
            <a:srgbClr val="FFFFFF"/>
          </a:solidFill>
          <a:ln cap="flat" cmpd="sng" w="15225">
            <a:solidFill>
              <a:srgbClr val="002C6C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sz="800" b="1">
                <a:solidFill>
                  <a:srgbClr val="002C6C"/>
                </a:solidFill>
                <a:latin typeface="Malgun Gothic"/>
              </a:rPr>
              <a:t>★ AWS RDS for PostgreSQL 16 + pgvector 통합 (:5432)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/>
            <a:r>
              <a:rPr sz="690" b="0">
                <a:solidFill>
                  <a:srgbClr val="1E293B"/>
                </a:solidFill>
                <a:latin typeface="Malgun Gothic"/>
              </a:rPr>
              <a:t>• 스펙 정책: HB RDS 표준 기본 제공 타입으로 우선 구성</a:t>
            </a:r>
          </a:p>
          <a:p>
            <a:pPr algn="l"/>
            <a:r>
              <a:rPr sz="690" b="0">
                <a:solidFill>
                  <a:srgbClr val="1E293B"/>
                </a:solidFill>
                <a:latin typeface="Malgun Gothic"/>
              </a:rPr>
              <a:t>  (성능 테스트 시 리소스 부족 현상 지속 시 스펙 증설 요청)</a:t>
            </a:r>
          </a:p>
          <a:p>
            <a:pPr algn="l"/>
            <a:r>
              <a:rPr sz="690" b="0">
                <a:solidFill>
                  <a:srgbClr val="1E293B"/>
                </a:solidFill>
                <a:latin typeface="Malgun Gothic"/>
              </a:rPr>
              <a:t>• 환경 분리: 운영(PRD Multi-AZ) / 스테이지(STG) / 개발(DEV)</a:t>
            </a:r>
          </a:p>
          <a:p>
            <a:pPr algn="l"/>
            <a:r>
              <a:rPr sz="690" b="0">
                <a:solidFill>
                  <a:srgbClr val="1E293B"/>
                </a:solidFill>
                <a:latin typeface="Malgun Gothic"/>
              </a:rPr>
              <a:t>• 확장 모듈: CREATE EXTENSION vector; (1536차원 HNSW)</a:t>
            </a:r>
          </a:p>
          <a:p>
            <a:pPr algn="l"/>
            <a:r>
              <a:rPr sz="690" b="0">
                <a:solidFill>
                  <a:srgbClr val="1E293B"/>
                </a:solidFill>
                <a:latin typeface="Malgun Gothic"/>
              </a:rPr>
              <a:t>• 단일 DB 내 서비스·RAG 스키마 통합 구성</a:t>
            </a:r>
          </a:p>
        </p:txBody>
      </p:sp>
      <p:sp>
        <p:nvSpPr>
          <p:cNvPr id="466" name="Google Shape;466;p8"/>
          <p:cNvSpPr/>
          <p:nvPr/>
        </p:nvSpPr>
        <p:spPr>
          <a:xfrm>
            <a:off x="8595360" y="5138928"/>
            <a:ext cx="3017520" cy="1280160"/>
          </a:xfrm>
          <a:prstGeom prst="roundRect">
            <a:avLst>
              <a:gd fmla="val 4000" name="adj"/>
            </a:avLst>
          </a:prstGeom>
          <a:solidFill>
            <a:srgbClr val="FFFFFF"/>
          </a:solidFill>
          <a:ln cap="flat" cmpd="sng" w="15225">
            <a:solidFill>
              <a:srgbClr val="2E7D32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sz="800" b="1">
                <a:solidFill>
                  <a:srgbClr val="2E7D32"/>
                </a:solidFill>
                <a:latin typeface="Malgun Gothic"/>
              </a:rPr>
              <a:t>★ AWS S3 전용 버킷 (Intelligent-Tiering 자동 적용)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/>
            <a:r>
              <a:rPr sz="690" b="0">
                <a:solidFill>
                  <a:srgbClr val="1E293B"/>
                </a:solidFill>
                <a:latin typeface="Malgun Gothic"/>
              </a:rPr>
              <a:t>• 환경별 버킷: ap-syncguard-ai-prd / stg / dev (SSE-S3 암호화)</a:t>
            </a:r>
          </a:p>
          <a:p>
            <a:pPr algn="l"/>
            <a:r>
              <a:rPr sz="690" b="0">
                <a:solidFill>
                  <a:srgbClr val="1E293B"/>
                </a:solidFill>
                <a:latin typeface="Malgun Gothic"/>
              </a:rPr>
              <a:t>• 저장 타입: 업로드 시 "Intelligent-Tiering" 자동 적용</a:t>
            </a:r>
          </a:p>
          <a:p>
            <a:pPr algn="l"/>
            <a:r>
              <a:rPr sz="690" b="0">
                <a:solidFill>
                  <a:srgbClr val="1E293B"/>
                </a:solidFill>
                <a:latin typeface="Malgun Gothic"/>
              </a:rPr>
              <a:t>  (보관주기 미확정에 따른 자동 패턴 분석으로 보관비용 관리)</a:t>
            </a:r>
          </a:p>
          <a:p>
            <a:pPr algn="l"/>
            <a:r>
              <a:rPr sz="690" b="0">
                <a:solidFill>
                  <a:srgbClr val="1E293B"/>
                </a:solidFill>
                <a:latin typeface="Malgun Gothic"/>
              </a:rPr>
              <a:t>• 용도: 시안·영상 원본, AI 추출 및 웹 보정 장면, 리포트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9"/>
          <p:cNvSpPr txBox="1"/>
          <p:nvPr/>
        </p:nvSpPr>
        <p:spPr>
          <a:xfrm>
            <a:off x="411480" y="201168"/>
            <a:ext cx="113385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36575" spcFirstLastPara="1" rIns="365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20"/>
              <a:buFont typeface="Arial"/>
              <a:buNone/>
            </a:pPr>
            <a:r>
              <a:rPr b="1" i="0" lang="en-US" sz="1620" u="none" cap="none" strike="noStrike">
                <a:solidFill>
                  <a:srgbClr val="0B192C"/>
                </a:solidFill>
                <a:latin typeface="Malgun Gothic"/>
                <a:ea typeface="Malgun Gothic"/>
                <a:cs typeface="Malgun Gothic"/>
                <a:sym typeface="Malgun Gothic"/>
              </a:rPr>
              <a:t>8. [인프라팀 협의반영] 환경별(DEV·STG·PRD) EKS·DB·스토리지 자원 명세 및 방화벽 요청서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2" name="Google Shape;472;p9"/>
          <p:cNvSpPr txBox="1"/>
          <p:nvPr/>
        </p:nvSpPr>
        <p:spPr>
          <a:xfrm>
            <a:off x="429768" y="585216"/>
            <a:ext cx="113385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36575" spcFirstLastPara="1" rIns="365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80"/>
              <a:buFont typeface="Arial"/>
              <a:buNone/>
            </a:pPr>
            <a:r>
              <a:rPr sz="980" b="0">
                <a:solidFill>
                  <a:srgbClr val="475569"/>
                </a:solidFill>
                <a:latin typeface="Malgun Gothic"/>
              </a:rPr>
              <a:t>BO/대외연계 ALB 물리 분리 · AP 기본 제공 스펙 적용(성능테스트 OOM 시 증설) · S3 Intelligent-Tiering · 네이버OCR 및 Outbound URL 방화벽 명세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3" name="Google Shape;473;p9"/>
          <p:cNvSpPr/>
          <p:nvPr/>
        </p:nvSpPr>
        <p:spPr>
          <a:xfrm>
            <a:off x="411480" y="877824"/>
            <a:ext cx="11365992" cy="256032"/>
          </a:xfrm>
          <a:prstGeom prst="roundRect">
            <a:avLst>
              <a:gd fmla="val 4000" name="adj"/>
            </a:avLst>
          </a:prstGeom>
          <a:solidFill>
            <a:srgbClr val="002C6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■ [표 1] 신규 클라우드 인프라 자원 및 EKS 5대 모듈 컨테이너 명세표 (운영 PRD / 스테이지 STG / 개발 DEV 분리)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74" name="Google Shape;474;p9"/>
          <p:cNvGraphicFramePr/>
          <p:nvPr/>
        </p:nvGraphicFramePr>
        <p:xfrm>
          <a:off x="411480" y="1170432"/>
          <a:ext cx="3000000" cy="1670000"/>
        </p:xfrm>
        <a:graphic>
          <a:graphicData uri="http://schemas.openxmlformats.org/drawingml/2006/table">
            <a:tbl>
              <a:tblPr bandRow="1" firstRow="1">
                <a:noFill/>
                <a:tableStyleId>{57ECCEF1-4F0B-44ED-B440-CF76BB67F893}</a:tableStyleId>
              </a:tblPr>
              <a:tblGrid>
                <a:gridCol w="1188725"/>
                <a:gridCol w="1783075"/>
                <a:gridCol w="2057400"/>
                <a:gridCol w="1325875"/>
                <a:gridCol w="1280150"/>
                <a:gridCol w="1005850"/>
                <a:gridCol w="2724900"/>
              </a:tblGrid>
              <a:tr h="200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80"/>
                        <a:buFont typeface="Arial"/>
                        <a:buNone/>
                      </a:pPr>
                      <a:r>
                        <a:rPr b="1" lang="en-US" sz="78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구분</a:t>
                      </a:r>
                      <a:endParaRPr sz="1400" u="none" cap="none" strike="noStrike"/>
                    </a:p>
                  </a:txBody>
                  <a:tcPr marT="15000" marB="15000" marR="45725" marL="45725" anchor="ctr">
                    <a:solidFill>
                      <a:srgbClr val="1A73C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80"/>
                        <a:buFont typeface="Arial"/>
                        <a:buNone/>
                      </a:pPr>
                      <a:r>
                        <a:rPr b="1" lang="en-US" sz="78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리소스 / 호스트명</a:t>
                      </a:r>
                      <a:endParaRPr sz="1400" u="none" cap="none" strike="noStrike"/>
                    </a:p>
                  </a:txBody>
                  <a:tcPr marT="15000" marB="15000" marR="45725" marL="45725" anchor="ctr">
                    <a:solidFill>
                      <a:srgbClr val="1A73C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80"/>
                        <a:buFont typeface="Arial"/>
                        <a:buNone/>
                      </a:pPr>
                      <a:r>
                        <a:rPr b="1" lang="en-US" sz="78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운영계 (PRD) 스펙 · 수량</a:t>
                      </a:r>
                      <a:endParaRPr sz="1400" u="none" cap="none" strike="noStrike"/>
                    </a:p>
                  </a:txBody>
                  <a:tcPr marT="15000" marB="15000" marR="45725" marL="45725" anchor="ctr">
                    <a:solidFill>
                      <a:srgbClr val="1A73C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80"/>
                        <a:buFont typeface="Arial"/>
                        <a:buNone/>
                      </a:pPr>
                      <a:r>
                        <a:rPr b="1" lang="en-US" sz="78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스테이지계 (STG)</a:t>
                      </a:r>
                      <a:endParaRPr sz="1400" u="none" cap="none" strike="noStrike"/>
                    </a:p>
                  </a:txBody>
                  <a:tcPr marT="15000" marB="15000" marR="45725" marL="45725" anchor="ctr">
                    <a:solidFill>
                      <a:srgbClr val="1A73C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80"/>
                        <a:buFont typeface="Arial"/>
                        <a:buNone/>
                      </a:pPr>
                      <a:r>
                        <a:rPr b="1" lang="en-US" sz="78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개발계 (DEV)</a:t>
                      </a:r>
                      <a:endParaRPr sz="1400" u="none" cap="none" strike="noStrike"/>
                    </a:p>
                  </a:txBody>
                  <a:tcPr marT="15000" marB="15000" marR="45725" marL="45725" anchor="ctr">
                    <a:solidFill>
                      <a:srgbClr val="1A73C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80"/>
                        <a:buFont typeface="Arial"/>
                        <a:buNone/>
                      </a:pPr>
                      <a:r>
                        <a:rPr b="1" lang="en-US" sz="78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포트 / 프로토콜</a:t>
                      </a:r>
                      <a:endParaRPr sz="1400" u="none" cap="none" strike="noStrike"/>
                    </a:p>
                  </a:txBody>
                  <a:tcPr marT="15000" marB="15000" marR="45725" marL="45725" anchor="ctr">
                    <a:solidFill>
                      <a:srgbClr val="1A73C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80"/>
                        <a:buFont typeface="Arial"/>
                        <a:buNone/>
                      </a:pPr>
                      <a:r>
                        <a:rPr b="1" lang="en-US" sz="78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OS · 배포 구성 · 필수 설정 비고</a:t>
                      </a:r>
                      <a:endParaRPr sz="1400" u="none" cap="none" strike="noStrike"/>
                    </a:p>
                  </a:txBody>
                  <a:tcPr marT="15000" marB="15000" marR="45725" marL="45725" anchor="ctr">
                    <a:solidFill>
                      <a:srgbClr val="1A73C7"/>
                    </a:solidFill>
                  </a:tcPr>
                </a:tc>
              </a:tr>
              <a:tr h="210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10"/>
                        <a:buFont typeface="Arial"/>
                        <a:buNone/>
                      </a:pPr>
                      <a:r>
                        <a:rPr sz="660" b="1">
                          <a:solidFill>
                            <a:srgbClr val="1E293B"/>
                          </a:solidFill>
                          <a:latin typeface="Malgun Gothic"/>
                        </a:rPr>
                        <a:t>로드밸런서 (물리분리)</a:t>
                      </a:r>
                      <a:endParaRPr sz="1400" u="none" cap="none" strike="noStrike"/>
                    </a:p>
                  </a:txBody>
                  <a:tcPr marT="15000" marB="1500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10"/>
                        <a:buFont typeface="Arial"/>
                        <a:buNone/>
                      </a:pPr>
                      <a:r>
                        <a:rPr sz="660" b="1">
                          <a:solidFill>
                            <a:srgbClr val="1E293B"/>
                          </a:solidFill>
                          <a:latin typeface="Malgun Gothic"/>
                        </a:rPr>
                        <a:t>① BO ALB (syncguard-ai-bo-prv-alb)</a:t>
                      </a:r>
                      <a:endParaRPr sz="1400" u="none" cap="none" strike="noStrike"/>
                    </a:p>
                    <a:p>
                      <a:pPr algn="l"/>
                      <a:r>
                        <a:rPr sz="660" b="1">
                          <a:solidFill>
                            <a:srgbClr val="1E293B"/>
                          </a:solidFill>
                          <a:latin typeface="Malgun Gothic"/>
                        </a:rPr>
                        <a:t>② 연계 ALB (syncguard-ai-api-prv-alb)</a:t>
                      </a:r>
                    </a:p>
                  </a:txBody>
                  <a:tcPr marT="15000" marB="1500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10"/>
                        <a:buFont typeface="Arial"/>
                        <a:buNone/>
                      </a:pPr>
                      <a:r>
                        <a:rPr sz="660" b="0">
                          <a:solidFill>
                            <a:srgbClr val="1E293B"/>
                          </a:solidFill>
                          <a:latin typeface="Malgun Gothic"/>
                        </a:rPr>
                        <a:t>Internal ALB × 2개 물리분리</a:t>
                      </a:r>
                      <a:endParaRPr sz="1400" u="none" cap="none" strike="noStrike"/>
                    </a:p>
                    <a:p>
                      <a:pPr algn="l"/>
                      <a:r>
                        <a:rPr sz="660" b="0">
                          <a:solidFill>
                            <a:srgbClr val="1E293B"/>
                          </a:solidFill>
                          <a:latin typeface="Malgun Gothic"/>
                        </a:rPr>
                        <a:t>(BO용 / 대외연계용)</a:t>
                      </a:r>
                    </a:p>
                  </a:txBody>
                  <a:tcPr marT="15000" marB="1500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10"/>
                        <a:buFont typeface="Arial"/>
                        <a:buNone/>
                      </a:pPr>
                      <a:r>
                        <a:rPr sz="660" b="0">
                          <a:solidFill>
                            <a:srgbClr val="1E293B"/>
                          </a:solidFill>
                          <a:latin typeface="Malgun Gothic"/>
                        </a:rPr>
                        <a:t>STG ALB × 2개 분리</a:t>
                      </a:r>
                      <a:endParaRPr sz="1400" u="none" cap="none" strike="noStrike"/>
                    </a:p>
                  </a:txBody>
                  <a:tcPr marT="15000" marB="1500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10"/>
                        <a:buFont typeface="Arial"/>
                        <a:buNone/>
                      </a:pPr>
                      <a:r>
                        <a:rPr sz="660" b="0">
                          <a:solidFill>
                            <a:srgbClr val="1E293B"/>
                          </a:solidFill>
                          <a:latin typeface="Malgun Gothic"/>
                        </a:rPr>
                        <a:t>DEV ALB × 2개 분리</a:t>
                      </a:r>
                      <a:endParaRPr sz="1400" u="none" cap="none" strike="noStrike"/>
                    </a:p>
                  </a:txBody>
                  <a:tcPr marT="15000" marB="1500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10"/>
                        <a:buFont typeface="Arial"/>
                        <a:buNone/>
                      </a:pPr>
                      <a:r>
                        <a:rPr sz="660" b="0">
                          <a:solidFill>
                            <a:srgbClr val="1E293B"/>
                          </a:solidFill>
                          <a:latin typeface="Malgun Gothic"/>
                        </a:rPr>
                        <a:t>HTTPS :443</a:t>
                      </a:r>
                      <a:endParaRPr sz="1400" u="none" cap="none" strike="noStrike"/>
                    </a:p>
                  </a:txBody>
                  <a:tcPr marT="15000" marB="1500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10"/>
                        <a:buFont typeface="Arial"/>
                        <a:buNone/>
                      </a:pPr>
                      <a:r>
                        <a:rPr sz="660" b="0">
                          <a:solidFill>
                            <a:srgbClr val="1E293B"/>
                          </a:solidFill>
                          <a:latin typeface="Malgun Gothic"/>
                        </a:rPr>
                        <a:t>[물리 분리] BO ALB: 사용자대역 오픈(통합웹 :3104 / 업무BE :18080) | 대외연계 ALB: 마케팅허브 서버만 오픈(대외API :18085)</a:t>
                      </a:r>
                      <a:endParaRPr sz="1400" u="none" cap="none" strike="noStrike"/>
                    </a:p>
                  </a:txBody>
                  <a:tcPr marT="15000" marB="15000" marR="45725" marL="45725" anchor="ctr">
                    <a:solidFill>
                      <a:srgbClr val="FFFFFF"/>
                    </a:solidFill>
                  </a:tcPr>
                </a:tc>
              </a:tr>
              <a:tr h="210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10"/>
                        <a:buFont typeface="Arial"/>
                        <a:buNone/>
                      </a:pPr>
                      <a:r>
                        <a:rPr sz="660" b="1">
                          <a:solidFill>
                            <a:srgbClr val="1E293B"/>
                          </a:solidFill>
                          <a:latin typeface="Malgun Gothic"/>
                        </a:rPr>
                        <a:t>① 통합 웹 + ② 업무 서버</a:t>
                      </a:r>
                      <a:endParaRPr sz="1400" u="none" cap="none" strike="noStrike"/>
                    </a:p>
                  </a:txBody>
                  <a:tcPr marT="15000" marB="15000" marR="45725" marL="45725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10"/>
                        <a:buFont typeface="Arial"/>
                        <a:buNone/>
                      </a:pPr>
                      <a:r>
                        <a:rPr sz="660" b="1">
                          <a:solidFill>
                            <a:srgbClr val="1E293B"/>
                          </a:solidFill>
                          <a:latin typeface="Malgun Gothic"/>
                        </a:rPr>
                        <a:t>Client/fe(:3104) + server-be(:18080)</a:t>
                      </a:r>
                      <a:endParaRPr sz="1400" u="none" cap="none" strike="noStrike"/>
                    </a:p>
                  </a:txBody>
                  <a:tcPr marT="15000" marB="15000" marR="45725" marL="45725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10"/>
                        <a:buFont typeface="Arial"/>
                        <a:buNone/>
                      </a:pPr>
                      <a:r>
                        <a:rPr sz="660" b="0">
                          <a:solidFill>
                            <a:srgbClr val="1E293B"/>
                          </a:solidFill>
                          <a:latin typeface="Malgun Gothic"/>
                        </a:rPr>
                        <a:t>AP 기본 제공 타입 (Pod × 2)</a:t>
                      </a:r>
                      <a:endParaRPr sz="1400" u="none" cap="none" strike="noStrike"/>
                    </a:p>
                    <a:p>
                      <a:pPr algn="l"/>
                      <a:r>
                        <a:rPr sz="660" b="0">
                          <a:solidFill>
                            <a:srgbClr val="1E293B"/>
                          </a:solidFill>
                          <a:latin typeface="Malgun Gothic"/>
                        </a:rPr>
                        <a:t>(OOM 발생 시 증설 요청)</a:t>
                      </a:r>
                    </a:p>
                  </a:txBody>
                  <a:tcPr marT="15000" marB="15000" marR="45725" marL="45725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10"/>
                        <a:buFont typeface="Arial"/>
                        <a:buNone/>
                      </a:pPr>
                      <a:r>
                        <a:rPr sz="660" b="0">
                          <a:solidFill>
                            <a:srgbClr val="1E293B"/>
                          </a:solidFill>
                          <a:latin typeface="Malgun Gothic"/>
                        </a:rPr>
                        <a:t>AP 기본 타입 (Pod × 1)</a:t>
                      </a:r>
                      <a:endParaRPr sz="1400" u="none" cap="none" strike="noStrike"/>
                    </a:p>
                  </a:txBody>
                  <a:tcPr marT="15000" marB="15000" marR="45725" marL="45725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10"/>
                        <a:buFont typeface="Arial"/>
                        <a:buNone/>
                      </a:pPr>
                      <a:r>
                        <a:rPr sz="660" b="0">
                          <a:solidFill>
                            <a:srgbClr val="1E293B"/>
                          </a:solidFill>
                          <a:latin typeface="Malgun Gothic"/>
                        </a:rPr>
                        <a:t>AP 기본 타입 (Pod × 1)</a:t>
                      </a:r>
                      <a:endParaRPr sz="1400" u="none" cap="none" strike="noStrike"/>
                    </a:p>
                  </a:txBody>
                  <a:tcPr marT="15000" marB="15000" marR="45725" marL="45725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10"/>
                        <a:buFont typeface="Arial"/>
                        <a:buNone/>
                      </a:pPr>
                      <a:r>
                        <a:rPr sz="660" b="0">
                          <a:solidFill>
                            <a:srgbClr val="1E293B"/>
                          </a:solidFill>
                          <a:latin typeface="Malgun Gothic"/>
                        </a:rPr>
                        <a:t>TCP :3104, :18080</a:t>
                      </a:r>
                      <a:endParaRPr sz="1400" u="none" cap="none" strike="noStrike"/>
                    </a:p>
                  </a:txBody>
                  <a:tcPr marT="15000" marB="15000" marR="45725" marL="45725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10"/>
                        <a:buFont typeface="Arial"/>
                        <a:buNone/>
                      </a:pPr>
                      <a:r>
                        <a:rPr sz="660" b="0">
                          <a:solidFill>
                            <a:srgbClr val="1E293B"/>
                          </a:solidFill>
                          <a:latin typeface="Malgun Gothic"/>
                        </a:rPr>
                        <a:t>BO ALB 연결 · 웹 동영상 재생 및 특정화면 멈춤 장면 추가 / AI 장면 편집·삭제 보정 · EKS Service로 AI Agent(:18083) 호출</a:t>
                      </a:r>
                      <a:endParaRPr sz="1400" u="none" cap="none" strike="noStrike"/>
                    </a:p>
                  </a:txBody>
                  <a:tcPr marT="15000" marB="15000" marR="45725" marL="45725" anchor="ctr">
                    <a:solidFill>
                      <a:srgbClr val="F8FAFC"/>
                    </a:solidFill>
                  </a:tcPr>
                </a:tc>
              </a:tr>
              <a:tr h="210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10"/>
                        <a:buFont typeface="Arial"/>
                        <a:buNone/>
                      </a:pPr>
                      <a:r>
                        <a:rPr sz="660" b="1">
                          <a:solidFill>
                            <a:srgbClr val="1E293B"/>
                          </a:solidFill>
                          <a:latin typeface="Malgun Gothic"/>
                        </a:rPr>
                        <a:t>③ 대외 연계·파일 API</a:t>
                      </a:r>
                      <a:endParaRPr sz="1400" u="none" cap="none" strike="noStrike"/>
                    </a:p>
                  </a:txBody>
                  <a:tcPr marT="15000" marB="1500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10"/>
                        <a:buFont typeface="Arial"/>
                        <a:buNone/>
                      </a:pPr>
                      <a:r>
                        <a:rPr sz="660" b="1">
                          <a:solidFill>
                            <a:srgbClr val="1E293B"/>
                          </a:solidFill>
                          <a:latin typeface="Malgun Gothic"/>
                        </a:rPr>
                        <a:t>server-api (:18085)</a:t>
                      </a:r>
                      <a:endParaRPr sz="1400" u="none" cap="none" strike="noStrike"/>
                    </a:p>
                  </a:txBody>
                  <a:tcPr marT="15000" marB="1500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10"/>
                        <a:buFont typeface="Arial"/>
                        <a:buNone/>
                      </a:pPr>
                      <a:r>
                        <a:rPr sz="660" b="0">
                          <a:solidFill>
                            <a:srgbClr val="1E293B"/>
                          </a:solidFill>
                          <a:latin typeface="Malgun Gothic"/>
                        </a:rPr>
                        <a:t>AP 기본 제공 타입 (Pod × 2)</a:t>
                      </a:r>
                      <a:endParaRPr sz="1400" u="none" cap="none" strike="noStrike"/>
                    </a:p>
                    <a:p>
                      <a:pPr algn="l"/>
                      <a:r>
                        <a:rPr sz="660" b="0">
                          <a:solidFill>
                            <a:srgbClr val="1E293B"/>
                          </a:solidFill>
                          <a:latin typeface="Malgun Gothic"/>
                        </a:rPr>
                        <a:t>(OOM 발생 시 증설 요청)</a:t>
                      </a:r>
                    </a:p>
                  </a:txBody>
                  <a:tcPr marT="15000" marB="1500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10"/>
                        <a:buFont typeface="Arial"/>
                        <a:buNone/>
                      </a:pPr>
                      <a:r>
                        <a:rPr sz="660" b="0">
                          <a:solidFill>
                            <a:srgbClr val="1E293B"/>
                          </a:solidFill>
                          <a:latin typeface="Malgun Gothic"/>
                        </a:rPr>
                        <a:t>AP 기본 타입 (Pod × 1)</a:t>
                      </a:r>
                      <a:endParaRPr sz="1400" u="none" cap="none" strike="noStrike"/>
                    </a:p>
                  </a:txBody>
                  <a:tcPr marT="15000" marB="1500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10"/>
                        <a:buFont typeface="Arial"/>
                        <a:buNone/>
                      </a:pPr>
                      <a:r>
                        <a:rPr sz="660" b="0">
                          <a:solidFill>
                            <a:srgbClr val="1E293B"/>
                          </a:solidFill>
                          <a:latin typeface="Malgun Gothic"/>
                        </a:rPr>
                        <a:t>AP 기본 타입 (Pod × 1)</a:t>
                      </a:r>
                      <a:endParaRPr sz="1400" u="none" cap="none" strike="noStrike"/>
                    </a:p>
                  </a:txBody>
                  <a:tcPr marT="15000" marB="1500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10"/>
                        <a:buFont typeface="Arial"/>
                        <a:buNone/>
                      </a:pPr>
                      <a:r>
                        <a:rPr sz="660" b="0">
                          <a:solidFill>
                            <a:srgbClr val="1E293B"/>
                          </a:solidFill>
                          <a:latin typeface="Malgun Gothic"/>
                        </a:rPr>
                        <a:t>TCP :18085</a:t>
                      </a:r>
                      <a:endParaRPr sz="1400" u="none" cap="none" strike="noStrike"/>
                    </a:p>
                  </a:txBody>
                  <a:tcPr marT="15000" marB="1500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10"/>
                        <a:buFont typeface="Arial"/>
                        <a:buNone/>
                      </a:pPr>
                      <a:r>
                        <a:rPr sz="660" b="0">
                          <a:solidFill>
                            <a:srgbClr val="1E293B"/>
                          </a:solidFill>
                          <a:latin typeface="Malgun Gothic"/>
                        </a:rPr>
                        <a:t>대외연계 ALB(마케팅허브만 오픈) 연결 · 300MB 시안·영상 S3(Intelligent-Tiering) 업로드 · EKS Service로 AI Agent(:18083) 호출</a:t>
                      </a:r>
                      <a:endParaRPr sz="1400" u="none" cap="none" strike="noStrike"/>
                    </a:p>
                  </a:txBody>
                  <a:tcPr marT="15000" marB="15000" marR="45725" marL="45725" anchor="ctr">
                    <a:solidFill>
                      <a:srgbClr val="FFFFFF"/>
                    </a:solidFill>
                  </a:tcPr>
                </a:tc>
              </a:tr>
              <a:tr h="210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10"/>
                        <a:buFont typeface="Arial"/>
                        <a:buNone/>
                      </a:pPr>
                      <a:r>
                        <a:rPr sz="660" b="1">
                          <a:solidFill>
                            <a:srgbClr val="1E293B"/>
                          </a:solidFill>
                          <a:latin typeface="Malgun Gothic"/>
                        </a:rPr>
                        <a:t>④ AI 에이전트 파드</a:t>
                      </a:r>
                      <a:endParaRPr sz="1400" u="none" cap="none" strike="noStrike"/>
                    </a:p>
                  </a:txBody>
                  <a:tcPr marT="15000" marB="15000" marR="45725" marL="45725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10"/>
                        <a:buFont typeface="Arial"/>
                        <a:buNone/>
                      </a:pPr>
                      <a:r>
                        <a:rPr sz="660" b="1">
                          <a:solidFill>
                            <a:srgbClr val="1E293B"/>
                          </a:solidFill>
                          <a:latin typeface="Malgun Gothic"/>
                        </a:rPr>
                        <a:t>server-ai-agent (:18083)</a:t>
                      </a:r>
                      <a:endParaRPr sz="1400" u="none" cap="none" strike="noStrike"/>
                    </a:p>
                  </a:txBody>
                  <a:tcPr marT="15000" marB="15000" marR="45725" marL="45725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10"/>
                        <a:buFont typeface="Arial"/>
                        <a:buNone/>
                      </a:pPr>
                      <a:r>
                        <a:rPr sz="660" b="0">
                          <a:solidFill>
                            <a:srgbClr val="1E293B"/>
                          </a:solidFill>
                          <a:latin typeface="Malgun Gothic"/>
                        </a:rPr>
                        <a:t>AP 기본 제공 타입 (4건 큐)</a:t>
                      </a:r>
                      <a:endParaRPr sz="1400" u="none" cap="none" strike="noStrike"/>
                    </a:p>
                    <a:p>
                      <a:pPr algn="l"/>
                      <a:r>
                        <a:rPr sz="660" b="0">
                          <a:solidFill>
                            <a:srgbClr val="1E293B"/>
                          </a:solidFill>
                          <a:latin typeface="Malgun Gothic"/>
                        </a:rPr>
                        <a:t>(성능테스트 OOM 시 증설요청)</a:t>
                      </a:r>
                    </a:p>
                  </a:txBody>
                  <a:tcPr marT="15000" marB="15000" marR="45725" marL="45725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10"/>
                        <a:buFont typeface="Arial"/>
                        <a:buNone/>
                      </a:pPr>
                      <a:r>
                        <a:rPr sz="660" b="0">
                          <a:solidFill>
                            <a:srgbClr val="1E293B"/>
                          </a:solidFill>
                          <a:latin typeface="Malgun Gothic"/>
                        </a:rPr>
                        <a:t>AP 기본 타입 (Pod × 1)</a:t>
                      </a:r>
                      <a:endParaRPr sz="1400" u="none" cap="none" strike="noStrike"/>
                    </a:p>
                  </a:txBody>
                  <a:tcPr marT="15000" marB="15000" marR="45725" marL="45725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10"/>
                        <a:buFont typeface="Arial"/>
                        <a:buNone/>
                      </a:pPr>
                      <a:r>
                        <a:rPr sz="660" b="0">
                          <a:solidFill>
                            <a:srgbClr val="1E293B"/>
                          </a:solidFill>
                          <a:latin typeface="Malgun Gothic"/>
                        </a:rPr>
                        <a:t>AP 기본 타입 (Pod × 1)</a:t>
                      </a:r>
                      <a:endParaRPr sz="1400" u="none" cap="none" strike="noStrike"/>
                    </a:p>
                  </a:txBody>
                  <a:tcPr marT="15000" marB="15000" marR="45725" marL="45725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10"/>
                        <a:buFont typeface="Arial"/>
                        <a:buNone/>
                      </a:pPr>
                      <a:r>
                        <a:rPr sz="660" b="0">
                          <a:solidFill>
                            <a:srgbClr val="1E293B"/>
                          </a:solidFill>
                          <a:latin typeface="Malgun Gothic"/>
                        </a:rPr>
                        <a:t>TCP :18083</a:t>
                      </a:r>
                      <a:endParaRPr sz="1400" u="none" cap="none" strike="noStrike"/>
                    </a:p>
                  </a:txBody>
                  <a:tcPr marT="15000" marB="15000" marR="45725" marL="45725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10"/>
                        <a:buFont typeface="Arial"/>
                        <a:buNone/>
                      </a:pPr>
                      <a:r>
                        <a:rPr sz="660" b="0">
                          <a:solidFill>
                            <a:srgbClr val="1E293B"/>
                          </a:solidFill>
                          <a:latin typeface="Malgun Gothic"/>
                        </a:rPr>
                        <a:t>OpenCV 영상 피크프레임 1차 자동추출 + 웹 보정 장면 분석, 네이버/패들 OCR 선택, 동시 4건 세마포어 + QUEUED 워커, 1536d RAG</a:t>
                      </a:r>
                      <a:endParaRPr sz="1400" u="none" cap="none" strike="noStrike"/>
                    </a:p>
                  </a:txBody>
                  <a:tcPr marT="15000" marB="15000" marR="45725" marL="45725" anchor="ctr">
                    <a:solidFill>
                      <a:srgbClr val="F8FAFC"/>
                    </a:solidFill>
                  </a:tcPr>
                </a:tc>
              </a:tr>
              <a:tr h="210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10"/>
                        <a:buFont typeface="Arial"/>
                        <a:buNone/>
                      </a:pPr>
                      <a:r>
                        <a:rPr sz="660" b="1">
                          <a:solidFill>
                            <a:srgbClr val="1E293B"/>
                          </a:solidFill>
                          <a:latin typeface="Malgun Gothic"/>
                        </a:rPr>
                        <a:t>⑤ 배치 워커 파드</a:t>
                      </a:r>
                      <a:endParaRPr sz="1400" u="none" cap="none" strike="noStrike"/>
                    </a:p>
                  </a:txBody>
                  <a:tcPr marT="15000" marB="1500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10"/>
                        <a:buFont typeface="Arial"/>
                        <a:buNone/>
                      </a:pPr>
                      <a:r>
                        <a:rPr sz="660" b="1">
                          <a:solidFill>
                            <a:srgbClr val="1E293B"/>
                          </a:solidFill>
                          <a:latin typeface="Malgun Gothic"/>
                        </a:rPr>
                        <a:t>server-batch (:18084)</a:t>
                      </a:r>
                      <a:endParaRPr sz="1400" u="none" cap="none" strike="noStrike"/>
                    </a:p>
                  </a:txBody>
                  <a:tcPr marT="15000" marB="1500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10"/>
                        <a:buFont typeface="Arial"/>
                        <a:buNone/>
                      </a:pPr>
                      <a:r>
                        <a:rPr sz="660" b="0">
                          <a:solidFill>
                            <a:srgbClr val="1E293B"/>
                          </a:solidFill>
                          <a:latin typeface="Malgun Gothic"/>
                        </a:rPr>
                        <a:t>AP 기본 제공 타입 (Pod × 1)</a:t>
                      </a:r>
                      <a:endParaRPr sz="1400" u="none" cap="none" strike="noStrike"/>
                    </a:p>
                    <a:p>
                      <a:pPr algn="l"/>
                      <a:r>
                        <a:rPr sz="660" b="0">
                          <a:solidFill>
                            <a:srgbClr val="1E293B"/>
                          </a:solidFill>
                          <a:latin typeface="Malgun Gothic"/>
                        </a:rPr>
                        <a:t>(Quartz 일배치)</a:t>
                      </a:r>
                    </a:p>
                  </a:txBody>
                  <a:tcPr marT="15000" marB="1500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10"/>
                        <a:buFont typeface="Arial"/>
                        <a:buNone/>
                      </a:pPr>
                      <a:r>
                        <a:rPr sz="660" b="0">
                          <a:solidFill>
                            <a:srgbClr val="1E293B"/>
                          </a:solidFill>
                          <a:latin typeface="Malgun Gothic"/>
                        </a:rPr>
                        <a:t>AP 기본 타입 (Pod × 1)</a:t>
                      </a:r>
                      <a:endParaRPr sz="1400" u="none" cap="none" strike="noStrike"/>
                    </a:p>
                  </a:txBody>
                  <a:tcPr marT="15000" marB="1500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10"/>
                        <a:buFont typeface="Arial"/>
                        <a:buNone/>
                      </a:pPr>
                      <a:r>
                        <a:rPr sz="660" b="0">
                          <a:solidFill>
                            <a:srgbClr val="1E293B"/>
                          </a:solidFill>
                          <a:latin typeface="Malgun Gothic"/>
                        </a:rPr>
                        <a:t>AP 기본 타입 (Pod × 1)</a:t>
                      </a:r>
                      <a:endParaRPr sz="1400" u="none" cap="none" strike="noStrike"/>
                    </a:p>
                  </a:txBody>
                  <a:tcPr marT="15000" marB="1500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10"/>
                        <a:buFont typeface="Arial"/>
                        <a:buNone/>
                      </a:pPr>
                      <a:r>
                        <a:rPr sz="660" b="0">
                          <a:solidFill>
                            <a:srgbClr val="1E293B"/>
                          </a:solidFill>
                          <a:latin typeface="Malgun Gothic"/>
                        </a:rPr>
                        <a:t>TCP :18084</a:t>
                      </a:r>
                      <a:endParaRPr sz="1400" u="none" cap="none" strike="noStrike"/>
                    </a:p>
                  </a:txBody>
                  <a:tcPr marT="15000" marB="1500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10"/>
                        <a:buFont typeface="Arial"/>
                        <a:buNone/>
                      </a:pPr>
                      <a:r>
                        <a:rPr sz="660" b="0">
                          <a:solidFill>
                            <a:srgbClr val="D82C20"/>
                          </a:solidFill>
                          <a:latin typeface="Malgun Gothic"/>
                        </a:rPr>
                        <a:t>매일 새벽 02:00 ProductLab 전성분·실증 일배치(ProductLabDataSyncBatchJob), 02:30 [Option] KT레몬 배치</a:t>
                      </a:r>
                      <a:endParaRPr sz="1400" u="none" cap="none" strike="noStrike"/>
                    </a:p>
                  </a:txBody>
                  <a:tcPr marT="15000" marB="15000" marR="45725" marL="45725" anchor="ctr">
                    <a:solidFill>
                      <a:srgbClr val="FFFFFF"/>
                    </a:solidFill>
                  </a:tcPr>
                </a:tc>
              </a:tr>
              <a:tr h="210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10"/>
                        <a:buFont typeface="Arial"/>
                        <a:buNone/>
                      </a:pPr>
                      <a:r>
                        <a:rPr sz="660" b="1">
                          <a:solidFill>
                            <a:srgbClr val="1E293B"/>
                          </a:solidFill>
                          <a:latin typeface="Malgun Gothic"/>
                        </a:rPr>
                        <a:t>데이터베이스 (단일DB)</a:t>
                      </a:r>
                      <a:endParaRPr sz="1400" u="none" cap="none" strike="noStrike"/>
                    </a:p>
                  </a:txBody>
                  <a:tcPr marT="15000" marB="15000" marR="45725" marL="45725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10"/>
                        <a:buFont typeface="Arial"/>
                        <a:buNone/>
                      </a:pPr>
                      <a:r>
                        <a:rPr sz="660" b="1">
                          <a:solidFill>
                            <a:srgbClr val="1E293B"/>
                          </a:solidFill>
                          <a:latin typeface="Malgun Gothic"/>
                        </a:rPr>
                        <a:t>AWS RDS PostgreSQL 16 (pgvector)</a:t>
                      </a:r>
                      <a:endParaRPr sz="1400" u="none" cap="none" strike="noStrike"/>
                    </a:p>
                  </a:txBody>
                  <a:tcPr marT="15000" marB="15000" marR="45725" marL="45725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10"/>
                        <a:buFont typeface="Arial"/>
                        <a:buNone/>
                      </a:pPr>
                      <a:r>
                        <a:rPr sz="660" b="0">
                          <a:solidFill>
                            <a:srgbClr val="1E293B"/>
                          </a:solidFill>
                          <a:latin typeface="Malgun Gothic"/>
                        </a:rPr>
                        <a:t>AP 기본 제공 타입 (Multi-AZ)</a:t>
                      </a:r>
                      <a:endParaRPr sz="1400" u="none" cap="none" strike="noStrike"/>
                    </a:p>
                    <a:p>
                      <a:pPr algn="l"/>
                      <a:r>
                        <a:rPr sz="660" b="0">
                          <a:solidFill>
                            <a:srgbClr val="1E293B"/>
                          </a:solidFill>
                          <a:latin typeface="Malgun Gothic"/>
                        </a:rPr>
                        <a:t>(성능테스트 후 증설 협의)</a:t>
                      </a:r>
                    </a:p>
                  </a:txBody>
                  <a:tcPr marT="15000" marB="15000" marR="45725" marL="45725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10"/>
                        <a:buFont typeface="Arial"/>
                        <a:buNone/>
                      </a:pPr>
                      <a:r>
                        <a:rPr sz="660" b="0">
                          <a:solidFill>
                            <a:srgbClr val="1E293B"/>
                          </a:solidFill>
                          <a:latin typeface="Malgun Gothic"/>
                        </a:rPr>
                        <a:t>AP 기본 타입 (Single-AZ)</a:t>
                      </a:r>
                      <a:endParaRPr sz="1400" u="none" cap="none" strike="noStrike"/>
                    </a:p>
                  </a:txBody>
                  <a:tcPr marT="15000" marB="15000" marR="45725" marL="45725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10"/>
                        <a:buFont typeface="Arial"/>
                        <a:buNone/>
                      </a:pPr>
                      <a:r>
                        <a:rPr sz="660" b="0">
                          <a:solidFill>
                            <a:srgbClr val="1E293B"/>
                          </a:solidFill>
                          <a:latin typeface="Malgun Gothic"/>
                        </a:rPr>
                        <a:t>AP 기본 타입 (Single-AZ)</a:t>
                      </a:r>
                      <a:endParaRPr sz="1400" u="none" cap="none" strike="noStrike"/>
                    </a:p>
                  </a:txBody>
                  <a:tcPr marT="15000" marB="15000" marR="45725" marL="45725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10"/>
                        <a:buFont typeface="Arial"/>
                        <a:buNone/>
                      </a:pPr>
                      <a:r>
                        <a:rPr sz="660" b="0">
                          <a:solidFill>
                            <a:srgbClr val="1E293B"/>
                          </a:solidFill>
                          <a:latin typeface="Malgun Gothic"/>
                        </a:rPr>
                        <a:t>TCP :5432</a:t>
                      </a:r>
                      <a:endParaRPr sz="1400" u="none" cap="none" strike="noStrike"/>
                    </a:p>
                  </a:txBody>
                  <a:tcPr marT="15000" marB="15000" marR="45725" marL="45725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10"/>
                        <a:buFont typeface="Arial"/>
                        <a:buNone/>
                      </a:pPr>
                      <a:r>
                        <a:rPr sz="660" b="0">
                          <a:solidFill>
                            <a:srgbClr val="1E293B"/>
                          </a:solidFill>
                          <a:latin typeface="Malgun Gothic"/>
                        </a:rPr>
                        <a:t>★ pgvector 1536차원(VECTOR(1536)) HNSW 인덱스 단일화 (서비스·RAG 스키마 통합, 리소스 부족 시 스펙 증설 요청)</a:t>
                      </a:r>
                      <a:endParaRPr sz="1400" u="none" cap="none" strike="noStrike"/>
                    </a:p>
                  </a:txBody>
                  <a:tcPr marT="15000" marB="15000" marR="45725" marL="45725" anchor="ctr">
                    <a:solidFill>
                      <a:srgbClr val="F8FAFC"/>
                    </a:solidFill>
                  </a:tcPr>
                </a:tc>
              </a:tr>
              <a:tr h="210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10"/>
                        <a:buFont typeface="Arial"/>
                        <a:buNone/>
                      </a:pPr>
                      <a:r>
                        <a:rPr sz="660" b="1">
                          <a:solidFill>
                            <a:srgbClr val="1E293B"/>
                          </a:solidFill>
                          <a:latin typeface="Malgun Gothic"/>
                        </a:rPr>
                        <a:t>스토리지 &amp; CI/CD</a:t>
                      </a:r>
                      <a:endParaRPr sz="1400" u="none" cap="none" strike="noStrike"/>
                    </a:p>
                  </a:txBody>
                  <a:tcPr marT="15000" marB="1500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10"/>
                        <a:buFont typeface="Arial"/>
                        <a:buNone/>
                      </a:pPr>
                      <a:r>
                        <a:rPr sz="660" b="1">
                          <a:solidFill>
                            <a:srgbClr val="1E293B"/>
                          </a:solidFill>
                          <a:latin typeface="Malgun Gothic"/>
                        </a:rPr>
                        <a:t>AWS S3 (Intelligent-Tiering)</a:t>
                      </a:r>
                      <a:endParaRPr sz="1400" u="none" cap="none" strike="noStrike"/>
                    </a:p>
                    <a:p>
                      <a:pPr algn="l"/>
                      <a:r>
                        <a:rPr sz="660" b="1">
                          <a:solidFill>
                            <a:srgbClr val="1E293B"/>
                          </a:solidFill>
                          <a:latin typeface="Malgun Gothic"/>
                        </a:rPr>
                        <a:t>GitLab CI + ArgoCD</a:t>
                      </a:r>
                    </a:p>
                  </a:txBody>
                  <a:tcPr marT="15000" marB="1500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10"/>
                        <a:buFont typeface="Arial"/>
                        <a:buNone/>
                      </a:pPr>
                      <a:r>
                        <a:rPr sz="660" b="0">
                          <a:solidFill>
                            <a:srgbClr val="1E293B"/>
                          </a:solidFill>
                          <a:latin typeface="Malgun Gothic"/>
                        </a:rPr>
                        <a:t>ap-syncguard-ai-prd</a:t>
                      </a:r>
                      <a:endParaRPr sz="1400" u="none" cap="none" strike="noStrike"/>
                    </a:p>
                    <a:p>
                      <a:pPr algn="l"/>
                      <a:r>
                        <a:rPr sz="660" b="0">
                          <a:solidFill>
                            <a:srgbClr val="1E293B"/>
                          </a:solidFill>
                          <a:latin typeface="Malgun Gothic"/>
                        </a:rPr>
                        <a:t>(Intelligent-Tiering)</a:t>
                      </a:r>
                    </a:p>
                  </a:txBody>
                  <a:tcPr marT="15000" marB="1500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10"/>
                        <a:buFont typeface="Arial"/>
                        <a:buNone/>
                      </a:pPr>
                      <a:r>
                        <a:rPr sz="660" b="0">
                          <a:solidFill>
                            <a:srgbClr val="1E293B"/>
                          </a:solidFill>
                          <a:latin typeface="Malgun Gothic"/>
                        </a:rPr>
                        <a:t>ap-syncguard-ai-stg</a:t>
                      </a:r>
                      <a:endParaRPr sz="1400" u="none" cap="none" strike="noStrike"/>
                    </a:p>
                    <a:p>
                      <a:pPr algn="ctr"/>
                      <a:r>
                        <a:rPr sz="660" b="0">
                          <a:solidFill>
                            <a:srgbClr val="1E293B"/>
                          </a:solidFill>
                          <a:latin typeface="Malgun Gothic"/>
                        </a:rPr>
                        <a:t>(Intelligent-Tiering)</a:t>
                      </a:r>
                    </a:p>
                  </a:txBody>
                  <a:tcPr marT="15000" marB="1500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10"/>
                        <a:buFont typeface="Arial"/>
                        <a:buNone/>
                      </a:pPr>
                      <a:r>
                        <a:rPr sz="660" b="0">
                          <a:solidFill>
                            <a:srgbClr val="1E293B"/>
                          </a:solidFill>
                          <a:latin typeface="Malgun Gothic"/>
                        </a:rPr>
                        <a:t>ap-syncguard-ai-dev</a:t>
                      </a:r>
                      <a:endParaRPr sz="1400" u="none" cap="none" strike="noStrike"/>
                    </a:p>
                    <a:p>
                      <a:pPr algn="ctr"/>
                      <a:r>
                        <a:rPr sz="660" b="0">
                          <a:solidFill>
                            <a:srgbClr val="1E293B"/>
                          </a:solidFill>
                          <a:latin typeface="Malgun Gothic"/>
                        </a:rPr>
                        <a:t>(Intelligent-Tiering)</a:t>
                      </a:r>
                    </a:p>
                  </a:txBody>
                  <a:tcPr marT="15000" marB="1500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10"/>
                        <a:buFont typeface="Arial"/>
                        <a:buNone/>
                      </a:pPr>
                      <a:r>
                        <a:rPr sz="660" b="0">
                          <a:solidFill>
                            <a:srgbClr val="1E293B"/>
                          </a:solidFill>
                          <a:latin typeface="Malgun Gothic"/>
                        </a:rPr>
                        <a:t>HTTPS :443</a:t>
                      </a:r>
                      <a:endParaRPr sz="1400" u="none" cap="none" strike="noStrike"/>
                    </a:p>
                  </a:txBody>
                  <a:tcPr marT="15000" marB="1500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10"/>
                        <a:buFont typeface="Arial"/>
                        <a:buNone/>
                      </a:pPr>
                      <a:r>
                        <a:rPr sz="660" b="0">
                          <a:solidFill>
                            <a:srgbClr val="1E293B"/>
                          </a:solidFill>
                          <a:latin typeface="Malgun Gothic"/>
                        </a:rPr>
                        <a:t>★ S3 업로드 시 저장 타입 "Intelligent-Tiering" 자동 적용 (자동 패턴 분석을 통한 보관비용 관리) / GitLab CI + ArgoCD</a:t>
                      </a:r>
                      <a:endParaRPr sz="1400" u="none" cap="none" strike="noStrike"/>
                    </a:p>
                  </a:txBody>
                  <a:tcPr marT="15000" marB="15000" marR="45725" marL="457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75" name="Google Shape;475;p9"/>
          <p:cNvSpPr/>
          <p:nvPr/>
        </p:nvSpPr>
        <p:spPr>
          <a:xfrm>
            <a:off x="411480" y="3547872"/>
            <a:ext cx="11365992" cy="256032"/>
          </a:xfrm>
          <a:prstGeom prst="roundRect">
            <a:avLst>
              <a:gd fmla="val 4000" name="adj"/>
            </a:avLst>
          </a:prstGeom>
          <a:solidFill>
            <a:srgbClr val="7A3EC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■ [표 2] 구간별 네트워크 방화벽 (Security Group / NACL / 라우팅) 오픈 요청 매트릭스 (DEV · STG · PRD 환경별 적용)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76" name="Google Shape;476;p9"/>
          <p:cNvGraphicFramePr/>
          <p:nvPr/>
        </p:nvGraphicFramePr>
        <p:xfrm>
          <a:off x="411480" y="3838824"/>
          <a:ext cx="3000000" cy="1880000"/>
        </p:xfrm>
        <a:graphic>
          <a:graphicData uri="http://schemas.openxmlformats.org/drawingml/2006/table">
            <a:tbl>
              <a:tblPr bandRow="1" firstRow="1">
                <a:noFill/>
                <a:tableStyleId>{57ECCEF1-4F0B-44ED-B440-CF76BB67F893}</a:tableStyleId>
              </a:tblPr>
              <a:tblGrid>
                <a:gridCol w="548650"/>
                <a:gridCol w="2331725"/>
                <a:gridCol w="2377450"/>
                <a:gridCol w="1234450"/>
                <a:gridCol w="1005850"/>
                <a:gridCol w="3867900"/>
              </a:tblGrid>
              <a:tr h="200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80"/>
                        <a:buFont typeface="Arial"/>
                        <a:buNone/>
                      </a:pPr>
                      <a:r>
                        <a:rPr b="1" lang="en-US" sz="78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No</a:t>
                      </a:r>
                      <a:endParaRPr sz="1400" u="none" cap="none" strike="noStrike"/>
                    </a:p>
                  </a:txBody>
                  <a:tcPr marT="15000" marB="15000" marR="45725" marL="45725" anchor="ctr">
                    <a:solidFill>
                      <a:srgbClr val="0B192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80"/>
                        <a:buFont typeface="Arial"/>
                        <a:buNone/>
                      </a:pPr>
                      <a:r>
                        <a:rPr b="1" lang="en-US" sz="78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출발지 (Source)</a:t>
                      </a:r>
                      <a:endParaRPr sz="1400" u="none" cap="none" strike="noStrike"/>
                    </a:p>
                  </a:txBody>
                  <a:tcPr marT="15000" marB="15000" marR="45725" marL="45725" anchor="ctr">
                    <a:solidFill>
                      <a:srgbClr val="0B192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80"/>
                        <a:buFont typeface="Arial"/>
                        <a:buNone/>
                      </a:pPr>
                      <a:r>
                        <a:rPr sz="780" b="1">
                          <a:solidFill>
                            <a:srgbClr val="FFFFFF"/>
                          </a:solidFill>
                          <a:latin typeface="Malgun Gothic"/>
                        </a:rPr>
                        <a:t>목적지 (Destination · Outbound URL / 서버 정보)</a:t>
                      </a:r>
                      <a:endParaRPr sz="1400" u="none" cap="none" strike="noStrike"/>
                    </a:p>
                  </a:txBody>
                  <a:tcPr marT="15000" marB="15000" marR="45725" marL="45725" anchor="ctr">
                    <a:solidFill>
                      <a:srgbClr val="0B192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80"/>
                        <a:buFont typeface="Arial"/>
                        <a:buNone/>
                      </a:pPr>
                      <a:r>
                        <a:rPr b="1" lang="en-US" sz="78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프로토콜 / 포트</a:t>
                      </a:r>
                      <a:endParaRPr sz="1400" u="none" cap="none" strike="noStrike"/>
                    </a:p>
                  </a:txBody>
                  <a:tcPr marT="15000" marB="15000" marR="45725" marL="45725" anchor="ctr">
                    <a:solidFill>
                      <a:srgbClr val="0B192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80"/>
                        <a:buFont typeface="Arial"/>
                        <a:buNone/>
                      </a:pPr>
                      <a:r>
                        <a:rPr b="1" lang="en-US" sz="78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통신 방향</a:t>
                      </a:r>
                      <a:endParaRPr sz="1400" u="none" cap="none" strike="noStrike"/>
                    </a:p>
                  </a:txBody>
                  <a:tcPr marT="15000" marB="15000" marR="45725" marL="45725" anchor="ctr">
                    <a:solidFill>
                      <a:srgbClr val="0B192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80"/>
                        <a:buFont typeface="Arial"/>
                        <a:buNone/>
                      </a:pPr>
                      <a:r>
                        <a:rPr b="1" lang="en-US" sz="78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연동 목적 및 비고</a:t>
                      </a:r>
                      <a:endParaRPr sz="1400" u="none" cap="none" strike="noStrike"/>
                    </a:p>
                  </a:txBody>
                  <a:tcPr marT="15000" marB="15000" marR="45725" marL="45725" anchor="ctr">
                    <a:solidFill>
                      <a:srgbClr val="0B192C"/>
                    </a:solidFill>
                  </a:tcPr>
                </a:tc>
              </a:tr>
              <a:tr h="210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20"/>
                        <a:buFont typeface="Arial"/>
                        <a:buNone/>
                      </a:pPr>
                      <a:r>
                        <a:rPr sz="660" b="1">
                          <a:solidFill>
                            <a:srgbClr val="1E293B"/>
                          </a:solidFill>
                          <a:latin typeface="Malgun Gothic"/>
                        </a:rPr>
                        <a:t>1</a:t>
                      </a:r>
                      <a:endParaRPr sz="1400" u="none" cap="none" strike="noStrike"/>
                    </a:p>
                  </a:txBody>
                  <a:tcPr marT="15000" marB="1500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20"/>
                        <a:buFont typeface="Arial"/>
                        <a:buNone/>
                      </a:pPr>
                      <a:r>
                        <a:rPr sz="660" b="1">
                          <a:solidFill>
                            <a:srgbClr val="1E293B"/>
                          </a:solidFill>
                          <a:latin typeface="Malgun Gothic"/>
                        </a:rPr>
                        <a:t>사내 업무망 사용자 PC / VPN 대역</a:t>
                      </a:r>
                      <a:endParaRPr sz="1400" u="none" cap="none" strike="noStrike"/>
                    </a:p>
                  </a:txBody>
                  <a:tcPr marT="15000" marB="1500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20"/>
                        <a:buFont typeface="Arial"/>
                        <a:buNone/>
                      </a:pPr>
                      <a:r>
                        <a:rPr sz="660" b="1">
                          <a:solidFill>
                            <a:srgbClr val="1E293B"/>
                          </a:solidFill>
                          <a:latin typeface="Malgun Gothic"/>
                        </a:rPr>
                        <a:t>BO 전용 ALB (syncguard-ai-bo-prv-alb)</a:t>
                      </a:r>
                      <a:endParaRPr sz="1400" u="none" cap="none" strike="noStrike"/>
                    </a:p>
                    <a:p>
                      <a:pPr algn="l"/>
                      <a:r>
                        <a:rPr sz="660" b="1">
                          <a:solidFill>
                            <a:srgbClr val="1E293B"/>
                          </a:solidFill>
                          <a:latin typeface="Malgun Gothic"/>
                        </a:rPr>
                        <a:t>[Domain] https://claim.hanbitglobal.com</a:t>
                      </a:r>
                    </a:p>
                  </a:txBody>
                  <a:tcPr marT="15000" marB="1500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20"/>
                        <a:buFont typeface="Arial"/>
                        <a:buNone/>
                      </a:pPr>
                      <a:r>
                        <a:rPr sz="660" b="0">
                          <a:solidFill>
                            <a:srgbClr val="1E293B"/>
                          </a:solidFill>
                          <a:latin typeface="Malgun Gothic"/>
                        </a:rPr>
                        <a:t>TCP 443 (HTTPS)</a:t>
                      </a:r>
                      <a:endParaRPr sz="1400" u="none" cap="none" strike="noStrike"/>
                    </a:p>
                  </a:txBody>
                  <a:tcPr marT="15000" marB="1500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20"/>
                        <a:buFont typeface="Arial"/>
                        <a:buNone/>
                      </a:pPr>
                      <a:r>
                        <a:rPr sz="660" b="0">
                          <a:solidFill>
                            <a:srgbClr val="1E293B"/>
                          </a:solidFill>
                          <a:latin typeface="Malgun Gothic"/>
                        </a:rPr>
                        <a:t>Inbound</a:t>
                      </a:r>
                      <a:endParaRPr sz="1400" u="none" cap="none" strike="noStrike"/>
                    </a:p>
                  </a:txBody>
                  <a:tcPr marT="15000" marB="1500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20"/>
                        <a:buFont typeface="Arial"/>
                        <a:buNone/>
                      </a:pPr>
                      <a:r>
                        <a:rPr sz="660" b="0">
                          <a:solidFill>
                            <a:srgbClr val="1E293B"/>
                          </a:solidFill>
                          <a:latin typeface="Malgun Gothic"/>
                        </a:rPr>
                        <a:t>[BO ALB 사용자대역 오픈] RA·관리자 통합 웹(:3104) 및 업무BE(:18080) 접속 · 웹 영상 재생 및 장면 추가/편집/삭제 보정</a:t>
                      </a:r>
                      <a:endParaRPr sz="1400" u="none" cap="none" strike="noStrike"/>
                    </a:p>
                  </a:txBody>
                  <a:tcPr marT="15000" marB="15000" marR="45725" marL="45725" anchor="ctr">
                    <a:solidFill>
                      <a:srgbClr val="FFFFFF"/>
                    </a:solidFill>
                  </a:tcPr>
                </a:tc>
              </a:tr>
              <a:tr h="210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20"/>
                        <a:buFont typeface="Arial"/>
                        <a:buNone/>
                      </a:pPr>
                      <a:r>
                        <a:rPr sz="660" b="1">
                          <a:solidFill>
                            <a:srgbClr val="1E293B"/>
                          </a:solidFill>
                          <a:latin typeface="Malgun Gothic"/>
                        </a:rPr>
                        <a:t>2</a:t>
                      </a:r>
                      <a:endParaRPr sz="1400" u="none" cap="none" strike="noStrike"/>
                    </a:p>
                  </a:txBody>
                  <a:tcPr marT="15000" marB="15000" marR="45725" marL="45725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20"/>
                        <a:buFont typeface="Arial"/>
                        <a:buNone/>
                      </a:pPr>
                      <a:r>
                        <a:rPr sz="660" b="1">
                          <a:solidFill>
                            <a:srgbClr val="1E293B"/>
                          </a:solidFill>
                          <a:latin typeface="Malgun Gothic"/>
                        </a:rPr>
                        <a:t>마케팅허브(MarketingHub) AP 서버 (단독)</a:t>
                      </a:r>
                      <a:endParaRPr sz="1400" u="none" cap="none" strike="noStrike"/>
                    </a:p>
                  </a:txBody>
                  <a:tcPr marT="15000" marB="15000" marR="45725" marL="45725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20"/>
                        <a:buFont typeface="Arial"/>
                        <a:buNone/>
                      </a:pPr>
                      <a:r>
                        <a:rPr sz="660" b="1">
                          <a:solidFill>
                            <a:srgbClr val="1E293B"/>
                          </a:solidFill>
                          <a:latin typeface="Malgun Gothic"/>
                        </a:rPr>
                        <a:t>대외 연계 전용 ALB (syncguard-ai-api-prv-alb)</a:t>
                      </a:r>
                      <a:endParaRPr sz="1400" u="none" cap="none" strike="noStrike"/>
                    </a:p>
                    <a:p>
                      <a:pPr algn="l"/>
                      <a:r>
                        <a:rPr sz="660" b="1">
                          <a:solidFill>
                            <a:srgbClr val="1E293B"/>
                          </a:solidFill>
                          <a:latin typeface="Malgun Gothic"/>
                        </a:rPr>
                        <a:t>[Domain] https://syncguard-api.hanbitglobal.com</a:t>
                      </a:r>
                    </a:p>
                  </a:txBody>
                  <a:tcPr marT="15000" marB="15000" marR="45725" marL="45725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20"/>
                        <a:buFont typeface="Arial"/>
                        <a:buNone/>
                      </a:pPr>
                      <a:r>
                        <a:rPr sz="660" b="0">
                          <a:solidFill>
                            <a:srgbClr val="1E293B"/>
                          </a:solidFill>
                          <a:latin typeface="Malgun Gothic"/>
                        </a:rPr>
                        <a:t>TCP 443 (HTTPS)</a:t>
                      </a:r>
                      <a:endParaRPr sz="1400" u="none" cap="none" strike="noStrike"/>
                    </a:p>
                  </a:txBody>
                  <a:tcPr marT="15000" marB="15000" marR="45725" marL="45725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20"/>
                        <a:buFont typeface="Arial"/>
                        <a:buNone/>
                      </a:pPr>
                      <a:r>
                        <a:rPr sz="660" b="0">
                          <a:solidFill>
                            <a:srgbClr val="1E293B"/>
                          </a:solidFill>
                          <a:latin typeface="Malgun Gothic"/>
                        </a:rPr>
                        <a:t>Inbound</a:t>
                      </a:r>
                      <a:endParaRPr sz="1400" u="none" cap="none" strike="noStrike"/>
                    </a:p>
                  </a:txBody>
                  <a:tcPr marT="15000" marB="15000" marR="45725" marL="45725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20"/>
                        <a:buFont typeface="Arial"/>
                        <a:buNone/>
                      </a:pPr>
                      <a:r>
                        <a:rPr sz="660" b="0">
                          <a:solidFill>
                            <a:srgbClr val="1E293B"/>
                          </a:solidFill>
                          <a:latin typeface="Malgun Gothic"/>
                        </a:rPr>
                        <a:t>[대외연계 ALB 마케팅허브 서버만 오픈] 마케팅허브 ➔ 대외연계 API(:18085) 심의 의뢰 수신 및 파일 업로드 (일반 사용자대역 차단)</a:t>
                      </a:r>
                      <a:endParaRPr sz="1400" u="none" cap="none" strike="noStrike"/>
                    </a:p>
                  </a:txBody>
                  <a:tcPr marT="15000" marB="15000" marR="45725" marL="45725" anchor="ctr">
                    <a:solidFill>
                      <a:srgbClr val="F8FAFC"/>
                    </a:solidFill>
                  </a:tcPr>
                </a:tc>
              </a:tr>
              <a:tr h="210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20"/>
                        <a:buFont typeface="Arial"/>
                        <a:buNone/>
                      </a:pPr>
                      <a:r>
                        <a:rPr sz="660" b="1">
                          <a:solidFill>
                            <a:srgbClr val="1E293B"/>
                          </a:solidFill>
                          <a:latin typeface="Malgun Gothic"/>
                        </a:rPr>
                        <a:t>3</a:t>
                      </a:r>
                      <a:endParaRPr sz="1400" u="none" cap="none" strike="noStrike"/>
                    </a:p>
                  </a:txBody>
                  <a:tcPr marT="15000" marB="1500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20"/>
                        <a:buFont typeface="Arial"/>
                        <a:buNone/>
                      </a:pPr>
                      <a:r>
                        <a:rPr sz="660" b="1">
                          <a:solidFill>
                            <a:srgbClr val="1E293B"/>
                          </a:solidFill>
                          <a:latin typeface="Malgun Gothic"/>
                        </a:rPr>
                        <a:t>업무 BE(:18080) · 대외 API(:18085)</a:t>
                      </a:r>
                      <a:endParaRPr sz="1400" u="none" cap="none" strike="noStrike"/>
                    </a:p>
                  </a:txBody>
                  <a:tcPr marT="15000" marB="1500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20"/>
                        <a:buFont typeface="Arial"/>
                        <a:buNone/>
                      </a:pPr>
                      <a:r>
                        <a:rPr sz="660" b="1">
                          <a:solidFill>
                            <a:srgbClr val="1E293B"/>
                          </a:solidFill>
                          <a:latin typeface="Malgun Gothic"/>
                        </a:rPr>
                        <a:t>AI Agent (http://syncguard-ai-agent-svc:18083)</a:t>
                      </a:r>
                      <a:endParaRPr sz="1400" u="none" cap="none" strike="noStrike"/>
                    </a:p>
                    <a:p>
                      <a:pPr algn="l"/>
                      <a:r>
                        <a:rPr sz="660" b="1">
                          <a:solidFill>
                            <a:srgbClr val="1E293B"/>
                          </a:solidFill>
                          <a:latin typeface="Malgun Gothic"/>
                        </a:rPr>
                        <a:t>RDS(syncguard-db.hanbitglobal.com) · S3 Endpoint</a:t>
                      </a:r>
                    </a:p>
                  </a:txBody>
                  <a:tcPr marT="15000" marB="1500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20"/>
                        <a:buFont typeface="Arial"/>
                        <a:buNone/>
                      </a:pPr>
                      <a:r>
                        <a:rPr sz="660" b="0">
                          <a:solidFill>
                            <a:srgbClr val="1E293B"/>
                          </a:solidFill>
                          <a:latin typeface="Malgun Gothic"/>
                        </a:rPr>
                        <a:t>TCP 18083 / 5432 / 443</a:t>
                      </a:r>
                      <a:endParaRPr sz="1400" u="none" cap="none" strike="noStrike"/>
                    </a:p>
                  </a:txBody>
                  <a:tcPr marT="15000" marB="1500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20"/>
                        <a:buFont typeface="Arial"/>
                        <a:buNone/>
                      </a:pPr>
                      <a:r>
                        <a:rPr sz="660" b="0">
                          <a:solidFill>
                            <a:srgbClr val="1E293B"/>
                          </a:solidFill>
                          <a:latin typeface="Malgun Gothic"/>
                        </a:rPr>
                        <a:t>Internal</a:t>
                      </a:r>
                      <a:endParaRPr sz="1400" u="none" cap="none" strike="noStrike"/>
                    </a:p>
                  </a:txBody>
                  <a:tcPr marT="15000" marB="1500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20"/>
                        <a:buFont typeface="Arial"/>
                        <a:buNone/>
                      </a:pPr>
                      <a:r>
                        <a:rPr sz="660" b="0">
                          <a:solidFill>
                            <a:srgbClr val="1E293B"/>
                          </a:solidFill>
                          <a:latin typeface="Malgun Gothic"/>
                        </a:rPr>
                        <a:t>[EKS Service 통신] 대외API(:18085) 및 업무BE(:18080)에서 EKS K8s Service를 통해 AI Agent(:18083) 호출, RDS·S3 내부 통신</a:t>
                      </a:r>
                      <a:endParaRPr sz="1400" u="none" cap="none" strike="noStrike"/>
                    </a:p>
                  </a:txBody>
                  <a:tcPr marT="15000" marB="15000" marR="45725" marL="45725" anchor="ctr">
                    <a:solidFill>
                      <a:srgbClr val="FFFFFF"/>
                    </a:solidFill>
                  </a:tcPr>
                </a:tc>
              </a:tr>
              <a:tr h="210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20"/>
                        <a:buFont typeface="Arial"/>
                        <a:buNone/>
                      </a:pPr>
                      <a:r>
                        <a:rPr sz="660" b="1">
                          <a:solidFill>
                            <a:srgbClr val="1E293B"/>
                          </a:solidFill>
                          <a:latin typeface="Malgun Gothic"/>
                        </a:rPr>
                        <a:t>4</a:t>
                      </a:r>
                      <a:endParaRPr sz="1400" u="none" cap="none" strike="noStrike"/>
                    </a:p>
                  </a:txBody>
                  <a:tcPr marT="15000" marB="15000" marR="45725" marL="45725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20"/>
                        <a:buFont typeface="Arial"/>
                        <a:buNone/>
                      </a:pPr>
                      <a:r>
                        <a:rPr sz="660" b="1">
                          <a:solidFill>
                            <a:srgbClr val="1E293B"/>
                          </a:solidFill>
                          <a:latin typeface="Malgun Gothic"/>
                        </a:rPr>
                        <a:t>AI Agent 파드 (server-ai-agent :18083)</a:t>
                      </a:r>
                      <a:endParaRPr sz="1400" u="none" cap="none" strike="noStrike"/>
                    </a:p>
                  </a:txBody>
                  <a:tcPr marT="15000" marB="15000" marR="45725" marL="45725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20"/>
                        <a:buFont typeface="Arial"/>
                        <a:buNone/>
                      </a:pPr>
                      <a:r>
                        <a:rPr sz="660" b="1">
                          <a:solidFill>
                            <a:srgbClr val="1E293B"/>
                          </a:solidFill>
                          <a:latin typeface="Malgun Gothic"/>
                        </a:rPr>
                        <a:t>네이버 클로바 OCR (Naver Cloud CLOVA OCR)</a:t>
                      </a:r>
                      <a:endParaRPr sz="1400" u="none" cap="none" strike="noStrike"/>
                    </a:p>
                    <a:p>
                      <a:pPr algn="l"/>
                      <a:r>
                        <a:rPr sz="660" b="1">
                          <a:solidFill>
                            <a:srgbClr val="1E293B"/>
                          </a:solidFill>
                          <a:latin typeface="Malgun Gothic"/>
                        </a:rPr>
                        <a:t>[Outbound URL] https://*.apigw.ntruss.com</a:t>
                      </a:r>
                    </a:p>
                  </a:txBody>
                  <a:tcPr marT="15000" marB="15000" marR="45725" marL="45725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20"/>
                        <a:buFont typeface="Arial"/>
                        <a:buNone/>
                      </a:pPr>
                      <a:r>
                        <a:rPr sz="660" b="0">
                          <a:solidFill>
                            <a:srgbClr val="1E293B"/>
                          </a:solidFill>
                          <a:latin typeface="Malgun Gothic"/>
                        </a:rPr>
                        <a:t>TCP 443 (HTTPS)</a:t>
                      </a:r>
                      <a:endParaRPr sz="1400" u="none" cap="none" strike="noStrike"/>
                    </a:p>
                  </a:txBody>
                  <a:tcPr marT="15000" marB="15000" marR="45725" marL="45725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20"/>
                        <a:buFont typeface="Arial"/>
                        <a:buNone/>
                      </a:pPr>
                      <a:r>
                        <a:rPr sz="660" b="0">
                          <a:solidFill>
                            <a:srgbClr val="1E293B"/>
                          </a:solidFill>
                          <a:latin typeface="Malgun Gothic"/>
                        </a:rPr>
                        <a:t>Outbound</a:t>
                      </a:r>
                      <a:endParaRPr sz="1400" u="none" cap="none" strike="noStrike"/>
                    </a:p>
                  </a:txBody>
                  <a:tcPr marT="15000" marB="15000" marR="45725" marL="45725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20"/>
                        <a:buFont typeface="Arial"/>
                        <a:buNone/>
                      </a:pPr>
                      <a:r>
                        <a:rPr sz="660" b="0">
                          <a:solidFill>
                            <a:srgbClr val="1E293B"/>
                          </a:solidFill>
                          <a:latin typeface="Malgun Gothic"/>
                        </a:rPr>
                        <a:t>[네이버 OCR 방화벽 추가] 이미지 시안·AI 추출 피크프레임·웹 사용자 보정 캡처 장면 한글/영문 OCR 호출 (연구소 계약 APIGW URL)</a:t>
                      </a:r>
                      <a:endParaRPr sz="1400" u="none" cap="none" strike="noStrike"/>
                    </a:p>
                  </a:txBody>
                  <a:tcPr marT="15000" marB="15000" marR="45725" marL="45725" anchor="ctr">
                    <a:solidFill>
                      <a:srgbClr val="F8FAFC"/>
                    </a:solidFill>
                  </a:tcPr>
                </a:tc>
              </a:tr>
              <a:tr h="210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20"/>
                        <a:buFont typeface="Arial"/>
                        <a:buNone/>
                      </a:pPr>
                      <a:r>
                        <a:rPr sz="660" b="1">
                          <a:solidFill>
                            <a:srgbClr val="1E293B"/>
                          </a:solidFill>
                          <a:latin typeface="Malgun Gothic"/>
                        </a:rPr>
                        <a:t>5</a:t>
                      </a:r>
                      <a:endParaRPr sz="1400" u="none" cap="none" strike="noStrike"/>
                    </a:p>
                  </a:txBody>
                  <a:tcPr marT="15000" marB="1500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20"/>
                        <a:buFont typeface="Arial"/>
                        <a:buNone/>
                      </a:pPr>
                      <a:r>
                        <a:rPr sz="660" b="1">
                          <a:solidFill>
                            <a:srgbClr val="1E293B"/>
                          </a:solidFill>
                          <a:latin typeface="Malgun Gothic"/>
                        </a:rPr>
                        <a:t>AI Agent 파드 (server-ai-agent :18083)</a:t>
                      </a:r>
                      <a:endParaRPr sz="1400" u="none" cap="none" strike="noStrike"/>
                    </a:p>
                  </a:txBody>
                  <a:tcPr marT="15000" marB="1500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20"/>
                        <a:buFont typeface="Arial"/>
                        <a:buNone/>
                      </a:pPr>
                      <a:r>
                        <a:rPr sz="660" b="1">
                          <a:solidFill>
                            <a:srgbClr val="1E293B"/>
                          </a:solidFill>
                          <a:latin typeface="Malgun Gothic"/>
                        </a:rPr>
                        <a:t>기업용 상용 LLM API (또는 사내 AI Gateway)</a:t>
                      </a:r>
                      <a:endParaRPr sz="1400" u="none" cap="none" strike="noStrike"/>
                    </a:p>
                    <a:p>
                      <a:pPr algn="l"/>
                      <a:r>
                        <a:rPr sz="660" b="1">
                          <a:solidFill>
                            <a:srgbClr val="1E293B"/>
                          </a:solidFill>
                          <a:latin typeface="Malgun Gothic"/>
                        </a:rPr>
                        <a:t>[Outbound URL] https://api.openai.com, https://api.anthropic.com</a:t>
                      </a:r>
                    </a:p>
                  </a:txBody>
                  <a:tcPr marT="15000" marB="1500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20"/>
                        <a:buFont typeface="Arial"/>
                        <a:buNone/>
                      </a:pPr>
                      <a:r>
                        <a:rPr sz="660" b="0">
                          <a:solidFill>
                            <a:srgbClr val="1E293B"/>
                          </a:solidFill>
                          <a:latin typeface="Malgun Gothic"/>
                        </a:rPr>
                        <a:t>TCP 443 (HTTPS)</a:t>
                      </a:r>
                      <a:endParaRPr sz="1400" u="none" cap="none" strike="noStrike"/>
                    </a:p>
                  </a:txBody>
                  <a:tcPr marT="15000" marB="1500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20"/>
                        <a:buFont typeface="Arial"/>
                        <a:buNone/>
                      </a:pPr>
                      <a:r>
                        <a:rPr sz="660" b="0">
                          <a:solidFill>
                            <a:srgbClr val="1E293B"/>
                          </a:solidFill>
                          <a:latin typeface="Malgun Gothic"/>
                        </a:rPr>
                        <a:t>Outbound</a:t>
                      </a:r>
                      <a:endParaRPr sz="1400" u="none" cap="none" strike="noStrike"/>
                    </a:p>
                  </a:txBody>
                  <a:tcPr marT="15000" marB="1500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20"/>
                        <a:buFont typeface="Arial"/>
                        <a:buNone/>
                      </a:pPr>
                      <a:r>
                        <a:rPr sz="660" b="0">
                          <a:solidFill>
                            <a:srgbClr val="1E293B"/>
                          </a:solidFill>
                          <a:latin typeface="Malgun Gothic"/>
                        </a:rPr>
                        <a:t>[Outbound URL 명시] 비학습(Zero Data Retention) 상용 LLM 3단계 심의 판정 및 1536차원 임베딩 API 호출</a:t>
                      </a:r>
                      <a:endParaRPr sz="1400" u="none" cap="none" strike="noStrike"/>
                    </a:p>
                  </a:txBody>
                  <a:tcPr marT="15000" marB="15000" marR="45725" marL="45725" anchor="ctr">
                    <a:solidFill>
                      <a:srgbClr val="FFFFFF"/>
                    </a:solidFill>
                  </a:tcPr>
                </a:tc>
              </a:tr>
              <a:tr h="210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20"/>
                        <a:buFont typeface="Arial"/>
                        <a:buNone/>
                      </a:pPr>
                      <a:r>
                        <a:rPr sz="660" b="1">
                          <a:solidFill>
                            <a:srgbClr val="1E293B"/>
                          </a:solidFill>
                          <a:latin typeface="Malgun Gothic"/>
                        </a:rPr>
                        <a:t>6</a:t>
                      </a:r>
                      <a:endParaRPr sz="1400" u="none" cap="none" strike="noStrike"/>
                    </a:p>
                  </a:txBody>
                  <a:tcPr marT="15000" marB="15000" marR="45725" marL="45725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20"/>
                        <a:buFont typeface="Arial"/>
                        <a:buNone/>
                      </a:pPr>
                      <a:r>
                        <a:rPr sz="660" b="1">
                          <a:solidFill>
                            <a:srgbClr val="1E293B"/>
                          </a:solidFill>
                          <a:latin typeface="Malgun Gothic"/>
                        </a:rPr>
                        <a:t>대외 API(:18085) / 업무 BE(:18080)</a:t>
                      </a:r>
                      <a:endParaRPr sz="1400" u="none" cap="none" strike="noStrike"/>
                    </a:p>
                  </a:txBody>
                  <a:tcPr marT="15000" marB="15000" marR="45725" marL="45725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20"/>
                        <a:buFont typeface="Arial"/>
                        <a:buNone/>
                      </a:pPr>
                      <a:r>
                        <a:rPr sz="660" b="1">
                          <a:solidFill>
                            <a:srgbClr val="1E293B"/>
                          </a:solidFill>
                          <a:latin typeface="Malgun Gothic"/>
                        </a:rPr>
                        <a:t>마케팅허브(MarketingHub) 콜백 API &amp; 전성분 RDB 서버</a:t>
                      </a:r>
                      <a:endParaRPr sz="1400" u="none" cap="none" strike="noStrike"/>
                    </a:p>
                    <a:p>
                      <a:pPr algn="l"/>
                      <a:r>
                        <a:rPr sz="660" b="1">
                          <a:solidFill>
                            <a:srgbClr val="1E293B"/>
                          </a:solidFill>
                          <a:latin typeface="Malgun Gothic"/>
                        </a:rPr>
                        <a:t>[Outbound URL] https://mkthub-api.hanbitglobal.com</a:t>
                      </a:r>
                    </a:p>
                  </a:txBody>
                  <a:tcPr marT="15000" marB="15000" marR="45725" marL="45725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20"/>
                        <a:buFont typeface="Arial"/>
                        <a:buNone/>
                      </a:pPr>
                      <a:r>
                        <a:rPr sz="660" b="0">
                          <a:solidFill>
                            <a:srgbClr val="1E293B"/>
                          </a:solidFill>
                          <a:latin typeface="Malgun Gothic"/>
                        </a:rPr>
                        <a:t>TCP 443 / 1521(DB)</a:t>
                      </a:r>
                      <a:endParaRPr sz="1400" u="none" cap="none" strike="noStrike"/>
                    </a:p>
                  </a:txBody>
                  <a:tcPr marT="15000" marB="15000" marR="45725" marL="45725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20"/>
                        <a:buFont typeface="Arial"/>
                        <a:buNone/>
                      </a:pPr>
                      <a:r>
                        <a:rPr sz="660" b="0">
                          <a:solidFill>
                            <a:srgbClr val="1E293B"/>
                          </a:solidFill>
                          <a:latin typeface="Malgun Gothic"/>
                        </a:rPr>
                        <a:t>Outbound</a:t>
                      </a:r>
                      <a:endParaRPr sz="1400" u="none" cap="none" strike="noStrike"/>
                    </a:p>
                  </a:txBody>
                  <a:tcPr marT="15000" marB="15000" marR="45725" marL="45725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20"/>
                        <a:buFont typeface="Arial"/>
                        <a:buNone/>
                      </a:pPr>
                      <a:r>
                        <a:rPr sz="660" b="0">
                          <a:solidFill>
                            <a:srgbClr val="1E293B"/>
                          </a:solidFill>
                          <a:latin typeface="Malgun Gothic"/>
                        </a:rPr>
                        <a:t>[Outbound URL/서버 명시] SyncGuard AI ➔ 마케팅허브 심의 확정 결과(HTML/JSON/PDF) 웹훅 회신 및 마케팅허브 전성분·배합한도 RDB 조회</a:t>
                      </a:r>
                      <a:endParaRPr sz="1400" u="none" cap="none" strike="noStrike"/>
                    </a:p>
                  </a:txBody>
                  <a:tcPr marT="15000" marB="15000" marR="45725" marL="45725" anchor="ctr">
                    <a:solidFill>
                      <a:srgbClr val="F8FAFC"/>
                    </a:solidFill>
                  </a:tcPr>
                </a:tc>
              </a:tr>
              <a:tr h="210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20"/>
                        <a:buFont typeface="Arial"/>
                        <a:buNone/>
                      </a:pPr>
                      <a:r>
                        <a:rPr sz="660" b="1">
                          <a:solidFill>
                            <a:srgbClr val="1E293B"/>
                          </a:solidFill>
                          <a:latin typeface="Malgun Gothic"/>
                        </a:rPr>
                        <a:t>7</a:t>
                      </a:r>
                      <a:endParaRPr sz="1400" u="none" cap="none" strike="noStrike"/>
                    </a:p>
                  </a:txBody>
                  <a:tcPr marT="15000" marB="1500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20"/>
                        <a:buFont typeface="Arial"/>
                        <a:buNone/>
                      </a:pPr>
                      <a:r>
                        <a:rPr sz="660" b="1">
                          <a:solidFill>
                            <a:srgbClr val="1E293B"/>
                          </a:solidFill>
                          <a:latin typeface="Malgun Gothic"/>
                        </a:rPr>
                        <a:t>Batch(:18084) / 업무 BE(:18080)</a:t>
                      </a:r>
                      <a:endParaRPr sz="1400" u="none" cap="none" strike="noStrike"/>
                    </a:p>
                  </a:txBody>
                  <a:tcPr marT="15000" marB="1500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20"/>
                        <a:buFont typeface="Arial"/>
                        <a:buNone/>
                      </a:pPr>
                      <a:r>
                        <a:rPr sz="660" b="1">
                          <a:solidFill>
                            <a:srgbClr val="1E293B"/>
                          </a:solidFill>
                          <a:latin typeface="Malgun Gothic"/>
                        </a:rPr>
                        <a:t>ProductLab (https://productlab-core.hanbitglobal.com)</a:t>
                      </a:r>
                      <a:endParaRPr sz="1400" u="none" cap="none" strike="noStrike"/>
                    </a:p>
                    <a:p>
                      <a:pPr algn="l"/>
                      <a:r>
                        <a:rPr sz="660" b="1">
                          <a:solidFill>
                            <a:srgbClr val="1E293B"/>
                          </a:solidFill>
                          <a:latin typeface="Malgun Gothic"/>
                        </a:rPr>
                        <a:t>사내 SSO/IAM (https://sso.hanbitglobal.com) · SMTP</a:t>
                      </a:r>
                    </a:p>
                  </a:txBody>
                  <a:tcPr marT="15000" marB="1500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20"/>
                        <a:buFont typeface="Arial"/>
                        <a:buNone/>
                      </a:pPr>
                      <a:r>
                        <a:rPr sz="660" b="0">
                          <a:solidFill>
                            <a:srgbClr val="1E293B"/>
                          </a:solidFill>
                          <a:latin typeface="Malgun Gothic"/>
                        </a:rPr>
                        <a:t>TCP 443 / 587</a:t>
                      </a:r>
                      <a:endParaRPr sz="1400" u="none" cap="none" strike="noStrike"/>
                    </a:p>
                  </a:txBody>
                  <a:tcPr marT="15000" marB="1500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20"/>
                        <a:buFont typeface="Arial"/>
                        <a:buNone/>
                      </a:pPr>
                      <a:r>
                        <a:rPr sz="660" b="0">
                          <a:solidFill>
                            <a:srgbClr val="1E293B"/>
                          </a:solidFill>
                          <a:latin typeface="Malgun Gothic"/>
                        </a:rPr>
                        <a:t>Outbound</a:t>
                      </a:r>
                      <a:endParaRPr sz="1400" u="none" cap="none" strike="noStrike"/>
                    </a:p>
                  </a:txBody>
                  <a:tcPr marT="15000" marB="1500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20"/>
                        <a:buFont typeface="Arial"/>
                        <a:buNone/>
                      </a:pPr>
                      <a:r>
                        <a:rPr sz="660" b="0">
                          <a:solidFill>
                            <a:srgbClr val="1E293B"/>
                          </a:solidFill>
                          <a:latin typeface="Malgun Gothic"/>
                        </a:rPr>
                        <a:t>[Outbound URL/서버 명시] 매일 02:00 ProductLab 실증배치 수집, HB-SSO SSO/IAM 권한 검증 및 연구원 실증요청 메일(SMTP) 발송</a:t>
                      </a:r>
                      <a:endParaRPr sz="1400" u="none" cap="none" strike="noStrike"/>
                    </a:p>
                  </a:txBody>
                  <a:tcPr marT="15000" marB="15000" marR="45725" marL="45725" anchor="ctr">
                    <a:solidFill>
                      <a:srgbClr val="FFFFFF"/>
                    </a:solidFill>
                  </a:tcPr>
                </a:tc>
              </a:tr>
              <a:tr h="210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20"/>
                        <a:buFont typeface="Arial"/>
                        <a:buNone/>
                      </a:pPr>
                      <a:r>
                        <a:rPr sz="660" b="1">
                          <a:solidFill>
                            <a:srgbClr val="ED7100"/>
                          </a:solidFill>
                          <a:latin typeface="Malgun Gothic"/>
                        </a:rPr>
                        <a:t>8</a:t>
                      </a:r>
                      <a:endParaRPr sz="1400" u="none" cap="none" strike="noStrike"/>
                    </a:p>
                  </a:txBody>
                  <a:tcPr marT="15000" marB="15000" marR="45725" marL="45725" anchor="ctr"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20"/>
                        <a:buFont typeface="Arial"/>
                        <a:buNone/>
                      </a:pPr>
                      <a:r>
                        <a:rPr sz="660" b="1">
                          <a:solidFill>
                            <a:srgbClr val="ED7100"/>
                          </a:solidFill>
                          <a:latin typeface="Malgun Gothic"/>
                        </a:rPr>
                        <a:t>[Option] Batch(:18084) / AI Agent</a:t>
                      </a:r>
                      <a:endParaRPr sz="1400" u="none" cap="none" strike="noStrike"/>
                    </a:p>
                  </a:txBody>
                  <a:tcPr marT="15000" marB="15000" marR="45725" marL="45725" anchor="ctr"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20"/>
                        <a:buFont typeface="Arial"/>
                        <a:buNone/>
                      </a:pPr>
                      <a:r>
                        <a:rPr sz="660" b="1">
                          <a:solidFill>
                            <a:srgbClr val="ED7100"/>
                          </a:solidFill>
                          <a:latin typeface="Malgun Gothic"/>
                        </a:rPr>
                        <a:t>[Option] KT 레몬(KT Lemon) API 서버</a:t>
                      </a:r>
                      <a:endParaRPr sz="1400" u="none" cap="none" strike="noStrike"/>
                    </a:p>
                    <a:p>
                      <a:pPr algn="l"/>
                      <a:r>
                        <a:rPr sz="660" b="1">
                          <a:solidFill>
                            <a:srgbClr val="ED7100"/>
                          </a:solidFill>
                          <a:latin typeface="Malgun Gothic"/>
                        </a:rPr>
                        <a:t>[Outbound URL] https://ktlemon-gw.hanbitglobal.com</a:t>
                      </a:r>
                    </a:p>
                  </a:txBody>
                  <a:tcPr marT="15000" marB="15000" marR="45725" marL="45725" anchor="ctr"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20"/>
                        <a:buFont typeface="Arial"/>
                        <a:buNone/>
                      </a:pPr>
                      <a:r>
                        <a:rPr sz="660" b="0">
                          <a:solidFill>
                            <a:srgbClr val="ED7100"/>
                          </a:solidFill>
                          <a:latin typeface="Malgun Gothic"/>
                        </a:rPr>
                        <a:t>TCP 443 / 8443</a:t>
                      </a:r>
                      <a:endParaRPr sz="1400" u="none" cap="none" strike="noStrike"/>
                    </a:p>
                  </a:txBody>
                  <a:tcPr marT="15000" marB="15000" marR="45725" marL="45725" anchor="ctr"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20"/>
                        <a:buFont typeface="Arial"/>
                        <a:buNone/>
                      </a:pPr>
                      <a:r>
                        <a:rPr sz="660" b="0">
                          <a:solidFill>
                            <a:srgbClr val="ED7100"/>
                          </a:solidFill>
                          <a:latin typeface="Malgun Gothic"/>
                        </a:rPr>
                        <a:t>Outbound</a:t>
                      </a:r>
                      <a:endParaRPr sz="1400" u="none" cap="none" strike="noStrike"/>
                    </a:p>
                  </a:txBody>
                  <a:tcPr marT="15000" marB="15000" marR="45725" marL="45725" anchor="ctr"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20"/>
                        <a:buFont typeface="Arial"/>
                        <a:buNone/>
                      </a:pPr>
                      <a:r>
                        <a:rPr sz="660" b="0">
                          <a:solidFill>
                            <a:srgbClr val="ED7100"/>
                          </a:solidFill>
                          <a:latin typeface="Malgun Gothic"/>
                        </a:rPr>
                        <a:t>[선택 사양 · Outbound URL 명시] 매일 02:30 KT 레몬 임상·실증 문서 동기화 및 벡터 매칭 비교 검증(PoC) 확정 시 오픈</a:t>
                      </a:r>
                      <a:endParaRPr sz="1400" u="none" cap="none" strike="noStrike"/>
                    </a:p>
                  </a:txBody>
                  <a:tcPr marT="15000" marB="15000" marR="45725" marL="45725" anchor="ctr">
                    <a:solidFill>
                      <a:srgbClr val="FFFBE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2021-12-20T02:13:26Z</dcterms:created>
  <dc:creator>주식회사 엠파시 (Empasy Inc.)</dc:creator>
</cp:coreProperties>
</file>