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HANBIT GLOBAL SyncFlow AI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시범운영 결과보고서 (Pilot Operation Report)</a:t>
            </a:r>
          </a:p>
          <a:p>
            <a:pPr>
              <a:spcBef>
                <a:spcPts val="1000"/>
              </a:spcBef>
              <a:defRPr sz="1600">
                <a:solidFill>
                  <a:srgbClr val="CBD5E1"/>
                </a:solidFill>
              </a:defRPr>
            </a:pPr>
            <a:r>
              <a:t>전장시스템·배터리모듈 파일럿 운영 실적, AI 검증 정확도 검증 및 전사 본 오픈 전환 판정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572000"/>
            <a:ext cx="9966960" cy="1371600"/>
          </a:xfrm>
          <a:prstGeom prst="roundRect">
            <a:avLst/>
          </a:prstGeom>
          <a:solidFill>
            <a:srgbClr val="0F2942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091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문서 번호: EMP_IMP_090  |  버전: v1.0  |  보고 일자: 2026년 10월 16일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운영 기간: 2026.09.28 ~ 2026.10.12 (2주간)  |  시범 대상: 전장시스템, 배터리모듈 구매조달팀 및 QA팀</a:t>
            </a:r>
          </a:p>
          <a:p>
            <a:pPr>
              <a:defRPr sz="1100" b="1">
                <a:solidFill>
                  <a:srgbClr val="60A5FA"/>
                </a:solidFill>
              </a:defRPr>
            </a:pPr>
            <a:r>
              <a:t>발주사: ㈜한빛글로벌 (Hanbit Global Corp.)   |   수행사: ㈜엠파시 (Empasy Inc.)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SyncFlow AI 시범운영 결과보고서  &gt;  1. 시범운영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1.1 파일럿 시범운영 개요 및 4대 핵심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286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F2942"/>
                </a:solidFill>
              </a:defRPr>
            </a:pPr>
            <a:r>
              <a:t>산출물 ID: EMP_IMP_090 | v1.0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SyncFlow AI | 파일럿 운영 실적 및 본 오픈 전환 적합성 판정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6355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563EB"/>
                </a:solidFill>
              </a:defRPr>
            </a:pPr>
            <a:r>
              <a:t>발주사: HANBIT GLOBAL   |   수행사: ㈜엠파시 (Empasy Inc.)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총 검증 처리 건수</a:t>
            </a:r>
          </a:p>
          <a:p>
            <a:pPr>
              <a:spcBef>
                <a:spcPts val="1200"/>
              </a:spcBef>
              <a:defRPr b="1" sz="2200">
                <a:solidFill>
                  <a:srgbClr val="2563EB"/>
                </a:solidFill>
              </a:defRPr>
            </a:pPr>
            <a:r>
              <a:t>142건</a:t>
            </a:r>
          </a:p>
          <a:p>
            <a:pPr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전장시스템본부 78건, 정밀기계본부 64건</a:t>
            </a:r>
            <a:br/>
            <a:r>
              <a:t>100% 정상 처리 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검증 리드타임 단축</a:t>
            </a:r>
          </a:p>
          <a:p>
            <a:pPr>
              <a:spcBef>
                <a:spcPts val="1200"/>
              </a:spcBef>
              <a:defRPr b="1" sz="2200">
                <a:solidFill>
                  <a:srgbClr val="0F172A"/>
                </a:solidFill>
              </a:defRPr>
            </a:pPr>
            <a:r>
              <a:t>3영업일 → 2시간</a:t>
            </a:r>
          </a:p>
          <a:p>
            <a:pPr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평균 검증 소요시간 92% 단축</a:t>
            </a:r>
            <a:br/>
            <a:r>
              <a:t>(급행 건 15분 내 완료)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59669"/>
                </a:solidFill>
              </a:defRPr>
            </a:pPr>
            <a:r>
              <a:t>AI-법무·QA 판정 일치율</a:t>
            </a:r>
          </a:p>
          <a:p>
            <a:pPr>
              <a:spcBef>
                <a:spcPts val="1200"/>
              </a:spcBef>
              <a:defRPr b="1" sz="2200">
                <a:solidFill>
                  <a:srgbClr val="059669"/>
                </a:solidFill>
              </a:defRPr>
            </a:pPr>
            <a:r>
              <a:t>96.5%</a:t>
            </a:r>
          </a:p>
          <a:p>
            <a:pPr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골든셋 목표치(90%) 초과 달성</a:t>
            </a:r>
            <a:br/>
            <a:r>
              <a:t>오탐률 3.5% 미만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4688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942"/>
                </a:solidFill>
              </a:defRPr>
            </a:pPr>
            <a:r>
              <a:t>사용자 만족도</a:t>
            </a:r>
          </a:p>
          <a:p>
            <a:pPr>
              <a:spcBef>
                <a:spcPts val="1200"/>
              </a:spcBef>
              <a:defRPr b="1" sz="2200">
                <a:solidFill>
                  <a:srgbClr val="0F2942"/>
                </a:solidFill>
              </a:defRPr>
            </a:pPr>
            <a:r>
              <a:t>4.7 / 5.0</a:t>
            </a:r>
          </a:p>
          <a:p>
            <a:pPr>
              <a:spcBef>
                <a:spcPts val="1600"/>
              </a:spcBef>
              <a:defRPr sz="1000">
                <a:solidFill>
                  <a:srgbClr val="1E3A5F"/>
                </a:solidFill>
              </a:defRPr>
            </a:pPr>
            <a:r>
              <a:t>구매담당자 만족도 4.8점</a:t>
            </a:r>
            <a:br/>
            <a:r>
              <a:t>법무·QA 전문위원 만족도 4.6점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