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947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04487"/>
            <a:ext cx="12191695" cy="29535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4206240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EMPASY ENTERPRISE STANDARD  |  EMP_DEG_050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SyncFlow AI 화면설계서 (UI/UX Storyboard)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69848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50" b="0">
                <a:solidFill>
                  <a:srgbClr val="E0F2FE"/>
                </a:solidFill>
                <a:latin typeface="맑은 고딕"/>
              </a:rPr>
              <a:t>지능형 공급망(SCM) 구매·조달 계약 및 부품 품질규격(PPAP/BOM) AI 검증 플랫폼 웹 포털(FO)·백오피스(BO) 상세 와이어프레임 설계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51960"/>
          <a:ext cx="1072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  <a:gridCol w="1645920"/>
                <a:gridCol w="3685032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상세 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상세 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주식회사 한빛글로벌 SyncFlow AI 구축 사업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산출물 식별자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EMP_DEG_050 (v1.2 최종 승인본)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계약 번호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HB-IT-2026-0042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작성 / 승인일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2026. 06. 25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발주 기관 (갑)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주식회사 한빛글로벌 (구매조달본부 · 품질법무검증팀 · IT정보화팀)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수행 기관 (을)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주식회사 엠파시 (엔터프라이즈 AI 사업부 · 총괄 PM 박진우 수석)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</a:rPr>
                        <a:t>연계 기간계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SRM-Portal(전자구매) · PLM-Nexus(BOM/시험성적서) · SAP ERP · HB-SSO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보안 등급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맑은 고딕"/>
                        </a:rPr>
                        <a:t>대외비 (Confidential — 사내 및 인가자 외 열람 금지)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01. 화면설계 표준 레이아웃 및 UI 디자인 시스템 규격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731520"/>
            <a:ext cx="5669280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868680"/>
            <a:ext cx="5394960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1. 전사 웹 표준 레이아웃 그리드 (1920×1080 Vben Enterprise Grid)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5120640" cy="438912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상단 GNB (Global Navigation Bar — 높이 56px: 로고, 1-Depth 대메뉴, 통합검색, SSO 프로필)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74519"/>
            <a:ext cx="12344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맑은 고딕"/>
              </a:rPr>
              <a:t>좌측 LNB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(240px)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2/3-Depth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  업무 메뉴 트리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즐겨찾기 탭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접기/펼치기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1952" y="1874519"/>
            <a:ext cx="38130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F172A"/>
                </a:solidFill>
                <a:latin typeface="맑은 고딕"/>
              </a:rPr>
              <a:t>상단 검색 필터 영역 (Search &amp; Action Bar — 사업본부, 조달유형, 기간, 조회/엑셀)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1952" y="2542032"/>
            <a:ext cx="1874519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좌측 본문 영역 (Master Grid / Viewer)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/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• BasicTable 데이터 그리드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• CAD 도면 / 계약서 PDF 캔버스</a:t>
            </a:r>
          </a:p>
          <a:p>
            <a:pPr algn="ctr"/>
            <a:r>
              <a:rPr sz="850" b="0">
                <a:solidFill>
                  <a:srgbClr val="1E3A5F"/>
                </a:solidFill>
                <a:latin typeface="맑은 고딕"/>
              </a:rPr>
              <a:t>• 바운딩 박스 동기화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542032"/>
            <a:ext cx="1874519" cy="262432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우측 상세 패널 (AI Copilot / Redline)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AI 3단계 리스크 판정 카드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표준 하도급 수정조항(Redline)</a:t>
            </a:r>
          </a:p>
          <a:p>
            <a:pPr algn="ctr"/>
            <a:r>
              <a:rPr sz="850" b="0">
                <a:solidFill>
                  <a:srgbClr val="0F172A"/>
                </a:solidFill>
                <a:latin typeface="맑은 고딕"/>
              </a:rPr>
              <a:t>• PLM-Nexus 시험성적서 매핑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25780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0F172A"/>
                </a:solidFill>
                <a:latin typeface="맑은 고딕"/>
              </a:rPr>
              <a:t>• 화면 해상도: 기본 1920×1080 (최소 1440×900 반응형 24-Column Flex Grid)</a:t>
            </a:r>
          </a:p>
          <a:p>
            <a:pPr algn="l"/>
            <a:r>
              <a:rPr sz="850" b="0">
                <a:solidFill>
                  <a:srgbClr val="0F172A"/>
                </a:solidFill>
                <a:latin typeface="맑은 고딕"/>
              </a:rPr>
              <a:t>• 프레임워크: Vue 3.4 + TypeScript 5 + Vben Admin (BasicTable, BasicModal, BasicForm, BasicDrawer)</a:t>
            </a:r>
          </a:p>
          <a:p>
            <a:pPr algn="l"/>
            <a:r>
              <a:rPr sz="850" b="0">
                <a:solidFill>
                  <a:srgbClr val="0F172A"/>
                </a:solidFill>
                <a:latin typeface="맑은 고딕"/>
              </a:rPr>
              <a:t>• 권한 제어: DB 기반 동적 라우팅 (PermissionModeEnum.BACK) 및 버튼 레벨 RBAC 제어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72200" y="731520"/>
          <a:ext cx="569671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2587752"/>
              </a:tblGrid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표준 컴포넌트 / 컬러 토큰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적용 기준 및 UI 동작 규격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리스크 등급 배지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고위험(부적합) #DC2626 (적색)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위반 독소조항, RoHS 유해물질 기준치 초과, 필수 시험성적서 누락 시 즉시 차단 경고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리스크 등급 배지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보완필요(주의) #D97706 (황색)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납기·지체상금 상호 협의 필요, 조건부 승인 특약, 유효기간 만료 임박 성적서 매핑 시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리스크 등급 배지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적격(통과) #059669 (녹색)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공정위 표준하도급계약 부합, 자재 BOM 공차 일치 및 공인 신뢰성 시험성적서 검증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테이블 그리드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BasicTable + useTable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페이징(기본 20건/페이지), 다중 정렬, 칼럼 고정, 엑셀(UTF-8 BOM) 다운로드 기본 내장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모달 / 드로어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BasicModal / BasicDrawer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법령·규격 원문 열람, 성적서 PDF 프리뷰, 반려 사유 입력 및 전자결재 상신 확인창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API 통신 규격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/api/v1/syncflow/...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전사 단일 Canonical URL 준수, JWT Bearer 인증, 8초 이상 AI 추론 시 SSE 스트리밍 상태바 표출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감사 추적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Immutable Audit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판정 오버라이드, 표준조항 채택, 권한 변경 시 변경 사유 필수 입력 및 SHA-256 해시체인 기록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02. 전체 정보구조(IA) 및 본문 화면설계 대상 목록 (10대 핵심 화면)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3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731520"/>
          <a:ext cx="1154887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2468880"/>
                <a:gridCol w="3291840"/>
                <a:gridCol w="1371600"/>
                <a:gridCol w="2679192"/>
              </a:tblGrid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순번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메뉴 경로 (1~3 Depth)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 (스토리보드 설계 대상)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접근 권한 (RBAC)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연동 백엔드 Canonical API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UI-SCM-001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통합관제 &gt; 공급망 검증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글로벌 공급망 구매계약·품질규격 AI 검증 종합 관제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 사용자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/api/v1/syncflow/dashboard/summary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UI-RFQ-001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전자조달 &gt; 구매요청·입찰 &gt; 규격서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신규 물품공급계약서·기술시방서(Spec) 및 CAD 도면 검증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구매담당(Buyer)/설계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/api/v1/syncflow/contracts/intake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UI-REV-001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조항·규격 파싱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멀티모달 OCR 조항·도면 공차 추출 및 3단계 AI 리스크 판정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구매담당/품질연구원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/api/v1/syncflow/contracts/{id}/parse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UI-REV-002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독소조항 대조·Redline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계약서·시방서 좌우 대조 뷰어 및 AI 표준 수정조항(Redline) 에디터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구매담당/법무·QA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/api/v1/syncflow/contracts/{id}/redline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UI-QMS-001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부품품질(PPAP) &gt; 시험성적서·BOM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초도품(PPAP) 공인 시험성적서(PLM-Nexus) 매핑 및 RoHS/BOM 규격 대조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품질연구원/구매담당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/api/v1/syncflow/qms/cert-mapping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UI-QAL-001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검토 접수 대기함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검토 접수 목록, 담당자 배정 및 우선순위 큐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/api/v1/syncflow/qal/queue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UI-QAL-002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최종 판정·인증서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판정 오버라이드, 조건부 승인 확정 및 적합성 인증서(PDF) 발급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/api/v1/syncflow/qal/{id}/approve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UI-SRM-001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이력·협력사 &gt; 계약 버전 Diff·이력조회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과거 계약·시방서 검증 이력 다차원 검색 및 개정 버전별 조항 비교(Diff)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전 사용자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/api/v1/syncflow/history/diff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12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UI-RAG-001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표준규격·지식 &gt; 독소조항 사전·법령 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100대 하도급 금칙조항 룰셋 관리 및 ISO/IATF·하도급법 RAG 벡터 색인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법무·QA/시스템관리자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/api/v1/syncflow/admin/rules-rag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12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F172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UI-ADM-001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 &gt; AI 품질·기간계 연계·권한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AI 골든셋 벤치마크, SRM/PLM/ERP 연계 관제, 불변 감사대장 및 SSO 권한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/api/v1/syncflow/admin/system-health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[UI-SCM-001] 글로벌 공급망 구매계약·품질규격 AI 검증 종합 관제 대시보드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4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UI-SCM-001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글로벌 공급망 구매계약·품질규격 AI 검증 종합 관제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 / 품질연구원 / 법무·QA / 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통합관제 &gt; 공급망 검증 대시보드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/api/v1/syncflow/dashboard/summary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전체 사업본부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조달유형: 물품공급계약+시방서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조회기간: 2026.06.01 ~ 2026.06.25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[+ 신규 계약·시방서 등록]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금일 검증 접수 건수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68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전일 대비 +14건 (SRM-Portal 자동연동 51건)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AI 3단계 자동검증 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62 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평균 추론 소요시간 6.4초 (SLA 10초 이내)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법무·QA 전문검토 대기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11 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긴급 입찰건(D-1) 3건 / 일반 계약 8건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독소조항·규격미달 검출률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24.6 %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고위험(부적합) 15건 / 보완필요 38건 검출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검증번호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사업본부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계약서 / 기술시방서 명칭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협력사명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리스크 요약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진행상태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액션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차세대 구동모터 제어기(MCU) 물품공급계약서_v2.pdf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㈜대영모빌리티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2 | 보완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[QA검토대기]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[결과열람]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배터리모듈본부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고전압 배터리 버스바 모듈 기술시방서(Spec).pdf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한성정밀금속㈜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0 | 보완 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[조건부승인]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[인증서PDF]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정밀기계본부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전동 조향장치(EPS) 기어박스 CAD 도면 및 규격서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삼우테크놀로지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1 | 보완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[성적서보완]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[성적서매핑]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글로벌조달본부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북미 수출용 충전 커넥터 영문 공급계약서(MSA)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Delta Auto Inc.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0 | 보완 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[최종승인]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[인증서PDF]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REV-26-0408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스마트팩토리본부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자율주행 물류로봇(AMR) 라이다 센서 납품특약서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네오센서랩㈜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 3 | 보완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[검토반려]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[반려사유]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검출 리스크 유형 분포 &amp; 실시간 기간계 알림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1위: 하도급 부당특약·지체상금 과다 (39% / 21건)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2위: 공인 신뢰성 시험성적서 미첨부 (31% / 17건)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3위: 자재 BOM 공차·RoHS 기준 초과 (19% / 10건)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4위: 지재권 일방귀속·단가인하 조항 (11% / 5건)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[알림] SRM-Portal 신규 입찰계약 4건 자동 수신 완료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다차원 조회 필터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사업본부(전장/배터리/정밀기계 등), 조달유형, 기간 선택 시 상단 KPI 카드 4종 및 그리드 실시간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신규 계약·시방서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클릭 시 신규 물품공급계약서·기술시방서 및 CAD 도면 등록 화면(UI-RFQ-001)으로 즉시 라우팅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4대 핵심 KPI 요약 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 자동 접수 건수, AI 평균 분석 시간(6.4초), 법무·QA 대기 건수, 독소조항 검출률 시각화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검증 진행 현황 그리드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상태별 필터링 및 [결과열람] 클릭 시 좌우 대조 뷰어(UI-REV-002), [인증서PDF] 클릭 시 공문 다운로드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리스크 분포 &amp; 실시간 알림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하도급법·ISO 품질규격 위반 유형별 도넛/바 차트 및 SRM-Portal / PLM-Nexus 웹훅 알림 스트림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반려 건([반려사유]) 클릭 시 '제14조 지체상금율(일 3.0%) 하도급법 위반 및 내열성적서 누락' 요약 모달 표출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[UI-RFQ-001] 신규 물품공급계약서·기술시방서(Spec) 및 CAD 도면 검증 등록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5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UI-RFQ-001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신규 물품공급계약서·기술시방서(Spec) 및 CAD 도면 검증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구매담당자(Buyer) / 설계엔지니어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전자조달 &gt; 구매요청·입찰 &gt; 규격서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/api/v1/syncflow/contracts/intake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5144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SRM-Portal 발주번호 연동: PO-2026-0891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전장시스템본부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품목코드: MCU-2026-A01 (BOM v4.2 연동)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[AI 사전검증 실행 ▶]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1 (현재단계)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계약서·도면 업로드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PDF/DOCX 계약서 및 CAD 도면 등록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64748B"/>
                </a:solidFill>
                <a:latin typeface="맑은 고딕"/>
              </a:rPr>
              <a:t>OCR 조항·공차 파싱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문단/표/도면 표제란 구조화 추출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64748B"/>
                </a:solidFill>
                <a:latin typeface="맑은 고딕"/>
              </a:rPr>
              <a:t>AI Redline 대조·수정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독소조항 치환 및 표준조항 채택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Step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64748B"/>
                </a:solidFill>
                <a:latin typeface="맑은 고딕"/>
              </a:rPr>
              <a:t>시험성적서 매핑·상신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PLM-Nexus 성적서 연결 및 QA 상신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순번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첨부 도서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파일명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포맷 / 용량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페이지 / 레이어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전처리 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물품공급계약서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전장시스템_구동모터제어기_물품공급계약서_초안.pdf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PDF / 8.4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18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[변환완료]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[미리보기] [삭제]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기술시방서(Spec)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구동모터제어기_환경및신뢰성_기술시방서_v2.docx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DOCX / 4.1 MB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24 Pages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[변환완료]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[미리보기] [삭제]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CAD 설계도면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MCU_Housing_Assy_Rev3_Drawing.dwg.pdf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CAD-PDF / 19.8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6 Sheets (스냅샷 4건)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[스냅샷추출]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[도면뷰어] [삭제]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CAD/PDF 설계도면 핵심 규격영역 스냅샷 추출기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도면 Sheet 02 [표제란/공차표] 프리뷰 (배율 100%)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#1 [표제란] 품번 MCU-2026-A01 / 재질 ADC12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#2 [정격사양] 연속 동작전압 DC 48V ±5%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#3 [열충격규격] 작동온도 -40℃ ~ +150℃ (IP67)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  ☑ #4 [환경주기] 6대 유해물질(RoHS) 불검출 보증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 &amp; BOM 자동 연동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전자구매포털(SRM-Portal) 발주번호 입력 시 협력사 정보와 PLM-Nexus 자재 BOM(v4.2) 규격 자동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4단계 검증 프로세스 인디케이터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도서 등록 ➔ OCR 파싱 ➔ Redline 대조 ➔ 성적서 매핑 및 상신 단계별 진행 상태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멀티모달 도서 업로더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PDF, DOCX, XLSX 및 대용량 CAD 도면(최대 300MB, S3 멀티파트 업로드) 드래그 앤 드롭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CAD 도면 규격 스냅샷 추출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설계도면 내 표제란, 치수공차표, 표면처리 주기를 마우스 드래그로 지정하여 고해상도 스냅샷 추출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사전검증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필수 메타데이터 검증 후 클릭 시 비동기 AI 에이전트 큐(Redis Streams)에 적재 후 파싱 콘솔로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[유효성 검증 Alert] 필수 메타데이터(사업본부, 품목코드, 최소 1개 이상 계약서/시방서 파일) 누락 시 Alert 노출 및 실행 차단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[UI-REV-001] 멀티모달 OCR 조항·도면 공차 추출 및 3단계 AI 리스크 판정 콘솔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6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UI-REV-001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멀티모달 OCR 조항·도면 공차 추출 및 3단계 AI 리스크 판정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 / 품질연구원 / 법무·QA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조항·규격 파싱 콘솔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/api/v1/syncflow/contracts/{id}/parse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7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문서 선택: 물품공급계약서_초안.pdf (1/18쪽)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1단계: 금칙룰(0.3초) 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2단계: 하도급·PLM RAG(1.9초) 완료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783080"/>
            <a:ext cx="1874519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3단계: LLM 판정(4.2초) 완료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추출 조항·규격 총수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46 개 조항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계약 본문 32개 / 시방서 표 10개 / 도면 4개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1단계 룰 필터 검출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3 건 매칭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 불공정 금칙어·BOM 공차 이탈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2단계 RAG 법령·성적서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12 건 연결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하도급법 조항 5건 / PLM 성적서 7건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3단계 종합 리스크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고위험 2 / 보완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적격 통과 41개 조항 (자동검증 89.1%)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박스#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 분류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OCR 추출 원문 및 편집 텍스트 (클릭하여 교정)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1단계(룰)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2단계(RAG)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3단계(종합)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제14조(지체상금)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사유 불문 일일 3.0% 지체상금 및 모든 간접손해를 배상한다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독소조항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하도급법위반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제8조(신뢰성보증)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연속 내열온도 150℃ 및 진동내구성 2,000시간 무고장 보증 기준 충족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성적서필요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[보완필요]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별첨1(자재규격)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무연 솔더 합금 내 납(Pb) 함량 500ppm 이하 적용 (RoHS 기준)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BOM일치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규격적합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#04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도면#2(치수공차)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하우징 외경 Ø120.0 ±0.05mm, 방수방진 등급 IP67 이상 충족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BOM일치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성적서일치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[선택 조항 #01] OCR 바운딩 박스 교정 &amp; 검출 상세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좌표 영역: Page 04 (x:112, y:340, w:680, h:95)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[1단계 룰사전] 불공정 특약 #RULE-042 ('사유 불문', '일일 3.0%', '간접손해') 정규식 매칭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[2단계 법령RAG] 하도급법 제3조의4 및 공정위 표준하도급계약서 제26조(표준 0.15%) 위반 유사도 0.96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[액션] [인접 문단 병합]  [행 분할]  [AI 재판정 실행]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3단계 하이브리드 파이프라인 상태바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1단계(정규식·BOM 공차 룰) ➔ 2단계(pgvector 법령·PLM 성적서 RAG) ➔ 3단계(LLM 추론) 소요시간 실시간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원본 문서·도면 바운딩 박스 뷰어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좌측 PDF/CAD 캔버스 위 OCR 추출 영역(#01~#46)을 색상별 박스로 시각화하고 우측 그리드와 양방향 포커싱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추출 조항 그리드 및 수동 교정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다단 표나 스캔 노이즈로 인한 오인식 문자를 인라인 편집하고 조항 분류(본문/특약/규격표/도면주기) 지정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문단 병합·분할 도구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페이지 넘김으로 분리된 단일 계약 조항을 다중 체크 후 [인접 문단 병합] 클릭 시 단일 조항으로 통합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부분 재판정 및 대조 뷰어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수동 편집된 조항만 선택하여 [AI 재판정 실행] 시 변경분만 2초 내 재추론 후 대조 뷰어(UI-REV-002)로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[인접 문단 병합] 클릭 시 바운딩 박스 통합 확인 모달 노출 / 저신뢰(OCR Confidence &lt; 85%) 박스 자동 황색 포커싱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[UI-REV-002] 계약서·시방서 좌우 대조 뷰어 및 AI 표준 수정조항(Redline) 에디터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7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UI-REV-002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계약서·시방서 좌우 대조 뷰어 및 AI 표준 수정조항(Redline) 에디터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 / 법무·QA 전문위원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AI 계약검증 &gt; 독소조항 대조·Redline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/api/v1/syncflow/contracts/{id}/redline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7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필터: 전체(46) | 고위험(2) | 보완필요(3) | 적격(41)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비교모드: 원문 vs AI Redline 대조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[추천 표준조항 일괄적용]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[시험성적서 매핑 이동 ▶]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검출 조항 #01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[고위험 — 부적합]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하도급법 제3조의4 부당특약 (과다 지체상금 및 무한 간접손해 배상)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법령·표준 근거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공정위 표준계약서 제26조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자동차·전장업종 표준 지체상금율(일 0.15%) 및 귀책사유 한정 원칙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검출 조항 #02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[보완필요 — 조건부]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IATF 16949 신뢰성 보증 (150℃ 내열·2,000시간 진동 시험성적서 첨부 필요)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자동 탐색 성적서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PLM-2026-0412 매칭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한국자동차연구원(KATECH) 공인 시험성적서 후보 1건 자동 탐색됨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0"/>
                <a:gridCol w="1863090"/>
                <a:gridCol w="1863090"/>
                <a:gridCol w="186309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대안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추천 표준 수정조항 (Redline 대안 조항 — 클릭 시 수정본으로 즉시 채택)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리스크 해수도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채택 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추천 1안 (표준계약형)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계약상대자의 귀책사유로 납품이 지연된 경우 지체일수당 계약금액의 0.15%를 지체상금으로 부과한다.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리스크 100%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[✓ 채택완료]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추천 2안 (상호합의형)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상호 귀책 비율에 따라 일일 0.15% 이내에서 지체상금을 산정하며 간접손해는 제외한다.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리스크 95% 해소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[조항채택]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추천 3안 (배상한도형)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지체상금 및 직접 손해배상 총액은 어떠한 경우에도 해당 발주 품목 계약금액의 100%를 초과하지 아니한다.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리스크 90%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[조항채택]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좌측 원본 하이라이트 vs 우측 Redline Diff 미리보기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[원문 삭제(-)] 납품 지연 시 사유 불문 일일 3.0% 지체상금 및 모든 간접손해를 배상한다.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[수정 반영(+)] 계약상대자의 귀책사유로 납품이 지연된 경우 지체일수당 계약금액의 0.15%를 지체상금으로 부과한다.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[법령 원문 보기] 하도급법 제3조의4(부당한 특약의 금지) 및 부당특약 심사지침 전문 레이어 팝업 제공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리스크 등급별 원클릭 필터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고위험(적색), 보완필요(황색), 적격(녹색) 알약 버튼 클릭 시 해당 등급의 조항 카드와 문서 위치만 필터링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좌우 동기화 Redline 하이라이트 뷰어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우측 조항 카드 클릭 시 좌측 원본 계약서 PDF의 해당 조항 위치로 자동 스크롤 및 삭제/추가 어절 Diff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위반 사유 및 법령·심결례 근거 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조항, 공정위 표준하도급계약서 기준, 유사 불공정 심결례 요약을 제시하고 [법령 원문 보기] 모달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표준 수정조항(Redline) 3안 추천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표준계약서형 / 상호합의형 / 배상한도(Cap) 설정형 3가지 대안을 제시하고 원클릭 채택 또는 직접 수정 저장 지원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미조치 고위험 조항 가드레일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고위험(부적합) 조항이 치환되지 않은 상태로 다음 단계 이동 시 경고 Confirm 모달을 노출하여 누락 방지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[조항채택] 클릭 시 좌측 Redline 미리보기 즉시 반영 토스트 알림 / 미조치 고위험 잔존 시 Confirm 경고창 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[UI-QMS-001] 초도품(PPAP) 공인 시험성적서(PLM-Nexus) 매핑 및 RoHS/BOM 규격 대조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8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UI-QMS-001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초도품(PPAP) 공인 시험성적서(PLM-Nexus) 매핑 및 RoHS/BOM 규격 대조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품질연구원(QA) / 구매담당자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부품품질(PPAP) &gt; 시험성적서·BOM 검증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/api/v1/syncflow/qms/cert-mapping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1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품목코드: MCU-2026-A01 (구동모터 제어기)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PLM-Nexus 동기화: 2026-06-25 02:00 완료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[품질보증 특약주석 자동생성]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[법무·QA 전문검토 상신 ▶]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시험검증 대상 사양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총 4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매핑 완료 3건 / 성적서 미매핑 1건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PLM-Nexus 자동 매칭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신뢰도 97.4%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공인기관(KATECH, KTC, KTR) 성적서 연동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자재 BOM / RoHS 대조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전 항목 적합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6대 유해물질(Pb, Cd, Hg, Cr6+) 허용치 이내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설계변경(ECN) 정합성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주의 1 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구버전(Rev.2) 성적서 자동 차단 가드레일 작동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시방서 내 요구 성능·신뢰성 규격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요구 시험 항목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연결된 PLM-Nexus 공인 성적서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시험기관 / 시료수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정합성 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연속 내열온도 150℃ 및 진동내구 2,000시간 보증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열충격·복합진동시험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PLM-2026-0412 (KS R ISO 16750)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한국자동차연구원 / 30개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[적합 — 매핑완료]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[PDF열람]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고전압 절연저항 500MΩ 이상 및 방수 IP67 등급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절연내력·방수방진시험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PLM-2026-0415 (IEC 60529 IP67)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한국기계전기전자시험연구원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[적합 — 매핑완료]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[PDF열람]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무연 솔더 납(Pb) 500ppm 이하 및 RoHS 불검출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ICP 유해물질 정밀분석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PLM-2026-0419 (EU RoHS 2.0)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한국화학융합시험연구원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[적합 — 매핑완료]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[PDF열람]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전자파 내성(EMS) 100V/m 이상 무결성 유지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자동차 전자파 적합성(EMC)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후보 성적서 선택 필요 (1건 탐색됨)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한국산업기술시험원(KTL)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[미매핑 — 선택필요]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[성적서매칭]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자동 생성된 표준 품질보증 특약 주석 &amp; 자재 BOM 대조 결과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[특약주석 #1] 본 품목(MCU-2026-A01)의 내열(150℃)·진동(2,000hr) 및 IP67 보증은 한국자동차연구원(PLM-2026-0412) 및 KTC(PLM-2026-0415) 양산 로트(30개) 공인 성적서에 의거하여 보증함.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[BOM 원소재 검증] ADC12 알루미늄 합금(68.0%), Sn-3.0Ag-0.5Cu 무연솔더(Pb 0.04% &lt; 한도 0.1% 적합), UL94 V-0 에폭시 몰딩수지(적합)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시험검증 대상 기술사양 그리드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AI가 시방서·도면에서 추출한 수치·환경·신뢰성 보증 조항을 나열하고 PLM-Nexus 성적서 매핑 상태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추천 PLM-Nexus 성적서 자동 매칭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품목코드·시험규격(ISO 16750, IP67, RoHS) 기준으로 후보 성적서를 추천하고 시험온도·시간 수치 일치 여부 검증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설계변경(ECN) 구버전 성적서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설계 변경(Rev.2 ➔ Rev.3) 이전 시료로 시험한 구버전 성적서 선택 시 경고 모달을 띄워 부적격 근거 첨부 원천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표준 품질보증 특약 주석 자동 생성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매핑된 공인 성적서의 시험기관·성적서번호·시험규격을 추출하여 계약서 부속서 삽입용 보증 주석 조항 자동 생성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자재 BOM &amp; RoHS 허용한도 대조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PLM-Nexus 자재 마스터와 연동하여 합금 조성비 및 EU RoHS/REACH 유해물질 허용한도 충족 여부 실시간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미매핑 사양(#11 EMC 시험) 존재 시 상신 차단 Alert / 구버전(ECN 이전) 성적서 선택 시 부적격 차단 모달 노출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[UI-QAL-001] 법무·QA 전문위원 검토 접수 목록, 담당자 배정 및 우선순위 큐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9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UI-QAL-001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검토 접수 목록, 담당자 배정 및 우선순위 큐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/ 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검토 접수 대기함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/api/v1/syncflow/qal/queue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전체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검토상태: 전문검토 대기(11)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긴급도: 전체(긴급 D-1 우선) 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783080"/>
            <a:ext cx="1874519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담당검토역: 김민준 수석 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[담당역 일괄배정]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전체 접수 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68 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금주 누적 접수 건수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미배정 안건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6 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자동 라운드로빈 또는 수동 배정 대상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긴급 입찰·계약 (D-1)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3 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SLA 기한 임박 최우선 처리 대상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금주 검토 확정 완료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48 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평균 검토 리드타임 3.2시간 (기존 3일 대비 89% 단축)</a:t>
            </a:r>
          </a:p>
        </p:txBody>
      </p:sp>
      <p:sp>
        <p:nvSpPr>
          <p:cNvPr id="49" name="Oval 48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87"/>
                <a:gridCol w="67749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검증번호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사업본부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계약서·기술시방서 명칭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사전판정 요약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성적서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요청자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담당검토역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진입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[긴급 D-1]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구동모터 제어기(MCU) 물품공급계약서_v2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고위험1(치환) | 보완2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4건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박조달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[QA대기]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[검토하기]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[긴급 D-1]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정밀기계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전동 조향장치(EPS) 기어박스 도면·규격서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고위험0 | 보완2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3건 완료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최설계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미배정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[미배정]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[배정/검토]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일반(D-3)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배터리모듈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고전압 배터리 버스바 기술시방서(Spec)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고위험0 | 보완1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2건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이구매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[검토하기]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일반(D-3)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글로벌조달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북미 수출용 충전 커넥터 영문 MSA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고위험0 | 보완0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해당없음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정글로벌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박법무 책임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[승인완료]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[인증서PDF]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[긴급 D-1]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REV-26-0408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스마트팩토리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자율주행 물류로봇(AMR) 센서 납품특약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고위험3 | 보완1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미첨부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강품질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[반려완료]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[이력열람]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Oval 50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전문위원 워크로드 밸런싱 &amp; SLA 알림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김민준 수석(법무/하도급): 진행중 4건 / 금주 완료 22건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박법무 책임(글로벌/영문계약): 진행중 3건 / 금주 완료 15건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최품질 수석(PPAP/신뢰성규격): 진행중 4건 / 금주 완료 11건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[SLA 가드레일] 긴급(D-1) 접수 후 4시간 경과 미배정 시 팀장 자동 알림 발송</a:t>
            </a:r>
          </a:p>
        </p:txBody>
      </p:sp>
      <p:sp>
        <p:nvSpPr>
          <p:cNvPr id="53" name="Oval 52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다차원 필터 및 키워드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사업본부, 검토상태, 긴급도(D-1/D-3), 담당검토역, 협력사명·품목코드 복합 검색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우선순위 큐 탭 &amp; SLA 카운트다운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긴급(D-1) 입찰·계약 안건을 최상단에 고정 정렬하고 남은 SLA 기한(시간/분)을 실시간 배지로 표시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담당 전문위원 일괄 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미배정 안건 다중 체크 후 [담당역 일괄배정] 클릭 시 분야별(하도급법무/글로벌계약/품질규격) 전문위원 즉시 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사전판정 및 성적서 요약 컬럼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목록에서 즉시 AI 고위험 치환 여부와 PLM-Nexus 시험성적서 매핑 완료 건수를 한눈에 확인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전문검토 판정 콘솔 진입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[검토하기] 클릭 시 전문위원 최종 판정 및 인증서 발급 화면(UI-QAL-002)으로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타 전문위원 배정 안건 클릭 시 '담당자를 본인으로 변경 후 검토를 시작하시겠습니까?' Confirm 모달 노출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[UI-QAL-002] 전문위원 판정 오버라이드, 조건부 승인 확정 및 적합성 인증서(PDF) 발급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10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UI-QAL-002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판정 오버라이드, 조건부 승인 확정 및 적합성 인증서(PDF) 발급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전문검토 &gt; 최종 판정·인증서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POST /api/v1/syncflow/qal/{id}/approve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6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검증번호: REV-2026-0412 | 전장시스템본부 | 구동모터 제어기(MCU) 공급계약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04288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[인증서 PDF 미리보기]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[검토 반려]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[조건부 승인]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[최종 승인 확정]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검토 대상 조항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총 46 개 조항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Redline 치환 완료 1건 / 성적서 매핑 4건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AI 판정 일치율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97.8 %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전문위원 오버라이드(수동 변경) 0건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연동 결재·회신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SRM-Portal 연동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확정 즉시 전자구매포털 상태 웹훅 회신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발급 인증번호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QA-CERT-2026-0412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전자서명 직인 및 위변조 방지 해시 스탬프</a:t>
            </a:r>
          </a:p>
        </p:txBody>
      </p:sp>
      <p:sp>
        <p:nvSpPr>
          <p:cNvPr id="49" name="Oval 48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472"/>
                <a:gridCol w="1490472"/>
                <a:gridCol w="1490472"/>
                <a:gridCol w="1490472"/>
                <a:gridCol w="1490472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원문 조항 ➔ 구매담당 수정본(Redline / 성적서 주석)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AI 사전판정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전문위원 최종판정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전문위원 검토 코멘트 / 오버라이드 사유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[원문] 사유 불문 일일 3.0% 지체상금 및 간접손해 배상
[수정] 귀책사유 지연 시 일일 0.15% 표준 지체상금 부과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[고위험➔치환]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적격 승인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공정위 표준하도급계약서 제26조 기준 적정 치환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[원문] 연속 내열온도 150℃ 및 진동 2,000시간 무고장 보증
[주석] *KATECH 공인성적서(PLM-2026-0412, 시료 30개)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[보완➔성적서]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조건부적격 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 수치 일치. 양산 초도품 입고 시 로트 성적서 재확인 조건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[원문] 무연 솔더 납(Pb) 500ppm 이하 및 RoHS 기준 충족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적격 승인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자재 BOM(v4.2) 및 KTR RoHS 분석 성적서 일치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Oval 50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[모달 프리뷰] 구매계약·기술규격 적합성 검증 완료 인증서 (QA-CERT-2026-0412)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계약/품목명: 차세대 구동모터 제어기(MCU) 물품공급계약서 (Lot-A)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최종 판정: [조건부 승인]  |  검증 일자: 2026. 06. 25  |  담당 위원: 김민준 수석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종합 의견: 제14조 지체상금 독소조항의 표준조항(0.15%) 치환 및 4대 신뢰성 성적서(PLM-2026-0412 외) 매핑을 확인함.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전자서명: 주식회사 한빛글로벌 품질법무검증팀장 [전자직인 날인 완료]</a:t>
            </a:r>
          </a:p>
        </p:txBody>
      </p:sp>
      <p:sp>
        <p:nvSpPr>
          <p:cNvPr id="53" name="Oval 52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조항별 Redline &amp; 성적서 대조 테이블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구매담당자가 채택한 AI 표준 수정조항 및 PLM-Nexus 시험성적서 주석을 원문과 1:1 대조 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판정 오버라이드 감사 가드레일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AI가 [고위험]으로 판정한 조항을 전문위원이 수동으로 [적격] 변경 시 변경 근거 사유 필수 입력 강제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종합 검토 의견 및 자동 회신 옵션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 전자구매포털 웹훅 자동 회신, 요청자 사내 메일(HB-Mail) 통보, AI 골든셋 후보 등록 체크박스 제공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공문 적합성 인증서(PDF/DOCX) 실시간 발급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전자직인 및 SHA-256 무결성 검증 해시가 포함된 공식 검증 완료 통보서 PDF 즉시 생성 및 다운로드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반려 / 조건부 승인 / 최종 승인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확정 시 불변 감사 원장(WORM)에 당시 법령 청크·룰셋·성적서 스냅샷을 영구 보존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오버라이드 사유 미입력 시 경고 Alert / [최종 승인 확정] 클릭 시 SRM-Portal 웹훅 발송 확인 Confirm 노출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[UI-SRM-001] 과거 계약·시방서 검증 이력 다차원 검색 및 개정 버전별 조항 비교(Diff)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11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UI-SRM-001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과거 계약·시방서 검증 이력 다차원 검색 및 개정 버전별 조항 비교(Diff)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전 사용자 (사업본부별 Row-level 권한 적용)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이력·협력사 &gt; 계약 버전 Diff·이력조회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/api/v1/syncflow/history/diff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사업본부: 전장시스템본부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품목/협력사: 구동모터 제어기 (대영모빌리티)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유사 조항 시맨틱 검색: 지체상금 간접손해 배상한도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[선택 버전 비교(Diff)]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누적 검증 완료 도서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1,840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물품공급계약 1,120건 / 기술시방서·도면 720건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선택 비교 대상 좌측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C2626"/>
                </a:solidFill>
                <a:latin typeface="맑은 고딕"/>
              </a:rPr>
              <a:t>v1.0 초안 (반려본)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REV-26-0398 (2026.06.21 검토반려 — 고위험 2건)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선택 비교 대상 우측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v1.1 수정본 (승인본)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REV-26-0412 (2026.06.25 조건부승인 — 고위험 0건)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변경 조항 자동 추출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총 3 개 조항 변경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독소조항 치환 2건 / 공인성적서 주석 추가 1건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조항#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조항 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[좌측: v1.0 초안 — 2026.06.21 반려본]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초안 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[우측: v1.1 수정본 — 2026.06.25 승인 확정본]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수정본 판정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변경 요약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제14조(지체상금)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[사유 불문 일일 3.0% 지체상금 및 간접손해] 배상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납품 지연 시 [귀책사유 범위 내 일일 0.15% 표준 지체상금] 부과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독소조항 표준치환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제8조(신뢰성보증)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내열 150℃ 및 진동 2,000시간 보증 (공인성적서 미첨부)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[보완필요]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내열 150℃ 및 진동 2,000시간 보증* (+KATECH 성적서 주석 추가)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[조건부적격]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성적서·주석추가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#09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제21조(지재권)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개발 과정에서 산출된 모든 특허·도면은 [발주자에게 무상 귀속]됨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공동 개발 산출물의 지재권은 [기여도에 따라 공동 소유]함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[적격]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부당특약 해소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검증 완료 표준 조항 세트 재사용 &amp; 협력사 리스크 히스토리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[승인 조항 세트 복사] 클릭 시 REV-26-0412(v1.1)의 검증 완료된 특약 조항 및 품질보증 주석 세트를 클립보드/템플릿으로 복사하여 신규 입찰 계약서 작성 시 즉시 재활용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협력사(㈜대영모빌리티) 최근 1년 품질·계약 준수율: 98.2% (우수 협력사 등급)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시맨틱 유사 조항 및 다차원 이력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pgvector 임베딩 검색을 통해 키워드가 정확히 일치하지 않아도 의미가 유사한 과거 계약 조항·판정 사례 즉시 탐색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개정 버전 선택 및 Diff 실행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동일 계약/시방서의 초안(반려본)과 수정본(승인본) 2개 행을 체크 후 [선택 버전 비교(Diff)] 클릭 시 하단 비교 뷰어 구동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어절 단위 Redline Diff 비교 뷰어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v1.0 초안과 v1.1 수정본 간의 삭제(-)/추가(+)/변경 어절을 하이라이트 대조하고 판정 등급 변화를 한눈에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검증 완료 표준 조항 세트 재사용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승인 확정된 계약서의 우량 조항·성적서 주석 세트를 원클릭 복사하여 타 조달 계약 초안 작성 시 재사용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감사 이력 엑셀 및 인증서 도면도면패키지 다운로드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검색된 검증 이력 목록 전체를 엑셀로 출력하거나 개별 적합성 인증서(PDF)를 일괄 다운로드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비교 대상 2개 미선택 시 '비교할 2개의 버전 이력을 선택해 주세요' Alert 노출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[UI-RAG-001] 100대 하도급 금칙조항 룰셋 관리 및 ISO/IATF·하도급법 RAG 벡터 색인 콘솔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12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UI-RAG-001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100대 하도급 금칙조항 룰셋 관리 및 ISO/IATF·하도급법 RAG 벡터 색인 콘솔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 / 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표준규격·지식 &gt; 독소조항 사전·법령 RAG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PUT /api/v1/syncflow/admin/rules-rag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13448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탭1: 하도급·품질 금칙조항 룰사전 (1,240건)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탭2: 법령·ISO/IATF 품질표준 RAG 색인 (94문서 / 16,400청크)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83080"/>
            <a:ext cx="178308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[정규식 시뮬레이션]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783080"/>
            <a:ext cx="1874519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[선택 문서 벡터 재색인]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등록 금칙·보완 룰셋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1,240 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고위험(부적합) 680건 / 보완필요(주의) 560건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RAG 지식베이스 문서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94 종 (16,400 청크)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하도급법·공정위 지침·IATF 16949·RoHS 기술규범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벡터 인덱스 규격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pgvector HNSW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1536차원 Dense + 형태소 Sparse RRF 하이브리드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개정 감지 자동 알림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D97706"/>
                </a:solidFill>
                <a:latin typeface="맑은 고딕"/>
              </a:rPr>
              <a:t>신규 개정 2 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2026년 하반기 공정위 표준하도급계약서 개정본 감지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규칙/문서ID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분류 카테고리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정규식 패턴 / 표준 법령·품질규격 문서명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위험등급 / 청크수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준거 법령·국제표준 근거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RULE-0042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부당 지체상금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사유\s*불문.*지체상금|모든\s*간접손해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제3조의4 / 표준계약서 제26조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[사용중]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[편집] [테스트]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RULE-0105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부당 단가인하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일방적\s*(단가인하|원가절감\s*할당)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제11조 (감액금지)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[사용중]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[편집] [테스트]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RULE-0218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지재권 일방귀속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기술자료.*무상\s*양도|독점\s*귀속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[고위험]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 제12조의3 (기술자료 요구금지)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[사용중]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[편집] [테스트]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DOC-0086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RAG 표준지침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자동차·전장부품 업종 표준하도급계약서 해설지침 (2026)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412 Chunks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공정거래위원회 기업거래정책국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[색인완료]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[청크열람] [Diff]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DOC-0083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RAG 국제규격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IATF 16949:2026 자동차 공급망 품질경영시스템 요구사항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520 Chunks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IATF 국제자동차전담기구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[색인완료]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[청크열람] [원문]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[우측 패널] 정규식 매칭 시뮬레이터 &amp; RAG 청크 Diff 뷰어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테스트 입력: '납품 지연 시 사유 불문 일일 3% 지체상금을 부과한다'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▶ 검출 결과: [고위험] RULE-0042 매칭 (0.008초) / 추천 치환: '귀책사유 지연 시 일일 0.15% 지체상금 부과'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▶ RAG 유사 청크 Top-1: DOC-0086 #Chunk-114 (코사인 유사도 0.962) 즉시 매칭 확인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금칙조항 룰사전 / 법령·규격 RAG 탭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1단계 정규식 룰 사전(1,240건)과 2단계 pgvector RAG 문서 아카이브(94종)를 단일 콘솔에서 통합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정규식 룰 등록 및 실시간 시뮬레이션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신규 독소조항 정규식 패턴과 권장 수정조항을 등록하고, 운영 반영 전 샘플 문장으로 즉시 매칭 테스트 수행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무중단 인메모리 캐시 리로드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룰셋 수정·저장 시 서버 재기동 없이 Redis Pub/Sub을 통해 전 AI 워커 노드의 룰 엔진 캐시를 0.2초 내 동기화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법령·국제표준 청크 분할 및 Diff 비교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개정된 법령·품질규격 PDF 업로드 시 조항 단위 시맨틱 청킹(Chunking) 및 구버전 대비 개정 조항 Diff 시각화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선택 문서 HNSW 벡터 재색인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개정 감지된 문서 선택 후 [선택 문서 벡터 재색인] 클릭 시 백그라운드 배치로 임베딩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엑셀 일괄 업로드 시 중복 정규식 검증 모달 표출 / 규칙 삭제 시 감사로그 기록 경고 Confirm 노출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본문 화면 상세 설계 — [UI-ADM-001] AI 골든셋 벤치마크, SRM/PLM/ERP 연계 관제, 불변 감사대장 및 SSO 권한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13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658368"/>
          <a:ext cx="11548872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3931920"/>
                <a:gridCol w="914400"/>
                <a:gridCol w="2862072"/>
              </a:tblGrid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UI-ADM-001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AI 골든셋 벤치마크, SRM/PLM/ERP 연계 관제, 불변 감사대장 및 SSO 권한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접근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시스템관리자 / 보안감사관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172A"/>
                          </a:solidFill>
                          <a:latin typeface="맑은 고딕"/>
                        </a:rPr>
                        <a:t>메뉴 경로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시스템관리 &gt; AI 품질·기간계 연계·권한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연동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GET /api/v1/syncflow/admin/system-health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화면 유형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맑은 고딕"/>
                        </a:rPr>
                        <a:t>반응형 웹 워크스페이스 (1920×1080)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1353312"/>
            <a:ext cx="763524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7635240" cy="329184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" y="1380744"/>
            <a:ext cx="105156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SyncFlow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통합관제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전자조달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1527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AI 계약검증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911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부품품질(PPAP)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법무·QA 전문검토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이력·협력사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380744"/>
            <a:ext cx="777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0">
                <a:solidFill>
                  <a:srgbClr val="E0F2FE"/>
                </a:solidFill>
                <a:latin typeface="맑은 고딕"/>
              </a:rPr>
              <a:t>표준규격·지식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1380744"/>
            <a:ext cx="77724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20" b="1">
                <a:solidFill>
                  <a:srgbClr val="FFFFFF"/>
                </a:solidFill>
                <a:latin typeface="맑은 고딕"/>
              </a:rPr>
              <a:t>시스템관리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37360"/>
            <a:ext cx="74523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탭1: AI 골든셋 벤치마크(F1 96.0%)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탭2: 기간계 연계 관제(SRM/PLM/SSO)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7" y="178308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탭3: 불변 감사대장(Hash-Chain)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783080"/>
            <a:ext cx="1874519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>
                <a:solidFill>
                  <a:srgbClr val="0F172A"/>
                </a:solidFill>
                <a:latin typeface="맑은 고딕"/>
              </a:rPr>
              <a:t>탭4: SSO 사용자·RBAC 권한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691640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골든셋(500문항) F1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96.0 % (PASS)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정밀도(Precision) 96.2% / 재현율(Recall) 95.8%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217627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572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기간계 인터페이스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59669"/>
                </a:solidFill>
                <a:latin typeface="맑은 고딕"/>
              </a:rPr>
              <a:t>4 종 정상 가동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SRM-Portal / PLM-Nexus / SAP ERP / HB-SSO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7024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불변 감사 해시체인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무결성 100 %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누적 48,520 이벤트 위변조 0건 검증 완료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76272"/>
            <a:ext cx="1810512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176272"/>
            <a:ext cx="73152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203704"/>
            <a:ext cx="16459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1">
                <a:solidFill>
                  <a:srgbClr val="64748B"/>
                </a:solidFill>
                <a:latin typeface="맑은 고딕"/>
              </a:rPr>
              <a:t>SSO 등록 사용자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2386584"/>
            <a:ext cx="16459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0284C7"/>
                </a:solidFill>
                <a:latin typeface="맑은 고딕"/>
              </a:rPr>
              <a:t>412 명 (RBAC)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660904"/>
            <a:ext cx="16459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680" b="0">
                <a:solidFill>
                  <a:srgbClr val="1E3A5F"/>
                </a:solidFill>
                <a:latin typeface="맑은 고딕"/>
              </a:rPr>
              <a:t>구매담당 180 / 품질연구 140 / 법무QA 62 / 관리자 30</a:t>
            </a:r>
          </a:p>
        </p:txBody>
      </p:sp>
      <p:sp>
        <p:nvSpPr>
          <p:cNvPr id="48" name="Oval 47"/>
          <p:cNvSpPr/>
          <p:nvPr/>
        </p:nvSpPr>
        <p:spPr>
          <a:xfrm>
            <a:off x="347472" y="21305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11480" y="2980944"/>
          <a:ext cx="7452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22"/>
                <a:gridCol w="1064622"/>
                <a:gridCol w="1064622"/>
                <a:gridCol w="1064622"/>
                <a:gridCol w="1064622"/>
                <a:gridCol w="1064622"/>
                <a:gridCol w="10646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구분 / 사번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기간계 시스템 / 사용자명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소속 부서 / 프로토콜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부여 역할 (RBAC) / 연동 주기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접근 허용 사업본부 / 응답상태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최종 동기화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맑은 고딕"/>
                        </a:rPr>
                        <a:t>관리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IF-EXT-01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전자구매포털 (SRM-Portal)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REST Webhook / TLS 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실시간 입찰·계약 수신 및 결과 회신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[정상 가동중 — 평균 128ms]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14:20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[헬스체크] [DLQ재전송]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IF-EXT-02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피엘엠넥서스 (PLM-Nexus)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REST API + 02:00 일배치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자재 BOM·공인 시험성적서 동기화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[정상 가동중 — 일배치 성공]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02:04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[수동동기화] [로그]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HB2018042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김민준 수석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품질법무검증팀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[법무·QA 전문위원]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전사 사업본부 전체 (All Divisions)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14:15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[권한편집] [감사로그]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HB2021108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박조달 책임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전장구매팀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[구매담당자 (Buyer)]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전장시스템본부, 배터리모듈본부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13:50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[권한편집] [감사로그]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0F172A"/>
                          </a:solidFill>
                          <a:latin typeface="맑은 고딕"/>
                        </a:rPr>
                        <a:t>HB2019315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김연구 선임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선행신뢰성시험랩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[품질연구원 (QA)]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전장시스템본부, 정밀기계본부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2026.06.25 11:30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0F172A"/>
                          </a:solidFill>
                          <a:latin typeface="맑은 고딕"/>
                        </a:rPr>
                        <a:t>[권한편집] [감사로그]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Oval 49"/>
          <p:cNvSpPr/>
          <p:nvPr/>
        </p:nvSpPr>
        <p:spPr>
          <a:xfrm>
            <a:off x="347472" y="2944368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56048"/>
            <a:ext cx="7452360" cy="13898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80" b="1">
                <a:solidFill>
                  <a:srgbClr val="0F172A"/>
                </a:solidFill>
                <a:latin typeface="맑은 고딕"/>
              </a:rPr>
              <a:t>■ [보안 감사] SHA-256 해시체인 무결성 검증 &amp; RBAC 변경 통제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모든 AI 판정, 전문위원 오버라이드, 성적서 매핑, 권한 변경은 이전 로그 해시(Prev_Hash)와 결합된 Append-only 불변 원장에 기록됨</a:t>
            </a:r>
          </a:p>
          <a:p>
            <a:pPr algn="l"/>
            <a:r>
              <a:rPr sz="780" b="0">
                <a:solidFill>
                  <a:srgbClr val="0F172A"/>
                </a:solidFill>
                <a:latin typeface="맑은 고딕"/>
              </a:rPr>
              <a:t>• 사용자 역할(RBAC) 및 허용 사업본부 변경 시 변경 사유(인사발령 번호 등) 입력 필수 강제</a:t>
            </a:r>
          </a:p>
        </p:txBody>
      </p:sp>
      <p:sp>
        <p:nvSpPr>
          <p:cNvPr id="52" name="Oval 51"/>
          <p:cNvSpPr/>
          <p:nvPr/>
        </p:nvSpPr>
        <p:spPr>
          <a:xfrm>
            <a:off x="347472" y="491947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1353312"/>
            <a:ext cx="3822191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화면 구성요소 및 이벤트 상세 명세 (Function Spec)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8046720" y="1719072"/>
          <a:ext cx="38221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051560"/>
                <a:gridCol w="2386584"/>
              </a:tblGrid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컴포넌트명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상세 동작·검증 로직 및 API 연동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AI 골든셋(500문항) 품질 회귀 벤치마크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프롬프트나 모델 버전 변경 시 500대 표준 골든셋을 자동 실행하여 정밀도·재현율·F1-Score(96.0%) 달성 여부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대내외 기간계 연계 실시간 관제 및 DLQ 재처리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SRM-Portal, PLM-Nexus, SAP ERP, HB-SSO 응답시간 모니터링 및 실패 큐(Dead Letter Queue) 원클릭 일괄 재전송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대외 감사용 불변 감사 대장(WORM) 해시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[해시체인 전체검증] 클릭 시 전 구간의 Prev_Hash ➔ Curr_Hash 연쇄를 재계산하여 무결성 인증 리포트 출력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HB-SSO 조직도 동기화 및 4대 RBAC 역할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사내 인사/SSO 연동으로 부서 이동·퇴직자 자동 차단 및 구매담당/품질연구/법무QA/관리자 4대 역할 부여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F172A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사업본부별 Row-level 데이터 접근 통제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F172A"/>
                          </a:solidFill>
                          <a:latin typeface="맑은 고딕"/>
                        </a:rPr>
                        <a:t>담당자에게 허용된 사업본부(전장/배터리/정밀기계 등)의 계약서 및 도면만 조회되도록 Row-level Security 제어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8046720" y="5742432"/>
            <a:ext cx="3822191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30" b="1">
                <a:solidFill>
                  <a:srgbClr val="0F172A"/>
                </a:solidFill>
                <a:latin typeface="맑은 고딕"/>
              </a:rPr>
              <a:t>[연계 팝업 정의] 권한 변경 사유 미입력 시 저장 차단 Alert / [소명용 감사도면도면패키지 출력] 클릭 시 계약서+성적서+인증서+로그 ZIP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00584"/>
            <a:ext cx="141732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EMP_DEG_050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73152"/>
            <a:ext cx="7498079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SyncFlow AI 화면설계서 (UI/UX Storyboard)  |  03. 공통 모달 팝업 · 토스트 알림 및 예외(Error) 화면 표준 규격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109728"/>
            <a:ext cx="2468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50" b="1">
                <a:solidFill>
                  <a:srgbClr val="E0F2FE"/>
                </a:solidFill>
                <a:latin typeface="맑은 고딕"/>
              </a:rPr>
              <a:t>한빛글로벌 × ㈜엠파시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556248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4748B"/>
                </a:solidFill>
                <a:latin typeface="맑은 고딕"/>
              </a:rPr>
              <a:t>주식회사 한빛글로벌 지능형 공급망(SCM) 구매·조달 계약 및 부품 품질규격 AI 검증 플랫폼 (SyncFlow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850" b="1">
                <a:solidFill>
                  <a:srgbClr val="0F172A"/>
                </a:solidFill>
                <a:latin typeface="맑은 고딕"/>
              </a:rPr>
              <a:t>Page 14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731520"/>
          <a:ext cx="1154887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2560320"/>
                <a:gridCol w="4206240"/>
                <a:gridCol w="2496312"/>
              </a:tblGrid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공통 UI ID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표준 팝업 / 화면 명칭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트리거 조건 및 상세 메시지 규격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맑은 고딕"/>
                        </a:rPr>
                        <a:t>제공 버튼 및 후속 액션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Confirm 모달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고위험 독소조항 미조치 이동 확인창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고위험(부적합) 조항이 Redline 치환되지 않은 상태로 상신 시도 시 호출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[취소(대조뷰어 유지)] / [예외사유 입력 후 이동]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Alert 모달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설계변경(ECN) 구버전 시험성적서 차단창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품목 BOM 리비전(Rev.3)보다 낮은 구버전(Rev.2) 성적서 매핑 시도 시 호출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[확인 (최신 성적서 재선택)]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Form 모달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전문위원 AI 판정 오버라이드 사유 입력창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법무·QA 전문위원이 AI 판정 등급을 수동 변경할 때 감사로그 사유 입력 강제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[취소] / [변경근거 저장 및 확정]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COM-MOD-04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Viewer 모달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하도급법·IATF 16949 원문 및 성적서 PDF 뷰어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[법령 원문 보기] 또는 [PDF열람] 클릭 시 하이라이트된 조항 페이지 즉시 오픈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[원문 다운로드] / [인쇄] / [닫기]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03365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COM-ERR-401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에러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401/403 SSO 세션 만료 및 RBAC 권한 제한 안내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HB-SSO 토큰 만료 또는 비인가 사업본부 계약서 URL 직접 접근 시 표출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[HB-SSO 재로그인] / [권한신청 화면 이동]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337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맑은 고딕"/>
                        </a:rPr>
                        <a:t>COM-ERR-503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폴백 배너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외부 상용 LLM 지연 시 사내 vLLM 자동 전환 배너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외부 LLM 응답 10초 초과로 서킷브레이커 작동 및 사내 모델 폴백 시 상단 안내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맑은 고딕"/>
                        </a:rPr>
                        <a:t>[실시간 상태 확인] / [자동 재시도]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주식회사 엠파시 (Empasy Inc.)</dc:creator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