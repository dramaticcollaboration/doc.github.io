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SyncGuard AI</a:t>
            </a:r>
          </a:p>
          <a:p>
            <a:pPr>
              <a:spcBef>
                <a:spcPts val="1200"/>
              </a:spcBef>
              <a:defRPr sz="3400" b="1">
                <a:solidFill>
                  <a:srgbClr val="FFFFFF"/>
                </a:solidFill>
              </a:defRPr>
            </a:pPr>
            <a:r>
              <a:t>벤치마킹 보고서 (Benchmarking Report)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국내외 제품 표시·광고 규제 심의 및 AI 기반 문안 검토 선진 사례 비교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EMP_ANL_010  |  버전: v1.0 (최종 승인본)  |  작성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분석 대상: 글로벌 뷰티 선도 기업(L사, E사) 심의 체계, 식약처 모니터링 시스템, AI LLM 기반 법률 컴플라이언스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엠파시 (EMPASY)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1. 벤치마킹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국내외 AI 컴플라이언스 및 표시광고 심의 동향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글로벌 뷰티 A사</a:t>
            </a:r>
          </a:p>
          <a:p>
            <a:pPr>
              <a:spcBef>
                <a:spcPts val="800"/>
              </a:spcBef>
              <a:defRPr b="1" sz="1400">
                <a:solidFill>
                  <a:srgbClr val="2563EB"/>
                </a:solidFill>
              </a:defRPr>
            </a:pPr>
            <a:r>
              <a:t>규제 데이터베이스 RAG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FDA/EU 코스메틱 규제 데이터베이스와 LLM을 결합하여 성분별 클레임 유효성을 실시간 검증하는 시스템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글로벌 뷰티 B사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사전 문구 추천 엔진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금지어 발생 시 대체 가능한 마케팅 카피를 AI가 3가지 옵션으로 자동 제시하여 기획자 편의성 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국내 식약처 모니터링</a:t>
            </a:r>
          </a:p>
          <a:p>
            <a:pPr>
              <a:spcBef>
                <a:spcPts val="800"/>
              </a:spcBef>
              <a:defRPr b="1" sz="1400">
                <a:solidFill>
                  <a:srgbClr val="059669"/>
                </a:solidFill>
              </a:defRPr>
            </a:pPr>
            <a:r>
              <a:t>정규식 + OCR 탐지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온라인 이커머스 상세페이지 이미지 텍스트를 OCR로 추출하고 의약품 오인성 표현을 자동 필터링하는 관제망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C3AED"/>
                </a:solidFill>
              </a:defRPr>
            </a:pPr>
            <a:r>
              <a:t>한빛글로벌 지향점</a:t>
            </a:r>
          </a:p>
          <a:p>
            <a:pPr>
              <a:spcBef>
                <a:spcPts val="800"/>
              </a:spcBef>
              <a:defRPr b="1" sz="1400">
                <a:solidFill>
                  <a:srgbClr val="7C3AED"/>
                </a:solidFill>
              </a:defRPr>
            </a:pPr>
            <a:r>
              <a:t>다단계 AI 종합 심의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사내 원료 규격(ProductLab) + 100개 룰셋 + 식약처 법령 RAG + LLM 4단계 판정 및 즉시 대체어 제시 일원화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2. 비교 분석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심의 방식 및 주요 기능별 상세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40761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기존 수동 심의 (AS-IS)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글로벌 상용 툴 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식약처 모니터링망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SyncGuard AI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심의 소요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평균 3일 (72시간)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1~2시간 (텍스트 한정)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배치 수집 (일 단위)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평균 2시간 이내 (실시간 3초)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이미지/PDP 분석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수기 육안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지원 안 됨 (별도 OCR)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기본 OCR 키워드 매칭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Vision OCR Bounding Box 매핑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사내 원료 규격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수동 ProductLab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사내 연동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연동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ProductLab REST API 실시간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대체 문구 추천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RA 담당자 수기 작성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단순 동의어 사전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미지원 (위반 통보만)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AI 문맥 기반 대체 추천 100종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판정 일관성/정확도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담당자 편차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영문 중심 (국문 70%)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키워드 단순 매칭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골든셋 정밀도 96.2%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3. 시사점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한빛글로벌 특화 AI 심의 시스템 요구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국내 표시·광고 공정화법 제3조 특화 엔진 필요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해외 툴은 국내 식약처의 세부 관리지침(의약품 오인, 기능성 고시, 천연/유기농 기준)을 충족하지 못함.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식약처 100대 금지/주의 표현 및 최신 행정처분 사례를 학습한 한국형 특화 룰셋 구축 필수.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배합 성분 데이터(ProductLab)와의 유기적 결합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클레임의 타당성은 제품에 실제 함유된 원료 성분 및 배합 함량과 직결됨.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사내 ProductLab 시스템과 실시간 API를 연동하여 '해당 성분이 실제로 포함되어 있는지' 즉시 자동 검증 필요.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단순 차단이 아닌 '대체 카피 제시형' AI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마케팅 실무진에게 '금지' 통보만 할 경우 캠페인 일정이 지연되고 저항이 발생함.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적법하면서도 마케팅 소구력을 유지하는 '대체 추천 문구'를 함께 제공하는 능동형 AI 필요.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실무자-RA 간 양방향 커뮤니케이션 포털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파편화된 이메일 소통을 단일 웹 포털로 일원화하여 심의 히스토리와 수정 이력을 자산화.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Vben Admin 기반 직관적 반응형 UI를 통해 마케터와 RA가 동일 화면에서 코멘트와 결재를 수행.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4. 시스템 반영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벤치마킹 시사점의 프로젝트 기능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벤치마킹 결과를 반영한 SyncGuard AI 핵심 기능 설계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규칙 사전(Rule Dictionary) 100종 구축: 식약처 고시 금지어 50종, 주의어 30종, 예외 단어 20종을 DB화하여 0.2초 내 즉시 1차 필터링.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식약처 법령 및 심의 가이드라인 RAG 벡터 검색: 표시·광고 공정화법 제3조 및 유권해석 문서를 pgvector에 임베딩하여 판정 근거 조항 자동 매핑.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Vision OCR 기반 PDP 상세페이지 분석: 이미지 파일 업로드 시 텍스트 위치(Bounding Box)와 위반 의심 구역을 시각적으로 하이라이트.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ProductLab 배합 성분 규격 연계: 제품 코드 입력 시 ProductLab REST API를 호출하여 배합 성분 리스트를 AI 판정 프롬프트에 자동 주입.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</a:defRPr>
            </a:pPr>
            <a:r>
              <a:t>✔ 대체 추천 문구 엔진 탑재: 허위·과대 소구 표현을 적법한 마케팅 표현으로 변환해주는 100종 대체 문구 데이터베이스 구축.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벤치마킹 보고서  &gt;  5. 기대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벤치마킹 기반 시스템 도입 정량·정성 기대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EMP_ANL_010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벤치마킹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심의 리드타임 감축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3일 → 2시간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85% 단축으로 마케팅 적시성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AI 판정 정확도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96.2%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골든셋 기준 글로벌 벤치마크 상회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행정 처분 리스크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Zero (0건)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식약처 위반 사전 원천 차단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연간 공수 절감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1,840시간</a:t>
            </a:r>
          </a:p>
          <a:p>
            <a:pPr>
              <a:spcBef>
                <a:spcPts val="1400"/>
              </a:spcBef>
              <a:defRPr sz="1000">
                <a:solidFill>
                  <a:srgbClr val="334155"/>
                </a:solidFill>
              </a:defRPr>
            </a:pPr>
            <a:r>
              <a:t>RA 전문가 고부가가치 기획 집중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